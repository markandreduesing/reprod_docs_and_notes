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261f4b-e8c3-9fb0-5175-d56b3a73a9c9}">
          <p14:sldIdLst>
            <p14:sldId id="256"/>
            <p14:sldId id="257"/>
          </p14:sldIdLst>
        </p14:section>
        <p14:section name="Paper 1" id="{a7469ce0-d93e-287b-b73d-4ff22399e449}">
          <p14:sldIdLst>
            <p14:sldId id="258"/>
            <p14:sldId id="259"/>
            <p14:sldId id="260"/>
            <p14:sldId id="261"/>
            <p14:sldId id="262"/>
            <p14:sldId id="263"/>
            <p14:sldId id="264"/>
            <p14:sldId id="265"/>
            <p14:sldId id="266"/>
            <p14:sldId id="267"/>
          </p14:sldIdLst>
        </p14:section>
        <p14:section name="Paper 2" id="{58c73d77-b1f2-7757-9bff-e0c12c9f5952}">
          <p14:sldIdLst>
            <p14:sldId id="268"/>
            <p14:sldId id="269"/>
            <p14:sldId id="270"/>
            <p14:sldId id="271"/>
            <p14:sldId id="272"/>
            <p14:sldId id="273"/>
            <p14:sldId id="274"/>
            <p14:sldId id="275"/>
            <p14:sldId id="276"/>
            <p14:sldId id="277"/>
          </p14:sldIdLst>
        </p14:section>
        <p14:section name="Cross comparison" id="{14076a88-69e1-1bbc-cff1-28e21832de95}">
          <p14:sldIdLst>
            <p14:sldId id="278"/>
            <p14:sldId id="279"/>
            <p14:sldId id="280"/>
            <p14:sldId id="281"/>
            <p14:sldId id="282"/>
          </p14:sldIdLst>
        </p14:section>
        <p14:section name="Criticism" id="{02f5ea9f-4ef6-a79d-8b3b-8a81e77a035f}">
          <p14:sldIdLst>
            <p14:sldId id="283"/>
            <p14:sldId id="284"/>
            <p14:sldId id="285"/>
          </p14:sldIdLst>
        </p14:section>
        <p14:section name="Close" id="{6c6c3da8-e5e0-6506-f6bd-11b72ba91fab}">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papers on artifact evaluation, one asking reviewers, one asking authors. Stefan Winter, our lecturer, co-wrote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Artifact evaluation (AE): committees check artifacts of accepted papers and award badges
Asked the reviewers (AEC members) what AE is for and what they expect
Found no shared quality threshold and inconsistent terms
A badge only means something within one conference and year (p. 478)
Core message: AE grew from the FSE 2011 pilot, but there is no evidence yet that it leads to better artifacts (p. 469).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respondents said 'reproducibility', under the 2020 definitions they were right; the paper reads it as replicability (p. 473).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What do AEC members see as the purpose of artifact evaluation?
RQ2: What do they expect from an artifact as reviewers?
RQ3: What do they expect as users of artifacts?
Pre-study: what do calls for artifacts and ACM guidelines demand?
RQs on p. 470.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79 calls for artifacts, SE and PL conferences, 2011–2019, coded by two researchers
Survey with open questions sent to 1034 AEC members
257 responded, 124 completed; ~25 % response; mostly programming languages
Answers grouped by open card sorting; counts given as total (PL/SE)
§3 p. 471, §4.1 pp. 472–473. No artifact was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Calls name criteria (documentation 46, consistency 45) but no levels (pp. 471–472)
Purpose drifts: from checking claims to reproducibility and reuse (RQ1)
Reviewers want reproducible results, users want reusable tools (RQ2, RQ3)
20 users see a difference between evaluated and unevaluated artifacts, 34 do not (p. 477)
Most reviewers serve once; a third never submitted an artifact (pp. 473, 478)
One reviewer caught a fraudulent artifact with hard-coded outputs (p. 477). 13 respondents want AE coupled to paper acceptance, unprompted (p. 478).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AEC members asked, mostly PL: a deliberate trade-off (p. 479)
Card sorting by one labeller, checked by a second, no agreement measure
Implications: purpose and standards per community, written into the calls
Brief one-time reviewers; couple AE more tightly to acceptance (p. 479)
§6 threats pp. 478–479; §7 implications p. 479.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"Enforcing quality criteria only means that some authors will not publish their code" (id 96, p. 475). ICSE and FSE dropped the Functional badge to raise the bar (p. 476).
Follow-up: 34 users saw no difference between evaluated and unevaluated artifacts (p. 477).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Most AEC members serve once, and a third have never built an artifact themselves (pp. 473, 478).
My own point. Would you sign up for an AEC next year? Why or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It is the only concrete threshold in 79 calls (10 calls, p. 472).
My own point. What would a second, meaningful threshold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Counted artifact links in 1434 SE papers and surveyed 153 authors
Most papers link an artifact, few go through artifact evaluation
Twelve challenges for creators, users and reviewers; the root is incentives
Eight recommendations, each aimed at a specific group
Mixed methods, then a Diffusion of Innovations secondary analysis (pp.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Artifact: "any external materials or information provided … via a link" (p. 3)
Available: the link still works; content was not checked (p. 11)
ACM quality criteria: documented, consistent, complete, exercisable (pp. 4–5)
Mostly says "replication"; re-running an artifact = our 2020 reproducibility
Diffusion of Innovations: innovation, channels, time, social system (p. 5)
Implementation Science: evidence-based, iterative change from medicine (p.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Does the SE community perceive inherent value in artifacts?
RQ2.1: What challenges do artifact creators face?
RQ2.2: What challenges do artifact users face?
RQ2.3: What challenges do artifact reviewers face?
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technical papers at ICSE, FSE, ASE, EMSE 2014–2018; links found by regex, checked by hand
Links checked once, January–February 2019
744 authors of 2018 papers emailed; 153 answered (22 %)
Descriptive and axial coding; shows the range of themes, not their prevalence (p. 9)
§3, pp. 6–9. FSE AEC chairs supplied submission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62.7 % of papers link an artifact, rising from 51 % to 69 % (p. 11)
About 14 % of links dead; 26 % for 2014 papers (Fig. 3, p. 20)
FSE: 74 of 196 artifact papers submitted to AE, 64 accepted (Fig. 4)
Top user problems: no usage instructions (103), artifact gone (81)
C1 "not worth it" and C10 "no reviewer incentives" drive the rest
Twelve challenges, Table 4 pp. 14–15: not worth it, portability, maintenance, tacit knowledge, doesn't fit purpose, no standards, hosting, double-blind review, external constraints, no reviewer incentives, technical obstacles, limited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Creators: describe the artifact, make it self-contained, plan from day one (R1–R3)
Reviewers and organisers: rubrics, aligned expectations, cheaper reviewing (R4–R6)
Community leaders: count artifacts in hiring, promotion and grants (R7–R8)
Threats: links ≠ usable artifacts; authors not contacted; 2018 authors only (pp. 10–11)
Authors believe artifacts should be reviewed as part of paper review (p.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Timperley et al. say artifacts should be part of paper review (p. 28). "The evaluations do not determine if the paper is accepted, so I didn't pay much attention" (Hermann, id 79, p. 478).
Middle way: conditional acceptance (Hermann id 214, p. 478).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C3 maintenance (p. 16). R3 asks advisors for transition plans and a Zenodo snapshot (p. 32).
Week 1 link: Docker may not exist in 40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"We usually just make students do AEC … it reinforces the idea that artifacts are not a primary thing" (P64, p. 23).
My own point. Connects to Hermann's one-time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agreed quality threshold (Hermann p. 478; Timperley C6, p. 16)
Reviewers are inexperienced and under-rewarded
Both lean towards coupling AE to paper acceptance
Neither opens an artifact or tests whether badges mean better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Hermann: purpose, criteria and terms (p. 479). Timperley: "not worth it" (C1) and rewards in hiring and grants (R7, p. 34).
Follow-up: P31 stopped submitting because of 'wildly different reviewer expectations' (p. 26). Standards or incentive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papers: "AECs, by asking for replicable scripts, are likely to replicate the same mistake" (Timperley P25, p. 22). Hermann: hard-coded outputs found only by reading code (p. 477).
Outside the box: what if an AI agent ran every artifact automatically? What would it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AEC members asked: authors who never submit are missing
125 PL vs 36 SE respondents; SE counts often single digits
257 started, 124 finished; each question has a different sample
Card-sort counts look precise but depend on one labeller
PL/SE totals differ between sections (p. 472 vs p. 474)
Counterpoint: explicitly qualitative, a 'first step', data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link counts as an artifact; a live link counts as available
RQ1 "value" rests on link counts and quotes from willing respondents
Fig. 4: 26.33 % is 74 of all 281 papers; of 196 artifact papers it is 38 %
Small inconsistencies: 81 vs 82, 60 vs 62; Table 6 cites an undefined C13
Most recommendations still ask creators and reviewers for more work
Counterpoint: careful about what thematic analysis shows, data on Zenodo, concrete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on the board. Which ideas did neither paper propose?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1E2227"/>
        </a:solidFill>
      </p:bgPr>
    </p:bg>
    <p:spTree>
      <p:nvGrpSpPr>
        <p:cNvPr id="1" name=""/>
        <p:cNvGrpSpPr/>
        <p:nvPr/>
      </p:nvGrpSpPr>
      <p:grpSpPr>
        <a:xfrm>
          <a:off x="0" y="0"/>
          <a:ext cx="0" cy="0"/>
          <a:chOff x="0" y="0"/>
          <a:chExt cx="0" cy="0"/>
        </a:xfrm>
      </p:grpSpPr>
      <p:sp>
        <p:nvSpPr>
          <p:cNvPr id="2" name="Text 0"/>
          <p:cNvSpPr/>
          <p:nvPr/>
        </p:nvSpPr>
        <p:spPr>
          <a:xfrm>
            <a:off x="640080" y="6355080"/>
            <a:ext cx="5486400" cy="320040"/>
          </a:xfrm>
          <a:prstGeom prst="rect">
            <a:avLst/>
          </a:prstGeom>
          <a:noFill/>
          <a:ln/>
        </p:spPr>
        <p:txBody>
          <a:bodyPr wrap="square" rtlCol="0" anchor="ctr"/>
          <a:lstStyle/>
          <a:p>
            <a:pPr indent="0" marL="0">
              <a:buNone/>
            </a:pPr>
            <a:r>
              <a:rPr lang="en-US" sz="1100" dirty="0">
                <a:solidFill>
                  <a:srgbClr val="A3AAB4"/>
                </a:solidFill>
                <a:latin typeface="Calibri" pitchFamily="34" charset="0"/>
                <a:ea typeface="Calibri" pitchFamily="34" charset="-122"/>
                <a:cs typeface="Calibri" pitchFamily="34" charset="-120"/>
              </a:rPr>
              <a:t>Lecture 2 · Artifact evaluation</a:t>
            </a:r>
            <a:endParaRPr lang="en-US" sz="11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222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011680"/>
            <a:ext cx="10911535" cy="1463040"/>
          </a:xfrm>
          <a:prstGeom prst="rect">
            <a:avLst/>
          </a:prstGeom>
          <a:noFill/>
          <a:ln/>
        </p:spPr>
        <p:txBody>
          <a:bodyPr wrap="square" lIns="0" tIns="0" rIns="0" bIns="0" rtlCol="0" anchor="b"/>
          <a:lstStyle/>
          <a:p>
            <a:pPr indent="0" marL="0">
              <a:buNone/>
            </a:pPr>
            <a:r>
              <a:rPr lang="en-US" sz="5400" b="1" dirty="0">
                <a:solidFill>
                  <a:srgbClr val="F3F4F6"/>
                </a:solidFill>
                <a:latin typeface="Calibri" pitchFamily="34" charset="0"/>
                <a:ea typeface="Calibri" pitchFamily="34" charset="-122"/>
                <a:cs typeface="Calibri" pitchFamily="34" charset="-120"/>
              </a:rPr>
              <a:t>Who decides what a good artifact is?</a:t>
            </a:r>
            <a:endParaRPr lang="en-US" sz="5400" dirty="0"/>
          </a:p>
        </p:txBody>
      </p:sp>
      <p:sp>
        <p:nvSpPr>
          <p:cNvPr id="3" name="Text 1"/>
          <p:cNvSpPr txBox="1"/>
          <p:nvPr/>
        </p:nvSpPr>
        <p:spPr>
          <a:xfrm>
            <a:off x="640080" y="3657600"/>
            <a:ext cx="10911535" cy="914400"/>
          </a:xfrm>
          <a:prstGeom prst="rect">
            <a:avLst/>
          </a:prstGeom>
          <a:noFill/>
          <a:ln/>
        </p:spPr>
        <p:txBody>
          <a:bodyPr wrap="square" lIns="0" tIns="0" rIns="0" bIns="0" rtlCol="0" anchor="t"/>
          <a:lstStyle/>
          <a:p>
            <a:pPr indent="0" marL="0">
              <a:buNone/>
            </a:pPr>
            <a:r>
              <a:rPr lang="en-US" sz="2200" dirty="0">
                <a:solidFill>
                  <a:srgbClr val="F2B544"/>
                </a:solidFill>
                <a:latin typeface="Calibri" pitchFamily="34" charset="0"/>
                <a:ea typeface="Calibri" pitchFamily="34" charset="-122"/>
                <a:cs typeface="Calibri" pitchFamily="34" charset="-120"/>
              </a:rPr>
              <a:t>Hermann, Winter &amp; Siegmund (FSE 2020) · Timperley, Herckis, Le Goues &amp; Hilton (EMSE 2021)</a:t>
            </a:r>
            <a:endParaRPr lang="en-US" sz="2200" dirty="0"/>
          </a:p>
        </p:txBody>
      </p:sp>
      <p:sp>
        <p:nvSpPr>
          <p:cNvPr id="4" name="Text 2"/>
          <p:cNvSpPr txBox="1"/>
          <p:nvPr/>
        </p:nvSpPr>
        <p:spPr>
          <a:xfrm>
            <a:off x="640080" y="4754880"/>
            <a:ext cx="10911535" cy="457200"/>
          </a:xfrm>
          <a:prstGeom prst="rect">
            <a:avLst/>
          </a:prstGeom>
          <a:noFill/>
          <a:ln/>
        </p:spPr>
        <p:txBody>
          <a:bodyPr wrap="square" lIns="0" tIns="0" rIns="0" bIns="0" rtlCol="0" anchor="t"/>
          <a:lstStyle/>
          <a:p>
            <a:pPr indent="0" marL="0">
              <a:buNone/>
            </a:pPr>
            <a:r>
              <a:rPr lang="en-US" sz="1600" dirty="0">
                <a:solidFill>
                  <a:srgbClr val="A3AAB4"/>
                </a:solidFill>
                <a:latin typeface="Calibri" pitchFamily="34" charset="0"/>
                <a:ea typeface="Calibri" pitchFamily="34" charset="-122"/>
                <a:cs typeface="Calibri" pitchFamily="34" charset="-120"/>
              </a:rPr>
              <a:t>Seminar: Reproducibility in SE Research · Lecture 2 discussion · 27 October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3600" b="1" dirty="0">
                <a:solidFill>
                  <a:srgbClr val="F3F4F6"/>
                </a:solidFill>
                <a:latin typeface="Calibri" pitchFamily="34" charset="0"/>
                <a:ea typeface="Calibri" pitchFamily="34" charset="-122"/>
                <a:cs typeface="Calibri" pitchFamily="34" charset="-120"/>
              </a:rPr>
              <a:t>Index</a:t>
            </a:r>
            <a:endParaRPr lang="en-US" sz="3600" dirty="0"/>
          </a:p>
        </p:txBody>
      </p:sp>
      <p:sp>
        <p:nvSpPr>
          <p:cNvPr id="3" name="Text 1"/>
          <p:cNvSpPr txBox="1"/>
          <p:nvPr/>
        </p:nvSpPr>
        <p:spPr>
          <a:xfrm>
            <a:off x="640080" y="1737360"/>
            <a:ext cx="731520" cy="502920"/>
          </a:xfrm>
          <a:prstGeom prst="rect">
            <a:avLst/>
          </a:prstGeom>
          <a:noFill/>
          <a:ln/>
        </p:spPr>
        <p:txBody>
          <a:bodyPr wrap="square" lIns="0" tIns="0" rIns="0" bIns="0" rtlCol="0" anchor="ctr"/>
          <a:lstStyle/>
          <a:p>
            <a:pPr indent="0" marL="0">
              <a:buNone/>
            </a:pPr>
            <a:r>
              <a:rPr lang="en-US" sz="2200" b="1" dirty="0">
                <a:solidFill>
                  <a:srgbClr val="F2B544"/>
                </a:solidFill>
                <a:latin typeface="Calibri" pitchFamily="34" charset="0"/>
                <a:ea typeface="Calibri" pitchFamily="34" charset="-122"/>
                <a:cs typeface="Calibri" pitchFamily="34" charset="-120"/>
              </a:rPr>
              <a:t>01</a:t>
            </a:r>
            <a:endParaRPr lang="en-US" sz="2200" dirty="0"/>
          </a:p>
        </p:txBody>
      </p:sp>
      <p:sp>
        <p:nvSpPr>
          <p:cNvPr id="4" name="Text 2"/>
          <p:cNvSpPr txBox="1"/>
          <p:nvPr/>
        </p:nvSpPr>
        <p:spPr>
          <a:xfrm>
            <a:off x="1463040" y="1737360"/>
            <a:ext cx="10088575" cy="502920"/>
          </a:xfrm>
          <a:prstGeom prst="rect">
            <a:avLst/>
          </a:prstGeom>
          <a:noFill/>
          <a:ln/>
        </p:spPr>
        <p:txBody>
          <a:bodyPr wrap="square" lIns="0" tIns="0" rIns="0" bIns="0" rtlCol="0" anchor="ctr"/>
          <a:lstStyle/>
          <a:p>
            <a:pPr indent="0" marL="0">
              <a:buNone/>
            </a:pPr>
            <a:r>
              <a:rPr lang="en-US" sz="2200" dirty="0">
                <a:solidFill>
                  <a:srgbClr val="F3F4F6"/>
                </a:solidFill>
                <a:latin typeface="Calibri" pitchFamily="34" charset="0"/>
                <a:ea typeface="Calibri" pitchFamily="34" charset="-122"/>
                <a:cs typeface="Calibri" pitchFamily="34" charset="-120"/>
              </a:rPr>
              <a:t>Paper 1: Hermann et al. 2020 · summary</a:t>
            </a:r>
            <a:endParaRPr lang="en-US" sz="2200" dirty="0"/>
          </a:p>
        </p:txBody>
      </p:sp>
      <p:sp>
        <p:nvSpPr>
          <p:cNvPr id="5" name="Text 3"/>
          <p:cNvSpPr txBox="1"/>
          <p:nvPr/>
        </p:nvSpPr>
        <p:spPr>
          <a:xfrm>
            <a:off x="640080" y="2359152"/>
            <a:ext cx="731520" cy="502920"/>
          </a:xfrm>
          <a:prstGeom prst="rect">
            <a:avLst/>
          </a:prstGeom>
          <a:noFill/>
          <a:ln/>
        </p:spPr>
        <p:txBody>
          <a:bodyPr wrap="square" lIns="0" tIns="0" rIns="0" bIns="0" rtlCol="0" anchor="ctr"/>
          <a:lstStyle/>
          <a:p>
            <a:pPr indent="0" marL="0">
              <a:buNone/>
            </a:pPr>
            <a:r>
              <a:rPr lang="en-US" sz="2200" b="1" dirty="0">
                <a:solidFill>
                  <a:srgbClr val="F2B544"/>
                </a:solidFill>
                <a:latin typeface="Calibri" pitchFamily="34" charset="0"/>
                <a:ea typeface="Calibri" pitchFamily="34" charset="-122"/>
                <a:cs typeface="Calibri" pitchFamily="34" charset="-120"/>
              </a:rPr>
              <a:t>02</a:t>
            </a:r>
            <a:endParaRPr lang="en-US" sz="2200" dirty="0"/>
          </a:p>
        </p:txBody>
      </p:sp>
      <p:sp>
        <p:nvSpPr>
          <p:cNvPr id="6" name="Text 4"/>
          <p:cNvSpPr txBox="1"/>
          <p:nvPr/>
        </p:nvSpPr>
        <p:spPr>
          <a:xfrm>
            <a:off x="1463040" y="2359152"/>
            <a:ext cx="10088575" cy="502920"/>
          </a:xfrm>
          <a:prstGeom prst="rect">
            <a:avLst/>
          </a:prstGeom>
          <a:noFill/>
          <a:ln/>
        </p:spPr>
        <p:txBody>
          <a:bodyPr wrap="square" lIns="0" tIns="0" rIns="0" bIns="0" rtlCol="0" anchor="ctr"/>
          <a:lstStyle/>
          <a:p>
            <a:pPr indent="0" marL="0">
              <a:buNone/>
            </a:pPr>
            <a:r>
              <a:rPr lang="en-US" sz="2200" dirty="0">
                <a:solidFill>
                  <a:srgbClr val="F3F4F6"/>
                </a:solidFill>
                <a:latin typeface="Calibri" pitchFamily="34" charset="0"/>
                <a:ea typeface="Calibri" pitchFamily="34" charset="-122"/>
                <a:cs typeface="Calibri" pitchFamily="34" charset="-120"/>
              </a:rPr>
              <a:t>Paper 1 · discussion</a:t>
            </a:r>
            <a:endParaRPr lang="en-US" sz="2200" dirty="0"/>
          </a:p>
        </p:txBody>
      </p:sp>
      <p:sp>
        <p:nvSpPr>
          <p:cNvPr id="7" name="Text 5"/>
          <p:cNvSpPr txBox="1"/>
          <p:nvPr/>
        </p:nvSpPr>
        <p:spPr>
          <a:xfrm>
            <a:off x="640080" y="2980944"/>
            <a:ext cx="731520" cy="502920"/>
          </a:xfrm>
          <a:prstGeom prst="rect">
            <a:avLst/>
          </a:prstGeom>
          <a:noFill/>
          <a:ln/>
        </p:spPr>
        <p:txBody>
          <a:bodyPr wrap="square" lIns="0" tIns="0" rIns="0" bIns="0" rtlCol="0" anchor="ctr"/>
          <a:lstStyle/>
          <a:p>
            <a:pPr indent="0" marL="0">
              <a:buNone/>
            </a:pPr>
            <a:r>
              <a:rPr lang="en-US" sz="2200" b="1" dirty="0">
                <a:solidFill>
                  <a:srgbClr val="F2B544"/>
                </a:solidFill>
                <a:latin typeface="Calibri" pitchFamily="34" charset="0"/>
                <a:ea typeface="Calibri" pitchFamily="34" charset="-122"/>
                <a:cs typeface="Calibri" pitchFamily="34" charset="-120"/>
              </a:rPr>
              <a:t>03</a:t>
            </a:r>
            <a:endParaRPr lang="en-US" sz="2200" dirty="0"/>
          </a:p>
        </p:txBody>
      </p:sp>
      <p:sp>
        <p:nvSpPr>
          <p:cNvPr id="8" name="Text 6"/>
          <p:cNvSpPr txBox="1"/>
          <p:nvPr/>
        </p:nvSpPr>
        <p:spPr>
          <a:xfrm>
            <a:off x="1463040" y="2980944"/>
            <a:ext cx="10088575" cy="502920"/>
          </a:xfrm>
          <a:prstGeom prst="rect">
            <a:avLst/>
          </a:prstGeom>
          <a:noFill/>
          <a:ln/>
        </p:spPr>
        <p:txBody>
          <a:bodyPr wrap="square" lIns="0" tIns="0" rIns="0" bIns="0" rtlCol="0" anchor="ctr"/>
          <a:lstStyle/>
          <a:p>
            <a:pPr indent="0" marL="0">
              <a:buNone/>
            </a:pPr>
            <a:r>
              <a:rPr lang="en-US" sz="2200" dirty="0">
                <a:solidFill>
                  <a:srgbClr val="F3F4F6"/>
                </a:solidFill>
                <a:latin typeface="Calibri" pitchFamily="34" charset="0"/>
                <a:ea typeface="Calibri" pitchFamily="34" charset="-122"/>
                <a:cs typeface="Calibri" pitchFamily="34" charset="-120"/>
              </a:rPr>
              <a:t>Paper 2: Timperley et al. 2021 · summary</a:t>
            </a:r>
            <a:endParaRPr lang="en-US" sz="2200" dirty="0"/>
          </a:p>
        </p:txBody>
      </p:sp>
      <p:sp>
        <p:nvSpPr>
          <p:cNvPr id="9" name="Text 7"/>
          <p:cNvSpPr txBox="1"/>
          <p:nvPr/>
        </p:nvSpPr>
        <p:spPr>
          <a:xfrm>
            <a:off x="640080" y="3602736"/>
            <a:ext cx="731520" cy="502920"/>
          </a:xfrm>
          <a:prstGeom prst="rect">
            <a:avLst/>
          </a:prstGeom>
          <a:noFill/>
          <a:ln/>
        </p:spPr>
        <p:txBody>
          <a:bodyPr wrap="square" lIns="0" tIns="0" rIns="0" bIns="0" rtlCol="0" anchor="ctr"/>
          <a:lstStyle/>
          <a:p>
            <a:pPr indent="0" marL="0">
              <a:buNone/>
            </a:pPr>
            <a:r>
              <a:rPr lang="en-US" sz="2200" b="1" dirty="0">
                <a:solidFill>
                  <a:srgbClr val="F2B544"/>
                </a:solidFill>
                <a:latin typeface="Calibri" pitchFamily="34" charset="0"/>
                <a:ea typeface="Calibri" pitchFamily="34" charset="-122"/>
                <a:cs typeface="Calibri" pitchFamily="34" charset="-120"/>
              </a:rPr>
              <a:t>04</a:t>
            </a:r>
            <a:endParaRPr lang="en-US" sz="2200" dirty="0"/>
          </a:p>
        </p:txBody>
      </p:sp>
      <p:sp>
        <p:nvSpPr>
          <p:cNvPr id="10" name="Text 8"/>
          <p:cNvSpPr txBox="1"/>
          <p:nvPr/>
        </p:nvSpPr>
        <p:spPr>
          <a:xfrm>
            <a:off x="1463040" y="3602736"/>
            <a:ext cx="10088575" cy="502920"/>
          </a:xfrm>
          <a:prstGeom prst="rect">
            <a:avLst/>
          </a:prstGeom>
          <a:noFill/>
          <a:ln/>
        </p:spPr>
        <p:txBody>
          <a:bodyPr wrap="square" lIns="0" tIns="0" rIns="0" bIns="0" rtlCol="0" anchor="ctr"/>
          <a:lstStyle/>
          <a:p>
            <a:pPr indent="0" marL="0">
              <a:buNone/>
            </a:pPr>
            <a:r>
              <a:rPr lang="en-US" sz="2200" dirty="0">
                <a:solidFill>
                  <a:srgbClr val="F3F4F6"/>
                </a:solidFill>
                <a:latin typeface="Calibri" pitchFamily="34" charset="0"/>
                <a:ea typeface="Calibri" pitchFamily="34" charset="-122"/>
                <a:cs typeface="Calibri" pitchFamily="34" charset="-120"/>
              </a:rPr>
              <a:t>Paper 2 · discussion</a:t>
            </a:r>
            <a:endParaRPr lang="en-US" sz="2200" dirty="0"/>
          </a:p>
        </p:txBody>
      </p:sp>
      <p:sp>
        <p:nvSpPr>
          <p:cNvPr id="11" name="Text 9"/>
          <p:cNvSpPr txBox="1"/>
          <p:nvPr/>
        </p:nvSpPr>
        <p:spPr>
          <a:xfrm>
            <a:off x="640080" y="4224528"/>
            <a:ext cx="731520" cy="502920"/>
          </a:xfrm>
          <a:prstGeom prst="rect">
            <a:avLst/>
          </a:prstGeom>
          <a:noFill/>
          <a:ln/>
        </p:spPr>
        <p:txBody>
          <a:bodyPr wrap="square" lIns="0" tIns="0" rIns="0" bIns="0" rtlCol="0" anchor="ctr"/>
          <a:lstStyle/>
          <a:p>
            <a:pPr indent="0" marL="0">
              <a:buNone/>
            </a:pPr>
            <a:r>
              <a:rPr lang="en-US" sz="2200" b="1" dirty="0">
                <a:solidFill>
                  <a:srgbClr val="F2B544"/>
                </a:solidFill>
                <a:latin typeface="Calibri" pitchFamily="34" charset="0"/>
                <a:ea typeface="Calibri" pitchFamily="34" charset="-122"/>
                <a:cs typeface="Calibri" pitchFamily="34" charset="-120"/>
              </a:rPr>
              <a:t>05</a:t>
            </a:r>
            <a:endParaRPr lang="en-US" sz="2200" dirty="0"/>
          </a:p>
        </p:txBody>
      </p:sp>
      <p:sp>
        <p:nvSpPr>
          <p:cNvPr id="12" name="Text 10"/>
          <p:cNvSpPr txBox="1"/>
          <p:nvPr/>
        </p:nvSpPr>
        <p:spPr>
          <a:xfrm>
            <a:off x="1463040" y="4224528"/>
            <a:ext cx="10088575" cy="502920"/>
          </a:xfrm>
          <a:prstGeom prst="rect">
            <a:avLst/>
          </a:prstGeom>
          <a:noFill/>
          <a:ln/>
        </p:spPr>
        <p:txBody>
          <a:bodyPr wrap="square" lIns="0" tIns="0" rIns="0" bIns="0" rtlCol="0" anchor="ctr"/>
          <a:lstStyle/>
          <a:p>
            <a:pPr indent="0" marL="0">
              <a:buNone/>
            </a:pPr>
            <a:r>
              <a:rPr lang="en-US" sz="2200" dirty="0">
                <a:solidFill>
                  <a:srgbClr val="F3F4F6"/>
                </a:solidFill>
                <a:latin typeface="Calibri" pitchFamily="34" charset="0"/>
                <a:ea typeface="Calibri" pitchFamily="34" charset="-122"/>
                <a:cs typeface="Calibri" pitchFamily="34" charset="-120"/>
              </a:rPr>
              <a:t>Cross comparison: similarities and differences</a:t>
            </a:r>
            <a:endParaRPr lang="en-US" sz="2200" dirty="0"/>
          </a:p>
        </p:txBody>
      </p:sp>
      <p:sp>
        <p:nvSpPr>
          <p:cNvPr id="13" name="Text 11"/>
          <p:cNvSpPr txBox="1"/>
          <p:nvPr/>
        </p:nvSpPr>
        <p:spPr>
          <a:xfrm>
            <a:off x="640080" y="4846320"/>
            <a:ext cx="731520" cy="502920"/>
          </a:xfrm>
          <a:prstGeom prst="rect">
            <a:avLst/>
          </a:prstGeom>
          <a:noFill/>
          <a:ln/>
        </p:spPr>
        <p:txBody>
          <a:bodyPr wrap="square" lIns="0" tIns="0" rIns="0" bIns="0" rtlCol="0" anchor="ctr"/>
          <a:lstStyle/>
          <a:p>
            <a:pPr indent="0" marL="0">
              <a:buNone/>
            </a:pPr>
            <a:r>
              <a:rPr lang="en-US" sz="2200" b="1" dirty="0">
                <a:solidFill>
                  <a:srgbClr val="F2B544"/>
                </a:solidFill>
                <a:latin typeface="Calibri" pitchFamily="34" charset="0"/>
                <a:ea typeface="Calibri" pitchFamily="34" charset="-122"/>
                <a:cs typeface="Calibri" pitchFamily="34" charset="-120"/>
              </a:rPr>
              <a:t>06</a:t>
            </a:r>
            <a:endParaRPr lang="en-US" sz="2200" dirty="0"/>
          </a:p>
        </p:txBody>
      </p:sp>
      <p:sp>
        <p:nvSpPr>
          <p:cNvPr id="14" name="Text 12"/>
          <p:cNvSpPr txBox="1"/>
          <p:nvPr/>
        </p:nvSpPr>
        <p:spPr>
          <a:xfrm>
            <a:off x="1463040" y="4846320"/>
            <a:ext cx="10088575" cy="502920"/>
          </a:xfrm>
          <a:prstGeom prst="rect">
            <a:avLst/>
          </a:prstGeom>
          <a:noFill/>
          <a:ln/>
        </p:spPr>
        <p:txBody>
          <a:bodyPr wrap="square" lIns="0" tIns="0" rIns="0" bIns="0" rtlCol="0" anchor="ctr"/>
          <a:lstStyle/>
          <a:p>
            <a:pPr indent="0" marL="0">
              <a:buNone/>
            </a:pPr>
            <a:r>
              <a:rPr lang="en-US" sz="2200" dirty="0">
                <a:solidFill>
                  <a:srgbClr val="F3F4F6"/>
                </a:solidFill>
                <a:latin typeface="Calibri" pitchFamily="34" charset="0"/>
                <a:ea typeface="Calibri" pitchFamily="34" charset="-122"/>
                <a:cs typeface="Calibri" pitchFamily="34" charset="-120"/>
              </a:rPr>
              <a:t>Discussion: what do you agree with?</a:t>
            </a:r>
            <a:endParaRPr lang="en-US" sz="2200" dirty="0"/>
          </a:p>
        </p:txBody>
      </p:sp>
      <p:sp>
        <p:nvSpPr>
          <p:cNvPr id="15" name="Text 13"/>
          <p:cNvSpPr txBox="1"/>
          <p:nvPr/>
        </p:nvSpPr>
        <p:spPr>
          <a:xfrm>
            <a:off x="640080" y="5468112"/>
            <a:ext cx="731520" cy="502920"/>
          </a:xfrm>
          <a:prstGeom prst="rect">
            <a:avLst/>
          </a:prstGeom>
          <a:noFill/>
          <a:ln/>
        </p:spPr>
        <p:txBody>
          <a:bodyPr wrap="square" lIns="0" tIns="0" rIns="0" bIns="0" rtlCol="0" anchor="ctr"/>
          <a:lstStyle/>
          <a:p>
            <a:pPr indent="0" marL="0">
              <a:buNone/>
            </a:pPr>
            <a:r>
              <a:rPr lang="en-US" sz="2200" b="1" dirty="0">
                <a:solidFill>
                  <a:srgbClr val="F2B544"/>
                </a:solidFill>
                <a:latin typeface="Calibri" pitchFamily="34" charset="0"/>
                <a:ea typeface="Calibri" pitchFamily="34" charset="-122"/>
                <a:cs typeface="Calibri" pitchFamily="34" charset="-120"/>
              </a:rPr>
              <a:t>07</a:t>
            </a:r>
            <a:endParaRPr lang="en-US" sz="2200" dirty="0"/>
          </a:p>
        </p:txBody>
      </p:sp>
      <p:sp>
        <p:nvSpPr>
          <p:cNvPr id="16" name="Text 14"/>
          <p:cNvSpPr txBox="1"/>
          <p:nvPr/>
        </p:nvSpPr>
        <p:spPr>
          <a:xfrm>
            <a:off x="1463040" y="5468112"/>
            <a:ext cx="10088575" cy="502920"/>
          </a:xfrm>
          <a:prstGeom prst="rect">
            <a:avLst/>
          </a:prstGeom>
          <a:noFill/>
          <a:ln/>
        </p:spPr>
        <p:txBody>
          <a:bodyPr wrap="square" lIns="0" tIns="0" rIns="0" bIns="0" rtlCol="0" anchor="ctr"/>
          <a:lstStyle/>
          <a:p>
            <a:pPr indent="0" marL="0">
              <a:buNone/>
            </a:pPr>
            <a:r>
              <a:rPr lang="en-US" sz="2200" dirty="0">
                <a:solidFill>
                  <a:srgbClr val="F3F4F6"/>
                </a:solidFill>
                <a:latin typeface="Calibri" pitchFamily="34" charset="0"/>
                <a:ea typeface="Calibri" pitchFamily="34" charset="-122"/>
                <a:cs typeface="Calibri" pitchFamily="34" charset="-120"/>
              </a:rPr>
              <a:t>Criticism of the papers</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2194560"/>
            <a:ext cx="10911535" cy="1097280"/>
          </a:xfrm>
          <a:prstGeom prst="rect">
            <a:avLst/>
          </a:prstGeom>
          <a:noFill/>
          <a:ln/>
        </p:spPr>
        <p:txBody>
          <a:bodyPr wrap="square" lIns="0" tIns="0" rIns="0" bIns="0" rtlCol="0" anchor="b"/>
          <a:lstStyle/>
          <a:p>
            <a:pPr indent="0" marL="0">
              <a:buNone/>
            </a:pPr>
            <a:r>
              <a:rPr lang="en-US" sz="4800" b="1" dirty="0">
                <a:solidFill>
                  <a:srgbClr val="F3F4F6"/>
                </a:solidFill>
                <a:latin typeface="Calibri" pitchFamily="34" charset="0"/>
                <a:ea typeface="Calibri" pitchFamily="34" charset="-122"/>
                <a:cs typeface="Calibri" pitchFamily="34" charset="-120"/>
              </a:rPr>
              <a:t>Paper 1</a:t>
            </a:r>
            <a:endParaRPr lang="en-US" sz="4800" dirty="0"/>
          </a:p>
        </p:txBody>
      </p:sp>
      <p:sp>
        <p:nvSpPr>
          <p:cNvPr id="3" name="Text 1"/>
          <p:cNvSpPr txBox="1"/>
          <p:nvPr/>
        </p:nvSpPr>
        <p:spPr>
          <a:xfrm>
            <a:off x="640080" y="3474720"/>
            <a:ext cx="9274805" cy="1097280"/>
          </a:xfrm>
          <a:prstGeom prst="rect">
            <a:avLst/>
          </a:prstGeom>
          <a:noFill/>
          <a:ln/>
        </p:spPr>
        <p:txBody>
          <a:bodyPr wrap="square" lIns="0" tIns="0" rIns="0" bIns="0" rtlCol="0" anchor="t"/>
          <a:lstStyle/>
          <a:p>
            <a:pPr indent="0" marL="0">
              <a:buNone/>
            </a:pPr>
            <a:r>
              <a:rPr lang="en-US" sz="2000" dirty="0">
                <a:solidFill>
                  <a:srgbClr val="A3AAB4"/>
                </a:solidFill>
                <a:latin typeface="Calibri" pitchFamily="34" charset="0"/>
                <a:ea typeface="Calibri" pitchFamily="34" charset="-122"/>
                <a:cs typeface="Calibri" pitchFamily="34" charset="-120"/>
              </a:rPr>
              <a:t>Hermann, Winter &amp; Siegmund (2020): Community Expectations for Research Artifacts and Evaluation Processes · ESEC/FSE, pp. 469–480</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General summary</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Artifact evaluation has spread, but nobody agrees what a good artifact is</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Artifact evaluation (AE): committees check artifacts of accepted papers and award badges</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Terminology</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3400" b="1" dirty="0">
                <a:solidFill>
                  <a:srgbClr val="F3F4F6"/>
                </a:solidFill>
                <a:latin typeface="Calibri" pitchFamily="34" charset="0"/>
                <a:ea typeface="Calibri" pitchFamily="34" charset="-122"/>
                <a:cs typeface="Calibri" pitchFamily="34" charset="-120"/>
              </a:rPr>
              <a:t>The paper uses the old ACM terms, which ACM swapped in 2020</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10911535" cy="914400"/>
        </p:xfrm>
        <a:graphic>
          <a:graphicData uri="http://schemas.openxmlformats.org/drawingml/2006/table">
            <a:tbl>
              <a:tblPr/>
              <a:tblGrid>
                <a:gridCol w="3637178"/>
                <a:gridCol w="3637178"/>
                <a:gridCol w="3637178"/>
              </a:tblGrid>
              <a:tr h="566928">
                <a:tc>
                  <a:txBody>
                    <a:bodyPr/>
                    <a:lstStyle/>
                    <a:p>
                      <a:pPr indent="0" marL="0">
                        <a:buNone/>
                      </a:pPr>
                      <a:r>
                        <a:rPr lang="en-US" sz="1800" b="1" dirty="0">
                          <a:solidFill>
                            <a:srgbClr val="F2B544"/>
                          </a:solidFill>
                          <a:latin typeface="Calibri" pitchFamily="34" charset="0"/>
                          <a:ea typeface="Calibri" pitchFamily="34" charset="-122"/>
                          <a:cs typeface="Calibri" pitchFamily="34" charset="-120"/>
                        </a:rPr>
                        <a:t>Setting</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2A2F36"/>
                    </a:solidFill>
                  </a:tcPr>
                </a:tc>
                <a:tc>
                  <a:txBody>
                    <a:bodyPr/>
                    <a:lstStyle/>
                    <a:p>
                      <a:pPr indent="0" marL="0">
                        <a:buNone/>
                      </a:pPr>
                      <a:r>
                        <a:rPr lang="en-US" sz="1800" b="1" dirty="0">
                          <a:solidFill>
                            <a:srgbClr val="F2B544"/>
                          </a:solidFill>
                          <a:latin typeface="Calibri" pitchFamily="34" charset="0"/>
                          <a:ea typeface="Calibri" pitchFamily="34" charset="-122"/>
                          <a:cs typeface="Calibri" pitchFamily="34" charset="-120"/>
                        </a:rPr>
                        <a:t>Paper (old ACM)</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2A2F36"/>
                    </a:solidFill>
                  </a:tcPr>
                </a:tc>
                <a:tc>
                  <a:txBody>
                    <a:bodyPr/>
                    <a:lstStyle/>
                    <a:p>
                      <a:pPr indent="0" marL="0">
                        <a:buNone/>
                      </a:pPr>
                      <a:r>
                        <a:rPr lang="en-US" sz="1800" b="1" dirty="0">
                          <a:solidFill>
                            <a:srgbClr val="F2B544"/>
                          </a:solidFill>
                          <a:latin typeface="Calibri" pitchFamily="34" charset="0"/>
                          <a:ea typeface="Calibri" pitchFamily="34" charset="-122"/>
                          <a:cs typeface="Calibri" pitchFamily="34" charset="-120"/>
                        </a:rPr>
                        <a:t>Our lecture (2020)</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2A2F36"/>
                    </a:solidFill>
                  </a:tcPr>
                </a:tc>
              </a:tr>
              <a:tr h="566928">
                <a:tc>
                  <a:txBody>
                    <a:bodyPr/>
                    <a:lstStyle/>
                    <a:p>
                      <a:pPr indent="0" marL="0">
                        <a:buNone/>
                      </a:pPr>
                      <a:r>
                        <a:rPr lang="en-US" sz="1800" b="1" dirty="0">
                          <a:solidFill>
                            <a:srgbClr val="F3F4F6"/>
                          </a:solidFill>
                          <a:latin typeface="Calibri" pitchFamily="34" charset="0"/>
                          <a:ea typeface="Calibri" pitchFamily="34" charset="-122"/>
                          <a:cs typeface="Calibri" pitchFamily="34" charset="-120"/>
                        </a:rPr>
                        <a:t>Same team, same setup</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Repeatability</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Repeatability</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r>
              <a:tr h="566928">
                <a:tc>
                  <a:txBody>
                    <a:bodyPr/>
                    <a:lstStyle/>
                    <a:p>
                      <a:pPr indent="0" marL="0">
                        <a:buNone/>
                      </a:pPr>
                      <a:r>
                        <a:rPr lang="en-US" sz="1800" b="1" dirty="0">
                          <a:solidFill>
                            <a:srgbClr val="F3F4F6"/>
                          </a:solidFill>
                          <a:latin typeface="Calibri" pitchFamily="34" charset="0"/>
                          <a:ea typeface="Calibri" pitchFamily="34" charset="-122"/>
                          <a:cs typeface="Calibri" pitchFamily="34" charset="-120"/>
                        </a:rPr>
                        <a:t>Other team, authors' artifacts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Replicability</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Reproducibility</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r>
              <a:tr h="566928">
                <a:tc>
                  <a:txBody>
                    <a:bodyPr/>
                    <a:lstStyle/>
                    <a:p>
                      <a:pPr indent="0" marL="0">
                        <a:buNone/>
                      </a:pPr>
                      <a:r>
                        <a:rPr lang="en-US" sz="1800" b="1" dirty="0">
                          <a:solidFill>
                            <a:srgbClr val="F3F4F6"/>
                          </a:solidFill>
                          <a:latin typeface="Calibri" pitchFamily="34" charset="0"/>
                          <a:ea typeface="Calibri" pitchFamily="34" charset="-122"/>
                          <a:cs typeface="Calibri" pitchFamily="34" charset="-120"/>
                        </a:rPr>
                        <a:t>Other team, own artifacts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Reproducibility</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Replicability</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r>
            </a:tbl>
          </a:graphicData>
        </a:graphic>
      </p:graphicFrame>
      <p:sp>
        <p:nvSpPr>
          <p:cNvPr id="5" name="Text 2"/>
          <p:cNvSpPr txBox="1"/>
          <p:nvPr/>
        </p:nvSpPr>
        <p:spPr>
          <a:xfrm>
            <a:off x="640080" y="5056632"/>
            <a:ext cx="10911535" cy="822960"/>
          </a:xfrm>
          <a:prstGeom prst="rect">
            <a:avLst/>
          </a:prstGeom>
          <a:noFill/>
          <a:ln/>
        </p:spPr>
        <p:txBody>
          <a:bodyPr wrap="square" lIns="0" tIns="0" rIns="0" bIns="0" rtlCol="0" anchor="t"/>
          <a:lstStyle/>
          <a:p>
            <a:pPr indent="0" marL="0">
              <a:buNone/>
            </a:pPr>
            <a:r>
              <a:rPr lang="en-US" sz="1600" dirty="0">
                <a:solidFill>
                  <a:srgbClr val="A3AAB4"/>
                </a:solidFill>
                <a:latin typeface="Calibri" pitchFamily="34" charset="0"/>
                <a:ea typeface="Calibri" pitchFamily="34" charset="-122"/>
                <a:cs typeface="Calibri" pitchFamily="34" charset="-120"/>
              </a:rPr>
              <a:t>Footnote 5, p. 471. Artifact = "a self-contained work result, having a context-specific purpose" (p. 470). Badges: Available, Functional, Reusable, Results.</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Research questions</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Three questions about purpose and expectations</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RQ1: What do AEC members see as the purpose of artifact evaluation?</a:t>
            </a:r>
            <a:endParaRPr lang="en-US" sz="2400" dirty="0"/>
          </a:p>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RQ2: What do they expect from an artifact as reviewers?</a:t>
            </a:r>
            <a:endParaRPr lang="en-US" sz="2400" dirty="0"/>
          </a:p>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RQ3: What do they expect as users of artifacts?</a:t>
            </a:r>
            <a:endParaRPr lang="en-US" sz="2400" dirty="0"/>
          </a:p>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Pre-study: what do calls for artifacts and ACM guidelines demand?</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Methodology</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A document study plus a qualitative survey of reviewers</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79 calls for artifacts, SE and PL conferences, 2011–2019, coded by two researchers</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Results</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The only real threshold anywhere: set up and test in under 30 minutes</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Calls name criteria (documentation 46, consistency 45) but no levels (pp. 471–472)</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Validity and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The authors accept selection bias to keep questions understood</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Only AEC members asked, mostly PL: a deliberate trade-off (p. 479)</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Paper 1 ·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Should artifact badges be easy to get or hard to get?</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Low bar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Availability is the bottleneck. Any code beats none.</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High bar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If almost everything passes, a badge signals little.</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Paper 1 ·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Who checks the checkers?</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Students are fine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Reviewing is training; fresh eyes see what users will see.</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Experts needed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Inexperienced reviewers make badges inconsistent across years.</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Paper 1 ·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Is "set up in 30 minutes" a quality standard or a convenience rule?</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A real standard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If users cannot start it quickly, they will not use it.</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Just convenience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It says nothing about whether the results are right.</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2194560"/>
            <a:ext cx="10911535" cy="1097280"/>
          </a:xfrm>
          <a:prstGeom prst="rect">
            <a:avLst/>
          </a:prstGeom>
          <a:noFill/>
          <a:ln/>
        </p:spPr>
        <p:txBody>
          <a:bodyPr wrap="square" lIns="0" tIns="0" rIns="0" bIns="0" rtlCol="0" anchor="b"/>
          <a:lstStyle/>
          <a:p>
            <a:pPr indent="0" marL="0">
              <a:buNone/>
            </a:pPr>
            <a:r>
              <a:rPr lang="en-US" sz="4800" b="1" dirty="0">
                <a:solidFill>
                  <a:srgbClr val="F3F4F6"/>
                </a:solidFill>
                <a:latin typeface="Calibri" pitchFamily="34" charset="0"/>
                <a:ea typeface="Calibri" pitchFamily="34" charset="-122"/>
                <a:cs typeface="Calibri" pitchFamily="34" charset="-120"/>
              </a:rPr>
              <a:t>Paper 2</a:t>
            </a:r>
            <a:endParaRPr lang="en-US" sz="4800" dirty="0"/>
          </a:p>
        </p:txBody>
      </p:sp>
      <p:sp>
        <p:nvSpPr>
          <p:cNvPr id="3" name="Text 1"/>
          <p:cNvSpPr txBox="1"/>
          <p:nvPr/>
        </p:nvSpPr>
        <p:spPr>
          <a:xfrm>
            <a:off x="640080" y="3474720"/>
            <a:ext cx="9274805" cy="1097280"/>
          </a:xfrm>
          <a:prstGeom prst="rect">
            <a:avLst/>
          </a:prstGeom>
          <a:noFill/>
          <a:ln/>
        </p:spPr>
        <p:txBody>
          <a:bodyPr wrap="square" lIns="0" tIns="0" rIns="0" bIns="0" rtlCol="0" anchor="t"/>
          <a:lstStyle/>
          <a:p>
            <a:pPr indent="0" marL="0">
              <a:buNone/>
            </a:pPr>
            <a:r>
              <a:rPr lang="en-US" sz="2000" dirty="0">
                <a:solidFill>
                  <a:srgbClr val="A3AAB4"/>
                </a:solidFill>
                <a:latin typeface="Calibri" pitchFamily="34" charset="0"/>
                <a:ea typeface="Calibri" pitchFamily="34" charset="-122"/>
                <a:cs typeface="Calibri" pitchFamily="34" charset="-120"/>
              </a:rPr>
              <a:t>Timperley, Herckis, Le Goues &amp; Hilton (2021): Understanding and improving artifact sharing in software engineering research · EMSE 26:67</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General summary</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Sharing artifacts is the norm, but nobody is rewarded for doing it well</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Counted artifact links in 1434 SE papers and surveyed 153 authors</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Terminology</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"Artifact" means any link to external material</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Artifact: "any external materials or information provided … via a link" (p. 3)</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Research questions</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Do we value artifacts, and what makes them hard?</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RQ1: Does the SE community perceive inherent value in artifacts?</a:t>
            </a:r>
            <a:endParaRPr lang="en-US" sz="2400" dirty="0"/>
          </a:p>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RQ2.1: What challenges do artifact creators face?</a:t>
            </a:r>
            <a:endParaRPr lang="en-US" sz="2400" dirty="0"/>
          </a:p>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RQ2.2: What challenges do artifact users face?</a:t>
            </a:r>
            <a:endParaRPr lang="en-US" sz="2400" dirty="0"/>
          </a:p>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RQ2.3: What challenges do artifact reviewers face?</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Methodology</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A publication survey and an author survey, analysed together</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All technical papers at ICSE, FSE, ASE, EMSE 2014–2018; links found by regex, checked by hand</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Results</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Most papers link an artifact, but few are submitted for evaluation</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62.7 % of papers link an artifact, rising from 51 % to 69 % (p. 11)</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Validity and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Eight recommendations, from creators up to funders</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Creators: describe the artifact, make it self-contained, plan from day one (R1–R3)</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Paper 2 ·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Should a failed artifact evaluation be able to reject a paper?</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Yes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Otherwise AE is optional decoration.</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No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Clashes with double-blind review (C8) and penalises industry papers (C9).</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Paper 2 ·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Who keeps an artifact alive after the PhD?</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Snapshot is enough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Archive it, mark it unmaintained, move on.</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Ongoing upkeep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Research software is infrastructure and needs funding (P102, p. 19).</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Paper 2 · discussion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Students as artifact reviewers: training opportunity or devaluation?</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Training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Students learn what good artifacts look like.</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Devaluation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Signals that artifact work is second-class.</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2194560"/>
            <a:ext cx="10911535" cy="1097280"/>
          </a:xfrm>
          <a:prstGeom prst="rect">
            <a:avLst/>
          </a:prstGeom>
          <a:noFill/>
          <a:ln/>
        </p:spPr>
        <p:txBody>
          <a:bodyPr wrap="square" lIns="0" tIns="0" rIns="0" bIns="0" rtlCol="0" anchor="b"/>
          <a:lstStyle/>
          <a:p>
            <a:pPr indent="0" marL="0">
              <a:buNone/>
            </a:pPr>
            <a:r>
              <a:rPr lang="en-US" sz="4800" b="1" dirty="0">
                <a:solidFill>
                  <a:srgbClr val="F3F4F6"/>
                </a:solidFill>
                <a:latin typeface="Calibri" pitchFamily="34" charset="0"/>
                <a:ea typeface="Calibri" pitchFamily="34" charset="-122"/>
                <a:cs typeface="Calibri" pitchFamily="34" charset="-120"/>
              </a:rPr>
              <a:t>Cross comparison</a:t>
            </a:r>
            <a:endParaRPr lang="en-US" sz="4800" dirty="0"/>
          </a:p>
        </p:txBody>
      </p:sp>
      <p:sp>
        <p:nvSpPr>
          <p:cNvPr id="3" name="Text 1"/>
          <p:cNvSpPr txBox="1"/>
          <p:nvPr/>
        </p:nvSpPr>
        <p:spPr>
          <a:xfrm>
            <a:off x="640080" y="3474720"/>
            <a:ext cx="9274805" cy="1097280"/>
          </a:xfrm>
          <a:prstGeom prst="rect">
            <a:avLst/>
          </a:prstGeom>
          <a:noFill/>
          <a:ln/>
        </p:spPr>
        <p:txBody>
          <a:bodyPr wrap="square" lIns="0" tIns="0" rIns="0" bIns="0" rtlCol="0" anchor="t"/>
          <a:lstStyle/>
          <a:p>
            <a:pPr indent="0" marL="0">
              <a:buNone/>
            </a:pPr>
            <a:r>
              <a:rPr lang="en-US" sz="2000" dirty="0">
                <a:solidFill>
                  <a:srgbClr val="A3AAB4"/>
                </a:solidFill>
                <a:latin typeface="Calibri" pitchFamily="34" charset="0"/>
                <a:ea typeface="Calibri" pitchFamily="34" charset="-122"/>
                <a:cs typeface="Calibri" pitchFamily="34" charset="-120"/>
              </a:rPr>
              <a:t>Similarities and differences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Cross comparison</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3400" b="1" dirty="0">
                <a:solidFill>
                  <a:srgbClr val="F3F4F6"/>
                </a:solidFill>
                <a:latin typeface="Calibri" pitchFamily="34" charset="0"/>
                <a:ea typeface="Calibri" pitchFamily="34" charset="-122"/>
                <a:cs typeface="Calibri" pitchFamily="34" charset="-120"/>
              </a:rPr>
              <a:t>Same problem, asked from opposite sides</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10911535" cy="914400"/>
        </p:xfrm>
        <a:graphic>
          <a:graphicData uri="http://schemas.openxmlformats.org/drawingml/2006/table">
            <a:tbl>
              <a:tblPr/>
              <a:tblGrid>
                <a:gridCol w="3637178"/>
                <a:gridCol w="3637178"/>
                <a:gridCol w="3637178"/>
              </a:tblGrid>
              <a:tr h="566928">
                <a:tc>
                  <a:txBody>
                    <a:bodyPr/>
                    <a:lstStyle/>
                    <a:p>
                      <a:pPr indent="0" marL="0">
                        <a:buNone/>
                      </a:pP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2A2F36"/>
                    </a:solidFill>
                  </a:tcPr>
                </a:tc>
                <a:tc>
                  <a:txBody>
                    <a:bodyPr/>
                    <a:lstStyle/>
                    <a:p>
                      <a:pPr indent="0" marL="0">
                        <a:buNone/>
                      </a:pPr>
                      <a:r>
                        <a:rPr lang="en-US" sz="1800" b="1" dirty="0">
                          <a:solidFill>
                            <a:srgbClr val="F2B544"/>
                          </a:solidFill>
                          <a:latin typeface="Calibri" pitchFamily="34" charset="0"/>
                          <a:ea typeface="Calibri" pitchFamily="34" charset="-122"/>
                          <a:cs typeface="Calibri" pitchFamily="34" charset="-120"/>
                        </a:rPr>
                        <a:t>Hermann et al.</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2A2F36"/>
                    </a:solidFill>
                  </a:tcPr>
                </a:tc>
                <a:tc>
                  <a:txBody>
                    <a:bodyPr/>
                    <a:lstStyle/>
                    <a:p>
                      <a:pPr indent="0" marL="0">
                        <a:buNone/>
                      </a:pPr>
                      <a:r>
                        <a:rPr lang="en-US" sz="1800" b="1" dirty="0">
                          <a:solidFill>
                            <a:srgbClr val="F2B544"/>
                          </a:solidFill>
                          <a:latin typeface="Calibri" pitchFamily="34" charset="0"/>
                          <a:ea typeface="Calibri" pitchFamily="34" charset="-122"/>
                          <a:cs typeface="Calibri" pitchFamily="34" charset="-120"/>
                        </a:rPr>
                        <a:t>Timperley et al.</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2A2F36"/>
                    </a:solidFill>
                  </a:tcPr>
                </a:tc>
              </a:tr>
              <a:tr h="566928">
                <a:tc>
                  <a:txBody>
                    <a:bodyPr/>
                    <a:lstStyle/>
                    <a:p>
                      <a:pPr indent="0" marL="0">
                        <a:buNone/>
                      </a:pPr>
                      <a:r>
                        <a:rPr lang="en-US" sz="1800" b="1" dirty="0">
                          <a:solidFill>
                            <a:srgbClr val="F3F4F6"/>
                          </a:solidFill>
                          <a:latin typeface="Calibri" pitchFamily="34" charset="0"/>
                          <a:ea typeface="Calibri" pitchFamily="34" charset="-122"/>
                          <a:cs typeface="Calibri" pitchFamily="34" charset="-120"/>
                        </a:rPr>
                        <a:t>Asked</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Reviewers (AEC members)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Authors (few reviewers)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r>
              <a:tr h="566928">
                <a:tc>
                  <a:txBody>
                    <a:bodyPr/>
                    <a:lstStyle/>
                    <a:p>
                      <a:pPr indent="0" marL="0">
                        <a:buNone/>
                      </a:pPr>
                      <a:r>
                        <a:rPr lang="en-US" sz="1800" b="1" dirty="0">
                          <a:solidFill>
                            <a:srgbClr val="F3F4F6"/>
                          </a:solidFill>
                          <a:latin typeface="Calibri" pitchFamily="34" charset="0"/>
                          <a:ea typeface="Calibri" pitchFamily="34" charset="-122"/>
                          <a:cs typeface="Calibri" pitchFamily="34" charset="-120"/>
                        </a:rPr>
                        <a:t>Field</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SE and programming languages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SE only</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r>
              <a:tr h="566928">
                <a:tc>
                  <a:txBody>
                    <a:bodyPr/>
                    <a:lstStyle/>
                    <a:p>
                      <a:pPr indent="0" marL="0">
                        <a:buNone/>
                      </a:pPr>
                      <a:r>
                        <a:rPr lang="en-US" sz="1800" b="1" dirty="0">
                          <a:solidFill>
                            <a:srgbClr val="F3F4F6"/>
                          </a:solidFill>
                          <a:latin typeface="Calibri" pitchFamily="34" charset="0"/>
                          <a:ea typeface="Calibri" pitchFamily="34" charset="-122"/>
                          <a:cs typeface="Calibri" pitchFamily="34" charset="-120"/>
                        </a:rPr>
                        <a:t>Diagnosis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Unclear purpose and standards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Misaligned incentives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r>
              <a:tr h="566928">
                <a:tc>
                  <a:txBody>
                    <a:bodyPr/>
                    <a:lstStyle/>
                    <a:p>
                      <a:pPr indent="0" marL="0">
                        <a:buNone/>
                      </a:pPr>
                      <a:r>
                        <a:rPr lang="en-US" sz="1800" b="1" dirty="0">
                          <a:solidFill>
                            <a:srgbClr val="F3F4F6"/>
                          </a:solidFill>
                          <a:latin typeface="Calibri" pitchFamily="34" charset="0"/>
                          <a:ea typeface="Calibri" pitchFamily="34" charset="-122"/>
                          <a:cs typeface="Calibri" pitchFamily="34" charset="-120"/>
                        </a:rPr>
                        <a:t>Proposal</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Standards per community in the calls</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c>
                  <a:txBody>
                    <a:bodyPr/>
                    <a:lstStyle/>
                    <a:p>
                      <a:pPr indent="0" marL="0">
                        <a:buNone/>
                      </a:pPr>
                      <a:r>
                        <a:rPr lang="en-US" sz="1800" dirty="0">
                          <a:solidFill>
                            <a:srgbClr val="F3F4F6"/>
                          </a:solidFill>
                          <a:latin typeface="Calibri" pitchFamily="34" charset="0"/>
                          <a:ea typeface="Calibri" pitchFamily="34" charset="-122"/>
                          <a:cs typeface="Calibri" pitchFamily="34" charset="-120"/>
                        </a:rPr>
                        <a:t>R1–R8 for each group</a:t>
                      </a:r>
                      <a:endParaRPr lang="en-US" sz="1800" dirty="0">
                        <a:latin typeface="Calibri" charset="0"/>
                        <a:ea typeface="Calibri" charset="0"/>
                        <a:cs typeface="Calibri" charset="0"/>
                      </a:endParaRPr>
                    </a:p>
                  </a:txBody>
                  <a:tcPr marL="91440" marR="91440" marT="91440" marB="91440">
                    <a:lnL w="12700" cap="flat" cmpd="sng" algn="ctr">
                      <a:solidFill>
                        <a:srgbClr val="2A2F36"/>
                      </a:solidFill>
                      <a:prstDash val="solid"/>
                      <a:round/>
                      <a:headEnd type="none" w="med" len="med"/>
                      <a:tailEnd type="none" w="med" len="med"/>
                    </a:lnL>
                    <a:lnR w="12700" cap="flat" cmpd="sng" algn="ctr">
                      <a:solidFill>
                        <a:srgbClr val="2A2F36"/>
                      </a:solidFill>
                      <a:prstDash val="solid"/>
                      <a:round/>
                      <a:headEnd type="none" w="med" len="med"/>
                      <a:tailEnd type="none" w="med" len="med"/>
                    </a:lnR>
                    <a:lnT w="12700" cap="flat" cmpd="sng" algn="ctr">
                      <a:solidFill>
                        <a:srgbClr val="2A2F36"/>
                      </a:solidFill>
                      <a:prstDash val="solid"/>
                      <a:round/>
                      <a:headEnd type="none" w="med" len="med"/>
                      <a:tailEnd type="none" w="med" len="med"/>
                    </a:lnT>
                    <a:lnB w="12700" cap="flat" cmpd="sng" algn="ctr">
                      <a:solidFill>
                        <a:srgbClr val="2A2F36"/>
                      </a:solidFill>
                      <a:prstDash val="solid"/>
                      <a:round/>
                      <a:headEnd type="none" w="med" len="med"/>
                      <a:tailEnd type="none" w="med" len="med"/>
                    </a:lnB>
                    <a:solidFill>
                      <a:srgbClr val="1E2227"/>
                    </a:solidFill>
                  </a:tcPr>
                </a:tc>
              </a:tr>
            </a:tbl>
          </a:graphicData>
        </a:graphic>
      </p:graphicFrame>
      <p:sp>
        <p:nvSpPr>
          <p:cNvPr id="5" name="Text 2"/>
          <p:cNvSpPr txBox="1"/>
          <p:nvPr/>
        </p:nvSpPr>
        <p:spPr>
          <a:xfrm>
            <a:off x="640080" y="5623560"/>
            <a:ext cx="10911535" cy="822960"/>
          </a:xfrm>
          <a:prstGeom prst="rect">
            <a:avLst/>
          </a:prstGeom>
          <a:noFill/>
          <a:ln/>
        </p:spPr>
        <p:txBody>
          <a:bodyPr wrap="square" lIns="0" tIns="0" rIns="0" bIns="0" rtlCol="0" anchor="t"/>
          <a:lstStyle/>
          <a:p>
            <a:pPr indent="0" marL="0">
              <a:buNone/>
            </a:pPr>
            <a:r>
              <a:rPr lang="en-US" sz="1600" dirty="0">
                <a:solidFill>
                  <a:srgbClr val="A3AAB4"/>
                </a:solidFill>
                <a:latin typeface="Calibri" pitchFamily="34" charset="0"/>
                <a:ea typeface="Calibri" pitchFamily="34" charset="-122"/>
                <a:cs typeface="Calibri" pitchFamily="34" charset="-120"/>
              </a:rPr>
              <a:t>Timperley et al. build three recommendations on Hermann et al.</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Similarities</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Both see a missing standard and want artifacts to count for acceptance</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No agreed quality threshold (Hermann p. 478; Timperley C6, p. 16)</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Discussion: what do you agree with?</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Fix the definitions first, or the incentives?</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Standards first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You cannot reward what you cannot measure.</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Incentives first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Perfect criteria change nothing if nobody submits.</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Discussion: what do you agree with?</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Run the authors' scripts, or try to break them?</a:t>
            </a:r>
            <a:endParaRPr lang="en-US" sz="4000" dirty="0"/>
          </a:p>
        </p:txBody>
      </p:sp>
      <p:sp>
        <p:nvSpPr>
          <p:cNvPr id="4" name="Text 2"/>
          <p:cNvSpPr txBox="1"/>
          <p:nvPr/>
        </p:nvSpPr>
        <p:spPr>
          <a:xfrm>
            <a:off x="640080" y="3566160"/>
            <a:ext cx="10911535" cy="1463040"/>
          </a:xfrm>
          <a:prstGeom prst="rect">
            <a:avLst/>
          </a:prstGeom>
          <a:noFill/>
          <a:ln/>
        </p:spPr>
        <p:txBody>
          <a:bodyPr wrap="square" lIns="0" tIns="0" rIns="0" bIns="0" rtlCol="0" anchor="t"/>
          <a:lstStyle/>
          <a:p>
            <a:pPr indent="0" marL="0">
              <a:spcAft>
                <a:spcPts val="800"/>
              </a:spcAft>
              <a:buNone/>
            </a:pPr>
            <a:r>
              <a:rPr lang="en-US" sz="2200" b="1" dirty="0">
                <a:solidFill>
                  <a:srgbClr val="7DD3C0"/>
                </a:solidFill>
                <a:latin typeface="Calibri" pitchFamily="34" charset="0"/>
                <a:ea typeface="Calibri" pitchFamily="34" charset="-122"/>
                <a:cs typeface="Calibri" pitchFamily="34" charset="-120"/>
              </a:rPr>
              <a:t>Run scripts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Cheap, scalable: exactly 2020 reproducibility.</a:t>
            </a:r>
            <a:endParaRPr lang="en-US" sz="2200" dirty="0"/>
          </a:p>
          <a:p>
            <a:pPr indent="0" marL="0">
              <a:spcAft>
                <a:spcPts val="800"/>
              </a:spcAft>
              <a:buNone/>
            </a:pPr>
            <a:r>
              <a:rPr lang="en-US" sz="2200" b="1" dirty="0">
                <a:solidFill>
                  <a:srgbClr val="F2B544"/>
                </a:solidFill>
                <a:latin typeface="Calibri" pitchFamily="34" charset="0"/>
                <a:ea typeface="Calibri" pitchFamily="34" charset="-122"/>
                <a:cs typeface="Calibri" pitchFamily="34" charset="-120"/>
              </a:rPr>
              <a:t>Probe  </a:t>
            </a:r>
            <a:pPr indent="0" marL="0">
              <a:spcAft>
                <a:spcPts val="800"/>
              </a:spcAft>
              <a:buNone/>
            </a:pPr>
            <a:r>
              <a:rPr lang="en-US" sz="2200" dirty="0">
                <a:solidFill>
                  <a:srgbClr val="A3AAB4"/>
                </a:solidFill>
                <a:latin typeface="Calibri" pitchFamily="34" charset="0"/>
                <a:ea typeface="Calibri" pitchFamily="34" charset="-122"/>
                <a:cs typeface="Calibri" pitchFamily="34" charset="-120"/>
              </a:rPr>
              <a:t>Otherwise a badge certifies a repeatable bug.</a:t>
            </a:r>
            <a:endParaRPr lang="en-US" sz="2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40080" y="2194560"/>
            <a:ext cx="10911535" cy="1097280"/>
          </a:xfrm>
          <a:prstGeom prst="rect">
            <a:avLst/>
          </a:prstGeom>
          <a:noFill/>
          <a:ln/>
        </p:spPr>
        <p:txBody>
          <a:bodyPr wrap="square" lIns="0" tIns="0" rIns="0" bIns="0" rtlCol="0" anchor="b"/>
          <a:lstStyle/>
          <a:p>
            <a:pPr indent="0" marL="0">
              <a:buNone/>
            </a:pPr>
            <a:r>
              <a:rPr lang="en-US" sz="4800" b="1" dirty="0">
                <a:solidFill>
                  <a:srgbClr val="F3F4F6"/>
                </a:solidFill>
                <a:latin typeface="Calibri" pitchFamily="34" charset="0"/>
                <a:ea typeface="Calibri" pitchFamily="34" charset="-122"/>
                <a:cs typeface="Calibri" pitchFamily="34" charset="-120"/>
              </a:rPr>
              <a:t>Criticism</a:t>
            </a:r>
            <a:endParaRPr lang="en-US" sz="4800" dirty="0"/>
          </a:p>
        </p:txBody>
      </p:sp>
      <p:sp>
        <p:nvSpPr>
          <p:cNvPr id="3" name="Text 1"/>
          <p:cNvSpPr txBox="1"/>
          <p:nvPr/>
        </p:nvSpPr>
        <p:spPr>
          <a:xfrm>
            <a:off x="640080" y="3474720"/>
            <a:ext cx="9274805" cy="1097280"/>
          </a:xfrm>
          <a:prstGeom prst="rect">
            <a:avLst/>
          </a:prstGeom>
          <a:noFill/>
          <a:ln/>
        </p:spPr>
        <p:txBody>
          <a:bodyPr wrap="square" lIns="0" tIns="0" rIns="0" bIns="0" rtlCol="0" anchor="t"/>
          <a:lstStyle/>
          <a:p>
            <a:pPr indent="0" marL="0">
              <a:buNone/>
            </a:pPr>
            <a:r>
              <a:rPr lang="en-US" sz="2000" dirty="0">
                <a:solidFill>
                  <a:srgbClr val="A3AAB4"/>
                </a:solidFill>
                <a:latin typeface="Calibri" pitchFamily="34" charset="0"/>
                <a:ea typeface="Calibri" pitchFamily="34" charset="-122"/>
                <a:cs typeface="Calibri" pitchFamily="34" charset="-120"/>
              </a:rPr>
              <a:t>Where the papers' evidence is weaker than their claims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Criticism · Paper 1</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"Community expectations" come mostly from PL reviewers</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Only AEC members asked: authors who never submit are missing</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40080" y="411480"/>
            <a:ext cx="10911535" cy="365760"/>
          </a:xfrm>
          <a:prstGeom prst="rect">
            <a:avLst/>
          </a:prstGeom>
          <a:noFill/>
          <a:ln/>
        </p:spPr>
        <p:txBody>
          <a:bodyPr wrap="square" lIns="0" tIns="0" rIns="0" bIns="0" rtlCol="0" anchor="t"/>
          <a:lstStyle/>
          <a:p>
            <a:pPr indent="0" marL="0">
              <a:buNone/>
            </a:pPr>
            <a:r>
              <a:rPr lang="en-US" sz="1600" b="1" spc="100" kern="0" dirty="0">
                <a:solidFill>
                  <a:srgbClr val="F2B544"/>
                </a:solidFill>
                <a:latin typeface="Calibri" pitchFamily="34" charset="0"/>
                <a:ea typeface="Calibri" pitchFamily="34" charset="-122"/>
                <a:cs typeface="Calibri" pitchFamily="34" charset="-120"/>
              </a:rPr>
              <a:t>Criticism · Paper 2</a:t>
            </a:r>
            <a:endParaRPr lang="en-US" sz="1600" dirty="0"/>
          </a:p>
        </p:txBody>
      </p:sp>
      <p:sp>
        <p:nvSpPr>
          <p:cNvPr id="3" name="Text 1"/>
          <p:cNvSpPr txBox="1"/>
          <p:nvPr/>
        </p:nvSpPr>
        <p:spPr>
          <a:xfrm>
            <a:off x="640080" y="822960"/>
            <a:ext cx="10911535" cy="1188720"/>
          </a:xfrm>
          <a:prstGeom prst="rect">
            <a:avLst/>
          </a:prstGeom>
          <a:noFill/>
          <a:ln/>
        </p:spPr>
        <p:txBody>
          <a:bodyPr wrap="square" lIns="0" tIns="0" rIns="0" bIns="0" rtlCol="0" anchor="t"/>
          <a:lstStyle/>
          <a:p>
            <a:pPr indent="0" marL="0">
              <a:buNone/>
            </a:pPr>
            <a:r>
              <a:rPr lang="en-US" sz="4000" b="1" dirty="0">
                <a:solidFill>
                  <a:srgbClr val="F3F4F6"/>
                </a:solidFill>
                <a:latin typeface="Calibri" pitchFamily="34" charset="0"/>
                <a:ea typeface="Calibri" pitchFamily="34" charset="-122"/>
                <a:cs typeface="Calibri" pitchFamily="34" charset="-120"/>
              </a:rPr>
              <a:t>"Artifact" and "available" are defined generously</a:t>
            </a:r>
            <a:endParaRPr lang="en-US" sz="4000" dirty="0"/>
          </a:p>
        </p:txBody>
      </p:sp>
      <p:sp>
        <p:nvSpPr>
          <p:cNvPr id="4" name="Text 2"/>
          <p:cNvSpPr txBox="1"/>
          <p:nvPr/>
        </p:nvSpPr>
        <p:spPr>
          <a:xfrm>
            <a:off x="640080" y="3108960"/>
            <a:ext cx="9820382" cy="2926080"/>
          </a:xfrm>
          <a:prstGeom prst="rect">
            <a:avLst/>
          </a:prstGeom>
          <a:noFill/>
          <a:ln/>
        </p:spPr>
        <p:txBody>
          <a:bodyPr wrap="square" lIns="0" tIns="0" rIns="0" bIns="0" rtlCol="0" anchor="t"/>
          <a:lstStyle/>
          <a:p>
            <a:pPr indent="0" marL="0">
              <a:spcAft>
                <a:spcPts val="800"/>
              </a:spcAft>
              <a:buNone/>
            </a:pPr>
            <a:r>
              <a:rPr lang="en-US" sz="2400" dirty="0">
                <a:solidFill>
                  <a:srgbClr val="A3AAB4"/>
                </a:solidFill>
                <a:latin typeface="Calibri" pitchFamily="34" charset="0"/>
                <a:ea typeface="Calibri" pitchFamily="34" charset="-122"/>
                <a:cs typeface="Calibri" pitchFamily="34" charset="-120"/>
              </a:rPr>
              <a:t>Any link counts as an artifact; a live link counts as available</a:t>
            </a:r>
            <a:endParaRPr lang="en-US" sz="2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3AAB4"/>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40080" y="2011680"/>
            <a:ext cx="10911535" cy="1463040"/>
          </a:xfrm>
          <a:prstGeom prst="rect">
            <a:avLst/>
          </a:prstGeom>
          <a:noFill/>
          <a:ln/>
        </p:spPr>
        <p:txBody>
          <a:bodyPr wrap="square" lIns="0" tIns="0" rIns="0" bIns="0" rtlCol="0" anchor="b"/>
          <a:lstStyle/>
          <a:p>
            <a:pPr indent="0" marL="0">
              <a:buNone/>
            </a:pPr>
            <a:r>
              <a:rPr lang="en-US" sz="5400" b="1" dirty="0">
                <a:solidFill>
                  <a:srgbClr val="F3F4F6"/>
                </a:solidFill>
                <a:latin typeface="Calibri" pitchFamily="34" charset="0"/>
                <a:ea typeface="Calibri" pitchFamily="34" charset="-122"/>
                <a:cs typeface="Calibri" pitchFamily="34" charset="-120"/>
              </a:rPr>
              <a:t>One change each</a:t>
            </a:r>
            <a:endParaRPr lang="en-US" sz="5400" dirty="0"/>
          </a:p>
        </p:txBody>
      </p:sp>
      <p:sp>
        <p:nvSpPr>
          <p:cNvPr id="3" name="Text 1"/>
          <p:cNvSpPr txBox="1"/>
          <p:nvPr/>
        </p:nvSpPr>
        <p:spPr>
          <a:xfrm>
            <a:off x="640080" y="3657600"/>
            <a:ext cx="10911535" cy="914400"/>
          </a:xfrm>
          <a:prstGeom prst="rect">
            <a:avLst/>
          </a:prstGeom>
          <a:noFill/>
          <a:ln/>
        </p:spPr>
        <p:txBody>
          <a:bodyPr wrap="square" lIns="0" tIns="0" rIns="0" bIns="0" rtlCol="0" anchor="t"/>
          <a:lstStyle/>
          <a:p>
            <a:pPr indent="0" marL="0">
              <a:buNone/>
            </a:pPr>
            <a:r>
              <a:rPr lang="en-US" sz="2200" dirty="0">
                <a:solidFill>
                  <a:srgbClr val="F2B544"/>
                </a:solidFill>
                <a:latin typeface="Calibri" pitchFamily="34" charset="0"/>
                <a:ea typeface="Calibri" pitchFamily="34" charset="-122"/>
                <a:cs typeface="Calibri" pitchFamily="34" charset="-120"/>
              </a:rPr>
              <a:t>Name one change to artifact evaluation you would make, and who has to make it: author, advisor, AEC chair, steering committee or funder.</a:t>
            </a:r>
            <a:endParaRPr lang="en-US" sz="2200" dirty="0"/>
          </a:p>
        </p:txBody>
      </p:sp>
    </p:spTree>
  </p:cSld>
  <p:clrMapOvr>
    <a:masterClrMapping/>
  </p:clrMapOvr>
</p:sld>
</file>

<file path=ppt/theme/theme1.xml><?xml version="1.0" encoding="utf-8"?>
<a:theme xmlns:a="http://schemas.openxmlformats.org/drawingml/2006/main" name="Minimal Discussion">
  <a:themeElements>
    <a:clrScheme name="Minimal Discussion">
      <a:dk1>
        <a:srgbClr val="1E2227"/>
      </a:dk1>
      <a:lt1>
        <a:srgbClr val="F3F4F6"/>
      </a:lt1>
      <a:dk2>
        <a:srgbClr val="F2B544"/>
      </a:dk2>
      <a:lt2>
        <a:srgbClr val="2A2F36"/>
      </a:lt2>
      <a:accent1>
        <a:srgbClr val="F2B544"/>
      </a:accent1>
      <a:accent2>
        <a:srgbClr val="7DD3C0"/>
      </a:accent2>
      <a:accent3>
        <a:srgbClr val="A3AAB4"/>
      </a:accent3>
      <a:accent4>
        <a:srgbClr val="2A2F36"/>
      </a:accent4>
      <a:accent5>
        <a:srgbClr val="2A2F36"/>
      </a:accent5>
      <a:accent6>
        <a:srgbClr val="2A2F36"/>
      </a:accent6>
      <a:hlink>
        <a:srgbClr val="F2B544"/>
      </a:hlink>
      <a:folHlink>
        <a:srgbClr val="A3AAB4"/>
      </a:folHlink>
    </a:clrScheme>
    <a:fontScheme name="Minimal Discuss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Artifact Evaluation – Lecture 2 Discussion (Minimal Discussion)</dc:title>
  <dc:subject>PptxGenJS Presentation</dc:subject>
  <dc:creator>PptxGenJS</dc:creator>
  <cp:lastModifiedBy>PptxGenJS</cp:lastModifiedBy>
  <cp:revision>1</cp:revision>
  <dcterms:created xsi:type="dcterms:W3CDTF">2026-10-22T17:07:40Z</dcterms:created>
  <dcterms:modified xsi:type="dcterms:W3CDTF">2026-10-22T17:07:40Z</dcterms:modified>
</cp:coreProperties>
</file>