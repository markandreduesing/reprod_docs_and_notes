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y="6858000" cx="12192000"/>
  <p:notesSz cx="6858000" cy="12192000"/>
  <p:embeddedFontLst>
    <p:embeddedFont>
      <p:font typeface="Roboto"/>
      <p:regular r:id="rId93"/>
      <p:bold r:id="rId94"/>
      <p:italic r:id="rId95"/>
      <p:boldItalic r:id="rId96"/>
    </p:embeddedFont>
    <p:embeddedFont>
      <p:font typeface="Playfair Display"/>
      <p:regular r:id="rId97"/>
      <p:bold r:id="rId98"/>
      <p:italic r:id="rId99"/>
      <p:boldItalic r:id="rId100"/>
    </p:embeddedFont>
    <p:embeddedFont>
      <p:font typeface="DM Sans"/>
      <p:regular r:id="rId101"/>
      <p:bold r:id="rId102"/>
      <p:italic r:id="rId103"/>
      <p:boldItalic r:id="rId10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rk-André Duesing"/>
  <p:cmAuthor clrIdx="1" id="1" initials="" lastIdx="1" name="Minh Thi Nguy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3A5F36-DCFF-479B-8887-EC226CF57605}">
  <a:tblStyle styleId="{B93A5F36-DCFF-479B-8887-EC226CF5760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3ED6575-EFB3-4068-A8AC-78191D0B7CCF}"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E7"/>
          </a:solidFill>
        </a:fill>
      </a:tcStyle>
    </a:wholeTbl>
    <a:band1H>
      <a:tcTxStyle b="off" i="off"/>
      <a:tcStyle>
        <a:fill>
          <a:solidFill>
            <a:srgbClr val="CAD9CD"/>
          </a:solidFill>
        </a:fill>
      </a:tcStyle>
    </a:band1H>
    <a:band2H>
      <a:tcTxStyle b="off" i="off"/>
    </a:band2H>
    <a:band1V>
      <a:tcTxStyle b="off" i="off"/>
      <a:tcStyle>
        <a:fill>
          <a:solidFill>
            <a:srgbClr val="CAD9CD"/>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font" Target="fonts/Roboto-regular.fntdata"/><Relationship Id="rId94" Type="http://schemas.openxmlformats.org/officeDocument/2006/relationships/font" Target="fonts/Roboto-bold.fntdata"/><Relationship Id="rId95" Type="http://schemas.openxmlformats.org/officeDocument/2006/relationships/font" Target="fonts/Roboto-italic.fntdata"/><Relationship Id="rId96" Type="http://schemas.openxmlformats.org/officeDocument/2006/relationships/font" Target="fonts/Roboto-boldItalic.fntdata"/><Relationship Id="rId97" Type="http://schemas.openxmlformats.org/officeDocument/2006/relationships/font" Target="fonts/PlayfairDisplay-regular.fntdata"/><Relationship Id="rId98" Type="http://schemas.openxmlformats.org/officeDocument/2006/relationships/font" Target="fonts/PlayfairDisplay-bold.fntdata"/><Relationship Id="rId99" Type="http://schemas.openxmlformats.org/officeDocument/2006/relationships/font" Target="fonts/PlayfairDisplay-italic.fntdata"/><Relationship Id="rId100" Type="http://schemas.openxmlformats.org/officeDocument/2006/relationships/font" Target="fonts/PlayfairDisplay-boldItalic.fntdata"/><Relationship Id="rId101" Type="http://schemas.openxmlformats.org/officeDocument/2006/relationships/font" Target="fonts/DMSans-regular.fntdata"/><Relationship Id="rId102" Type="http://schemas.openxmlformats.org/officeDocument/2006/relationships/font" Target="fonts/DMSans-bold.fntdata"/><Relationship Id="rId103" Type="http://schemas.openxmlformats.org/officeDocument/2006/relationships/font" Target="fonts/DMSans-italic.fntdata"/><Relationship Id="rId104" Type="http://schemas.openxmlformats.org/officeDocument/2006/relationships/font" Target="fonts/DMSans-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5T16:14:02.246">
    <p:pos x="403" y="921"/>
    <p:text>Wolltest du diesen Teil noch bei dir einbringen, oder er als Fragen-Vorschlag für meinen Abschnitt?
Wenn ich diese übernehmen würde, müsste ich noch etwas recherchieren um schonmal Antwortfortschläge zu haben. Muss schaunen ob ich die Zeit finde</p:text>
  </p:cm>
  <p:cm authorId="1" idx="1" dt="2026-10-25T14:34:06.541">
    <p:pos x="403" y="921"/>
    <p:text>ne nur so allgemein, falls er irgendwo be euc reinpasst. sosnt als backup für offene fragen am ende
1 total reaction
Mark-André Duesing reacted with 👍 at 10/25/2026, 4:14 PM UTC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h14a77dcaeeb36948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h14a77dcaeeb36948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22" name="Google Shape;22;h14a77dcaeeb36948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h14a77dcaeeb36948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h14a77dcaeeb36948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h14a77dcaeeb36948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14a77dcaeeb36948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h14a77dcaeeb36948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h14a77dcaeeb36948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14a77dcaeeb36948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h14a77dcaeeb36948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57" name="Google Shape;57;h14a77dcaeeb36948_1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14a77dcaeeb36948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h14a77dcaeeb36948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h14a77dcaeeb36948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4a77dcaeeb36948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h14a77dcaeeb36948_1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6" name="Google Shape;76;h14a77dcaeeb36948_1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14a77dcaeeb36948_1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14a77dcaeeb36948_1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84" name="Google Shape;84;h14a77dcaeeb36948_1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14a77dcaeeb36948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14a77dcaeeb36948_1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93" name="Google Shape;93;h14a77dcaeeb36948_1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14a77dcaeeb36948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h14a77dcaeeb36948_1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103" name="Google Shape;103;h14a77dcaeeb36948_1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14a77dcaeeb36948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h14a77dcaeeb36948_1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h14a77dcaeeb36948_1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c3d4f7e0d1c2925_49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gc3d4f7e0d1c2925_494: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r>
              <a:t>SPEAKING PROTOCOL (about 30 seconds)</a:t>
            </a:r>
          </a:p>
          <a:p>
            <a:r>
              <a:t>1. Link to last week: "Last week's papers asked why so few working artifacts exist. This paper asks why making good artifacts is hard, and what could be done about it."</a:t>
            </a:r>
          </a:p>
          <a:p>
            <a:r>
              <a:t>2. Paper: "Timperley and colleagues from Carnegie Mellon, published in Empirical Software Engineering in 2021."</a:t>
            </a:r>
          </a:p>
          <a:p>
            <a:r>
              <a:t>3. Did: "They did two studies in parallel: a publication survey, checking how many papers at top SE venues link an artifact and whether those links still work, and an author survey asking researchers about their experiences as creators, users and reviewers of artifacts."</a:t>
            </a:r>
          </a:p>
          <a:p>
            <a:r>
              <a:t>4. Found: "First, the community does value artifacts, and sharing has become a norm. Second, they found 12 challenges in creating, sharing, using and reviewing artifacts. We'll go through them in a moment."</a:t>
            </a:r>
          </a:p>
          <a:p>
            <a:r>
              <a:t>5. Analysed: "In a secondary analysis they look at why these challenges persist and how they connect."</a:t>
            </a:r>
          </a:p>
          <a:p>
            <a:r>
              <a:t>6. Then: "From that they derive 8 recommendations for creators, reviewers, process organisers and community leaders; Minh Thi will present those later."</a:t>
            </a:r>
          </a:p>
          <a:p>
            <a:r>
              <a:t>Hand-over: "First, the research questions."</a:t>
            </a:r>
          </a:p>
          <a:p/>
          <a:p>
            <a:r>
              <a:t>TARGET GROUPS IF ASKED (paper §3.4)</a:t>
            </a:r>
          </a:p>
          <a:p>
            <a:r>
              <a:t>- Creators: primary researchers (often students and postdocs) and their advisors and mentors</a:t>
            </a:r>
          </a:p>
          <a:p>
            <a:r>
              <a:t>- Reviewers: AEC members, journal reviewers, programme committee members</a:t>
            </a:r>
          </a:p>
          <a:p>
            <a:r>
              <a:t>- Process organisers: AEC chairs, conference chairs, journal editors</a:t>
            </a:r>
          </a:p>
          <a:p>
            <a:r>
              <a:t>- Community leaders: steering committees, professional organisations, hiring and promotion committees, funding agencies</a:t>
            </a:r>
          </a:p>
          <a:p/>
          <a:p>
            <a:r>
              <a:t>BACKGROUND IF ASKED</a:t>
            </a:r>
          </a:p>
          <a:p>
            <a:r>
              <a:t>- Publication survey: technical-track papers at ICSE, FSE, ASE and EMSE, 2014-2018; artifact = any linked material; available = the link still works.</a:t>
            </a:r>
          </a:p>
          <a:p>
            <a:r>
              <a:t>- Author survey: authors of 2018 papers at those venues; open answers coded into themes.</a:t>
            </a:r>
          </a:p>
        </p:txBody>
      </p:sp>
      <p:sp>
        <p:nvSpPr>
          <p:cNvPr id="118" name="Google Shape;118;gc3d4f7e0d1c2925_494:notes"/>
          <p:cNvSpPr txBox="1"/>
          <p:nvPr>
            <p:ph idx="12" type="sldNum"/>
          </p:nvPr>
        </p:nvSpPr>
        <p:spPr>
          <a:xfrm>
            <a:off x="0" y="0"/>
            <a:ext cx="3000000" cy="3999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c3d4f7e0d1c2925_5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c3d4f7e0d1c2925_5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MY REMARKS</a:t>
            </a:r>
          </a:p>
          <a:p>
            <a:r>
              <a:t>RQ1 establishes a baseline for RQ2.</a:t>
            </a:r>
          </a:p>
          <a:p>
            <a:r>
              <a:t>Don't take too long on RQ1 in general, since I don't discuss it!</a:t>
            </a:r>
          </a:p>
          <a:p/>
          <a:p>
            <a:r>
              <a:t>SPEAKING PROTOCOL (~30 s)</a:t>
            </a:r>
          </a:p>
          <a:p>
            <a:r>
              <a:t>- "Two research questions. RQ1 is the baseline: does the SE community see value in artifacts at all? Only if yes is it worth asking RQ2: what gets in the way?"</a:t>
            </a:r>
          </a:p>
          <a:p>
            <a:r>
              <a:t>- "RQ2 is split by perspective: creators who make artifacts, users who try to run or build on someone else's, and reviewers on artifact evaluation committees."</a:t>
            </a:r>
          </a:p>
          <a:p>
            <a:r>
              <a:t>- The same person can be all three; most respondents were creators and users, only about a fifth had reviewed artifacts.</a:t>
            </a:r>
          </a:p>
          <a:p>
            <a:r>
              <a:t>- Hand-over: "Let's start with RQ1." (RQs on p. 6)</a:t>
            </a:r>
          </a:p>
        </p:txBody>
      </p:sp>
      <p:sp>
        <p:nvSpPr>
          <p:cNvPr id="125" name="Google Shape;125;gc3d4f7e0d1c2925_5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3d4f7e0d1c2925_5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c3d4f7e0d1c2925_5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(~30 s, keep short)</a:t>
            </a:r>
          </a:p>
          <a:p>
            <a:r>
              <a:t>- "Short answer to RQ1: yes. Respondents see artifacts as valuable, say not every paper needs one, but that sharing should be encouraged and rewarded."</a:t>
            </a:r>
          </a:p>
          <a:p>
            <a:r>
              <a:t>- "Their main argument: without the artifact, replicating a study is hard and unreliable."</a:t>
            </a:r>
          </a:p>
          <a:p>
            <a:r>
              <a:t>- Tiles in one sentence each: supporting evidence (readers trust the claims more), community norm ("good practice"), reuse (tools and data others extend), understanding (details that don't fit in a paper).</a:t>
            </a:r>
          </a:p>
          <a:p>
            <a:r>
              <a:t>- Bridge: "So people value artifacts. Why are they still often missing or unusable? That's RQ2."</a:t>
            </a:r>
          </a:p>
          <a:p/>
          <a:p>
            <a:r>
              <a:t>BACKGROUND IF ASKED</a:t>
            </a:r>
          </a:p>
          <a:p>
            <a:r>
              <a:t>- 62.69 % of papers at ASE, EMSE, FSE and ICSE 2014-2018 contain an artifact, rising from 50.56 % (2014) to 69.47 % (2018) (Fig. 2, pp. 11-12).</a:t>
            </a:r>
          </a:p>
          <a:p>
            <a:r>
              <a:t>- "Artifact" here means any linked material, which is why the share is higher than in last week's Heumüller et al. paper (48 % of ICSE papers linked runnable software).</a:t>
            </a:r>
          </a:p>
        </p:txBody>
      </p:sp>
      <p:sp>
        <p:nvSpPr>
          <p:cNvPr id="133" name="Google Shape;133;gc3d4f7e0d1c2925_5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3d4f7e0d1c2925_5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c3d4f7e0d1c2925_5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(~40 s)</a:t>
            </a:r>
          </a:p>
          <a:p>
            <a:r>
              <a:t>- "These are the 12 challenges they found, from a thematic analysis of the open survey answers. So this shows which problems exist, not how often each occurs." (p. 9)</a:t>
            </a:r>
          </a:p>
          <a:p>
            <a:r>
              <a:t>- Explain the symbols: square = creators mention it, triangle = users, star = reviewers.</a:t>
            </a:r>
          </a:p>
          <a:p>
            <a:r>
              <a:t>- Pattern: portability, tacit knowledge and external constraints hit all three groups; the last three (incentives, technical obstacles, communication) are reviewer-only; 'not worth it' and double-blind review are creator-only.</a:t>
            </a:r>
          </a:p>
          <a:p>
            <a:r>
              <a:t>- "I'll go through them in groups of three, focusing on what's new or surprising."</a:t>
            </a:r>
          </a:p>
          <a:p>
            <a:r>
              <a:t>- Optional framing from the paper: the problems come down to communication, reward (social system), time ('bit rot') and the technical side of the artifacts.</a:t>
            </a:r>
          </a:p>
        </p:txBody>
      </p:sp>
      <p:sp>
        <p:nvSpPr>
          <p:cNvPr id="152" name="Google Shape;152;gc3d4f7e0d1c2925_5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c3d4f7e0d1c2925_5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c3d4f7e0d1c2925_5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MY REMARKS</a:t>
            </a:r>
          </a:p>
          <a:p>
            <a:r>
              <a:t>Don't have to say everything on the slides.</a:t>
            </a:r>
          </a:p>
          <a:p>
            <a:r>
              <a:t>Skipped the counterpoint "whole research areas died for lack of artifacts" and trimmed the "Not worth it" ideas.</a:t>
            </a:r>
          </a:p>
          <a:p>
            <a:r>
              <a:t>Left "hard-wired paths, root access needed" out of the user point.</a:t>
            </a:r>
          </a:p>
          <a:p>
            <a:r>
              <a:t>VMs can be used to mitigate these portability challenges and to avoid the security risks associated with executing untrusted code on the reviewer's host machine (p. 21)!</a:t>
            </a:r>
          </a:p>
          <a:p/>
          <a:p>
            <a:r>
              <a:t>SPEAKING PROTOCOL (~60 s)</a:t>
            </a:r>
          </a:p>
          <a:p>
            <a:r>
              <a:t>C1 Not worth it</a:t>
            </a:r>
          </a:p>
          <a:p>
            <a:r>
              <a:t>- "Biggest creator issue: preparing an artifact takes time that could go into the next paper, does little for your career, and maybe few people will use it."</a:t>
            </a:r>
          </a:p>
          <a:p>
            <a:r>
              <a:t>- Concerns: reputation damage from messy code, mistakes being found, being scooped, so artifacts with untapped publication value are held back.</a:t>
            </a:r>
          </a:p>
          <a:p>
            <a:r>
              <a:t>C2 Portability</a:t>
            </a:r>
          </a:p>
          <a:p>
            <a:r>
              <a:t>- Creators can't foresee every environment; making it accessible means refactoring or building a VM/container afterwards.</a:t>
            </a:r>
          </a:p>
          <a:p>
            <a:r>
              <a:t>- Users: builds and runs fail. Reviewers: installing dependencies and invasive libraries is the biggest hurdle; VMs are safer, but large, can cause problems across operating systems, and distort performance measurements.</a:t>
            </a:r>
          </a:p>
          <a:p>
            <a:r>
              <a:t>C3 Maintenance</a:t>
            </a:r>
          </a:p>
          <a:p>
            <a:r>
              <a:t>- "Artifacts need ongoing care: bugs, changing use cases, bit rot. Usually a student maintains it, then graduates."</a:t>
            </a:r>
          </a:p>
          <a:p>
            <a:r>
              <a:t>- Users then need outdated, hard-to-find libraries.</a:t>
            </a:r>
          </a:p>
          <a:p/>
          <a:p>
            <a:r>
              <a:t>BIT ROT, IF ASKED</a:t>
            </a:r>
          </a:p>
          <a:p>
            <a:r>
              <a:t>Software slowly stops working over time even though its code is unchanged, because everything around it changes:</a:t>
            </a:r>
          </a:p>
          <a:p>
            <a:r>
              <a:t>- Dependencies change or disappear (new versions break things, old versions removed; Python 2 reached end of life in 2020).</a:t>
            </a:r>
          </a:p>
          <a:p>
            <a:r>
              <a:t>- The environment changes (new operating systems behave differently; e.g. chemistry analysis scripts that ran correctly for years gave wrong results on newer systems because the order of files changed).</a:t>
            </a:r>
          </a:p>
          <a:p>
            <a:r>
              <a:t>- External services vanish (download links, APIs, hosted images).</a:t>
            </a:r>
          </a:p>
          <a:p>
            <a:r>
              <a:t>- Knowledge fades (the person who knew how to set it up has left; C4).</a:t>
            </a:r>
          </a:p>
          <a:p/>
          <a:p>
            <a:r>
              <a:t>BACKGROUND IF ASKED</a:t>
            </a:r>
          </a:p>
          <a:p>
            <a:r>
              <a:t>- Containers run at close to native speed, VMs are slower, which matters for performance claims (Felter et al., IBM 2014).</a:t>
            </a:r>
          </a:p>
          <a:p>
            <a:r>
              <a:t>- C1 detail: opportunity cost is highest when submitting to an AEC (p. 13).</a:t>
            </a:r>
          </a:p>
          <a:p>
            <a:r>
              <a:t>- C2 numbers (Table 5): no build instructions 79, unavailable dependency 69, missing dependency 66, modified source 60, run-time error 55, re-implemented 28.</a:t>
            </a:r>
          </a:p>
        </p:txBody>
      </p:sp>
      <p:sp>
        <p:nvSpPr>
          <p:cNvPr id="185" name="Google Shape;185;gc3d4f7e0d1c2925_5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c3d4f7e0d1c2925_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c3d4f7e0d1c2925_5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MY REMARKS</a:t>
            </a:r>
          </a:p>
          <a:p>
            <a:r>
              <a:t>C5 less interesting, skim over.</a:t>
            </a:r>
          </a:p>
          <a:p/>
          <a:p>
            <a:r>
              <a:t>SPEAKING PROTOCOL (~45 s)</a:t>
            </a:r>
          </a:p>
          <a:p>
            <a:r>
              <a:t>C4 Tacit knowledge</a:t>
            </a:r>
          </a:p>
          <a:p>
            <a:r>
              <a:t>- "Know-how that only lives in the developer's head: which order to run the scripts, which paths to change, which parameters matter. Documenting it is a burden."</a:t>
            </a:r>
          </a:p>
          <a:p>
            <a:r>
              <a:t>- Users struggle to understand artifacts and miss usage and build instructions (the most and third-most common user problems).</a:t>
            </a:r>
          </a:p>
          <a:p>
            <a:r>
              <a:t>- Reviewers: automated scripts help, but are no universal solution; they give no insight into the process and may replicate the authors' mistakes.</a:t>
            </a:r>
          </a:p>
          <a:p>
            <a:r>
              <a:t>C5 Doesn't fit purpose (skim)</a:t>
            </a:r>
          </a:p>
          <a:p>
            <a:r>
              <a:t>- The artifact doesn't do what the paper says, or only works for a narrow case.</a:t>
            </a:r>
          </a:p>
          <a:p>
            <a:r>
              <a:t>C6 No standards / guidelines</a:t>
            </a:r>
          </a:p>
          <a:p>
            <a:r>
              <a:t>- Creators don't know what is expected: packaging, contents, quality, setup instructions, documentation.</a:t>
            </a:r>
          </a:p>
          <a:p>
            <a:r>
              <a:t>- Reviewers find the criteria for a good artifact ambiguous and hard to apply, and it is unclear what review is for: just running the script, or a thorough investigation?</a:t>
            </a:r>
          </a:p>
          <a:p/>
          <a:p>
            <a:r>
              <a:t>BACKGROUND IF ASKED</a:t>
            </a:r>
          </a:p>
          <a:p>
            <a:r>
              <a:t>- ACM only defines the badges (Functional, Reusable, Available, Reproduced, Replicated); each conference's committee sets its own concrete rules, which is why standards differ (ACM badging policy v1.1; Hermann et al. 2020).</a:t>
            </a:r>
          </a:p>
        </p:txBody>
      </p:sp>
      <p:sp>
        <p:nvSpPr>
          <p:cNvPr id="195" name="Google Shape;195;gc3d4f7e0d1c2925_5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c3d4f7e0d1c2925_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c3d4f7e0d1c2925_5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MY REMARKS</a:t>
            </a:r>
          </a:p>
          <a:p>
            <a:r>
              <a:t>C8 less interesting, skim over.</a:t>
            </a:r>
          </a:p>
          <a:p/>
          <a:p>
            <a:r>
              <a:t>SPEAKING PROTOCOL (~45 s)</a:t>
            </a:r>
          </a:p>
          <a:p>
            <a:r>
              <a:t>C7 Hosting</a:t>
            </a:r>
          </a:p>
          <a:p>
            <a:r>
              <a:t>- "Where do you put an artifact so it's still there in ten years, can hold large data, and is free? GitHub, Dropbox or Google Drive are not meant as long-term archives."</a:t>
            </a:r>
          </a:p>
          <a:p>
            <a:r>
              <a:t>- Users often can't access artifacts because links are dead: about 14 % of links in the publication survey were dead in 2019, about a quarter for 2014 papers (Fig. 3).</a:t>
            </a:r>
          </a:p>
          <a:p>
            <a:r>
              <a:t>C8 Double-blind review (skim)</a:t>
            </a:r>
          </a:p>
          <a:p>
            <a:r>
              <a:t>- The artifact must be anonymised for review, and anonymous hosting is more complicated.</a:t>
            </a:r>
          </a:p>
          <a:p>
            <a:r>
              <a:t>C9 External constraints</a:t>
            </a:r>
          </a:p>
          <a:p>
            <a:r>
              <a:t>- Things authors can't control: intellectual property, contracts, liability, privacy.</a:t>
            </a:r>
          </a:p>
          <a:p>
            <a:r>
              <a:t>- Users find it harder to build on such artifacts. Reviewers may lack licences or proprietary tools to run them, and there are no guidelines for this case.</a:t>
            </a:r>
          </a:p>
          <a:p/>
          <a:p>
            <a:r>
              <a:t>BACKGROUND IF ASKED</a:t>
            </a:r>
          </a:p>
          <a:p>
            <a:r>
              <a:t>- Zenodo (run by CERN) is free, gives a DOI, holds 50 GB per record (200 GB on request) and can archive GitHub releases automatically (Zenodo documentation). ICSE now requires such an archive for the "Available" badge (ICSE 2026 artifact call).</a:t>
            </a:r>
          </a:p>
          <a:p>
            <a:r>
              <a:t>- ACM allows proxy data in place of proprietary data (ACM badging policy v1.1).</a:t>
            </a:r>
          </a:p>
        </p:txBody>
      </p:sp>
      <p:sp>
        <p:nvSpPr>
          <p:cNvPr id="205" name="Google Shape;205;gc3d4f7e0d1c2925_5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c3d4f7e0d1c2925_5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c3d4f7e0d1c2925_5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(~45 s)</a:t>
            </a:r>
          </a:p>
          <a:p>
            <a:r>
              <a:t>C10 No reviewer incentives</a:t>
            </a:r>
          </a:p>
          <a:p>
            <a:r>
              <a:t>- Reviewing artifacts takes a lot of time and counts less than paper reviewing, which can lead to inconsistent, low-quality reviews. Students often do it as training, which signals that artifacts are secondary.</a:t>
            </a:r>
          </a:p>
          <a:p>
            <a:r>
              <a:t>C11 Technical obstacles</a:t>
            </a:r>
          </a:p>
          <a:p>
            <a:r>
              <a:t>- Long runtimes, too little computing power or disk space; some experiments (cloud systems, fuzzing, program repair) are practically impossible to re-run.</a:t>
            </a:r>
          </a:p>
          <a:p>
            <a:r>
              <a:t>C12 Limited communication</a:t>
            </a:r>
          </a:p>
          <a:p>
            <a:r>
              <a:t>- No good channel between authors and reviewers; a minor install glitch shouldn't mean rejection if authors could quickly help; responsive vs. unresponsive authors decide whether reviewers wait for days.</a:t>
            </a:r>
          </a:p>
          <a:p>
            <a:r>
              <a:t>Wrap-up: "Reviewers face the same problems as users (portability, documentation) and as creators (no guidelines, no reward). That's the end of the results; next, the discussion."</a:t>
            </a:r>
          </a:p>
          <a:p/>
          <a:p>
            <a:r>
              <a:t>BACKGROUND IF ASKED (not on the slide)</a:t>
            </a:r>
          </a:p>
          <a:p>
            <a:r>
              <a:t>- At FSE 2015-2018 only about a third of papers with artifacts were submitted to artifact evaluation, and 86 % of those passed (Fig. 4, p. 21).</a:t>
            </a:r>
          </a:p>
          <a:p>
            <a:r>
              <a:t>- Artifact committees were deliberately staffed with senior PhD students from ECOOP/OOPSLA 2013 on (organisers' calls).</a:t>
            </a:r>
          </a:p>
          <a:p>
            <a:r>
              <a:t>- Typical review budget is about 8-20 hours per artifact (SOSP 2021, APLAS 2022 committee calls).</a:t>
            </a:r>
          </a:p>
          <a:p>
            <a:r>
              <a:t>- Most venues have a "kick the tires" phase in which reviewers and authors fix setup problems (e.g. SLE 2025).</a:t>
            </a:r>
          </a:p>
        </p:txBody>
      </p:sp>
      <p:sp>
        <p:nvSpPr>
          <p:cNvPr id="215" name="Google Shape;215;gc3d4f7e0d1c2925_5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c3d4f7e0d1c2925_1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c3d4f7e0d1c2925_12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artifact committees review in one round, others let reviewers and authors talk and fix problems. Which is better, and what does that say about what a badge should mean?</a:t>
            </a:r>
          </a:p>
          <a:p/>
          <a:p>
            <a:r>
              <a:t>POSSIBLE ANSWERS</a:t>
            </a:r>
          </a:p>
          <a:p>
            <a:r>
              <a:t>- ITERATIVE - small glitches (a typo in the install instructions) are inevitable; fixing them during review improves the artifact for everyone later.</a:t>
            </a:r>
          </a:p>
          <a:p>
            <a:r>
              <a:t>- ONE-SHOT - later users won't have the authors on call; the review should test whether it works on its own, as it will for them.</a:t>
            </a:r>
          </a:p>
          <a:p>
            <a:r>
              <a:t>- HYBRID - a short 'does it start' phase with author help, then a final test without help; all fixes must go into the artifact itself.</a:t>
            </a:r>
          </a:p>
          <a:p>
            <a:r>
              <a:t>- WHAT IS REVIEW FOR - confirming the paper's results once (checking the evidence) vs. certifying a tool others can build on. Paper 1 (Hermann et al.) found: reviewers want reproducible results, users want reusable tools.</a:t>
            </a:r>
          </a:p>
          <a:p>
            <a:r>
              <a:t>- SUSTAINABILITY - authors can't support a tool forever; students graduate, emails go unanswered; a badge can only describe the state at review time.</a:t>
            </a:r>
          </a:p>
          <a:p/>
          <a:p>
            <a:r>
              <a:t>IF THE ROOM IS QUIET (ask in this order)</a:t>
            </a:r>
          </a:p>
          <a:p>
            <a:r>
              <a:t>1. The artifact fails on a typo in the install instructions: reject, or ask the authors?</a:t>
            </a:r>
          </a:p>
          <a:p>
            <a:r>
              <a:t>2. Later users won't have the authors' help: should reviewers?</a:t>
            </a:r>
          </a:p>
          <a:p>
            <a:r>
              <a:t>3. If you started a thesis on a badged tool, what would you expect the badge to guarantee?</a:t>
            </a:r>
          </a:p>
          <a:p>
            <a:r>
              <a:t>4. Would you still answer emails about your thesis code in three years?</a:t>
            </a:r>
          </a:p>
          <a:p/>
          <a:p>
            <a:r>
              <a:t>BACKGROUND (for you; sources named)</a:t>
            </a:r>
          </a:p>
          <a:p>
            <a:r>
              <a:t>- Most venues have a 'kick the tires' phase with author responses (SLE 2025: 5 days; ICSE 2026: answers within 72 h).</a:t>
            </a:r>
          </a:p>
          <a:p>
            <a:r>
              <a:t>- Hermann et al. 2020, p. 479: 'Reviewers want replicability, users want reusability' (old ACM terms; their 'replicability' is today's reproducibility).</a:t>
            </a:r>
          </a:p>
        </p:txBody>
      </p:sp>
      <p:sp>
        <p:nvSpPr>
          <p:cNvPr id="225" name="Google Shape;225;gc3d4f7e0d1c2925_12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c3d4f7e0d1c2925_10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c3d4f7e0d1c2925_10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MY REMARKS</a:t>
            </a:r>
          </a:p>
          <a:p>
            <a:r>
              <a:t>From the paper (p. 22): some reviewers suggest automated scripts to mitigate the tacit knowledge problem; others stress they are not a panacea. P74: 'it is often difficult to know whether the submitted device is faulty, or if [you don't know how to] use it.' A script may behave as a black box that gives no insight into whether the process is sound.</a:t>
            </a:r>
          </a:p>
          <a:p/>
          <a:p>
            <a:r>
              <a:t>WHAT THIS IS ABOUT</a:t>
            </a:r>
          </a:p>
          <a:p>
            <a:r>
              <a:t>A script that rebuilds all results with one command makes an artifact easy to run. The question is whether easy re-running also means the results are properly checked, i.e. its pros and cons.</a:t>
            </a:r>
          </a:p>
          <a:p/>
          <a:p>
            <a:r>
              <a:t>POSSIBLE ANSWERS</a:t>
            </a:r>
          </a:p>
          <a:p>
            <a:r>
              <a:t>- PRO - lowers the barrier: without a script, many artifacts never run because steps are missing; a script proves the pipeline works end to end and the published numbers come from the published code.</a:t>
            </a:r>
          </a:p>
          <a:p>
            <a:r>
              <a:t>- PRO - captures tacit knowledge: the order of steps, paths and parameters are written down in code instead of living in the author's head; a new student can start from it.</a:t>
            </a:r>
          </a:p>
          <a:p>
            <a:r>
              <a:t>- PRO - makes checking cheap: reviewers with limited time can re-run everything and spend their time on the results instead of the setup.</a:t>
            </a:r>
          </a:p>
          <a:p>
            <a:r>
              <a:t>- CON - false confidence: 'the numbers come out' only shows the code runs the same way again, not that the method is right. If the analysis has a bug, the script reproduces the bug perfectly (reviewers in the paper: AECs are 'likely to replicate the same mistake').</a:t>
            </a:r>
          </a:p>
          <a:p>
            <a:r>
              <a:t>- CON - black box: a reviewer who only presses the button never sees what happens inside, e.g. whether test data leaked into training data or a filter silently drops inconvenient cases.</a:t>
            </a:r>
          </a:p>
          <a:p>
            <a:r>
              <a:t>- CON - hard to tell what went wrong: if results differ, it is unclear whether the artifact is faulty or the reviewer used it wrongly (P74).</a:t>
            </a:r>
          </a:p>
          <a:p>
            <a:r>
              <a:t>- CON - narrow reuse: a script reproduces exactly the paper's experiment; adding a case study can be harder than with a documented step-by-step setup (a reviewer: 'easy to reproduce, difficult to understand where to add more case studies').</a:t>
            </a:r>
          </a:p>
          <a:p>
            <a:r>
              <a:t>- MIDDLE - a script is necessary but not sufficient: add a short description of what each step does, small example inputs, and let reviewers change one input to see whether results behave plausibly.</a:t>
            </a:r>
          </a:p>
          <a:p/>
          <a:p>
            <a:r>
              <a:t>IF THE ROOM IS QUIET (ask in this order)</a:t>
            </a:r>
          </a:p>
          <a:p>
            <a:r>
              <a:t>1. What exactly does a reviewer know once the script finished successfully?</a:t>
            </a:r>
          </a:p>
          <a:p>
            <a:r>
              <a:t>2. Imagine the script produces the required data, but one result depends on a wrongly chosen threshold in the code: who would ever notice?</a:t>
            </a:r>
          </a:p>
          <a:p>
            <a:r>
              <a:t>3. As a reviewer, what would you want next to the script (comments, a walkthrough, small examples)?</a:t>
            </a:r>
          </a:p>
          <a:p>
            <a:r>
              <a:t>4. Could someone reproduce your bachelor thesis results from your repository alone?</a:t>
            </a:r>
          </a:p>
          <a:p/>
          <a:p>
            <a:r>
              <a:t>BACKGROUND (for you; sources named)</a:t>
            </a:r>
          </a:p>
          <a:p>
            <a:r>
              <a:t>- Chemistry analysis scripts (2019) gave correct results on some operating systems and wrong ones on others, because the order of files differed; a script that 'works' can still be wrong (The Register, 2019).</a:t>
            </a:r>
          </a:p>
          <a:p>
            <a:r>
              <a:t>- In other fields, 'push-button replication' is only a first check, followed by an independent re-implementation.</a:t>
            </a:r>
          </a:p>
        </p:txBody>
      </p:sp>
      <p:sp>
        <p:nvSpPr>
          <p:cNvPr id="236" name="Google Shape;236;gc3d4f7e0d1c2925_10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c3d4f7e0d1c2925_10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c3d4f7e0d1c2925_10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Reviewers may face missing instructions and gaps they have to fill themselves, or experiments that run for days. How much time and effort should they invest before they may give up, and what is fair to both reviewers and authors?</a:t>
            </a:r>
          </a:p>
          <a:p/>
          <a:p>
            <a:r>
              <a:t>POSSIBLE ANSWERS</a:t>
            </a:r>
          </a:p>
          <a:p>
            <a:r>
              <a:t>- LITTLE - the artifact must work for a stranger; if it fails after the expected setup time, that is the result. A reviewer who fixes it hides problems later users will face.</a:t>
            </a:r>
          </a:p>
          <a:p>
            <a:r>
              <a:t>- MORE - reviewers are often the only people who ever seriously try the artifact; an hour of fixing a missing dependency and reporting it back helps every later user.</a:t>
            </a:r>
          </a:p>
          <a:p>
            <a:r>
              <a:t>- BY STAGE - a short 'does it start' check first, then the authors get a chance to fix things, then the full review; effort grows only once basics work.</a:t>
            </a:r>
          </a:p>
          <a:p>
            <a:r>
              <a:t>- FIXED LIMIT - a clear rule (e.g. setup within 30 minutes, review within a day) protects volunteer reviewers and makes reviews comparable.</a:t>
            </a:r>
          </a:p>
          <a:p>
            <a:r>
              <a:t>- FLEXIBLE LIMIT - long-running experiments (fuzzing for three days) are penalised by a flat limit for their nature, not their quality; authors could declare the expected runtime and provide a short representative run.</a:t>
            </a:r>
          </a:p>
          <a:p>
            <a:r>
              <a:t>- SEPARATE SETUP FROM RUNTIME - setup must be quick (that is about packaging and documentation), but long runtimes are acceptable if they run unattended.</a:t>
            </a:r>
          </a:p>
          <a:p>
            <a:r>
              <a:t>- BALANCE - authors want a fair chance and not be rejected for a typo; reviewers are unpaid and have several artifacts; both sides benefit from clear expectations stated up front.</a:t>
            </a:r>
          </a:p>
          <a:p/>
          <a:p>
            <a:r>
              <a:t>IF THE ROOM IS QUIET (ask in this order)</a:t>
            </a:r>
          </a:p>
          <a:p>
            <a:r>
              <a:t>1. After two hours it fails on a missing library you could install yourself: fix it, ask the authors, or reject?</a:t>
            </a:r>
          </a:p>
          <a:p>
            <a:r>
              <a:t>2. A fuzzing experiment runs for three days: should the reviewer wait, or review a shorter run?</a:t>
            </a:r>
          </a:p>
          <a:p>
            <a:r>
              <a:t>3. As the author, would a 30-minute setup limit feel fair for your project?</a:t>
            </a:r>
          </a:p>
          <a:p>
            <a:r>
              <a:t>4. Who should decide the time budget: the conference, the authors or the reviewers?</a:t>
            </a:r>
          </a:p>
          <a:p/>
          <a:p>
            <a:r>
              <a:t>BACKGROUND (for you; sources named)</a:t>
            </a:r>
          </a:p>
          <a:p>
            <a:r>
              <a:t>- Typical budget: about 8-20 hours per artifact (SOSP 2021 committee call: 10-20 h, 2-4 artifacts per member; APLAS 2022: about 8 h, 3-4 per member).</a:t>
            </a:r>
          </a:p>
          <a:p>
            <a:r>
              <a:t>- Setup is usually expected within about 30 minutes as a guideline (OSDI, OOPSLA; ICSE 2026: more than 30 minutes makes acceptance unlikely); NDSS 2027 asks full experiments to take at most 1 day on a desktop. No venue found that varies limits by artifact type.</a:t>
            </a:r>
          </a:p>
        </p:txBody>
      </p:sp>
      <p:sp>
        <p:nvSpPr>
          <p:cNvPr id="248" name="Google Shape;248;gc3d4f7e0d1c2925_10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c3d4f7e0d1c2925_1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c3d4f7e0d1c2925_1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artifacts need administrator (root) rights or change system libraries, and outdated dependencies can carry security holes. Reviewers protect themselves with VMs. Should they be allowed to refuse such artifacts?</a:t>
            </a:r>
          </a:p>
          <a:p/>
          <a:p>
            <a:r>
              <a:t>POSSIBLE ANSWERS</a:t>
            </a:r>
          </a:p>
          <a:p>
            <a:r>
              <a:t>- YES, REFUSE - reviewers are volunteers; nobody should risk their own machine. Authors must package it safely (VM, container) or provide a machine.</a:t>
            </a:r>
          </a:p>
          <a:p>
            <a:r>
              <a:t>- YES, BUT ONLY IF NO SAFE PACKAGE - refusing is fine when authors didn't even try to isolate it.</a:t>
            </a:r>
          </a:p>
          <a:p>
            <a:r>
              <a:t>- NO - some research genuinely needs deep system access (operating systems, drivers, security tools, performance tools); refusing would make whole fields unevaluable.</a:t>
            </a:r>
          </a:p>
          <a:p>
            <a:r>
              <a:t>- SHIFT RESPONSIBILITY - instead of refusing, the conference provides isolated test machines, or authors give remote access to a machine they own.</a:t>
            </a:r>
          </a:p>
          <a:p>
            <a:r>
              <a:t>- TRUST - running other people's code is normal in open source; why should research be stricter, or should it be stricter because reviewers can't inspect everything?</a:t>
            </a:r>
          </a:p>
          <a:p/>
          <a:p>
            <a:r>
              <a:t>IF THE ROOM IS QUIET (ask in this order)</a:t>
            </a:r>
          </a:p>
          <a:p>
            <a:r>
              <a:t>1. If refusing were allowed, which research could no longer be evaluated?</a:t>
            </a:r>
          </a:p>
          <a:p>
            <a:r>
              <a:t>2. Would you run a stranger's install script with administrator rights on your own laptop?</a:t>
            </a:r>
          </a:p>
          <a:p>
            <a:r>
              <a:t>3. Who should provide a safe machine: reviewer, authors or conference?</a:t>
            </a:r>
          </a:p>
          <a:p/>
          <a:p>
            <a:r>
              <a:t>BACKGROUND (for you; sources named)</a:t>
            </a:r>
          </a:p>
          <a:p>
            <a:r>
              <a:t>- From the paper: users report artifacts that 'require the user to be root' (p. 18); reviewers cite the 'requirement to install complex and invasive program/system libraries' and use VMs 'to avoid the security risks associated with executing untrusted code on the reviewer's host machine' (p. 21).</a:t>
            </a:r>
          </a:p>
          <a:p>
            <a:r>
              <a:t>- POPL's artifact call recommends VM images partly because they 'protect reviewers from malfunctioning artifacts damaging their computer'.</a:t>
            </a:r>
          </a:p>
        </p:txBody>
      </p:sp>
      <p:sp>
        <p:nvSpPr>
          <p:cNvPr id="260" name="Google Shape;260;gc3d4f7e0d1c2925_11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c3d4f7e0d1c2925_1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c3d4f7e0d1c2925_1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datasets or artifacts are too big for common archives and for a reviewer's laptop. How can they still be shared, and how can the work still be reviewed?</a:t>
            </a:r>
          </a:p>
          <a:p/>
          <a:p>
            <a:r>
              <a:t>POSSIBLE ANSWERS</a:t>
            </a:r>
          </a:p>
          <a:p>
            <a:r>
              <a:t>- SUBSET - share a small, representative sample plus the scripts that produced the full data; reviewers check the pipeline on the sample.</a:t>
            </a:r>
          </a:p>
          <a:p>
            <a:r>
              <a:t>- SHARE THE RECIPE, NOT THE DATA - if the data comes from public sources (e.g. mined repositories), publish the exact scripts, queries and dates so others can regenerate it.</a:t>
            </a:r>
          </a:p>
          <a:p>
            <a:r>
              <a:t>- OTHER HOSTING - university or national research data repositories, or well-documented split archives; storage costs may need to be in the project budget.</a:t>
            </a:r>
          </a:p>
          <a:p>
            <a:r>
              <a:t>- REVIEWER ACCESS - authors keep the data on their own server and give reviewers temporary remote access; readers later get only the subset.</a:t>
            </a:r>
          </a:p>
          <a:p>
            <a:r>
              <a:t>- ACCEPT LIMITS - some artifacts can't be fully reviewed; the badge or paper should say what was actually checked.</a:t>
            </a:r>
          </a:p>
          <a:p>
            <a:r>
              <a:t>- WIDER POINT - does size make an artifact effectively unreviewable, and should that change how much we trust the paper?</a:t>
            </a:r>
          </a:p>
          <a:p/>
          <a:p>
            <a:r>
              <a:t>IF THE ROOM IS QUIET (ask in this order)</a:t>
            </a:r>
          </a:p>
          <a:p>
            <a:r>
              <a:t>1. Several terabytes of mined repository data: what would you publish?</a:t>
            </a:r>
          </a:p>
          <a:p>
            <a:r>
              <a:t>2. What would you publish if your thesis data were that large?</a:t>
            </a:r>
          </a:p>
          <a:p>
            <a:r>
              <a:t>3. What workarounds would still let a reviewer check your work?</a:t>
            </a:r>
          </a:p>
          <a:p>
            <a:r>
              <a:t>4. If reviewers can only check a sample, should the badge say so?</a:t>
            </a:r>
          </a:p>
          <a:p/>
          <a:p>
            <a:r>
              <a:t>BACKGROUND (for you; sources named)</a:t>
            </a:r>
          </a:p>
          <a:p>
            <a:r>
              <a:t>- [1] Zenodo: 50 GB per record, one-time increase to 200 GB on request; free, DOI per version, run by CERN (Zenodo documentation).</a:t>
            </a:r>
          </a:p>
          <a:p>
            <a:r>
              <a:t>- Some venues let reviewers and authors agree on a reduced but representative scope for heavy experiments (MobiSys 2026).</a:t>
            </a:r>
          </a:p>
        </p:txBody>
      </p:sp>
      <p:sp>
        <p:nvSpPr>
          <p:cNvPr id="272" name="Google Shape;272;gc3d4f7e0d1c2925_1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c3d4f7e0d1c2925_1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c3d4f7e0d1c2925_1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Building on the last question: some experiments need hardware reviewers don't have (many GPUs, clusters, special devices). Who should make the resources available, and what does a review still mean otherwise?</a:t>
            </a:r>
          </a:p>
          <a:p/>
          <a:p>
            <a:r>
              <a:t>POSSIBLE ANSWERS</a:t>
            </a:r>
          </a:p>
          <a:p>
            <a:r>
              <a:t>- CONFERENCE PROVIDES - conferences or ACM/IEEE fund shared machines or cloud credits, so reviewing doesn't depend on where a reviewer works. (This is also one of the paper's recommendations: keep it short, Minh Thi covers it.)</a:t>
            </a:r>
          </a:p>
          <a:p>
            <a:r>
              <a:t>- AUTHORS PROVIDE - authors give reviewers remote access to their own hardware or pay for cloud time; this is what most venues ask for today.</a:t>
            </a:r>
          </a:p>
          <a:p>
            <a:r>
              <a:t>- SCALED-DOWN RUN - authors provide a smaller version that runs on a normal machine and shows the same trend; weaker, but practical.</a:t>
            </a:r>
          </a:p>
          <a:p>
            <a:r>
              <a:t>- NO BADGE - if nobody can run it, nobody can certify it; better to say 'not evaluated'.</a:t>
            </a:r>
          </a:p>
          <a:p>
            <a:r>
              <a:t>- FAIRNESS - if authors must pay, well-funded groups get badges more easily; if conferences pay, someone has to fund it (conference fees, sponsors).</a:t>
            </a:r>
          </a:p>
          <a:p>
            <a:r>
              <a:t>- TRUST - is a badge after a scaled-down run still meaningful to readers?</a:t>
            </a:r>
          </a:p>
          <a:p/>
          <a:p>
            <a:r>
              <a:t>IF THE ROOM IS QUIET (ask in this order)</a:t>
            </a:r>
          </a:p>
          <a:p>
            <a:r>
              <a:t>1. An experiment needs eight GPUs for a week, and the reviewer has a laptop: what now?</a:t>
            </a:r>
          </a:p>
          <a:p>
            <a:r>
              <a:t>2. Would you trust a badge from a reviewer who only ran a scaled-down version?</a:t>
            </a:r>
          </a:p>
          <a:p>
            <a:r>
              <a:t>3. As an author, would you pay for reviewers' cloud time to get a badge?</a:t>
            </a:r>
          </a:p>
          <a:p/>
          <a:p>
            <a:r>
              <a:t>BACKGROUND (for you; sources named)</a:t>
            </a:r>
          </a:p>
          <a:p>
            <a:r>
              <a:t>- Current practice: authors give reviewers anonymous remote (SSH) access to special hardware (SenSys 2024, SACMAT 2026, IEEE S&amp;P 2026, MICRO 2026). MICRO 2026 may decline to evaluate artifacts if no reviewer can access the hardware.</a:t>
            </a:r>
          </a:p>
          <a:p>
            <a:r>
              <a:t>- Donated cloud credits were tried (Azure credits for SOSP 2019) but proved hard to use for exactly the artifacts that needed them.</a:t>
            </a:r>
          </a:p>
          <a:p>
            <a:r>
              <a:t>- The paper recommends that ACM/IEEE fund compute for reviewers (Rec 6/7): hand over to Minh Thi here.</a:t>
            </a:r>
          </a:p>
        </p:txBody>
      </p:sp>
      <p:sp>
        <p:nvSpPr>
          <p:cNvPr id="284" name="Google Shape;284;gc3d4f7e0d1c2925_1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c3d4f7e0d1c2925_1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c3d4f7e0d1c2925_1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MY REMARKS</a:t>
            </a:r>
          </a:p>
          <a:p>
            <a:r>
              <a:t>IP := Intellectual Property</a:t>
            </a:r>
          </a:p>
          <a:p/>
          <a:p>
            <a:r>
              <a:t>WHAT THIS IS ABOUT</a:t>
            </a:r>
          </a:p>
          <a:p>
            <a:r>
              <a:t>Intellectual property, privacy and commercial interests limit what can be shared. Should openness be the default, where are legitimate limits, and should a paper be criticised when its industry partner won't release the data?</a:t>
            </a:r>
          </a:p>
          <a:p/>
          <a:p>
            <a:r>
              <a:t>POSSIBLE ANSWERS</a:t>
            </a:r>
          </a:p>
          <a:p>
            <a:r>
              <a:t>- FULLY OPEN - publicly funded research should be public; closed code or data means results can't be checked.</a:t>
            </a:r>
          </a:p>
          <a:p>
            <a:r>
              <a:t>- OPEN BY DEFAULT, EXCEPTIONS EXPLAINED - share everything unless there is a concrete reason (personal data, partner contract), and state that reason in the paper.</a:t>
            </a:r>
          </a:p>
          <a:p>
            <a:r>
              <a:t>- LIMITS - personal data: interview transcripts or user logs can identify people even after anonymising.</a:t>
            </a:r>
          </a:p>
          <a:p>
            <a:r>
              <a:t>- LIMITS - industry partners: forcing openness means companies stop collaborating with academia; partners in the paper refused even anonymised data, fearing liability lawsuits.</a:t>
            </a:r>
          </a:p>
          <a:p>
            <a:r>
              <a:t>- LIMITS - commercial plans: a tool may be the basis of a start-up; publishing it fully removes that option.</a:t>
            </a:r>
          </a:p>
          <a:p>
            <a:r>
              <a:t>- INDUSTRY DATA - criticise: readers can't check the claims, so the evidence is weaker whatever the reason.</a:t>
            </a:r>
          </a:p>
          <a:p>
            <a:r>
              <a:t>- INDUSTRY DATA - don't criticise: it punishes collaboration for something the authors can't control; one author in the paper called this a 'ritualistic blanket argument' (pp. 17-18).</a:t>
            </a:r>
          </a:p>
          <a:p>
            <a:r>
              <a:t>- PARTIAL OPENNESS - share the method and analysis scripts but not raw data, provide proxy or synthetic data with the same structure, or give reviewers access under an NDA.</a:t>
            </a:r>
          </a:p>
          <a:p/>
          <a:p>
            <a:r>
              <a:t>IF THE ROOM IS QUIET (ask in this order)</a:t>
            </a:r>
          </a:p>
          <a:p>
            <a:r>
              <a:t>1. A company co-authored the tool and wants to sell it later: open or not?</a:t>
            </a:r>
          </a:p>
          <a:p>
            <a:r>
              <a:t>2. Would you consider the artifact open enough if it won't be accessible in the future?</a:t>
            </a:r>
          </a:p>
          <a:p>
            <a:r>
              <a:t>3. If you were building on a study whose data is under NDA, would you trust it less?</a:t>
            </a:r>
          </a:p>
          <a:p>
            <a:r>
              <a:t>4. Is 'we can't share it' acceptable if the paper explains why?</a:t>
            </a:r>
          </a:p>
          <a:p/>
          <a:p>
            <a:r>
              <a:t>BACKGROUND (for you; sources named)</a:t>
            </a:r>
          </a:p>
          <a:p>
            <a:r>
              <a:t>- ICSE's open science policy: sharing data is not required for acceptance; authors explain why they can't share in a data availability section.</a:t>
            </a:r>
          </a:p>
          <a:p>
            <a:r>
              <a:t>- ACM's badge policy allows proxy data in place of proprietary data; the 'Evaluated' badges can be earned with reviewer-only access, 'Available' needs public access.</a:t>
            </a:r>
          </a:p>
          <a:p>
            <a:r>
              <a:t>- EU research funding (Horizon Europe) follows 'as open as possible, as closed as necessary': open data is the default, exceptions must be justified.</a:t>
            </a:r>
          </a:p>
        </p:txBody>
      </p:sp>
      <p:sp>
        <p:nvSpPr>
          <p:cNvPr id="296" name="Google Shape;296;gc3d4f7e0d1c2925_1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c3d4f7e0d1c2925_1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c3d4f7e0d1c2925_1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Building on the last question: here openness is limited not by choice but by a licence. Some artifacts depend on paid software (e.g. MATLAB, Windows, a commercial IDE) that reviewers or users don't have. Should such artifacts count, and who carries the cost?</a:t>
            </a:r>
          </a:p>
          <a:p/>
          <a:p>
            <a:r>
              <a:t>POSSIBLE ANSWERS</a:t>
            </a:r>
          </a:p>
          <a:p>
            <a:r>
              <a:t>- ACCEPT - much real software engineering happens on commercial platforms; refusing such artifacts pushes research toward open tools only and away from practice.</a:t>
            </a:r>
          </a:p>
          <a:p>
            <a:r>
              <a:t>- ACCEPT, AUTHORS ORGANISE ACCESS - authors must provide a way to run it (online version, remote machine, trial licence), otherwise no 'Functional' badge.</a:t>
            </a:r>
          </a:p>
          <a:p>
            <a:r>
              <a:t>- RESTRICT - an artifact others can't run doesn't do its job; at most an 'Available' badge.</a:t>
            </a:r>
          </a:p>
          <a:p>
            <a:r>
              <a:t>- DEPENDS ON ROLE - if the commercial tool is the subject of the research (studying a commercial IDE), accept it; if it is a replaceable helper (plotting in MATLAB), authors should port it to free tools.</a:t>
            </a:r>
          </a:p>
          <a:p>
            <a:r>
              <a:t>- WHO PAYS - not the reviewer (unpaid volunteer); the authors, since they chose the tool; or the conference. In practice access often depends on whether the reviewer's university has a campus licence, which is unfair.</a:t>
            </a:r>
          </a:p>
          <a:p/>
          <a:p>
            <a:r>
              <a:t>IF THE ROOM IS QUIET (ask in this order)</a:t>
            </a:r>
          </a:p>
          <a:p>
            <a:r>
              <a:t>1. Your artifact needs MATLAB and the reviewer has no licence: whose problem is that?</a:t>
            </a:r>
          </a:p>
          <a:p>
            <a:r>
              <a:t>2. As a reviewer, would you pay for a licence yourself? Who should instead?</a:t>
            </a:r>
          </a:p>
          <a:p>
            <a:r>
              <a:t>3. Is rejecting such artifacts fair, or does it punish industry-relevant research?</a:t>
            </a:r>
          </a:p>
          <a:p/>
          <a:p>
            <a:r>
              <a:t>BACKGROUND (for you; sources named)</a:t>
            </a:r>
          </a:p>
          <a:p>
            <a:r>
              <a:t>- No conference states a budget for artifact evaluation; committees are unpaid volunteers set up by the organisers (no source found that says otherwise).</a:t>
            </a:r>
          </a:p>
          <a:p>
            <a:r>
              <a:t>- CAV asks authors who can't ship licensed software such as MATLAB in a VM or Docker image to contact the chairs for a case-by-case solution; FORMATS 2022 accepted a MATLAB Drive folder runnable in MATLAB Online.</a:t>
            </a:r>
          </a:p>
          <a:p>
            <a:r>
              <a:t>- ACM's badge policy says nothing about reviewer licences; each committee decides.</a:t>
            </a:r>
          </a:p>
        </p:txBody>
      </p:sp>
      <p:sp>
        <p:nvSpPr>
          <p:cNvPr id="308" name="Google Shape;308;gc3d4f7e0d1c2925_1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c3d4f7e0d1c2925_1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c3d4f7e0d1c2925_1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Artifact review is time-consuming and less rewarded than paper review, so it is often given to PhD students. Does that make badges less trustworthy, or is it a sensible choice?</a:t>
            </a:r>
          </a:p>
          <a:p/>
          <a:p>
            <a:r>
              <a:t>POSSIBLE ANSWERS</a:t>
            </a:r>
          </a:p>
          <a:p>
            <a:r>
              <a:t>- GOOD CHOICE - students know current tools well, have time to try things, and are the typical future users of artifacts; if they can run it, others can too.</a:t>
            </a:r>
          </a:p>
          <a:p>
            <a:r>
              <a:t>- GOOD CHOICE - training: students learn what makes a good artifact and will build better ones themselves.</a:t>
            </a:r>
          </a:p>
          <a:p>
            <a:r>
              <a:t>- WEAKER BADGES - students may lack the experience to judge whether the method or experiment design is sound; they check 'it runs', not 'it is right'.</a:t>
            </a:r>
          </a:p>
          <a:p>
            <a:r>
              <a:t>- WEAKER BADGES - power imbalance: a first-year PhD student may not dare to reject the artifact of a well-known group.</a:t>
            </a:r>
          </a:p>
          <a:p>
            <a:r>
              <a:t>- SIGNAL - giving the job to students tells everyone artifacts are second-class, so authors put in less effort.</a:t>
            </a:r>
          </a:p>
          <a:p>
            <a:r>
              <a:t>- MIDDLE - mixed committees: students run the artifacts, an experienced reviewer checks the judgement and handles disputes.</a:t>
            </a:r>
          </a:p>
          <a:p/>
          <a:p>
            <a:r>
              <a:t>IF THE ROOM IS QUIET (ask in this order)</a:t>
            </a:r>
          </a:p>
          <a:p>
            <a:r>
              <a:t>1. Would you trust a badge more if a senior researcher had awarded it?</a:t>
            </a:r>
          </a:p>
          <a:p>
            <a:r>
              <a:t>2. What would a badge need to certify for you to rely on it in your thesis?</a:t>
            </a:r>
          </a:p>
          <a:p>
            <a:r>
              <a:t>3. Would you volunteer for an artifact evaluation committee? What would you get out of it?</a:t>
            </a:r>
          </a:p>
          <a:p/>
          <a:p>
            <a:r>
              <a:t>BACKGROUND (for you; sources named)</a:t>
            </a:r>
          </a:p>
          <a:p>
            <a:r>
              <a:t>- Artifact committees were deliberately filled with senior PhD students from ECOOP and OOPSLA 2013 on, because they know current tools and so the next generation learns about artifacts (organisers' calls).</a:t>
            </a:r>
          </a:p>
          <a:p>
            <a:r>
              <a:t>- Hermann et al. (Paper 1): most committee members serve only once, and about a third have never submitted an artifact themselves.</a:t>
            </a:r>
          </a:p>
        </p:txBody>
      </p:sp>
      <p:sp>
        <p:nvSpPr>
          <p:cNvPr id="320" name="Google Shape;320;gc3d4f7e0d1c2925_11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c3d4f7e0d1c2925_1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c3d4f7e0d1c2925_1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Career credit.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Direct benefit: users, collaborations.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JOSS [23]; possible overlap with the teammate's recommendations.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[23] Journal of Open Source Software (JOSS): publishes short papers about research software with a DOI, reviewed openly on GitHub (docs, tests, licence), so software work becomes citable and counts for careers.</a:t>
            </a:r>
            <a:endParaRPr/>
          </a:p>
        </p:txBody>
      </p:sp>
      <p:sp>
        <p:nvSpPr>
          <p:cNvPr id="332" name="Google Shape;332;gc3d4f7e0d1c2925_1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c3d4f7e0d1c2925_1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c3d4f7e0d1c2925_1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Artifacts stop working as libraries, compilers and operating systems change and the student who built them leaves. Can this be prevented, how, and who should keep it running?</a:t>
            </a:r>
          </a:p>
          <a:p/>
          <a:p>
            <a:r>
              <a:t>POSSIBLE ANSWERS</a:t>
            </a:r>
          </a:p>
          <a:p>
            <a:r>
              <a:t>- UNAVOIDABLE - the software world keeps changing; you can delay decay, not stop it. Accept that an artifact documents a point in time.</a:t>
            </a:r>
          </a:p>
          <a:p>
            <a:r>
              <a:t>- LIMIT IT - freeze the environment (a container or VM image with everything included), pin exact library versions, keep dependencies few, prefer well-known tools.</a:t>
            </a:r>
          </a:p>
          <a:p>
            <a:r>
              <a:t>- LIMIT IT - plain source code plus a clear description is the most durable form: even if it doesn't run, others can understand and re-implement it.</a:t>
            </a:r>
          </a:p>
          <a:p>
            <a:r>
              <a:t>- WHO KEEPS IT RUNNING - hand over to a group member or a permanent research software engineer when the student leaves; plan this from the start.</a:t>
            </a:r>
          </a:p>
          <a:p>
            <a:r>
              <a:t>- COST - maintenance takes time nobody is paid for; the group, the university or funders would have to pay, or the artifact is archived and marked 'unmaintained'.</a:t>
            </a:r>
          </a:p>
          <a:p>
            <a:r>
              <a:t>- EXPECTATION - an artifact only needs to work at publication and review time; afterwards it is a record, not a product.</a:t>
            </a:r>
          </a:p>
          <a:p/>
          <a:p>
            <a:r>
              <a:t>IF THE ROOM IS QUIET (ask in this order)</a:t>
            </a:r>
          </a:p>
          <a:p>
            <a:r>
              <a:t>1. A 2015 thesis tool needs Python 2 and a library that no longer exists: fix it, freeze it in an image, or let it go?</a:t>
            </a:r>
          </a:p>
          <a:p>
            <a:r>
              <a:t>2. Who should continue keeping your thesis tool running after you leave?</a:t>
            </a:r>
          </a:p>
          <a:p>
            <a:r>
              <a:t>3. Is a frozen image a solution, or does the image itself decay (e.g. if the hosting service deletes it)?</a:t>
            </a:r>
          </a:p>
          <a:p/>
          <a:p>
            <a:r>
              <a:t>BACKGROUND (for you; sources named)</a:t>
            </a:r>
          </a:p>
          <a:p>
            <a:r>
              <a:t>- Python 2 reached end of life on 1 Jan 2020 and Linux distributions removed it; the research tool OBITools (Python 2) is no longer maintainable and is kept runnable only through a Docker image its maintainers provide.</a:t>
            </a:r>
          </a:p>
          <a:p>
            <a:r>
              <a:t>- Docker Hub announced in 2020 that unused images of free accounts would be deleted after 6 months; enforcement was paused after protests. Even 'frozen' images depend on a company's policy.</a:t>
            </a:r>
          </a:p>
          <a:p>
            <a:r>
              <a:t>- Germany's DFG expects code and data behind a publication to be archived for 10 years; archived is not the same as runnable.</a:t>
            </a:r>
          </a:p>
          <a:p>
            <a:r>
              <a:t>- Research software engineers (e.g. at Princeton, Aalto) are permanent staff who keep research code alive when students leave.</a:t>
            </a:r>
          </a:p>
        </p:txBody>
      </p:sp>
      <p:sp>
        <p:nvSpPr>
          <p:cNvPr id="339" name="Google Shape;339;gc3d4f7e0d1c2925_1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c3d4f7e0d1c2925_1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c3d4f7e0d1c2925_1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Respondents value artifacts and want sharing rewarded. The four reasons they share are supporting evidence, community norm, reuse and understanding. What reward would make the effort worth it?</a:t>
            </a:r>
          </a:p>
          <a:p/>
          <a:p>
            <a:r>
              <a:t>POSSIBLE ANSWERS</a:t>
            </a:r>
          </a:p>
          <a:p>
            <a:r>
              <a:t>- CAREER CREDIT - artifacts counted in hiring and promotion, like papers; strongest lever, but needs a way to judge artifact quality.</a:t>
            </a:r>
          </a:p>
          <a:p>
            <a:r>
              <a:t>- CITATIONS - artifacts get their own DOI and are cited separately; credit in the currency researchers already use.</a:t>
            </a:r>
          </a:p>
          <a:p>
            <a:r>
              <a:t>- VISIBILITY - badges on the paper, best-artifact awards; cheap, but unclear whether anyone hiring cares.</a:t>
            </a:r>
          </a:p>
          <a:p>
            <a:r>
              <a:t>- FUNDING - grants require and pay for artifact work; it becomes part of the job instead of extra work.</a:t>
            </a:r>
          </a:p>
          <a:p>
            <a:r>
              <a:t>- NORM INSTEAD OF REWARD - if sharing is simply expected, no reward is needed; not sharing becomes the exception that needs explaining.</a:t>
            </a:r>
          </a:p>
          <a:p/>
          <a:p>
            <a:r>
              <a:t>IF THE ROOM IS QUIET (ask in this order)</a:t>
            </a:r>
          </a:p>
          <a:p>
            <a:r>
              <a:t>1. What would make you spend an extra week on your thesis artifact?</a:t>
            </a:r>
          </a:p>
          <a:p>
            <a:r>
              <a:t>2. Which of the four reasons (evidence, norm, reuse, understanding) would a reward strengthen most?</a:t>
            </a:r>
          </a:p>
          <a:p>
            <a:r>
              <a:t>3. Hand-over: 'The paper itself makes recommendations on this; Minh Thi presents them next.'</a:t>
            </a:r>
          </a:p>
          <a:p/>
          <a:p>
            <a:r>
              <a:t>BACKGROUND (for you; sources named)</a:t>
            </a:r>
          </a:p>
          <a:p>
            <a:r>
              <a:t>- Journal of Open Source Software (JOSS): publishes short, citable papers about research software, so software work counts for careers.</a:t>
            </a:r>
          </a:p>
        </p:txBody>
      </p:sp>
      <p:sp>
        <p:nvSpPr>
          <p:cNvPr id="351" name="Google Shape;351;gc3d4f7e0d1c2925_1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c3d4f7e0d1c2925_8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c3d4f7e0d1c2925_8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Career credit.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Direct benefit: users, collaborations.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JOSS [23]; possible overlap with the teammate's recommendations.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[23] Journal of Open Source Software (JOSS): publishes short papers about research software with a DOI, reviewed openly on GitHub (docs, tests, licence), so software work becomes citable and counts for careers.</a:t>
            </a:r>
            <a:endParaRPr/>
          </a:p>
        </p:txBody>
      </p:sp>
      <p:sp>
        <p:nvSpPr>
          <p:cNvPr id="362" name="Google Shape;362;gc3d4f7e0d1c2925_8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c3d4f7e0d1c2925_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c3d4f7e0d1c2925_5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More willing: proportionate consequences for honest errors; messy code accepted.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Less willing: as long as any visible mistake can cost a paper or reputation.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Chang 2006: inherited script flipped two columns, 5 retractions, treated as honest error [14].</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Reinhart &amp; Rogoff 2013: spreadsheet error found after the data was shared [15].</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Hermann et al.: some reviewers prefer availability over quality [6].</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[14] Chang case (Science news, 2006): a lab-inherited analysis program flipped two data columns, inverting protein structures; this led to five retractions (three in Science) over five years of work. Treated as an honest error; found because another group's results contradicted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[15] Reinhart &amp; Rogoff (2013): a student, Herndon, asked for the spreadsheet behind an influential austerity paper after failing to replicate it; a range error left out five countries, and corrected, average growth for high-debt countries changed from -0.1 % to 2.2 %.</a:t>
            </a:r>
            <a:endParaRPr/>
          </a:p>
        </p:txBody>
      </p:sp>
      <p:sp>
        <p:nvSpPr>
          <p:cNvPr id="369" name="Google Shape;369;gc3d4f7e0d1c2925_5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c3d4f7e0d1c2925_6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gc3d4f7e0d1c2925_6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Protect: a PhD has fixed time; being overtaken with your own tool is a real risk.</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Share: the paper already establishes priority; whole research areas died without artifacts.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Embargoes in data-heavy fields (telescope data 12-18 months); no measured scooping rate [24].</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[24] Embargo norms: data-heavy fields let the producing team publish first, e.g. telescope data 12-18 months exclusive, UK NERC up to 2 years after collection. No study measures how often scooping actually happens; it is a perceived risk.</a:t>
            </a:r>
            <a:endParaRPr/>
          </a:p>
        </p:txBody>
      </p:sp>
      <p:sp>
        <p:nvSpPr>
          <p:cNvPr id="381" name="Google Shape;381;gc3d4f7e0d1c2925_6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c3d4f7e0d1c2925_6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c3d4f7e0d1c2925_6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Mostly capturable with checklists and a run-all script.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Not fully: some know-how only transfers by talking to the author.</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t>
            </a:r>
            <a:endParaRPr/>
          </a:p>
        </p:txBody>
      </p:sp>
      <p:sp>
        <p:nvSpPr>
          <p:cNvPr id="393" name="Google Shape;393;gc3d4f7e0d1c2925_6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c3d4f7e0d1c2925_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c3d4f7e0d1c2925_6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someone independent has checked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 check nobody can repeat adds little.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ACM: Evaluated badges with reviewer-only access; Available needs a public archive. Proxies allowed for proprietary data [1, 3].</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endParaRPr/>
          </a:p>
        </p:txBody>
      </p:sp>
      <p:sp>
        <p:nvSpPr>
          <p:cNvPr id="405" name="Google Shape;405;gc3d4f7e0d1c2925_6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c3d4f7e0d1c2925_7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c3d4f7e0d1c2925_7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for a stated period.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archive it and say it is unsupported.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Overlaps with C3.</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417" name="Google Shape;417;gc3d4f7e0d1c2925_7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20eab59c8bb0d46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h20eab59c8bb0d46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a:p>
            <a:pPr indent="0" lvl="0" marL="0" rtl="0" algn="l">
              <a:spcBef>
                <a:spcPts val="0"/>
              </a:spcBef>
              <a:spcAft>
                <a:spcPts val="0"/>
              </a:spcAft>
              <a:buNone/>
            </a:pPr>
            <a:r>
              <a:t/>
            </a:r>
            <a:endParaRPr sz="1100">
              <a:solidFill>
                <a:srgbClr val="000000"/>
              </a:solidFill>
            </a:endParaRPr>
          </a:p>
        </p:txBody>
      </p:sp>
      <p:sp>
        <p:nvSpPr>
          <p:cNvPr id="429" name="Google Shape;429;h20eab59c8bb0d46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h20eab59c8bb0d465_5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h20eab59c8bb0d465_5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Should probably try to have one question per challenge, at least in the back pocket</a:t>
            </a:r>
            <a:endParaRPr sz="1100">
              <a:solidFill>
                <a:srgbClr val="000000"/>
              </a:solidFill>
            </a:endParaRPr>
          </a:p>
        </p:txBody>
      </p:sp>
      <p:sp>
        <p:nvSpPr>
          <p:cNvPr id="437" name="Google Shape;437;h20eab59c8bb0d465_5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20eab59c8bb0d465_5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h20eab59c8bb0d465_5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C1 questions and C9 licence question maybe too open to really do. Have one clear answer?</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C3 software decay question in conjunction with point about extra costs</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running out of time to research C2, might have to leave out</a:t>
            </a:r>
            <a:endParaRPr sz="1100">
              <a:solidFill>
                <a:srgbClr val="000000"/>
              </a:solidFill>
            </a:endParaRPr>
          </a:p>
        </p:txBody>
      </p:sp>
      <p:sp>
        <p:nvSpPr>
          <p:cNvPr id="445" name="Google Shape;445;h20eab59c8bb0d465_5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h456e3c7019817545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h456e3c7019817545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453" name="Google Shape;453;h456e3c7019817545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h76656c63b9505f1e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h76656c63b9505f1e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authors also analysed why these challenges persist.</a:t>
            </a:r>
            <a:r>
              <a:rPr lang="en-US"/>
              <a:t> In a second analysis they explore how the challenges connect and why they remain unresolved.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based on Diffusion of Innovation Theory (so how well something spreads), the authors show that artifacts are hard to adopt because they often lack familiar conventions, clear documentation, easy setup, and benefits beyond the paper itself.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communication between creators, reviewers, and users is limited, documentation is often missing, and badge standards vary across conferences, leading to misunderstandings and confusion on what an artifact looks like and how to pass the evaluation.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Artifacts, as we know, deteriorate over time but consistent maintenance costs too much effort And because artifact creation is not well rewarded and review is less valued, it leads to low-quality artifacts and inconsistent evaluations.</a:t>
            </a:r>
            <a:endParaRPr/>
          </a:p>
        </p:txBody>
      </p:sp>
      <p:sp>
        <p:nvSpPr>
          <p:cNvPr id="461" name="Google Shape;461;h76656c63b9505f1e_2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h76656c63b9505f1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h76656c63b9505f1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rgbClr val="000000"/>
                </a:solidFill>
              </a:rPr>
              <a:t>So the article listed 8 Recommendation for all groups involved, so for the creators, the evaluation committees and the institutions.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R1: Firstly, since many problems arise because creators and users expect different things from an artifact, the creators should document the artifact clearly, for example in a README. This includes its contents, its purpose, how it supports the claims in the paper and even things like citation guidelines, and a license.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R2: They should also provide installation instructions, all dependencies and details about the development environment to make it as self-contained as possible. So containers like docker could help with running on other systems. For very expensive experiments, they should also offer a smaller proof-of-concept version.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R3: And the team should also plan at the start of the project what happens to the artifacts. This includes planning in time for documentation and a plan for long-term maintenance. And as we mentioned last week, services like Zenodo are better longterm solution than Github or a university website.</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R4: Then for reviewers at a venue, it is often unclear who checks the artifacts: a separate artifact committee or only the paper reviewers. So reviewers should state which parts they check themselves and leave the rest to the committee. Whoever checks needs a clear rubric. If none exists, they should ask for one or write their own.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R5: Conferences and journals then should publish clear guidelines for the reviewers to work along. These should say what the review is for, how much gets checked, and by which criteria. Venues should also set deadlines for artifacts, so authors don’t have to rush them at the last minute.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R6: And since artifact review takes a lot of time and brings little recognition, the article also suggests providing compute resources and using a second review only when problems come up. And they stress that exchange between authors and reviewers and maybe even awards for good artifact reviewers could help.</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R7: And lastly recommendations for institutions. So right now sharing artifacts takes a lot of effort, yet it hardly counts for an academic career, so hiring and promotion committees should start rewarding it. Funding agencies can help too: so when researchers apply for a grant, they could be asked how they plan to share their artifacts, and the agency could then provide extra money to keep those artifacts maintained and archived for years.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R8: And editors and steering </a:t>
            </a:r>
            <a:r>
              <a:rPr lang="en-US">
                <a:solidFill>
                  <a:srgbClr val="000000"/>
                </a:solidFill>
              </a:rPr>
              <a:t>committees</a:t>
            </a:r>
            <a:r>
              <a:rPr lang="en-US">
                <a:solidFill>
                  <a:srgbClr val="000000"/>
                </a:solidFill>
              </a:rPr>
              <a:t> should set a long-term </a:t>
            </a:r>
            <a:r>
              <a:rPr lang="en-US">
                <a:solidFill>
                  <a:srgbClr val="000000"/>
                </a:solidFill>
              </a:rPr>
              <a:t>strategy</a:t>
            </a:r>
            <a:r>
              <a:rPr lang="en-US">
                <a:solidFill>
                  <a:srgbClr val="000000"/>
                </a:solidFill>
              </a:rPr>
              <a:t> for sharing and evaluating artifacts. So professional organisations like ACM should develop a standard format for artifact descriptions and review the evaluation process itself (like guidelines etc.) regularly.</a:t>
            </a:r>
            <a:endParaRPr>
              <a:solidFill>
                <a:srgbClr val="000000"/>
              </a:solidFill>
            </a:endParaRPr>
          </a:p>
          <a:p>
            <a:pPr indent="0" lvl="0" marL="0" rtl="0" algn="l">
              <a:spcBef>
                <a:spcPts val="1200"/>
              </a:spcBef>
              <a:spcAft>
                <a:spcPts val="0"/>
              </a:spcAft>
              <a:buNone/>
            </a:pPr>
            <a:r>
              <a:t/>
            </a:r>
            <a:endParaRPr sz="1300"/>
          </a:p>
          <a:p>
            <a:pPr indent="0" lvl="0" marL="0" rtl="0" algn="l">
              <a:spcBef>
                <a:spcPts val="0"/>
              </a:spcBef>
              <a:spcAft>
                <a:spcPts val="0"/>
              </a:spcAft>
              <a:buNone/>
            </a:pPr>
            <a:r>
              <a:t/>
            </a:r>
            <a:endParaRPr sz="1300"/>
          </a:p>
        </p:txBody>
      </p:sp>
      <p:sp>
        <p:nvSpPr>
          <p:cNvPr id="469" name="Google Shape;469;h76656c63b9505f1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h76656c63b9505f1e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h76656c63b9505f1e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The recommendations for the creators ask for better documentation, self-contained artifacts and more planning, so essentially more work for creators. Does it not worsen the 1st challenge of artifact sharing not being worth it? </a:t>
            </a:r>
            <a:endParaRPr/>
          </a:p>
          <a:p>
            <a:pPr indent="0" lvl="0" marL="457200" rtl="0" algn="l">
              <a:spcBef>
                <a:spcPts val="0"/>
              </a:spcBef>
              <a:spcAft>
                <a:spcPts val="0"/>
              </a:spcAft>
              <a:buNone/>
            </a:pPr>
            <a:r>
              <a:rPr lang="en-US"/>
              <a:t>→ For example, the paper says at a minimum, they should provide installation instructions, a dependency list, and a README. Do you think it is fair to ask that of them?</a:t>
            </a:r>
            <a:endParaRPr/>
          </a:p>
          <a:p>
            <a:pPr indent="0" lvl="0" marL="457200" rtl="0" algn="l">
              <a:spcBef>
                <a:spcPts val="0"/>
              </a:spcBef>
              <a:spcAft>
                <a:spcPts val="0"/>
              </a:spcAft>
              <a:buNone/>
            </a:pPr>
            <a:r>
              <a:rPr lang="en-US"/>
              <a:t>→ Do you feel like the might also benefit from these suggestions? If their documentation for example was clean from the get-go, they don’t have to deal with support emails? And</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Take Recommendation 2: Should researchers be expected to share the entire implementation of their work to get the badges? The article recommends providing proof-of-concept artifacts, so smaller self-contained artifacts with useful documentation, if full systems are too expensive. Do you agree with this? Do you think scientific confidence is hurt by doing this, since you’re only submitting a fraction of your whole code or system?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6: The current standard is double blind review (so the reviewers don’t know who the authors are and authors dk who the reviewers are), which makes artifact sharing harder, as the authors have to scrub the artifact clean as well as find an anonymous place to host it. This also limits communication as some people mentioned that they have a harder time asking authors for help. </a:t>
            </a:r>
            <a:endParaRPr/>
          </a:p>
          <a:p>
            <a:pPr indent="0" lvl="0" marL="0" rtl="0" algn="l">
              <a:spcBef>
                <a:spcPts val="0"/>
              </a:spcBef>
              <a:spcAft>
                <a:spcPts val="0"/>
              </a:spcAft>
              <a:buNone/>
            </a:pPr>
            <a:r>
              <a:rPr lang="en-US"/>
              <a:t>           → How important do you feel anonymity is?</a:t>
            </a:r>
            <a:endParaRPr/>
          </a:p>
          <a:p>
            <a:pPr indent="457200" lvl="0" marL="0" rtl="0" algn="l">
              <a:spcBef>
                <a:spcPts val="0"/>
              </a:spcBef>
              <a:spcAft>
                <a:spcPts val="0"/>
              </a:spcAft>
              <a:buNone/>
            </a:pPr>
            <a:r>
              <a:rPr lang="en-US"/>
              <a:t>→ Another practice could be single blind review (so the reviewer knows the authors’ names). So the challenged about scrubbing the artifact and finding an anonymous place to host would be </a:t>
            </a:r>
            <a:endParaRPr/>
          </a:p>
          <a:p>
            <a:pPr indent="0" lvl="0" marL="457200" rtl="0" algn="l">
              <a:spcBef>
                <a:spcPts val="0"/>
              </a:spcBef>
              <a:spcAft>
                <a:spcPts val="0"/>
              </a:spcAft>
              <a:buNone/>
            </a:pPr>
            <a:r>
              <a:rPr lang="en-US"/>
              <a:t>     resolved. Do you feel like that would suffice or might still introduce other issues (like bias)? Or do you feel like it’s worth it since the challenge is a bigger issue?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7: Should the hiring, promotion and funding process consider artifacts? Do you feel like there could be some issues</a:t>
            </a:r>
            <a:endParaRPr/>
          </a:p>
          <a:p>
            <a:pPr indent="457200" lvl="0" marL="0" rtl="0" algn="l">
              <a:spcBef>
                <a:spcPts val="0"/>
              </a:spcBef>
              <a:spcAft>
                <a:spcPts val="0"/>
              </a:spcAft>
              <a:buNone/>
            </a:pPr>
            <a:r>
              <a:rPr lang="en-US"/>
              <a:t>→ Like how would you assess that (how many artifacts this person has shared? How many badges he has gotten? maybe with how widely reused the artifact is?)</a:t>
            </a:r>
            <a:endParaRPr/>
          </a:p>
          <a:p>
            <a:pPr indent="0" lvl="0" marL="457200" rtl="0" algn="l">
              <a:spcBef>
                <a:spcPts val="0"/>
              </a:spcBef>
              <a:spcAft>
                <a:spcPts val="0"/>
              </a:spcAft>
              <a:buNone/>
            </a:pPr>
            <a:r>
              <a:rPr lang="en-US"/>
              <a:t>→ Do you feel like if artifacts are considered, people would spend more time on “farming” artifacts instead of focusing on the paper or on new research? Or would it make the research better      </a:t>
            </a:r>
            <a:endParaRPr/>
          </a:p>
          <a:p>
            <a:pPr indent="0" lvl="0" marL="457200" rtl="0" algn="l">
              <a:spcBef>
                <a:spcPts val="0"/>
              </a:spcBef>
              <a:spcAft>
                <a:spcPts val="0"/>
              </a:spcAft>
              <a:buNone/>
            </a:pPr>
            <a:r>
              <a:rPr lang="en-US"/>
              <a:t>     in the long run?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8: </a:t>
            </a:r>
            <a:r>
              <a:rPr lang="en-US"/>
              <a:t>The article recommended periodic review of the artifact evaluation itself. Do you feel like the artifacts themselves should also go through some sort of periodic evaluation? Since availability (because of unusably libraries, compilers, operating systems, bit rot!!) is an issue, should there be a system in place where artifacts are reevaluated regularly (e.g. every ten years)? Because if it doesn’t work anymore, shouldn’t the evaluation status change?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Another issue or reason that they mentioned was a part of why these challenges persist is because artifact review is not only time-consuming, but also seen as the more  “annoying” task that is given to students. Do you think this sentiment is justified? Why do you think the community feels this way?</a:t>
            </a:r>
            <a:endParaRPr/>
          </a:p>
          <a:p>
            <a:pPr indent="0" lvl="0" marL="0" rtl="0" algn="l">
              <a:spcBef>
                <a:spcPts val="0"/>
              </a:spcBef>
              <a:spcAft>
                <a:spcPts val="0"/>
              </a:spcAft>
              <a:buNone/>
            </a:pPr>
            <a:r>
              <a:rPr lang="en-US"/>
              <a:t>	→ Like would you rather want to do the technical, so paper review or an artifact review? </a:t>
            </a:r>
            <a:endParaRPr/>
          </a:p>
          <a:p>
            <a:pPr indent="0" lvl="0" marL="0" rtl="0" algn="l">
              <a:spcBef>
                <a:spcPts val="0"/>
              </a:spcBef>
              <a:spcAft>
                <a:spcPts val="0"/>
              </a:spcAft>
              <a:buNone/>
            </a:pPr>
            <a:r>
              <a:rPr lang="en-US"/>
              <a:t>	→ Do you feel like it can be justified as paper reviews usually do require broader knowledge and experience?</a:t>
            </a:r>
            <a:endParaRPr sz="1000">
              <a:solidFill>
                <a:srgbClr val="000000"/>
              </a:solidFill>
              <a:highlight>
                <a:srgbClr val="FF00FF"/>
              </a:highlight>
              <a:latin typeface="Roboto"/>
              <a:ea typeface="Roboto"/>
              <a:cs typeface="Roboto"/>
              <a:sym typeface="Roboto"/>
            </a:endParaRPr>
          </a:p>
        </p:txBody>
      </p:sp>
      <p:sp>
        <p:nvSpPr>
          <p:cNvPr id="488" name="Google Shape;488;h76656c63b9505f1e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h2e5b15fafcf2453c_6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h2e5b15fafcf2453c_6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Do you agree or disagree with any other recommendation? Or is there a problem from the analysis that none of the recommendations really solves? </a:t>
            </a:r>
            <a:endParaRPr/>
          </a:p>
          <a:p>
            <a:pPr indent="0" lvl="0" marL="0" rtl="0" algn="l">
              <a:spcBef>
                <a:spcPts val="0"/>
              </a:spcBef>
              <a:spcAft>
                <a:spcPts val="0"/>
              </a:spcAft>
              <a:buNone/>
            </a:pPr>
            <a:r>
              <a:rPr lang="en-US"/>
              <a:t>	→ Like which one sounds easiest to implement? Or which one sound unrealistic? E.g. i think R1, so providing a ReadMe is easy.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Almost all recommendations ask for more work from someone. Who do you think should carry the most work when it comes to artifacts: creators, reviewers, or institutions?</a:t>
            </a:r>
            <a:endParaRPr/>
          </a:p>
          <a:p>
            <a:pPr indent="0" lvl="0" marL="457200" rtl="0" algn="l">
              <a:spcBef>
                <a:spcPts val="0"/>
              </a:spcBef>
              <a:spcAft>
                <a:spcPts val="0"/>
              </a:spcAft>
              <a:buNone/>
            </a:pPr>
            <a:r>
              <a:rPr lang="en-US"/>
              <a:t>→ Or maybe we should go by who benefits most? Creators get credit, users get working tools, and reviewers get little. Should the work follow the benefit?</a:t>
            </a:r>
            <a:endParaRPr/>
          </a:p>
          <a:p>
            <a:pPr indent="0" lvl="0" marL="457200" rtl="0" algn="l">
              <a:spcBef>
                <a:spcPts val="0"/>
              </a:spcBef>
              <a:spcAft>
                <a:spcPts val="0"/>
              </a:spcAft>
              <a:buNone/>
            </a:pPr>
            <a:r>
              <a:rPr lang="en-US"/>
              <a:t>→ Or let’s say a creator spends a week on documentation, a student reviewer spends two days running it, and the venue only has to write a guideline. Is that split fair?”</a:t>
            </a:r>
            <a:endParaRPr/>
          </a:p>
          <a:p>
            <a:pPr indent="0" lvl="0" marL="457200" rtl="0" algn="l">
              <a:spcBef>
                <a:spcPts val="0"/>
              </a:spcBef>
              <a:spcAft>
                <a:spcPts val="0"/>
              </a:spcAft>
              <a:buNone/>
            </a:pPr>
            <a:r>
              <a:rPr lang="en-US"/>
              <a:t>First opinion to start: “I feel like the institutions should carry more, because they set the incentives. Creators and reviewers mostly react to them.”</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So after discussing all recommendations: Which one do you think would you prioritise when it comes to implementation? Which one do you feel solves the most important and biggest challenge and is also easy to implement?</a:t>
            </a:r>
            <a:endParaRPr/>
          </a:p>
        </p:txBody>
      </p:sp>
      <p:sp>
        <p:nvSpPr>
          <p:cNvPr id="501" name="Google Shape;501;h2e5b15fafcf2453c_6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h14a77dcaeeb36948_1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h14a77dcaeeb36948_1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h14a77dcaeeb36948_1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14a77dcaeeb36948_1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h14a77dcaeeb36948_1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h14a77dcaeeb36948_1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h14a77dcaeeb36948_1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h14a77dcaeeb36948_1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h14a77dcaeeb36948_1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14a77dcaeeb36948_1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h14a77dcaeeb36948_1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542" name="Google Shape;542;h14a77dcaeeb36948_1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h14a77dcaeeb36948_1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h14a77dcaeeb36948_1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h14a77dcaeeb36948_1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h14a77dcaeeb36948_1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h14a77dcaeeb36948_1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557" name="Google Shape;557;h14a77dcaeeb36948_1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h14a77dcaeeb36948_1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h14a77dcaeeb36948_1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565" name="Google Shape;565;h14a77dcaeeb36948_1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h14a77dcaeeb36948_1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h14a77dcaeeb36948_1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Font typeface="Roboto"/>
              <a:buChar char="-"/>
            </a:pPr>
            <a:r>
              <a:rPr lang="en-US" sz="1000">
                <a:solidFill>
                  <a:srgbClr val="000000"/>
                </a:solidFill>
                <a:highlight>
                  <a:srgbClr val="00FFFF"/>
                </a:highlight>
                <a:latin typeface="Roboto"/>
                <a:ea typeface="Roboto"/>
                <a:cs typeface="Roboto"/>
                <a:sym typeface="Roboto"/>
              </a:rPr>
              <a:t>What would you do as a follow-up study to these papers? (e.g. tracking the same artifacts over time?, Attempts to implement the suggestions and seeing the results?, …) </a:t>
            </a:r>
            <a:endParaRPr/>
          </a:p>
        </p:txBody>
      </p:sp>
      <p:sp>
        <p:nvSpPr>
          <p:cNvPr id="573" name="Google Shape;573;h14a77dcaeeb36948_1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h14a77dcaeeb36948_1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h14a77dcaeeb36948_1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h14a77dcaeeb36948_1_3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h20eab59c8bb0d465_5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h20eab59c8bb0d465_5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594" name="Google Shape;59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630" name="Google Shape;63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638" name="Google Shape;6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647" name="Google Shape;6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655" name="Google Shape;65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672" name="Google Shape;67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680" name="Google Shape;6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688" name="Google Shape;6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Would you sign up for an AEC next year? Why or why not?</a:t>
            </a:r>
            <a:endParaRPr/>
          </a:p>
        </p:txBody>
      </p:sp>
      <p:sp>
        <p:nvSpPr>
          <p:cNvPr id="704" name="Google Shape;7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What would a second, meaningful threshold look like?</a:t>
            </a:r>
            <a:endParaRPr/>
          </a:p>
        </p:txBody>
      </p:sp>
      <p:sp>
        <p:nvSpPr>
          <p:cNvPr id="720" name="Google Shape;7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Mixed methods, then a Diffusion of Innovations secondary analysis (pp. 2–3).</a:t>
            </a:r>
            <a:endParaRPr/>
          </a:p>
        </p:txBody>
      </p:sp>
      <p:sp>
        <p:nvSpPr>
          <p:cNvPr id="743" name="Google Shape;74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Science: evidence-based, iterative change from medicine (p. 6).</a:t>
            </a:r>
            <a:endParaRPr/>
          </a:p>
        </p:txBody>
      </p:sp>
      <p:sp>
        <p:nvSpPr>
          <p:cNvPr id="751" name="Google Shape;75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 6.</a:t>
            </a:r>
            <a:endParaRPr/>
          </a:p>
        </p:txBody>
      </p:sp>
      <p:sp>
        <p:nvSpPr>
          <p:cNvPr id="759" name="Google Shape;75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pp. 6–9. FSE AEC chairs supplied submission numbers.</a:t>
            </a:r>
            <a:endParaRPr/>
          </a:p>
        </p:txBody>
      </p:sp>
      <p:sp>
        <p:nvSpPr>
          <p:cNvPr id="767" name="Google Shape;76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challenges, Table 4 pp. 14–15: not worth it, portability, maintenance, tacit knowledge, doesn't fit purpose, no standards, hosting, double-blind review, external constraints, no reviewer incentives, technical obstacles, limited communication.</a:t>
            </a:r>
            <a:endParaRPr/>
          </a:p>
        </p:txBody>
      </p:sp>
      <p:sp>
        <p:nvSpPr>
          <p:cNvPr id="784" name="Google Shape;78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Authors believe artifacts should be reviewed as part of paper review (p. 28).</a:t>
            </a:r>
            <a:endParaRPr/>
          </a:p>
        </p:txBody>
      </p:sp>
      <p:sp>
        <p:nvSpPr>
          <p:cNvPr id="792" name="Google Shape;79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800" name="Google Shape;80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5" name="Google Shape;81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Week 1 link: Docker may not exist in 40 years.</a:t>
            </a:r>
            <a:endParaRPr/>
          </a:p>
        </p:txBody>
      </p:sp>
      <p:sp>
        <p:nvSpPr>
          <p:cNvPr id="816" name="Google Shape;81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 name="Google Shape;83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Connects to Hermann's one-time reviewers.</a:t>
            </a:r>
            <a:endParaRPr/>
          </a:p>
        </p:txBody>
      </p:sp>
      <p:sp>
        <p:nvSpPr>
          <p:cNvPr id="832" name="Google Shape;83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3" name="Google Shape;86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872" name="Google Shape;87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7" name="Google Shape;88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Outside the box: what if an AI agent ran every artifact automatically? What would it miss?</a:t>
            </a:r>
            <a:endParaRPr/>
          </a:p>
        </p:txBody>
      </p:sp>
      <p:sp>
        <p:nvSpPr>
          <p:cNvPr id="888" name="Google Shape;88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4" name="Google Shape;90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911" name="Google Shape;91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8" name="Google Shape;91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919" name="Google Shape;91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6" name="Google Shape;92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927" name="Google Shape;92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5" name="Google Shape;93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883A"/>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100" u="none" cap="none" strike="noStrike">
                <a:solidFill>
                  <a:srgbClr val="5F6368"/>
                </a:solidFill>
                <a:latin typeface="Arial"/>
                <a:ea typeface="Arial"/>
                <a:cs typeface="Arial"/>
                <a:sym typeface="Arial"/>
              </a:defRPr>
            </a:lvl1pPr>
            <a:lvl2pPr indent="0" lvl="1" marL="0" marR="0" algn="l">
              <a:spcBef>
                <a:spcPts val="0"/>
              </a:spcBef>
              <a:buNone/>
              <a:defRPr b="0" i="0" sz="1100" u="none" cap="none" strike="noStrike">
                <a:solidFill>
                  <a:srgbClr val="5F6368"/>
                </a:solidFill>
                <a:latin typeface="Arial"/>
                <a:ea typeface="Arial"/>
                <a:cs typeface="Arial"/>
                <a:sym typeface="Arial"/>
              </a:defRPr>
            </a:lvl2pPr>
            <a:lvl3pPr indent="0" lvl="2" marL="0" marR="0" algn="l">
              <a:spcBef>
                <a:spcPts val="0"/>
              </a:spcBef>
              <a:buNone/>
              <a:defRPr b="0" i="0" sz="1100" u="none" cap="none" strike="noStrike">
                <a:solidFill>
                  <a:srgbClr val="5F6368"/>
                </a:solidFill>
                <a:latin typeface="Arial"/>
                <a:ea typeface="Arial"/>
                <a:cs typeface="Arial"/>
                <a:sym typeface="Arial"/>
              </a:defRPr>
            </a:lvl3pPr>
            <a:lvl4pPr indent="0" lvl="3" marL="0" marR="0" algn="l">
              <a:spcBef>
                <a:spcPts val="0"/>
              </a:spcBef>
              <a:buNone/>
              <a:defRPr b="0" i="0" sz="1100" u="none" cap="none" strike="noStrike">
                <a:solidFill>
                  <a:srgbClr val="5F6368"/>
                </a:solidFill>
                <a:latin typeface="Arial"/>
                <a:ea typeface="Arial"/>
                <a:cs typeface="Arial"/>
                <a:sym typeface="Arial"/>
              </a:defRPr>
            </a:lvl4pPr>
            <a:lvl5pPr indent="0" lvl="4" marL="0" marR="0" algn="l">
              <a:spcBef>
                <a:spcPts val="0"/>
              </a:spcBef>
              <a:buNone/>
              <a:defRPr b="0" i="0" sz="1100" u="none" cap="none" strike="noStrike">
                <a:solidFill>
                  <a:srgbClr val="5F6368"/>
                </a:solidFill>
                <a:latin typeface="Arial"/>
                <a:ea typeface="Arial"/>
                <a:cs typeface="Arial"/>
                <a:sym typeface="Arial"/>
              </a:defRPr>
            </a:lvl5pPr>
            <a:lvl6pPr indent="0" lvl="5" marL="0" marR="0" algn="l">
              <a:spcBef>
                <a:spcPts val="0"/>
              </a:spcBef>
              <a:buNone/>
              <a:defRPr b="0" i="0" sz="1100" u="none" cap="none" strike="noStrike">
                <a:solidFill>
                  <a:srgbClr val="5F6368"/>
                </a:solidFill>
                <a:latin typeface="Arial"/>
                <a:ea typeface="Arial"/>
                <a:cs typeface="Arial"/>
                <a:sym typeface="Arial"/>
              </a:defRPr>
            </a:lvl6pPr>
            <a:lvl7pPr indent="0" lvl="6" marL="0" marR="0" algn="l">
              <a:spcBef>
                <a:spcPts val="0"/>
              </a:spcBef>
              <a:buNone/>
              <a:defRPr b="0" i="0" sz="1100" u="none" cap="none" strike="noStrike">
                <a:solidFill>
                  <a:srgbClr val="5F6368"/>
                </a:solidFill>
                <a:latin typeface="Arial"/>
                <a:ea typeface="Arial"/>
                <a:cs typeface="Arial"/>
                <a:sym typeface="Arial"/>
              </a:defRPr>
            </a:lvl7pPr>
            <a:lvl8pPr indent="0" lvl="7" marL="0" marR="0" algn="l">
              <a:spcBef>
                <a:spcPts val="0"/>
              </a:spcBef>
              <a:buNone/>
              <a:defRPr b="0" i="0" sz="1100" u="none" cap="none" strike="noStrike">
                <a:solidFill>
                  <a:srgbClr val="5F6368"/>
                </a:solidFill>
                <a:latin typeface="Arial"/>
                <a:ea typeface="Arial"/>
                <a:cs typeface="Arial"/>
                <a:sym typeface="Arial"/>
              </a:defRPr>
            </a:lvl8pPr>
            <a:lvl9pPr indent="0" lvl="8" marL="0" marR="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100" u="none" cap="none" strike="noStrike">
                <a:solidFill>
                  <a:srgbClr val="5F6368"/>
                </a:solidFill>
                <a:latin typeface="Arial"/>
                <a:ea typeface="Arial"/>
                <a:cs typeface="Arial"/>
                <a:sym typeface="Arial"/>
              </a:defRPr>
            </a:lvl1pPr>
            <a:lvl2pPr indent="0" lvl="1" marL="0" marR="0" rtl="0" algn="l">
              <a:spcBef>
                <a:spcPts val="0"/>
              </a:spcBef>
              <a:buNone/>
              <a:defRPr b="0" i="0" sz="1100" u="none" cap="none" strike="noStrike">
                <a:solidFill>
                  <a:srgbClr val="5F6368"/>
                </a:solidFill>
                <a:latin typeface="Arial"/>
                <a:ea typeface="Arial"/>
                <a:cs typeface="Arial"/>
                <a:sym typeface="Arial"/>
              </a:defRPr>
            </a:lvl2pPr>
            <a:lvl3pPr indent="0" lvl="2" marL="0" marR="0" rtl="0" algn="l">
              <a:spcBef>
                <a:spcPts val="0"/>
              </a:spcBef>
              <a:buNone/>
              <a:defRPr b="0" i="0" sz="1100" u="none" cap="none" strike="noStrike">
                <a:solidFill>
                  <a:srgbClr val="5F6368"/>
                </a:solidFill>
                <a:latin typeface="Arial"/>
                <a:ea typeface="Arial"/>
                <a:cs typeface="Arial"/>
                <a:sym typeface="Arial"/>
              </a:defRPr>
            </a:lvl3pPr>
            <a:lvl4pPr indent="0" lvl="3" marL="0" marR="0" rtl="0" algn="l">
              <a:spcBef>
                <a:spcPts val="0"/>
              </a:spcBef>
              <a:buNone/>
              <a:defRPr b="0" i="0" sz="1100" u="none" cap="none" strike="noStrike">
                <a:solidFill>
                  <a:srgbClr val="5F6368"/>
                </a:solidFill>
                <a:latin typeface="Arial"/>
                <a:ea typeface="Arial"/>
                <a:cs typeface="Arial"/>
                <a:sym typeface="Arial"/>
              </a:defRPr>
            </a:lvl4pPr>
            <a:lvl5pPr indent="0" lvl="4" marL="0" marR="0" rtl="0" algn="l">
              <a:spcBef>
                <a:spcPts val="0"/>
              </a:spcBef>
              <a:buNone/>
              <a:defRPr b="0" i="0" sz="1100" u="none" cap="none" strike="noStrike">
                <a:solidFill>
                  <a:srgbClr val="5F6368"/>
                </a:solidFill>
                <a:latin typeface="Arial"/>
                <a:ea typeface="Arial"/>
                <a:cs typeface="Arial"/>
                <a:sym typeface="Arial"/>
              </a:defRPr>
            </a:lvl5pPr>
            <a:lvl6pPr indent="0" lvl="5" marL="0" marR="0" rtl="0" algn="l">
              <a:spcBef>
                <a:spcPts val="0"/>
              </a:spcBef>
              <a:buNone/>
              <a:defRPr b="0" i="0" sz="1100" u="none" cap="none" strike="noStrike">
                <a:solidFill>
                  <a:srgbClr val="5F6368"/>
                </a:solidFill>
                <a:latin typeface="Arial"/>
                <a:ea typeface="Arial"/>
                <a:cs typeface="Arial"/>
                <a:sym typeface="Arial"/>
              </a:defRPr>
            </a:lvl6pPr>
            <a:lvl7pPr indent="0" lvl="6" marL="0" marR="0" rtl="0" algn="l">
              <a:spcBef>
                <a:spcPts val="0"/>
              </a:spcBef>
              <a:buNone/>
              <a:defRPr b="0" i="0" sz="1100" u="none" cap="none" strike="noStrike">
                <a:solidFill>
                  <a:srgbClr val="5F6368"/>
                </a:solidFill>
                <a:latin typeface="Arial"/>
                <a:ea typeface="Arial"/>
                <a:cs typeface="Arial"/>
                <a:sym typeface="Arial"/>
              </a:defRPr>
            </a:lvl7pPr>
            <a:lvl8pPr indent="0" lvl="7" marL="0" marR="0" rtl="0" algn="l">
              <a:spcBef>
                <a:spcPts val="0"/>
              </a:spcBef>
              <a:buNone/>
              <a:defRPr b="0" i="0" sz="1100" u="none" cap="none" strike="noStrike">
                <a:solidFill>
                  <a:srgbClr val="5F6368"/>
                </a:solidFill>
                <a:latin typeface="Arial"/>
                <a:ea typeface="Arial"/>
                <a:cs typeface="Arial"/>
                <a:sym typeface="Arial"/>
              </a:defRPr>
            </a:lvl8pPr>
            <a:lvl9pPr indent="0" lvl="8" marL="0" marR="0" rtl="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comments" Target="../comments/commen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6"/>
          <p:cNvSpPr txBox="1"/>
          <p:nvPr/>
        </p:nvSpPr>
        <p:spPr>
          <a:xfrm>
            <a:off x="640080" y="2011680"/>
            <a:ext cx="10911600" cy="1463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25" name="Google Shape;25;p6"/>
          <p:cNvSpPr txBox="1"/>
          <p:nvPr/>
        </p:nvSpPr>
        <p:spPr>
          <a:xfrm>
            <a:off x="640080" y="3657600"/>
            <a:ext cx="1091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26" name="Google Shape;26;p6"/>
          <p:cNvSpPr txBox="1"/>
          <p:nvPr/>
        </p:nvSpPr>
        <p:spPr>
          <a:xfrm>
            <a:off x="640080" y="4754880"/>
            <a:ext cx="1091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7"/>
          <p:cNvSpPr txBox="1"/>
          <p:nvPr/>
        </p:nvSpPr>
        <p:spPr>
          <a:xfrm>
            <a:off x="57903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33" name="Google Shape;33;p7"/>
          <p:cNvSpPr txBox="1"/>
          <p:nvPr/>
        </p:nvSpPr>
        <p:spPr>
          <a:xfrm>
            <a:off x="640080" y="15544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34" name="Google Shape;34;p7"/>
          <p:cNvSpPr txBox="1"/>
          <p:nvPr/>
        </p:nvSpPr>
        <p:spPr>
          <a:xfrm>
            <a:off x="1463040" y="15544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35" name="Google Shape;35;p7"/>
          <p:cNvSpPr txBox="1"/>
          <p:nvPr/>
        </p:nvSpPr>
        <p:spPr>
          <a:xfrm>
            <a:off x="640080" y="21945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36" name="Google Shape;36;p7"/>
          <p:cNvSpPr txBox="1"/>
          <p:nvPr/>
        </p:nvSpPr>
        <p:spPr>
          <a:xfrm>
            <a:off x="1463040" y="21945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37" name="Google Shape;37;p7"/>
          <p:cNvSpPr txBox="1"/>
          <p:nvPr/>
        </p:nvSpPr>
        <p:spPr>
          <a:xfrm>
            <a:off x="640080" y="283464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38" name="Google Shape;38;p7"/>
          <p:cNvSpPr txBox="1"/>
          <p:nvPr/>
        </p:nvSpPr>
        <p:spPr>
          <a:xfrm>
            <a:off x="1463040" y="283464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39" name="Google Shape;39;p7"/>
          <p:cNvSpPr txBox="1"/>
          <p:nvPr/>
        </p:nvSpPr>
        <p:spPr>
          <a:xfrm>
            <a:off x="640080" y="347472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40" name="Google Shape;40;p7"/>
          <p:cNvSpPr txBox="1"/>
          <p:nvPr/>
        </p:nvSpPr>
        <p:spPr>
          <a:xfrm>
            <a:off x="1463040" y="347472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41" name="Google Shape;41;p7"/>
          <p:cNvSpPr txBox="1"/>
          <p:nvPr/>
        </p:nvSpPr>
        <p:spPr>
          <a:xfrm>
            <a:off x="640080" y="4114800"/>
            <a:ext cx="7314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Arial"/>
              <a:buNone/>
            </a:pPr>
            <a:r>
              <a:rPr b="1" lang="en-US" sz="2200">
                <a:solidFill>
                  <a:schemeClr val="dk2"/>
                </a:solidFill>
              </a:rPr>
              <a:t>05</a:t>
            </a:r>
            <a:endParaRPr b="0" i="0" sz="2200" u="none" cap="none" strike="noStrike">
              <a:solidFill>
                <a:schemeClr val="dk1"/>
              </a:solidFill>
              <a:latin typeface="Arial"/>
              <a:ea typeface="Arial"/>
              <a:cs typeface="Arial"/>
              <a:sym typeface="Arial"/>
            </a:endParaRPr>
          </a:p>
        </p:txBody>
      </p:sp>
      <p:sp>
        <p:nvSpPr>
          <p:cNvPr id="42" name="Google Shape;42;p7"/>
          <p:cNvSpPr txBox="1"/>
          <p:nvPr/>
        </p:nvSpPr>
        <p:spPr>
          <a:xfrm>
            <a:off x="1463040" y="411480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lang="en-US" sz="2200">
                <a:solidFill>
                  <a:schemeClr val="dk1"/>
                </a:solidFill>
              </a:rPr>
              <a:t>Open Floor</a:t>
            </a:r>
            <a:endParaRPr b="0" i="0" sz="2200" u="none" cap="none" strike="noStrike">
              <a:solidFill>
                <a:schemeClr val="dk1"/>
              </a:solidFill>
              <a:latin typeface="Arial"/>
              <a:ea typeface="Arial"/>
              <a:cs typeface="Arial"/>
              <a:sym typeface="Arial"/>
            </a:endParaRPr>
          </a:p>
        </p:txBody>
      </p:sp>
      <p:sp>
        <p:nvSpPr>
          <p:cNvPr id="43" name="Google Shape;43;p7"/>
          <p:cNvSpPr txBox="1"/>
          <p:nvPr/>
        </p:nvSpPr>
        <p:spPr>
          <a:xfrm>
            <a:off x="579030" y="47548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4" name="Google Shape;44;p7"/>
          <p:cNvSpPr txBox="1"/>
          <p:nvPr/>
        </p:nvSpPr>
        <p:spPr>
          <a:xfrm>
            <a:off x="1463040" y="47548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5" name="Google Shape;45;p7"/>
          <p:cNvSpPr txBox="1"/>
          <p:nvPr/>
        </p:nvSpPr>
        <p:spPr>
          <a:xfrm>
            <a:off x="1463040" y="53949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6" name="Google Shape;46;p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53" name="Google Shape;53;p8"/>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0" name="Google Shape;60;p9"/>
          <p:cNvSpPr txBox="1"/>
          <p:nvPr/>
        </p:nvSpPr>
        <p:spPr>
          <a:xfrm>
            <a:off x="3866575" y="2014675"/>
            <a:ext cx="7583400" cy="44070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2200">
                <a:solidFill>
                  <a:schemeClr val="dk1"/>
                </a:solidFill>
              </a:rPr>
              <a:t>Replicability Crisis:</a:t>
            </a:r>
            <a:r>
              <a:rPr lang="en-US" sz="2200">
                <a:solidFill>
                  <a:schemeClr val="dk1"/>
                </a:solidFill>
              </a:rPr>
              <a:t> Researchers struggle to obtain usable experimental artifacts. </a:t>
            </a:r>
            <a:endParaRPr sz="2200">
              <a:solidFill>
                <a:schemeClr val="dk1"/>
              </a:solidFill>
            </a:endParaRPr>
          </a:p>
          <a:p>
            <a:pPr indent="0" lvl="0" marL="0" rtl="0" algn="l">
              <a:spcBef>
                <a:spcPts val="1000"/>
              </a:spcBef>
              <a:spcAft>
                <a:spcPts val="0"/>
              </a:spcAft>
              <a:buNone/>
            </a:pPr>
            <a:r>
              <a:rPr b="1" lang="en-US" sz="2200">
                <a:solidFill>
                  <a:schemeClr val="dk1"/>
                </a:solidFill>
              </a:rPr>
              <a:t>Adoption Since 2011</a:t>
            </a:r>
            <a:r>
              <a:rPr lang="en-US" sz="2200">
                <a:solidFill>
                  <a:schemeClr val="dk1"/>
                </a:solidFill>
              </a:rPr>
              <a:t>: Conferences award badges via voluntary peer audits. </a:t>
            </a:r>
            <a:endParaRPr sz="2200">
              <a:solidFill>
                <a:schemeClr val="dk1"/>
              </a:solidFill>
            </a:endParaRPr>
          </a:p>
          <a:p>
            <a:pPr indent="0" lvl="0" marL="0" rtl="0" algn="l">
              <a:spcBef>
                <a:spcPts val="1000"/>
              </a:spcBef>
              <a:spcAft>
                <a:spcPts val="0"/>
              </a:spcAft>
              <a:buNone/>
            </a:pPr>
            <a:r>
              <a:rPr b="1" lang="en-US" sz="2200">
                <a:solidFill>
                  <a:schemeClr val="dk1"/>
                </a:solidFill>
              </a:rPr>
              <a:t>Core Problem</a:t>
            </a:r>
            <a:r>
              <a:rPr lang="en-US" sz="2200">
                <a:solidFill>
                  <a:schemeClr val="dk1"/>
                </a:solidFill>
              </a:rPr>
              <a:t>: Guidelines lack uniform thresholds for artifact quality.</a:t>
            </a:r>
            <a:endParaRPr sz="2200">
              <a:solidFill>
                <a:schemeClr val="dk1"/>
              </a:solidFill>
            </a:endParaRPr>
          </a:p>
          <a:p>
            <a:pPr indent="0" lvl="0" marL="0" rtl="0" algn="l">
              <a:spcBef>
                <a:spcPts val="1000"/>
              </a:spcBef>
              <a:spcAft>
                <a:spcPts val="0"/>
              </a:spcAft>
              <a:buNone/>
            </a:pPr>
            <a:r>
              <a:rPr b="1" lang="en-US" sz="2200">
                <a:solidFill>
                  <a:schemeClr val="dk1"/>
                </a:solidFill>
              </a:rPr>
              <a:t>Main Contribution</a:t>
            </a:r>
            <a:r>
              <a:rPr lang="en-US" sz="2200">
                <a:solidFill>
                  <a:schemeClr val="dk1"/>
                </a:solidFill>
              </a:rPr>
              <a:t>: Empirical survey of 255 committee reviewers.</a:t>
            </a:r>
            <a:endParaRPr sz="2200">
              <a:solidFill>
                <a:schemeClr val="dk1"/>
              </a:solidFill>
            </a:endParaRPr>
          </a:p>
        </p:txBody>
      </p:sp>
      <p:sp>
        <p:nvSpPr>
          <p:cNvPr id="61" name="Google Shape;61;p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2" name="Google Shape;62;p9"/>
          <p:cNvSpPr txBox="1"/>
          <p:nvPr/>
        </p:nvSpPr>
        <p:spPr>
          <a:xfrm>
            <a:off x="305250" y="2014675"/>
            <a:ext cx="3449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Evaluating the efficacy of Artifact Evaluation across </a:t>
            </a:r>
            <a:endParaRPr b="1" sz="2500">
              <a:solidFill>
                <a:schemeClr val="dk2"/>
              </a:solidFill>
              <a:highlight>
                <a:schemeClr val="lt1"/>
              </a:highlight>
              <a:latin typeface="Playfair Display"/>
              <a:ea typeface="Playfair Display"/>
              <a:cs typeface="Playfair Display"/>
              <a:sym typeface="Playfair Display"/>
            </a:endParaRPr>
          </a:p>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Software Engineering and Programming Languages.</a:t>
            </a:r>
            <a:r>
              <a:rPr b="1" lang="en-US" sz="2500">
                <a:solidFill>
                  <a:schemeClr val="dk2"/>
                </a:solidFill>
              </a:rPr>
              <a:t> </a:t>
            </a:r>
            <a:endParaRPr b="1" sz="2500">
              <a:solidFill>
                <a:schemeClr val="dk2"/>
              </a:solidFill>
            </a:endParaRPr>
          </a:p>
        </p:txBody>
      </p:sp>
      <p:pic>
        <p:nvPicPr>
          <p:cNvPr id="63" name="Google Shape;63;p9"/>
          <p:cNvPicPr preferRelativeResize="0"/>
          <p:nvPr/>
        </p:nvPicPr>
        <p:blipFill>
          <a:blip r:embed="rId3">
            <a:alphaModFix/>
          </a:blip>
          <a:stretch>
            <a:fillRect/>
          </a:stretch>
        </p:blipFill>
        <p:spPr>
          <a:xfrm rot="-5">
            <a:off x="9862374" y="172974"/>
            <a:ext cx="1384750" cy="13775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70" name="Google Shape;70;p1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71" name="Google Shape;71;p10"/>
          <p:cNvSpPr txBox="1"/>
          <p:nvPr/>
        </p:nvSpPr>
        <p:spPr>
          <a:xfrm>
            <a:off x="640075" y="5267300"/>
            <a:ext cx="9547200" cy="10878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1800">
                <a:solidFill>
                  <a:schemeClr val="dk2"/>
                </a:solidFill>
              </a:rPr>
              <a:t>Question:</a:t>
            </a:r>
            <a:r>
              <a:rPr lang="en-US" sz="1800">
                <a:solidFill>
                  <a:srgbClr val="1A1A1A"/>
                </a:solidFill>
              </a:rPr>
              <a:t> Since computer science, data science, and empirical software engineering overlap so heavily with statistics, how can a reviewer or author know what conference guidelines actually expect when these words are used without a glossary? What </a:t>
            </a:r>
            <a:r>
              <a:rPr lang="en-US" sz="1800">
                <a:solidFill>
                  <a:schemeClr val="dk1"/>
                </a:solidFill>
              </a:rPr>
              <a:t>problems </a:t>
            </a:r>
            <a:r>
              <a:rPr lang="en-US" sz="1800">
                <a:solidFill>
                  <a:srgbClr val="1A1A1A"/>
                </a:solidFill>
              </a:rPr>
              <a:t>c</a:t>
            </a:r>
            <a:r>
              <a:rPr lang="en-US" sz="1800">
                <a:solidFill>
                  <a:srgbClr val="1A1A1A"/>
                </a:solidFill>
              </a:rPr>
              <a:t>ould this cause? </a:t>
            </a:r>
            <a:endParaRPr sz="1800">
              <a:solidFill>
                <a:srgbClr val="1A1A1A"/>
              </a:solidFill>
            </a:endParaRPr>
          </a:p>
        </p:txBody>
      </p:sp>
      <p:graphicFrame>
        <p:nvGraphicFramePr>
          <p:cNvPr id="72" name="Google Shape;72;p10"/>
          <p:cNvGraphicFramePr/>
          <p:nvPr/>
        </p:nvGraphicFramePr>
        <p:xfrm>
          <a:off x="606867" y="1214192"/>
          <a:ext cx="3000000" cy="3000000"/>
        </p:xfrm>
        <a:graphic>
          <a:graphicData uri="http://schemas.openxmlformats.org/drawingml/2006/table">
            <a:tbl>
              <a:tblPr>
                <a:noFill/>
                <a:tableStyleId>{B93A5F36-DCFF-479B-8887-EC226CF57605}</a:tableStyleId>
              </a:tblPr>
              <a:tblGrid>
                <a:gridCol w="2195600"/>
                <a:gridCol w="2195600"/>
                <a:gridCol w="2195600"/>
                <a:gridCol w="2195600"/>
                <a:gridCol w="2195600"/>
              </a:tblGrid>
              <a:tr h="734400">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Term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Who Performs it?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Experimental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ACM Guideline Role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ASA Definition Clash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8104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Repeatability</a:t>
                      </a:r>
                      <a:endParaRPr b="1" sz="2000" u="none" cap="none" strike="noStrike"/>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Same 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Baseline requirement</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Same as ACM</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11221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Replicability </a:t>
                      </a:r>
                      <a:endParaRPr b="1"/>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 (authors Artifact)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2000">
                          <a:solidFill>
                            <a:srgbClr val="1A1A1A"/>
                          </a:solidFill>
                        </a:rPr>
                        <a:t>Direct goal of Artifact Evaluation</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2000">
                          <a:solidFill>
                            <a:schemeClr val="dk1"/>
                          </a:solidFill>
                        </a:rPr>
                        <a:t>Called Reproducibility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1122100">
                <a:tc>
                  <a:txBody>
                    <a:bodyPr/>
                    <a:lstStyle/>
                    <a:p>
                      <a:pPr indent="0" lvl="0" marL="0" marR="0" rtl="0" algn="l">
                        <a:spcBef>
                          <a:spcPts val="0"/>
                        </a:spcBef>
                        <a:spcAft>
                          <a:spcPts val="0"/>
                        </a:spcAft>
                        <a:buClr>
                          <a:srgbClr val="1A1A1A"/>
                        </a:buClr>
                        <a:buSzPts val="2000"/>
                        <a:buFont typeface="Arial"/>
                        <a:buNone/>
                      </a:pPr>
                      <a:r>
                        <a:rPr b="1" lang="en-US" sz="2000">
                          <a:solidFill>
                            <a:schemeClr val="dk1"/>
                          </a:solidFil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Different Team</a:t>
                      </a:r>
                      <a:endParaRPr sz="2000"/>
                    </a:p>
                    <a:p>
                      <a:pPr indent="0" lvl="0" marL="0" rtl="0" algn="l">
                        <a:spcBef>
                          <a:spcPts val="0"/>
                        </a:spcBef>
                        <a:spcAft>
                          <a:spcPts val="0"/>
                        </a:spcAft>
                        <a:buClr>
                          <a:schemeClr val="dk1"/>
                        </a:buClr>
                        <a:buSzPts val="2000"/>
                        <a:buFont typeface="Arial"/>
                        <a:buNone/>
                      </a:pPr>
                      <a:r>
                        <a:t/>
                      </a:r>
                      <a:endParaRPr sz="2000">
                        <a:solidFill>
                          <a:schemeClr val="dk1"/>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Long-term Goal</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Called Replication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1"/>
          <p:cNvSpPr txBox="1"/>
          <p:nvPr/>
        </p:nvSpPr>
        <p:spPr>
          <a:xfrm>
            <a:off x="640080" y="396285"/>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9" name="Google Shape;79;p1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RQ1 (Purpose):</a:t>
            </a:r>
            <a:r>
              <a:rPr lang="en-US" sz="2200">
                <a:solidFill>
                  <a:srgbClr val="1A1A1A"/>
                </a:solidFill>
              </a:rPr>
              <a:t> What is the perceived purpose of artifact evaluation in the software engineering and programming languages communities?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RQ2 (Quality Criteria &amp; Expectations):</a:t>
            </a:r>
            <a:r>
              <a:rPr lang="en-US" sz="2200">
                <a:solidFill>
                  <a:srgbClr val="1A1A1A"/>
                </a:solidFill>
              </a:rPr>
              <a:t> What quality criteria and expectations do researchers have toward research artifacts (both as reviewers on an AEC and as users reusing artifacts across code, data, and proofs)?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RQ3 (Community Differences):</a:t>
            </a:r>
            <a:r>
              <a:rPr lang="en-US" sz="2200">
                <a:solidFill>
                  <a:srgbClr val="1A1A1A"/>
                </a:solidFill>
              </a:rPr>
              <a:t> What is the magnitude of difference in the perception of purpose and expectations between the </a:t>
            </a:r>
            <a:r>
              <a:rPr lang="en-US" sz="2200">
                <a:solidFill>
                  <a:schemeClr val="dk1"/>
                </a:solidFill>
              </a:rPr>
              <a:t>software engineering and programming languages</a:t>
            </a:r>
            <a:r>
              <a:rPr lang="en-US" sz="2200">
                <a:solidFill>
                  <a:srgbClr val="1A1A1A"/>
                </a:solidFill>
              </a:rPr>
              <a:t> communities?</a:t>
            </a:r>
            <a:endParaRPr b="0" i="0" sz="2200" u="none" cap="none" strike="noStrike">
              <a:solidFill>
                <a:schemeClr val="dk1"/>
              </a:solidFill>
              <a:latin typeface="Arial"/>
              <a:ea typeface="Arial"/>
              <a:cs typeface="Arial"/>
              <a:sym typeface="Arial"/>
            </a:endParaRPr>
          </a:p>
          <a:p>
            <a:pPr indent="0" lvl="0" marL="457200" marR="0" rtl="0" algn="l">
              <a:spcBef>
                <a:spcPts val="1000"/>
              </a:spcBef>
              <a:spcAft>
                <a:spcPts val="0"/>
              </a:spcAft>
              <a:buNone/>
            </a:pPr>
            <a:r>
              <a:t/>
            </a:r>
            <a:endParaRPr b="1" sz="2200">
              <a:solidFill>
                <a:srgbClr val="1A1A1A"/>
              </a:solidFill>
            </a:endParaRPr>
          </a:p>
          <a:p>
            <a:pPr indent="0" lvl="0" marL="0" marR="0" rtl="0" algn="l">
              <a:spcBef>
                <a:spcPts val="1000"/>
              </a:spcBef>
              <a:spcAft>
                <a:spcPts val="0"/>
              </a:spcAft>
              <a:buNone/>
            </a:pPr>
            <a:r>
              <a:rPr b="1" lang="en-US" sz="1800">
                <a:solidFill>
                  <a:schemeClr val="dk2"/>
                </a:solidFill>
              </a:rPr>
              <a:t>Question:</a:t>
            </a:r>
            <a:r>
              <a:rPr b="1" lang="en-US" sz="1800">
                <a:solidFill>
                  <a:srgbClr val="1A1A1A"/>
                </a:solidFill>
              </a:rPr>
              <a:t> </a:t>
            </a:r>
            <a:endParaRPr b="1" sz="1800">
              <a:solidFill>
                <a:srgbClr val="1A1A1A"/>
              </a:solidFill>
            </a:endParaRPr>
          </a:p>
          <a:p>
            <a:pPr indent="0" lvl="0" marL="0" marR="0" rtl="0" algn="l">
              <a:spcBef>
                <a:spcPts val="1000"/>
              </a:spcBef>
              <a:spcAft>
                <a:spcPts val="0"/>
              </a:spcAft>
              <a:buNone/>
            </a:pPr>
            <a:r>
              <a:rPr lang="en-US" sz="1800">
                <a:solidFill>
                  <a:srgbClr val="1A1A1A"/>
                </a:solidFill>
              </a:rPr>
              <a:t>Do you think RQ1–RQ3 actually tackle the root problem of Artifact Evaluation, or is there a missing RQ4 that the authors should have added?Did the authors diagnose the right problem, or did they leave out a huge piece of the puzzle?</a:t>
            </a:r>
            <a:endParaRPr sz="1800">
              <a:solidFill>
                <a:srgbClr val="1A1A1A"/>
              </a:solidFill>
            </a:endParaRPr>
          </a:p>
        </p:txBody>
      </p:sp>
      <p:sp>
        <p:nvSpPr>
          <p:cNvPr id="80" name="Google Shape;80;p1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87" name="Google Shape;87;p12"/>
          <p:cNvSpPr txBox="1"/>
          <p:nvPr/>
        </p:nvSpPr>
        <p:spPr>
          <a:xfrm>
            <a:off x="539055" y="4284790"/>
            <a:ext cx="10911600" cy="4755000"/>
          </a:xfrm>
          <a:prstGeom prst="rect">
            <a:avLst/>
          </a:prstGeom>
          <a:noFill/>
          <a:ln>
            <a:noFill/>
          </a:ln>
        </p:spPr>
        <p:txBody>
          <a:bodyPr anchorCtr="0" anchor="t" bIns="0" lIns="0" spcFirstLastPara="1" rIns="0" wrap="square" tIns="0">
            <a:noAutofit/>
          </a:bodyPr>
          <a:lstStyle/>
          <a:p>
            <a:pPr indent="0" lvl="0" marL="457200" marR="0" rtl="0" algn="l">
              <a:spcBef>
                <a:spcPts val="1000"/>
              </a:spcBef>
              <a:spcAft>
                <a:spcPts val="0"/>
              </a:spcAft>
              <a:buNone/>
            </a:pPr>
            <a:r>
              <a:rPr b="1" lang="en-US" sz="2200">
                <a:solidFill>
                  <a:schemeClr val="dk2"/>
                </a:solidFill>
              </a:rPr>
              <a:t>Question:</a:t>
            </a:r>
            <a:r>
              <a:rPr b="1" lang="en-US" sz="2200">
                <a:solidFill>
                  <a:srgbClr val="1A1A1A"/>
                </a:solidFill>
              </a:rPr>
              <a:t> </a:t>
            </a:r>
            <a:endParaRPr b="1" sz="2200">
              <a:solidFill>
                <a:srgbClr val="1A1A1A"/>
              </a:solidFill>
            </a:endParaRPr>
          </a:p>
          <a:p>
            <a:pPr indent="-368300" lvl="0" marL="457200" marR="0" rtl="0" algn="l">
              <a:spcBef>
                <a:spcPts val="1000"/>
              </a:spcBef>
              <a:spcAft>
                <a:spcPts val="0"/>
              </a:spcAft>
              <a:buClr>
                <a:srgbClr val="1A1A1A"/>
              </a:buClr>
              <a:buSzPts val="2200"/>
              <a:buChar char="-"/>
            </a:pPr>
            <a:r>
              <a:rPr lang="en-US" sz="2200">
                <a:solidFill>
                  <a:srgbClr val="1A1A1A"/>
                </a:solidFill>
              </a:rPr>
              <a:t>If real-world reuse is so low and badges aren't noticeably improving quality, is the massive amount of volunteer time spent on AECs actually worth it? </a:t>
            </a:r>
            <a:endParaRPr sz="2200">
              <a:solidFill>
                <a:srgbClr val="1A1A1A"/>
              </a:solidFill>
            </a:endParaRPr>
          </a:p>
          <a:p>
            <a:pPr indent="-368300" lvl="0" marL="457200" marR="0" rtl="0" algn="l">
              <a:spcBef>
                <a:spcPts val="0"/>
              </a:spcBef>
              <a:spcAft>
                <a:spcPts val="0"/>
              </a:spcAft>
              <a:buClr>
                <a:srgbClr val="1A1A1A"/>
              </a:buClr>
              <a:buSzPts val="2200"/>
              <a:buChar char="-"/>
            </a:pPr>
            <a:r>
              <a:rPr lang="en-US" sz="2200">
                <a:solidFill>
                  <a:srgbClr val="1A1A1A"/>
                </a:solidFill>
              </a:rPr>
              <a:t>How should we redefine 'success' for an artifact if the end-goal isn't just to prove it ran once for a reviewer, but to help someone else build on it? </a:t>
            </a:r>
            <a:endParaRPr b="0" i="0" sz="2200" u="none" cap="none" strike="noStrike">
              <a:solidFill>
                <a:schemeClr val="dk1"/>
              </a:solidFill>
              <a:latin typeface="Arial"/>
              <a:ea typeface="Arial"/>
              <a:cs typeface="Arial"/>
              <a:sym typeface="Arial"/>
            </a:endParaRPr>
          </a:p>
        </p:txBody>
      </p:sp>
      <p:sp>
        <p:nvSpPr>
          <p:cNvPr id="88" name="Google Shape;88;p1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pic>
        <p:nvPicPr>
          <p:cNvPr id="89" name="Google Shape;89;p12"/>
          <p:cNvPicPr preferRelativeResize="0"/>
          <p:nvPr/>
        </p:nvPicPr>
        <p:blipFill>
          <a:blip r:embed="rId3">
            <a:alphaModFix/>
          </a:blip>
          <a:stretch>
            <a:fillRect/>
          </a:stretch>
        </p:blipFill>
        <p:spPr>
          <a:xfrm>
            <a:off x="539050" y="1236274"/>
            <a:ext cx="9988784" cy="304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96" name="Google Shape;96;p13"/>
          <p:cNvSpPr txBox="1"/>
          <p:nvPr/>
        </p:nvSpPr>
        <p:spPr>
          <a:xfrm>
            <a:off x="690953" y="1609725"/>
            <a:ext cx="5215500" cy="475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50">
                <a:solidFill>
                  <a:schemeClr val="dk2"/>
                </a:solidFill>
              </a:rPr>
              <a:t>Validity Threats &amp; Implications:</a:t>
            </a:r>
            <a:endParaRPr b="1" sz="2250">
              <a:solidFill>
                <a:schemeClr val="dk2"/>
              </a:solidFill>
            </a:endParaRPr>
          </a:p>
          <a:p>
            <a:pPr indent="0" lvl="0" marL="0" rtl="0" algn="l">
              <a:spcBef>
                <a:spcPts val="0"/>
              </a:spcBef>
              <a:spcAft>
                <a:spcPts val="0"/>
              </a:spcAft>
              <a:buNone/>
            </a:pPr>
            <a:r>
              <a:t/>
            </a:r>
            <a:endParaRPr b="1" sz="2250">
              <a:solidFill>
                <a:schemeClr val="dk2"/>
              </a:solidFill>
            </a:endParaRPr>
          </a:p>
          <a:p>
            <a:pPr indent="0" lvl="0" marL="0" rtl="0" algn="l">
              <a:spcBef>
                <a:spcPts val="0"/>
              </a:spcBef>
              <a:spcAft>
                <a:spcPts val="0"/>
              </a:spcAft>
              <a:buNone/>
            </a:pPr>
            <a:r>
              <a:rPr b="1" lang="en-US" sz="1800">
                <a:solidFill>
                  <a:schemeClr val="dk1"/>
                </a:solidFill>
              </a:rPr>
              <a:t>Selection Bias: </a:t>
            </a:r>
            <a:r>
              <a:rPr lang="en-US" sz="1800">
                <a:solidFill>
                  <a:schemeClr val="dk1"/>
                </a:solidFill>
              </a:rPr>
              <a:t>Surveyed AEC insiders rather than external readers.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Experience Gap:</a:t>
            </a:r>
            <a:r>
              <a:rPr lang="en-US" sz="1800">
                <a:solidFill>
                  <a:schemeClr val="dk1"/>
                </a:solidFill>
              </a:rPr>
              <a:t> 34% of reviewers never submitted an artifact.</a:t>
            </a:r>
            <a:endParaRPr sz="1800">
              <a:solidFill>
                <a:schemeClr val="dk1"/>
              </a:solidFill>
            </a:endParaRPr>
          </a:p>
          <a:p>
            <a:pPr indent="0" lvl="0" marL="0" rtl="0" algn="l">
              <a:spcBef>
                <a:spcPts val="0"/>
              </a:spcBef>
              <a:spcAft>
                <a:spcPts val="0"/>
              </a:spcAft>
              <a:buClr>
                <a:srgbClr val="000000"/>
              </a:buClr>
              <a:buFont typeface="Arial"/>
              <a:buNone/>
            </a:pPr>
            <a:r>
              <a:t/>
            </a:r>
            <a:endParaRPr b="1" sz="2250">
              <a:solidFill>
                <a:schemeClr val="dk2"/>
              </a:solidFill>
              <a:latin typeface="DM Sans"/>
              <a:ea typeface="DM Sans"/>
              <a:cs typeface="DM Sans"/>
              <a:sym typeface="DM Sans"/>
            </a:endParaRPr>
          </a:p>
          <a:p>
            <a:pPr indent="0" lvl="0" marL="457200" marR="0" rtl="0" algn="l">
              <a:spcBef>
                <a:spcPts val="1000"/>
              </a:spcBef>
              <a:spcAft>
                <a:spcPts val="0"/>
              </a:spcAft>
              <a:buNone/>
            </a:pPr>
            <a:r>
              <a:t/>
            </a:r>
            <a:endParaRPr sz="2200">
              <a:solidFill>
                <a:srgbClr val="1A1A1A"/>
              </a:solidFill>
            </a:endParaRPr>
          </a:p>
        </p:txBody>
      </p:sp>
      <p:sp>
        <p:nvSpPr>
          <p:cNvPr id="97" name="Google Shape;97;p1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98" name="Google Shape;98;p13"/>
          <p:cNvSpPr/>
          <p:nvPr/>
        </p:nvSpPr>
        <p:spPr>
          <a:xfrm>
            <a:off x="5855642" y="1609725"/>
            <a:ext cx="9600" cy="3619500"/>
          </a:xfrm>
          <a:prstGeom prst="rect">
            <a:avLst/>
          </a:prstGeom>
          <a:solidFill>
            <a:srgbClr val="3F3F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Calibri"/>
              <a:ea typeface="Calibri"/>
              <a:cs typeface="Calibri"/>
              <a:sym typeface="Calibri"/>
            </a:endParaRPr>
          </a:p>
        </p:txBody>
      </p:sp>
      <p:sp>
        <p:nvSpPr>
          <p:cNvPr id="99" name="Google Shape;99;p13"/>
          <p:cNvSpPr txBox="1"/>
          <p:nvPr/>
        </p:nvSpPr>
        <p:spPr>
          <a:xfrm>
            <a:off x="6196625" y="1508413"/>
            <a:ext cx="5738700" cy="4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2"/>
                </a:solidFill>
              </a:rPr>
              <a:t>Question:</a:t>
            </a:r>
            <a:endParaRPr b="1" sz="2200">
              <a:solidFill>
                <a:schemeClr val="dk2"/>
              </a:solidFill>
            </a:endParaRPr>
          </a:p>
          <a:p>
            <a:pPr indent="0" lvl="0" marL="0" rtl="0" algn="l">
              <a:spcBef>
                <a:spcPts val="0"/>
              </a:spcBef>
              <a:spcAft>
                <a:spcPts val="0"/>
              </a:spcAft>
              <a:buNone/>
            </a:pPr>
            <a:r>
              <a:t/>
            </a:r>
            <a:endParaRPr b="1" sz="2200">
              <a:solidFill>
                <a:schemeClr val="dk2"/>
              </a:solidFill>
            </a:endParaRPr>
          </a:p>
          <a:p>
            <a:pPr indent="0" lvl="0" marL="0" rtl="0" algn="l">
              <a:spcBef>
                <a:spcPts val="0"/>
              </a:spcBef>
              <a:spcAft>
                <a:spcPts val="0"/>
              </a:spcAft>
              <a:buNone/>
            </a:pPr>
            <a:r>
              <a:rPr b="1" lang="en-US" sz="1800">
                <a:solidFill>
                  <a:schemeClr val="dk1"/>
                </a:solidFill>
              </a:rPr>
              <a:t>Selection Bias Trade-off:</a:t>
            </a:r>
            <a:r>
              <a:rPr lang="en-US" sz="1800">
                <a:solidFill>
                  <a:schemeClr val="dk1"/>
                </a:solidFill>
              </a:rPr>
              <a:t> The authors chose surveying only AEC insiders over the risk of outsiders misunderstanding questions, does excluding non-submitters invalidate their claim of capturing "community expectations"?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The "Expert" Problem:</a:t>
            </a:r>
            <a:r>
              <a:rPr lang="en-US" sz="1800">
                <a:solidFill>
                  <a:schemeClr val="dk1"/>
                </a:solidFill>
              </a:rPr>
              <a:t> Since 34% of surveyed AEC members have never submitted an artifact and ~70% have never reused one, does relying on theoretical rather than practical views undermine the survey's validity?</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106" name="Google Shape;106;p1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07" name="Google Shape;107;p14"/>
          <p:cNvSpPr txBox="1"/>
          <p:nvPr/>
        </p:nvSpPr>
        <p:spPr>
          <a:xfrm>
            <a:off x="640075" y="1308963"/>
            <a:ext cx="10769100" cy="4888800"/>
          </a:xfrm>
          <a:prstGeom prst="rect">
            <a:avLst/>
          </a:prstGeom>
          <a:noFill/>
          <a:ln>
            <a:noFill/>
          </a:ln>
        </p:spPr>
        <p:txBody>
          <a:bodyPr anchorCtr="0" anchor="t" bIns="0" lIns="0" spcFirstLastPara="1" rIns="0" wrap="square" tIns="0">
            <a:noAutofit/>
          </a:bodyPr>
          <a:lstStyle/>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Since </a:t>
            </a:r>
            <a:r>
              <a:rPr b="1" lang="en-US" sz="2200">
                <a:solidFill>
                  <a:schemeClr val="dk2"/>
                </a:solidFill>
              </a:rPr>
              <a:t>reviews</a:t>
            </a:r>
            <a:r>
              <a:rPr lang="en-US" sz="2200">
                <a:solidFill>
                  <a:srgbClr val="1A1A1A"/>
                </a:solidFill>
              </a:rPr>
              <a:t> </a:t>
            </a:r>
            <a:r>
              <a:rPr lang="en-US" sz="2200">
                <a:solidFill>
                  <a:schemeClr val="dk1"/>
                </a:solidFill>
              </a:rPr>
              <a:t>caught hardcoded outputs</a:t>
            </a:r>
            <a:r>
              <a:rPr lang="en-US" sz="2200">
                <a:solidFill>
                  <a:srgbClr val="1A1A1A"/>
                </a:solidFill>
              </a:rPr>
              <a:t> that forced a paper withdrawal, should passing AE be </a:t>
            </a:r>
            <a:r>
              <a:rPr b="1" lang="en-US" sz="2200">
                <a:solidFill>
                  <a:schemeClr val="dk2"/>
                </a:solidFill>
              </a:rPr>
              <a:t>required for paper acceptance</a:t>
            </a:r>
            <a:r>
              <a:rPr lang="en-US" sz="2200">
                <a:solidFill>
                  <a:srgbClr val="1A1A1A"/>
                </a:solidFill>
              </a:rPr>
              <a:t> or would that unfairly exclude research with proprietary data, privacy constraints, or small budgets?</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The Paper shows that </a:t>
            </a:r>
            <a:r>
              <a:rPr b="1" lang="en-US" sz="2200">
                <a:solidFill>
                  <a:schemeClr val="dk2"/>
                </a:solidFill>
              </a:rPr>
              <a:t>evaluators expect artifacts</a:t>
            </a:r>
            <a:r>
              <a:rPr lang="en-US" sz="2200">
                <a:solidFill>
                  <a:srgbClr val="1A1A1A"/>
                </a:solidFill>
              </a:rPr>
              <a:t> to be functional, well-documented, and reusable, and suggest clearer conference guidelines will help achieve this. Put yourself in the shoes of a </a:t>
            </a:r>
            <a:r>
              <a:rPr b="1" lang="en-US" sz="2200">
                <a:solidFill>
                  <a:schemeClr val="dk2"/>
                </a:solidFill>
              </a:rPr>
              <a:t>stressed PhD (Master) student</a:t>
            </a:r>
            <a:r>
              <a:rPr lang="en-US" sz="2200">
                <a:solidFill>
                  <a:srgbClr val="1A1A1A"/>
                </a:solidFill>
              </a:rPr>
              <a:t> a week before a deadline:</a:t>
            </a:r>
            <a:endParaRPr sz="2200">
              <a:solidFill>
                <a:srgbClr val="1A1A1A"/>
              </a:solidFill>
            </a:endParaRPr>
          </a:p>
          <a:p>
            <a:pPr indent="0" lvl="0" marL="457200" marR="0" rtl="0" algn="l">
              <a:spcBef>
                <a:spcPts val="1000"/>
              </a:spcBef>
              <a:spcAft>
                <a:spcPts val="0"/>
              </a:spcAft>
              <a:buNone/>
            </a:pPr>
            <a:r>
              <a:rPr lang="en-US" sz="2200">
                <a:solidFill>
                  <a:srgbClr val="1A1A1A"/>
                </a:solidFill>
              </a:rPr>
              <a:t>If a conference writes the most perfectly standardized </a:t>
            </a:r>
            <a:r>
              <a:rPr lang="en-US" sz="2200">
                <a:solidFill>
                  <a:schemeClr val="dk1"/>
                </a:solidFill>
              </a:rPr>
              <a:t>conference guidelines</a:t>
            </a:r>
            <a:r>
              <a:rPr lang="en-US" sz="2200">
                <a:solidFill>
                  <a:srgbClr val="1A1A1A"/>
                </a:solidFill>
              </a:rPr>
              <a:t>, will that actually result in you submitting better code? </a:t>
            </a:r>
            <a:r>
              <a:rPr b="1" lang="en-US" sz="2200">
                <a:solidFill>
                  <a:schemeClr val="dk2"/>
                </a:solidFill>
              </a:rPr>
              <a:t>Why or why not?</a:t>
            </a:r>
            <a:endParaRPr b="1" i="0" sz="2200" u="none" cap="none" strike="noStrike">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114" name="Google Shape;114;p15"/>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nvSpPr>
        <p:spPr>
          <a:xfrm>
            <a:off x="640097" y="365760"/>
            <a:ext cx="109092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1400" u="none" cap="none" strike="noStrike">
              <a:solidFill>
                <a:srgbClr val="000000"/>
              </a:solidFill>
              <a:latin typeface="Arial"/>
              <a:ea typeface="Arial"/>
              <a:cs typeface="Arial"/>
              <a:sym typeface="Arial"/>
            </a:endParaRPr>
          </a:p>
        </p:txBody>
      </p:sp>
      <p:sp>
        <p:nvSpPr>
          <p:cNvPr id="121" name="Google Shape;121;p16"/>
          <p:cNvSpPr txBox="1"/>
          <p:nvPr/>
        </p:nvSpPr>
        <p:spPr>
          <a:xfrm>
            <a:off x="640097" y="1554480"/>
            <a:ext cx="109092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Paper: </a:t>
            </a:r>
            <a:r>
              <a:rPr b="0" i="0" lang="en-US" sz="2000" u="none" cap="none" strike="noStrike">
                <a:solidFill>
                  <a:srgbClr val="1A1A1A"/>
                </a:solidFill>
                <a:latin typeface="Arial"/>
                <a:ea typeface="Arial"/>
                <a:cs typeface="Arial"/>
                <a:sym typeface="Arial"/>
              </a:rPr>
              <a:t>why good artifact sharing is hard in 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Did: </a:t>
            </a:r>
            <a:r>
              <a:rPr b="0" i="0" lang="en-US" sz="2000" u="none" cap="none" strike="noStrike">
                <a:solidFill>
                  <a:srgbClr val="1A1A1A"/>
                </a:solidFill>
                <a:latin typeface="Arial"/>
                <a:ea typeface="Arial"/>
                <a:cs typeface="Arial"/>
                <a:sym typeface="Arial"/>
              </a:rPr>
              <a:t>publication survey (artifact availability) + author survey (challenges)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Found: </a:t>
            </a:r>
            <a:r>
              <a:rPr b="0" i="0" lang="en-US" sz="2000" u="none" cap="none" strike="noStrike">
                <a:solidFill>
                  <a:srgbClr val="1A1A1A"/>
                </a:solidFill>
                <a:latin typeface="Arial"/>
                <a:ea typeface="Arial"/>
                <a:cs typeface="Arial"/>
                <a:sym typeface="Arial"/>
              </a:rPr>
              <a:t>artifacts are valued; 12 challenges in creating, sharing, using and reviewing artifacts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Analysed: </a:t>
            </a:r>
            <a:r>
              <a:rPr b="0" i="0" lang="en-US" sz="2000" u="none" cap="none" strike="noStrike">
                <a:solidFill>
                  <a:srgbClr val="1A1A1A"/>
                </a:solidFill>
                <a:latin typeface="Arial"/>
                <a:ea typeface="Arial"/>
                <a:cs typeface="Arial"/>
                <a:sym typeface="Arial"/>
              </a:rPr>
              <a:t>why these challenges persist + how they connect (secondary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Then: </a:t>
            </a:r>
            <a:r>
              <a:rPr b="0" i="0" lang="en-US" sz="2000" u="none" cap="none" strike="noStrike">
                <a:solidFill>
                  <a:srgbClr val="1A1A1A"/>
                </a:solidFill>
                <a:latin typeface="Arial"/>
                <a:ea typeface="Arial"/>
                <a:cs typeface="Arial"/>
                <a:sym typeface="Arial"/>
              </a:rPr>
              <a:t>8 recommendations for creators, reviewers, process organisers and community leaders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128" name="Google Shape;128;p17"/>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lnSpc>
                <a:spcPct val="100000"/>
              </a:lnSpc>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a:t>
            </a:r>
            <a:r>
              <a:rPr b="0" i="0" lang="en-US" sz="2200" u="sng" cap="none" strike="noStrike">
                <a:solidFill>
                  <a:srgbClr val="1A1A1A"/>
                </a:solidFill>
                <a:latin typeface="Arial"/>
                <a:ea typeface="Arial"/>
                <a:cs typeface="Arial"/>
                <a:sym typeface="Arial"/>
              </a:rPr>
              <a:t>creators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a:t>
            </a:r>
            <a:r>
              <a:rPr b="0" i="0" lang="en-US" sz="2200" u="sng" cap="none" strike="noStrike">
                <a:solidFill>
                  <a:srgbClr val="1A1A1A"/>
                </a:solidFill>
                <a:latin typeface="Arial"/>
                <a:ea typeface="Arial"/>
                <a:cs typeface="Arial"/>
                <a:sym typeface="Arial"/>
              </a:rPr>
              <a:t>users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a:t>
            </a:r>
            <a:r>
              <a:rPr b="0" i="0" lang="en-US" sz="2200" u="sng" cap="none" strike="noStrike">
                <a:solidFill>
                  <a:srgbClr val="1A1A1A"/>
                </a:solidFill>
                <a:latin typeface="Arial"/>
                <a:ea typeface="Arial"/>
                <a:cs typeface="Arial"/>
                <a:sym typeface="Arial"/>
              </a:rPr>
              <a:t>reviewers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p:txBody>
      </p:sp>
      <p:sp>
        <p:nvSpPr>
          <p:cNvPr id="129" name="Google Shape;129;p1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36" name="Google Shape;136;p1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7" name="Google Shape;137;p18"/>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RQ1 · Does the community value artifacts?</a:t>
            </a:r>
            <a:endParaRPr b="0" i="0" sz="1400" u="none" cap="none" strike="noStrike">
              <a:solidFill>
                <a:srgbClr val="000000"/>
              </a:solidFill>
              <a:latin typeface="Arial"/>
              <a:ea typeface="Arial"/>
              <a:cs typeface="Arial"/>
              <a:sym typeface="Arial"/>
            </a:endParaRPr>
          </a:p>
        </p:txBody>
      </p:sp>
      <p:sp>
        <p:nvSpPr>
          <p:cNvPr id="138" name="Google Shape;138;p18"/>
          <p:cNvSpPr/>
          <p:nvPr/>
        </p:nvSpPr>
        <p:spPr>
          <a:xfrm>
            <a:off x="640075" y="1554475"/>
            <a:ext cx="10908900" cy="17028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8"/>
          <p:cNvSpPr txBox="1"/>
          <p:nvPr/>
        </p:nvSpPr>
        <p:spPr>
          <a:xfrm>
            <a:off x="822960" y="1600200"/>
            <a:ext cx="10515600" cy="1554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883A"/>
                </a:solidFill>
                <a:latin typeface="Arial"/>
                <a:ea typeface="Arial"/>
                <a:cs typeface="Arial"/>
                <a:sym typeface="Arial"/>
              </a:rPr>
              <a:t>Based on Survey: Yes </a:t>
            </a:r>
            <a:endParaRPr b="1" i="0" sz="1900" u="none" cap="none" strike="noStrike">
              <a:solidFill>
                <a:srgbClr val="00883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none" cap="none" strike="noStrike">
                <a:solidFill>
                  <a:srgbClr val="1A1A1A"/>
                </a:solidFill>
                <a:latin typeface="Arial"/>
                <a:ea typeface="Arial"/>
                <a:cs typeface="Arial"/>
                <a:sym typeface="Arial"/>
              </a:rPr>
              <a:t>Artifacts are seen as </a:t>
            </a:r>
            <a:r>
              <a:rPr b="0" i="0" lang="en-US" sz="1900" u="sng" cap="none" strike="noStrike">
                <a:solidFill>
                  <a:srgbClr val="1A1A1A"/>
                </a:solidFill>
                <a:latin typeface="Arial"/>
                <a:ea typeface="Arial"/>
                <a:cs typeface="Arial"/>
                <a:sym typeface="Arial"/>
              </a:rPr>
              <a:t>inherently valuable</a:t>
            </a:r>
            <a:endParaRPr b="0" i="0" sz="1900" u="sng"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none" cap="none" strike="noStrike">
                <a:solidFill>
                  <a:srgbClr val="1A1A1A"/>
                </a:solidFill>
                <a:latin typeface="Arial"/>
                <a:ea typeface="Arial"/>
                <a:cs typeface="Arial"/>
                <a:sym typeface="Arial"/>
              </a:rPr>
              <a:t>Sharing </a:t>
            </a:r>
            <a:r>
              <a:rPr b="0" i="0" lang="en-US" sz="1900" u="sng" cap="none" strike="noStrike">
                <a:solidFill>
                  <a:srgbClr val="1A1A1A"/>
                </a:solidFill>
                <a:latin typeface="Arial"/>
                <a:ea typeface="Arial"/>
                <a:cs typeface="Arial"/>
                <a:sym typeface="Arial"/>
              </a:rPr>
              <a:t>should be encouraged</a:t>
            </a:r>
            <a:r>
              <a:rPr b="0" i="0" lang="en-US" sz="1900" u="none" cap="none" strike="noStrike">
                <a:solidFill>
                  <a:srgbClr val="1A1A1A"/>
                </a:solidFill>
                <a:latin typeface="Arial"/>
                <a:ea typeface="Arial"/>
                <a:cs typeface="Arial"/>
                <a:sym typeface="Arial"/>
              </a:rPr>
              <a:t> and rewarded</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sng" cap="none" strike="noStrike">
                <a:solidFill>
                  <a:srgbClr val="1A1A1A"/>
                </a:solidFill>
                <a:latin typeface="Arial"/>
                <a:ea typeface="Arial"/>
                <a:cs typeface="Arial"/>
                <a:sym typeface="Arial"/>
              </a:rPr>
              <a:t>Allows for</a:t>
            </a:r>
            <a:r>
              <a:rPr b="0" i="0" lang="en-US" sz="1900" u="none" cap="none" strike="noStrike">
                <a:solidFill>
                  <a:srgbClr val="1A1A1A"/>
                </a:solidFill>
                <a:latin typeface="Arial"/>
                <a:ea typeface="Arial"/>
                <a:cs typeface="Arial"/>
                <a:sym typeface="Arial"/>
              </a:rPr>
              <a:t> meaningful </a:t>
            </a:r>
            <a:r>
              <a:rPr b="0" i="0" lang="en-US" sz="1900" u="sng" cap="none" strike="noStrike">
                <a:solidFill>
                  <a:srgbClr val="1A1A1A"/>
                </a:solidFill>
                <a:latin typeface="Arial"/>
                <a:ea typeface="Arial"/>
                <a:cs typeface="Arial"/>
                <a:sym typeface="Arial"/>
              </a:rPr>
              <a:t>analysis</a:t>
            </a:r>
            <a:r>
              <a:rPr b="0" i="0" lang="en-US" sz="1900" u="none" cap="none" strike="noStrike">
                <a:solidFill>
                  <a:srgbClr val="1A1A1A"/>
                </a:solidFill>
                <a:latin typeface="Arial"/>
                <a:ea typeface="Arial"/>
                <a:cs typeface="Arial"/>
                <a:sym typeface="Arial"/>
              </a:rPr>
              <a:t> and evaluation of the approach</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sng" cap="none" strike="noStrike">
                <a:solidFill>
                  <a:srgbClr val="1A1A1A"/>
                </a:solidFill>
                <a:latin typeface="Arial"/>
                <a:ea typeface="Arial"/>
                <a:cs typeface="Arial"/>
                <a:sym typeface="Arial"/>
              </a:rPr>
              <a:t>Replication</a:t>
            </a:r>
            <a:r>
              <a:rPr b="0" i="0" lang="en-US" sz="1900" u="none" cap="none" strike="noStrike">
                <a:solidFill>
                  <a:srgbClr val="1A1A1A"/>
                </a:solidFill>
                <a:latin typeface="Arial"/>
                <a:ea typeface="Arial"/>
                <a:cs typeface="Arial"/>
                <a:sym typeface="Arial"/>
              </a:rPr>
              <a:t> is </a:t>
            </a:r>
            <a:r>
              <a:rPr b="0" i="0" lang="en-US" sz="1900" u="sng" cap="none" strike="noStrike">
                <a:solidFill>
                  <a:srgbClr val="1A1A1A"/>
                </a:solidFill>
                <a:latin typeface="Arial"/>
                <a:ea typeface="Arial"/>
                <a:cs typeface="Arial"/>
                <a:sym typeface="Arial"/>
              </a:rPr>
              <a:t>hard</a:t>
            </a:r>
            <a:r>
              <a:rPr b="0" i="0" lang="en-US" sz="1900" u="none" cap="none" strike="noStrike">
                <a:solidFill>
                  <a:srgbClr val="1A1A1A"/>
                </a:solidFill>
                <a:latin typeface="Arial"/>
                <a:ea typeface="Arial"/>
                <a:cs typeface="Arial"/>
                <a:sym typeface="Arial"/>
              </a:rPr>
              <a:t> and unreliable </a:t>
            </a:r>
            <a:r>
              <a:rPr b="0" i="0" lang="en-US" sz="1900" u="sng" cap="none" strike="noStrike">
                <a:solidFill>
                  <a:srgbClr val="1A1A1A"/>
                </a:solidFill>
                <a:latin typeface="Arial"/>
                <a:ea typeface="Arial"/>
                <a:cs typeface="Arial"/>
                <a:sym typeface="Arial"/>
              </a:rPr>
              <a:t>without artifacts</a:t>
            </a:r>
            <a:endParaRPr b="0" i="0" sz="1400" u="sng" cap="none" strike="noStrike">
              <a:solidFill>
                <a:srgbClr val="000000"/>
              </a:solidFill>
              <a:latin typeface="Arial"/>
              <a:ea typeface="Arial"/>
              <a:cs typeface="Arial"/>
              <a:sym typeface="Arial"/>
            </a:endParaRPr>
          </a:p>
        </p:txBody>
      </p:sp>
      <p:sp>
        <p:nvSpPr>
          <p:cNvPr id="140" name="Google Shape;140;p18"/>
          <p:cNvSpPr txBox="1"/>
          <p:nvPr/>
        </p:nvSpPr>
        <p:spPr>
          <a:xfrm>
            <a:off x="640080" y="3537322"/>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Why authors share artifacts. Summary in 4 categories:</a:t>
            </a:r>
            <a:endParaRPr b="0" i="0" sz="1400" u="none" cap="none" strike="noStrike">
              <a:solidFill>
                <a:srgbClr val="000000"/>
              </a:solidFill>
              <a:latin typeface="Arial"/>
              <a:ea typeface="Arial"/>
              <a:cs typeface="Arial"/>
              <a:sym typeface="Arial"/>
            </a:endParaRPr>
          </a:p>
        </p:txBody>
      </p:sp>
      <p:sp>
        <p:nvSpPr>
          <p:cNvPr id="141" name="Google Shape;141;p18"/>
          <p:cNvSpPr/>
          <p:nvPr/>
        </p:nvSpPr>
        <p:spPr>
          <a:xfrm>
            <a:off x="640080"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8"/>
          <p:cNvSpPr txBox="1"/>
          <p:nvPr/>
        </p:nvSpPr>
        <p:spPr>
          <a:xfrm>
            <a:off x="777240"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Supporting evidence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for the claims in a research paper</a:t>
            </a:r>
            <a:endParaRPr b="0" i="0" sz="1400" u="none" cap="none" strike="noStrike">
              <a:solidFill>
                <a:srgbClr val="000000"/>
              </a:solidFill>
              <a:latin typeface="Arial"/>
              <a:ea typeface="Arial"/>
              <a:cs typeface="Arial"/>
              <a:sym typeface="Arial"/>
            </a:endParaRPr>
          </a:p>
        </p:txBody>
      </p:sp>
      <p:sp>
        <p:nvSpPr>
          <p:cNvPr id="143" name="Google Shape;143;p18"/>
          <p:cNvSpPr/>
          <p:nvPr/>
        </p:nvSpPr>
        <p:spPr>
          <a:xfrm>
            <a:off x="3410711"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8"/>
          <p:cNvSpPr txBox="1"/>
          <p:nvPr/>
        </p:nvSpPr>
        <p:spPr>
          <a:xfrm>
            <a:off x="3547875" y="4131672"/>
            <a:ext cx="24507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Community norm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"good practice" </a:t>
            </a:r>
            <a:r>
              <a:rPr b="0" i="0" lang="en-US" sz="1700" u="none" cap="none" strike="noStrike">
                <a:solidFill>
                  <a:srgbClr val="1A1A1A"/>
                </a:solidFill>
                <a:latin typeface="Arial"/>
                <a:ea typeface="Arial"/>
                <a:cs typeface="Arial"/>
                <a:sym typeface="Arial"/>
              </a:rPr>
              <a:t>that benefits the community</a:t>
            </a:r>
            <a:endParaRPr b="0" i="0" sz="1400" u="none" cap="none" strike="noStrike">
              <a:solidFill>
                <a:srgbClr val="000000"/>
              </a:solidFill>
              <a:latin typeface="Arial"/>
              <a:ea typeface="Arial"/>
              <a:cs typeface="Arial"/>
              <a:sym typeface="Arial"/>
            </a:endParaRPr>
          </a:p>
        </p:txBody>
      </p:sp>
      <p:sp>
        <p:nvSpPr>
          <p:cNvPr id="145" name="Google Shape;145;p18"/>
          <p:cNvSpPr/>
          <p:nvPr/>
        </p:nvSpPr>
        <p:spPr>
          <a:xfrm>
            <a:off x="6181344"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8"/>
          <p:cNvSpPr txBox="1"/>
          <p:nvPr/>
        </p:nvSpPr>
        <p:spPr>
          <a:xfrm>
            <a:off x="6318504" y="4131682"/>
            <a:ext cx="2313300" cy="170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Facilitate reuse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lang="en-US" sz="1700">
                <a:solidFill>
                  <a:srgbClr val="1A1A1A"/>
                </a:solidFill>
              </a:rPr>
              <a:t>of </a:t>
            </a:r>
            <a:r>
              <a:rPr b="0" i="0" lang="en-US" sz="1700" u="none" cap="none" strike="noStrike">
                <a:solidFill>
                  <a:srgbClr val="1A1A1A"/>
                </a:solidFill>
                <a:latin typeface="Arial"/>
                <a:ea typeface="Arial"/>
                <a:cs typeface="Arial"/>
                <a:sym typeface="Arial"/>
              </a:rPr>
              <a:t>tools and data for others </a:t>
            </a:r>
            <a:r>
              <a:rPr lang="en-US" sz="1700">
                <a:solidFill>
                  <a:srgbClr val="1A1A1A"/>
                </a:solidFill>
              </a:rPr>
              <a:t>to</a:t>
            </a:r>
            <a:r>
              <a:rPr b="0" i="0" lang="en-US" sz="1700" u="none" cap="none" strike="noStrike">
                <a:solidFill>
                  <a:srgbClr val="1A1A1A"/>
                </a:solidFill>
                <a:latin typeface="Arial"/>
                <a:ea typeface="Arial"/>
                <a:cs typeface="Arial"/>
                <a:sym typeface="Arial"/>
              </a:rPr>
              <a:t> reuse and extend</a:t>
            </a:r>
            <a:endParaRPr b="0" i="0" sz="1400" u="none" cap="none" strike="noStrike">
              <a:solidFill>
                <a:srgbClr val="000000"/>
              </a:solidFill>
              <a:latin typeface="Arial"/>
              <a:ea typeface="Arial"/>
              <a:cs typeface="Arial"/>
              <a:sym typeface="Arial"/>
            </a:endParaRPr>
          </a:p>
        </p:txBody>
      </p:sp>
      <p:sp>
        <p:nvSpPr>
          <p:cNvPr id="147" name="Google Shape;147;p18"/>
          <p:cNvSpPr/>
          <p:nvPr/>
        </p:nvSpPr>
        <p:spPr>
          <a:xfrm>
            <a:off x="8951976"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8"/>
          <p:cNvSpPr txBox="1"/>
          <p:nvPr/>
        </p:nvSpPr>
        <p:spPr>
          <a:xfrm>
            <a:off x="9089136"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Improving</a:t>
            </a:r>
            <a:endParaRPr b="1" i="0" sz="2000" u="none" cap="none" strike="noStrike">
              <a:solidFill>
                <a:srgbClr val="00883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understanding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provide details that don’t fit in a paper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55" name="Google Shape;155;p1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56" name="Google Shape;156;p19"/>
          <p:cNvSpPr txBox="1"/>
          <p:nvPr/>
        </p:nvSpPr>
        <p:spPr>
          <a:xfrm>
            <a:off x="640080" y="1097280"/>
            <a:ext cx="9144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Challenges of Creating, Sharing, Using and Reviewing Artifacts</a:t>
            </a:r>
            <a:endParaRPr b="1" i="0" sz="1600" u="none" cap="none" strike="noStrike">
              <a:solidFill>
                <a:srgbClr val="5F636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Themes created from Thematic Analysis of Survey </a:t>
            </a:r>
            <a:endParaRPr b="1" i="0" sz="1600" u="none" cap="none" strike="noStrike">
              <a:solidFill>
                <a:srgbClr val="5F6368"/>
              </a:solidFill>
              <a:latin typeface="Arial"/>
              <a:ea typeface="Arial"/>
              <a:cs typeface="Arial"/>
              <a:sym typeface="Arial"/>
            </a:endParaRPr>
          </a:p>
        </p:txBody>
      </p:sp>
      <p:sp>
        <p:nvSpPr>
          <p:cNvPr id="157" name="Google Shape;157;p19"/>
          <p:cNvSpPr/>
          <p:nvPr/>
        </p:nvSpPr>
        <p:spPr>
          <a:xfrm>
            <a:off x="640080"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9"/>
          <p:cNvSpPr txBox="1"/>
          <p:nvPr/>
        </p:nvSpPr>
        <p:spPr>
          <a:xfrm>
            <a:off x="749808"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 </a:t>
            </a:r>
            <a:r>
              <a:rPr b="0" i="0" lang="en-US" sz="1700" u="none" cap="none" strike="noStrike">
                <a:solidFill>
                  <a:srgbClr val="1A1A1A"/>
                </a:solidFill>
                <a:latin typeface="Arial"/>
                <a:ea typeface="Arial"/>
                <a:cs typeface="Arial"/>
                <a:sym typeface="Arial"/>
              </a:rPr>
              <a:t>Not worth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9" name="Google Shape;159;p19"/>
          <p:cNvSpPr/>
          <p:nvPr/>
        </p:nvSpPr>
        <p:spPr>
          <a:xfrm>
            <a:off x="3410711"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9"/>
          <p:cNvSpPr txBox="1"/>
          <p:nvPr/>
        </p:nvSpPr>
        <p:spPr>
          <a:xfrm>
            <a:off x="3520439"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C2 </a:t>
            </a:r>
            <a:r>
              <a:rPr b="0" i="0" lang="en-US" sz="1700" u="none" cap="none" strike="noStrike">
                <a:solidFill>
                  <a:srgbClr val="1A1A1A"/>
                </a:solidFill>
                <a:latin typeface="Arial"/>
                <a:ea typeface="Arial"/>
                <a:cs typeface="Arial"/>
                <a:sym typeface="Arial"/>
              </a:rPr>
              <a:t>Portability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1" name="Google Shape;161;p19"/>
          <p:cNvSpPr/>
          <p:nvPr/>
        </p:nvSpPr>
        <p:spPr>
          <a:xfrm>
            <a:off x="6181344"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9"/>
          <p:cNvSpPr txBox="1"/>
          <p:nvPr/>
        </p:nvSpPr>
        <p:spPr>
          <a:xfrm>
            <a:off x="6291072"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C3 </a:t>
            </a:r>
            <a:r>
              <a:rPr b="0" i="0" lang="en-US" sz="1700" u="none" cap="none" strike="noStrike">
                <a:solidFill>
                  <a:srgbClr val="1A1A1A"/>
                </a:solidFill>
                <a:latin typeface="Arial"/>
                <a:ea typeface="Arial"/>
                <a:cs typeface="Arial"/>
                <a:sym typeface="Arial"/>
              </a:rPr>
              <a:t>Maintenance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3" name="Google Shape;163;p19"/>
          <p:cNvSpPr/>
          <p:nvPr/>
        </p:nvSpPr>
        <p:spPr>
          <a:xfrm>
            <a:off x="8951976"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9"/>
          <p:cNvSpPr txBox="1"/>
          <p:nvPr/>
        </p:nvSpPr>
        <p:spPr>
          <a:xfrm>
            <a:off x="9061703"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C4 </a:t>
            </a:r>
            <a:r>
              <a:rPr b="0" i="0" lang="en-US" sz="1700" u="none" cap="none" strike="noStrike">
                <a:solidFill>
                  <a:srgbClr val="1A1A1A"/>
                </a:solidFill>
                <a:latin typeface="Arial"/>
                <a:ea typeface="Arial"/>
                <a:cs typeface="Arial"/>
                <a:sym typeface="Arial"/>
              </a:rPr>
              <a:t>Tacit knowledge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5" name="Google Shape;165;p19"/>
          <p:cNvSpPr/>
          <p:nvPr/>
        </p:nvSpPr>
        <p:spPr>
          <a:xfrm>
            <a:off x="640080"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749808"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C5 </a:t>
            </a:r>
            <a:r>
              <a:rPr b="0" i="0" lang="en-US" sz="1700" u="none" cap="none" strike="noStrike">
                <a:solidFill>
                  <a:srgbClr val="1A1A1A"/>
                </a:solidFill>
                <a:latin typeface="Arial"/>
                <a:ea typeface="Arial"/>
                <a:cs typeface="Arial"/>
                <a:sym typeface="Arial"/>
              </a:rPr>
              <a:t>Doesn’t fit purpose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7" name="Google Shape;167;p19"/>
          <p:cNvSpPr/>
          <p:nvPr/>
        </p:nvSpPr>
        <p:spPr>
          <a:xfrm>
            <a:off x="3410711"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9"/>
          <p:cNvSpPr txBox="1"/>
          <p:nvPr/>
        </p:nvSpPr>
        <p:spPr>
          <a:xfrm>
            <a:off x="3520439"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C6 </a:t>
            </a:r>
            <a:r>
              <a:rPr b="0" i="0" lang="en-US" sz="1700" u="none" cap="none" strike="noStrike">
                <a:solidFill>
                  <a:srgbClr val="1A1A1A"/>
                </a:solidFill>
                <a:latin typeface="Arial"/>
                <a:ea typeface="Arial"/>
                <a:cs typeface="Arial"/>
                <a:sym typeface="Arial"/>
              </a:rPr>
              <a:t>No standards / guidelines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9" name="Google Shape;169;p19"/>
          <p:cNvSpPr/>
          <p:nvPr/>
        </p:nvSpPr>
        <p:spPr>
          <a:xfrm>
            <a:off x="6181344"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9"/>
          <p:cNvSpPr txBox="1"/>
          <p:nvPr/>
        </p:nvSpPr>
        <p:spPr>
          <a:xfrm>
            <a:off x="6291072"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C7 </a:t>
            </a:r>
            <a:r>
              <a:rPr b="0" i="0" lang="en-US" sz="1700" u="none" cap="none" strike="noStrike">
                <a:solidFill>
                  <a:srgbClr val="1A1A1A"/>
                </a:solidFill>
                <a:latin typeface="Arial"/>
                <a:ea typeface="Arial"/>
                <a:cs typeface="Arial"/>
                <a:sym typeface="Arial"/>
              </a:rPr>
              <a:t>Hosting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1" name="Google Shape;171;p19"/>
          <p:cNvSpPr/>
          <p:nvPr/>
        </p:nvSpPr>
        <p:spPr>
          <a:xfrm>
            <a:off x="8951976"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9"/>
          <p:cNvSpPr txBox="1"/>
          <p:nvPr/>
        </p:nvSpPr>
        <p:spPr>
          <a:xfrm>
            <a:off x="9061703"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C8 </a:t>
            </a:r>
            <a:r>
              <a:rPr b="0" i="0" lang="en-US" sz="1700" u="none" cap="none" strike="noStrike">
                <a:solidFill>
                  <a:srgbClr val="1A1A1A"/>
                </a:solidFill>
                <a:latin typeface="Arial"/>
                <a:ea typeface="Arial"/>
                <a:cs typeface="Arial"/>
                <a:sym typeface="Arial"/>
              </a:rPr>
              <a:t>Double-blind review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3" name="Google Shape;173;p19"/>
          <p:cNvSpPr/>
          <p:nvPr/>
        </p:nvSpPr>
        <p:spPr>
          <a:xfrm>
            <a:off x="640080"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9"/>
          <p:cNvSpPr txBox="1"/>
          <p:nvPr/>
        </p:nvSpPr>
        <p:spPr>
          <a:xfrm>
            <a:off x="749808"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C9 </a:t>
            </a:r>
            <a:r>
              <a:rPr b="0" i="0" lang="en-US" sz="1700" u="none" cap="none" strike="noStrike">
                <a:solidFill>
                  <a:srgbClr val="1A1A1A"/>
                </a:solidFill>
                <a:latin typeface="Arial"/>
                <a:ea typeface="Arial"/>
                <a:cs typeface="Arial"/>
                <a:sym typeface="Arial"/>
              </a:rPr>
              <a:t>External constraints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5" name="Google Shape;175;p19"/>
          <p:cNvSpPr/>
          <p:nvPr/>
        </p:nvSpPr>
        <p:spPr>
          <a:xfrm>
            <a:off x="3410711"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9"/>
          <p:cNvSpPr txBox="1"/>
          <p:nvPr/>
        </p:nvSpPr>
        <p:spPr>
          <a:xfrm>
            <a:off x="3520439"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C10 </a:t>
            </a:r>
            <a:r>
              <a:rPr b="0" i="0" lang="en-US" sz="1700" u="none" cap="none" strike="noStrike">
                <a:solidFill>
                  <a:srgbClr val="1A1A1A"/>
                </a:solidFill>
                <a:latin typeface="Arial"/>
                <a:ea typeface="Arial"/>
                <a:cs typeface="Arial"/>
                <a:sym typeface="Arial"/>
              </a:rPr>
              <a:t>No reviewer incentives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7" name="Google Shape;177;p19"/>
          <p:cNvSpPr/>
          <p:nvPr/>
        </p:nvSpPr>
        <p:spPr>
          <a:xfrm>
            <a:off x="6181344"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9"/>
          <p:cNvSpPr txBox="1"/>
          <p:nvPr/>
        </p:nvSpPr>
        <p:spPr>
          <a:xfrm>
            <a:off x="6291072"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C11 </a:t>
            </a:r>
            <a:r>
              <a:rPr b="0" i="0" lang="en-US" sz="1700" u="none" cap="none" strike="noStrike">
                <a:solidFill>
                  <a:srgbClr val="1A1A1A"/>
                </a:solidFill>
                <a:latin typeface="Arial"/>
                <a:ea typeface="Arial"/>
                <a:cs typeface="Arial"/>
                <a:sym typeface="Arial"/>
              </a:rPr>
              <a:t>Technical obstacles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9" name="Google Shape;179;p19"/>
          <p:cNvSpPr/>
          <p:nvPr/>
        </p:nvSpPr>
        <p:spPr>
          <a:xfrm>
            <a:off x="8951976"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9"/>
          <p:cNvSpPr txBox="1"/>
          <p:nvPr/>
        </p:nvSpPr>
        <p:spPr>
          <a:xfrm>
            <a:off x="9061703"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C12 </a:t>
            </a:r>
            <a:r>
              <a:rPr b="0" i="0" lang="en-US" sz="1700" u="none" cap="none" strike="noStrike">
                <a:solidFill>
                  <a:srgbClr val="1A1A1A"/>
                </a:solidFill>
                <a:latin typeface="Arial"/>
                <a:ea typeface="Arial"/>
                <a:cs typeface="Arial"/>
                <a:sym typeface="Arial"/>
              </a:rPr>
              <a:t>Limited communication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81" name="Google Shape;181;p19"/>
          <p:cNvSpPr txBox="1"/>
          <p:nvPr/>
        </p:nvSpPr>
        <p:spPr>
          <a:xfrm>
            <a:off x="640080" y="5931510"/>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883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creator   </a:t>
            </a:r>
            <a:r>
              <a:rPr b="1" i="0" lang="en-US" sz="1600" u="none" cap="none" strike="noStrike">
                <a:solidFill>
                  <a:srgbClr val="5F6368"/>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user   </a:t>
            </a:r>
            <a:r>
              <a:rPr b="1" i="0" lang="en-US" sz="1600" u="none" cap="none" strike="noStrike">
                <a:solidFill>
                  <a:srgbClr val="1A1A1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88" name="Google Shape;188;p2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89" name="Google Shape;189;p20"/>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C1-C3</a:t>
            </a:r>
            <a:endParaRPr b="0" i="0" sz="1400" u="none" cap="none" strike="noStrike">
              <a:solidFill>
                <a:srgbClr val="000000"/>
              </a:solidFill>
              <a:latin typeface="Arial"/>
              <a:ea typeface="Arial"/>
              <a:cs typeface="Arial"/>
              <a:sym typeface="Arial"/>
            </a:endParaRPr>
          </a:p>
        </p:txBody>
      </p:sp>
      <p:sp>
        <p:nvSpPr>
          <p:cNvPr id="190" name="Google Shape;190;p20"/>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191" name="Google Shape;191;p20"/>
          <p:cNvGraphicFramePr/>
          <p:nvPr/>
        </p:nvGraphicFramePr>
        <p:xfrm>
          <a:off x="640080" y="1554480"/>
          <a:ext cx="3000000" cy="3000000"/>
        </p:xfrm>
        <a:graphic>
          <a:graphicData uri="http://schemas.openxmlformats.org/drawingml/2006/table">
            <a:tbl>
              <a:tblPr bandRow="1" firstRow="1">
                <a:noFill/>
                <a:tableStyleId>{A3ED6575-EFB3-4068-A8AC-78191D0B7CCF}</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 </a:t>
                      </a:r>
                      <a:r>
                        <a:rPr b="1" lang="en-US" sz="1700" u="none" cap="none" strike="noStrike">
                          <a:solidFill>
                            <a:srgbClr val="1A1A1A"/>
                          </a:solidFill>
                          <a:latin typeface="Arial"/>
                          <a:ea typeface="Arial"/>
                          <a:cs typeface="Arial"/>
                          <a:sym typeface="Arial"/>
                        </a:rPr>
                        <a:t>Not worth it</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a:t>
                      </a:r>
                      <a:r>
                        <a:rPr lang="en-US" sz="1600">
                          <a:solidFill>
                            <a:srgbClr val="1A1A1A"/>
                          </a:solidFill>
                        </a:rPr>
                        <a:t> </a:t>
                      </a:r>
                      <a:r>
                        <a:rPr b="0" lang="en-US" sz="1600" u="sng" cap="none" strike="noStrike">
                          <a:solidFill>
                            <a:srgbClr val="1A1A1A"/>
                          </a:solidFill>
                          <a:latin typeface="Arial"/>
                          <a:ea typeface="Arial"/>
                          <a:cs typeface="Arial"/>
                          <a:sym typeface="Arial"/>
                        </a:rPr>
                        <a:t>time consuming </a:t>
                      </a:r>
                      <a:r>
                        <a:rPr lang="en-US" sz="1600" u="sng">
                          <a:solidFill>
                            <a:srgbClr val="1A1A1A"/>
                          </a:solidFill>
                        </a:rPr>
                        <a:t>→</a:t>
                      </a:r>
                      <a:r>
                        <a:rPr b="0" lang="en-US" sz="1600" u="sng" cap="none" strike="noStrike">
                          <a:solidFill>
                            <a:srgbClr val="1A1A1A"/>
                          </a:solidFill>
                          <a:latin typeface="Arial"/>
                          <a:ea typeface="Arial"/>
                          <a:cs typeface="Arial"/>
                          <a:sym typeface="Arial"/>
                        </a:rPr>
                        <a:t> better spent on papers</a:t>
                      </a:r>
                      <a:r>
                        <a:rPr b="0" lang="en-US" sz="1600" cap="none" strike="noStrike">
                          <a:solidFill>
                            <a:srgbClr val="1A1A1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little career benefit</a:t>
                      </a:r>
                      <a:r>
                        <a:rPr b="0" lang="en-US" sz="1600" cap="none" strike="noStrike">
                          <a:solidFill>
                            <a:srgbClr val="1A1A1A"/>
                          </a:solidFill>
                          <a:latin typeface="Arial"/>
                          <a:ea typeface="Arial"/>
                          <a:cs typeface="Arial"/>
                          <a:sym typeface="Arial"/>
                        </a:rPr>
                        <a:t>; </a:t>
                      </a:r>
                      <a:r>
                        <a:rPr lang="en-US" sz="1600" u="sng"/>
                        <a:t>limited audience</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concerns</a:t>
                      </a:r>
                      <a:r>
                        <a:rPr b="0" lang="en-US" sz="1600"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over: </a:t>
                      </a:r>
                      <a:endParaRPr b="0" sz="1600" u="none" cap="none" strike="noStrike">
                        <a:solidFill>
                          <a:srgbClr val="1A1A1A"/>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lang="en-US" sz="1600" u="sng" cap="none" strike="noStrike">
                          <a:solidFill>
                            <a:srgbClr val="1A1A1A"/>
                          </a:solidFill>
                          <a:latin typeface="Arial"/>
                          <a:ea typeface="Arial"/>
                          <a:cs typeface="Arial"/>
                          <a:sym typeface="Arial"/>
                        </a:rPr>
                        <a:t>reputation</a:t>
                      </a:r>
                      <a:r>
                        <a:rPr b="0" lang="en-US" sz="1600" u="none" cap="none" strike="noStrike">
                          <a:solidFill>
                            <a:srgbClr val="1A1A1A"/>
                          </a:solidFill>
                          <a:latin typeface="Arial"/>
                          <a:ea typeface="Arial"/>
                          <a:cs typeface="Arial"/>
                          <a:sym typeface="Arial"/>
                        </a:rPr>
                        <a:t> damage (code quality), </a:t>
                      </a:r>
                      <a:endParaRPr b="0" sz="1600" u="none" cap="none" strike="noStrike">
                        <a:solidFill>
                          <a:srgbClr val="1A1A1A"/>
                        </a:solidFill>
                        <a:latin typeface="Arial"/>
                        <a:ea typeface="Arial"/>
                        <a:cs typeface="Arial"/>
                        <a:sym typeface="Arial"/>
                      </a:endParaRPr>
                    </a:p>
                    <a:p>
                      <a:pPr indent="0" lvl="0" marL="0" rtl="0" algn="l">
                        <a:spcBef>
                          <a:spcPts val="300"/>
                        </a:spcBef>
                        <a:spcAft>
                          <a:spcPts val="0"/>
                        </a:spcAft>
                        <a:buClr>
                          <a:srgbClr val="000000"/>
                        </a:buClr>
                        <a:buSzPts val="1600"/>
                        <a:buFont typeface="Arial"/>
                        <a:buNone/>
                      </a:pPr>
                      <a:r>
                        <a:rPr lang="en-US" sz="1600"/>
                        <a:t>mistakes found, </a:t>
                      </a:r>
                      <a:endParaRPr sz="1600">
                        <a:solidFill>
                          <a:srgbClr val="1A1A1A"/>
                        </a:solidFill>
                      </a:endParaRPr>
                    </a:p>
                    <a:p>
                      <a:pPr indent="0" lvl="0" marL="0" marR="0" rtl="0" algn="l">
                        <a:lnSpc>
                          <a:spcPct val="100000"/>
                        </a:lnSpc>
                        <a:spcBef>
                          <a:spcPts val="300"/>
                        </a:spcBef>
                        <a:spcAft>
                          <a:spcPts val="0"/>
                        </a:spcAft>
                        <a:buClr>
                          <a:srgbClr val="000000"/>
                        </a:buClr>
                        <a:buSzPts val="1600"/>
                        <a:buFont typeface="Arial"/>
                        <a:buNone/>
                      </a:pPr>
                      <a:r>
                        <a:rPr b="0" lang="en-US" sz="1600" u="sng" cap="none" strike="noStrike">
                          <a:solidFill>
                            <a:srgbClr val="1A1A1A"/>
                          </a:solidFill>
                          <a:latin typeface="Arial"/>
                          <a:ea typeface="Arial"/>
                          <a:cs typeface="Arial"/>
                          <a:sym typeface="Arial"/>
                        </a:rPr>
                        <a:t>scooping</a:t>
                      </a:r>
                      <a:r>
                        <a:rPr lang="en-US" sz="1600">
                          <a:solidFill>
                            <a:srgbClr val="1A1A1A"/>
                          </a:solidFill>
                        </a:rPr>
                        <a:t> → </a:t>
                      </a:r>
                      <a:r>
                        <a:rPr lang="en-US" sz="1600"/>
                        <a:t>hold back for untapped publication value,</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C2 </a:t>
                      </a:r>
                      <a:r>
                        <a:rPr b="1" lang="en-US" sz="1700" u="none" cap="none" strike="noStrike">
                          <a:solidFill>
                            <a:srgbClr val="1A1A1A"/>
                          </a:solidFill>
                          <a:latin typeface="Arial"/>
                          <a:ea typeface="Arial"/>
                          <a:cs typeface="Arial"/>
                          <a:sym typeface="Arial"/>
                        </a:rPr>
                        <a:t>Portability</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anticipate</a:t>
                      </a:r>
                      <a:r>
                        <a:rPr b="0" lang="en-US" sz="1600"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all use-case </a:t>
                      </a:r>
                      <a:r>
                        <a:rPr b="0" lang="en-US" sz="1600" u="sng" cap="none" strike="noStrike">
                          <a:solidFill>
                            <a:srgbClr val="1A1A1A"/>
                          </a:solidFill>
                          <a:latin typeface="Arial"/>
                          <a:ea typeface="Arial"/>
                          <a:cs typeface="Arial"/>
                          <a:sym typeface="Arial"/>
                        </a:rPr>
                        <a:t>environments</a:t>
                      </a:r>
                      <a:endParaRPr b="0" sz="1600" u="sng" cap="none" strike="noStrike">
                        <a:solidFill>
                          <a:srgbClr val="1A1A1A"/>
                        </a:solidFill>
                        <a:latin typeface="Arial"/>
                        <a:ea typeface="Arial"/>
                        <a:cs typeface="Arial"/>
                        <a:sym typeface="Arial"/>
                      </a:endParaRPr>
                    </a:p>
                    <a:p>
                      <a:pPr indent="0" lvl="0" marL="0" rtl="0" algn="l">
                        <a:spcBef>
                          <a:spcPts val="0"/>
                        </a:spcBef>
                        <a:spcAft>
                          <a:spcPts val="0"/>
                        </a:spcAft>
                        <a:buClr>
                          <a:srgbClr val="000000"/>
                        </a:buClr>
                        <a:buSzPts val="1600"/>
                        <a:buFont typeface="Arial"/>
                        <a:buNone/>
                      </a:pPr>
                      <a:r>
                        <a:rPr b="1" lang="en-US" sz="1600">
                          <a:solidFill>
                            <a:schemeClr val="dk2"/>
                          </a:solidFill>
                        </a:rPr>
                        <a:t>■</a:t>
                      </a:r>
                      <a:r>
                        <a:rPr lang="en-US" sz="1600">
                          <a:solidFill>
                            <a:srgbClr val="1A1A1A"/>
                          </a:solidFill>
                        </a:rPr>
                        <a:t> ways to </a:t>
                      </a:r>
                      <a:r>
                        <a:rPr lang="en-US" sz="1600" u="sng">
                          <a:solidFill>
                            <a:srgbClr val="1A1A1A"/>
                          </a:solidFill>
                        </a:rPr>
                        <a:t>share accessible for everyone</a:t>
                      </a:r>
                      <a:endParaRPr sz="1600" u="sng">
                        <a:solidFill>
                          <a:srgbClr val="1A1A1A"/>
                        </a:solidFill>
                      </a:endParaRPr>
                    </a:p>
                    <a:p>
                      <a:pPr indent="0" lvl="0" marL="0" marR="0" rtl="0" algn="l">
                        <a:lnSpc>
                          <a:spcPct val="100000"/>
                        </a:lnSpc>
                        <a:spcBef>
                          <a:spcPts val="0"/>
                        </a:spcBef>
                        <a:spcAft>
                          <a:spcPts val="0"/>
                        </a:spcAft>
                        <a:buClr>
                          <a:srgbClr val="000000"/>
                        </a:buClr>
                        <a:buSzPts val="1600"/>
                        <a:buFont typeface="Arial"/>
                        <a:buNone/>
                      </a:pPr>
                      <a:r>
                        <a:rPr b="1" lang="en-US" sz="1600">
                          <a:solidFill>
                            <a:schemeClr val="dk2"/>
                          </a:solidFill>
                        </a:rPr>
                        <a:t>■</a:t>
                      </a:r>
                      <a:r>
                        <a:rPr lang="en-US" sz="1600"/>
                        <a:t> </a:t>
                      </a:r>
                      <a:r>
                        <a:rPr lang="en-US" sz="1600" u="sng">
                          <a:solidFill>
                            <a:srgbClr val="1A1A1A"/>
                          </a:solidFill>
                        </a:rPr>
                        <a:t>retroactively</a:t>
                      </a:r>
                      <a:r>
                        <a:rPr b="0" lang="en-US" sz="1600" u="sng" cap="none" strike="noStrike">
                          <a:solidFill>
                            <a:srgbClr val="1A1A1A"/>
                          </a:solidFill>
                          <a:latin typeface="Arial"/>
                          <a:ea typeface="Arial"/>
                          <a:cs typeface="Arial"/>
                          <a:sym typeface="Arial"/>
                        </a:rPr>
                        <a:t> refactor</a:t>
                      </a:r>
                      <a:r>
                        <a:rPr b="0" lang="en-US" sz="1600" u="none" cap="none" strike="noStrike">
                          <a:solidFill>
                            <a:srgbClr val="1A1A1A"/>
                          </a:solidFill>
                          <a:latin typeface="Arial"/>
                          <a:ea typeface="Arial"/>
                          <a:cs typeface="Arial"/>
                          <a:sym typeface="Arial"/>
                        </a:rPr>
                        <a:t> or create VM/container</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build and run failures</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install dependencies; invasive libraries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VMs safer, but: </a:t>
                      </a:r>
                      <a:r>
                        <a:rPr lang="en-US" sz="1600">
                          <a:solidFill>
                            <a:srgbClr val="1A1A1A"/>
                          </a:solidFill>
                        </a:rPr>
                        <a:t>size issues</a:t>
                      </a:r>
                      <a:r>
                        <a:rPr b="0" lang="en-US" sz="1600" u="none" cap="none" strike="noStrike">
                          <a:solidFill>
                            <a:srgbClr val="1A1A1A"/>
                          </a:solidFill>
                          <a:latin typeface="Arial"/>
                          <a:ea typeface="Arial"/>
                          <a:cs typeface="Arial"/>
                          <a:sym typeface="Arial"/>
                        </a:rPr>
                        <a:t>, cross-OS issues, </a:t>
                      </a:r>
                      <a:r>
                        <a:rPr lang="en-US" sz="1600">
                          <a:solidFill>
                            <a:srgbClr val="1A1A1A"/>
                          </a:solidFill>
                        </a:rPr>
                        <a:t>distort </a:t>
                      </a:r>
                      <a:r>
                        <a:rPr b="0" lang="en-US" sz="1600" u="none" cap="none" strike="noStrike">
                          <a:solidFill>
                            <a:srgbClr val="1A1A1A"/>
                          </a:solidFill>
                          <a:latin typeface="Arial"/>
                          <a:ea typeface="Arial"/>
                          <a:cs typeface="Arial"/>
                          <a:sym typeface="Arial"/>
                        </a:rPr>
                        <a:t>performance check</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C3 </a:t>
                      </a:r>
                      <a:r>
                        <a:rPr b="1" lang="en-US" sz="1700" u="none" cap="none" strike="noStrike">
                          <a:solidFill>
                            <a:srgbClr val="1A1A1A"/>
                          </a:solidFill>
                          <a:latin typeface="Arial"/>
                          <a:ea typeface="Arial"/>
                          <a:cs typeface="Arial"/>
                          <a:sym typeface="Arial"/>
                        </a:rPr>
                        <a:t>Maintenance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ongoing cost: bugs</a:t>
                      </a:r>
                      <a:r>
                        <a:rPr b="0" lang="en-US" sz="1600" u="none" cap="none" strike="noStrike">
                          <a:solidFill>
                            <a:srgbClr val="1A1A1A"/>
                          </a:solidFill>
                          <a:latin typeface="Arial"/>
                          <a:ea typeface="Arial"/>
                          <a:cs typeface="Arial"/>
                          <a:sym typeface="Arial"/>
                        </a:rPr>
                        <a:t>, use cases change, </a:t>
                      </a:r>
                      <a:r>
                        <a:rPr b="0" lang="en-US" sz="1600" u="sng" cap="none" strike="noStrike">
                          <a:solidFill>
                            <a:srgbClr val="1A1A1A"/>
                          </a:solidFill>
                          <a:latin typeface="Arial"/>
                          <a:ea typeface="Arial"/>
                          <a:cs typeface="Arial"/>
                          <a:sym typeface="Arial"/>
                        </a:rPr>
                        <a:t>bit rot</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students maintain artifacts, then graduate</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unmaintained artifacts need o</a:t>
                      </a:r>
                      <a:r>
                        <a:rPr lang="en-US" sz="1600">
                          <a:solidFill>
                            <a:srgbClr val="1A1A1A"/>
                          </a:solidFill>
                        </a:rPr>
                        <a:t>utdated/hard to find</a:t>
                      </a:r>
                      <a:r>
                        <a:rPr b="0" lang="en-US" sz="1600" u="none" cap="none" strike="noStrike">
                          <a:solidFill>
                            <a:srgbClr val="1A1A1A"/>
                          </a:solidFill>
                          <a:latin typeface="Arial"/>
                          <a:ea typeface="Arial"/>
                          <a:cs typeface="Arial"/>
                          <a:sym typeface="Arial"/>
                        </a:rPr>
                        <a:t> libraries</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98" name="Google Shape;198;p2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99" name="Google Shape;199;p21"/>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C4-C6</a:t>
            </a:r>
            <a:endParaRPr b="0" i="0" sz="1400" u="none" cap="none" strike="noStrike">
              <a:solidFill>
                <a:srgbClr val="000000"/>
              </a:solidFill>
              <a:latin typeface="Arial"/>
              <a:ea typeface="Arial"/>
              <a:cs typeface="Arial"/>
              <a:sym typeface="Arial"/>
            </a:endParaRPr>
          </a:p>
        </p:txBody>
      </p:sp>
      <p:sp>
        <p:nvSpPr>
          <p:cNvPr id="200" name="Google Shape;200;p21"/>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01" name="Google Shape;201;p21"/>
          <p:cNvGraphicFramePr/>
          <p:nvPr/>
        </p:nvGraphicFramePr>
        <p:xfrm>
          <a:off x="640080" y="1554480"/>
          <a:ext cx="3000000" cy="3000000"/>
        </p:xfrm>
        <a:graphic>
          <a:graphicData uri="http://schemas.openxmlformats.org/drawingml/2006/table">
            <a:tbl>
              <a:tblPr bandRow="1" firstRow="1">
                <a:noFill/>
                <a:tableStyleId>{A3ED6575-EFB3-4068-A8AC-78191D0B7CCF}</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C4 </a:t>
                      </a:r>
                      <a:r>
                        <a:rPr b="1" lang="en-US" sz="1700" u="none" cap="none" strike="noStrike">
                          <a:solidFill>
                            <a:srgbClr val="1A1A1A"/>
                          </a:solidFill>
                          <a:latin typeface="Arial"/>
                          <a:ea typeface="Arial"/>
                          <a:cs typeface="Arial"/>
                          <a:sym typeface="Arial"/>
                        </a:rPr>
                        <a:t>Tacit knowledge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documentation burdensome</a:t>
                      </a:r>
                      <a:r>
                        <a:rPr b="0" lang="en-US" sz="1600" u="none" cap="none" strike="noStrike">
                          <a:solidFill>
                            <a:srgbClr val="1A1A1A"/>
                          </a:solidFill>
                          <a:latin typeface="Arial"/>
                          <a:ea typeface="Arial"/>
                          <a:cs typeface="Arial"/>
                          <a:sym typeface="Arial"/>
                        </a:rPr>
                        <a:t>; know-how "in developers’ heads"</a:t>
                      </a:r>
                      <a:endParaRPr sz="1600">
                        <a:solidFill>
                          <a:srgbClr val="1A1A1A"/>
                        </a:solidFill>
                      </a:endParaRPr>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a:t>
                      </a:r>
                      <a:r>
                        <a:rPr lang="en-US" sz="1600">
                          <a:solidFill>
                            <a:srgbClr val="1A1A1A"/>
                          </a:solidFill>
                        </a:rPr>
                        <a:t> </a:t>
                      </a:r>
                      <a:r>
                        <a:rPr lang="en-US" sz="1600">
                          <a:solidFill>
                            <a:srgbClr val="1A1A1A"/>
                          </a:solidFill>
                        </a:rPr>
                        <a:t>difficulty</a:t>
                      </a:r>
                      <a:r>
                        <a:rPr lang="en-US" sz="1600">
                          <a:solidFill>
                            <a:srgbClr val="1A1A1A"/>
                          </a:solidFill>
                        </a:rPr>
                        <a:t> understanding; </a:t>
                      </a:r>
                      <a:r>
                        <a:rPr lang="en-US" sz="1600" u="sng">
                          <a:solidFill>
                            <a:srgbClr val="1A1A1A"/>
                          </a:solidFill>
                        </a:rPr>
                        <a:t>lack of </a:t>
                      </a:r>
                      <a:r>
                        <a:rPr b="0" lang="en-US" sz="1600" u="sng" cap="none" strike="noStrike">
                          <a:solidFill>
                            <a:srgbClr val="1A1A1A"/>
                          </a:solidFill>
                          <a:latin typeface="Arial"/>
                          <a:ea typeface="Arial"/>
                          <a:cs typeface="Arial"/>
                          <a:sym typeface="Arial"/>
                        </a:rPr>
                        <a:t>usage</a:t>
                      </a:r>
                      <a:r>
                        <a:rPr b="0" lang="en-US" sz="1600" u="none" cap="none" strike="noStrike">
                          <a:solidFill>
                            <a:srgbClr val="1A1A1A"/>
                          </a:solidFill>
                          <a:latin typeface="Arial"/>
                          <a:ea typeface="Arial"/>
                          <a:cs typeface="Arial"/>
                          <a:sym typeface="Arial"/>
                        </a:rPr>
                        <a:t> and </a:t>
                      </a:r>
                      <a:r>
                        <a:rPr b="0" lang="en-US" sz="1600" u="sng" cap="none" strike="noStrike">
                          <a:solidFill>
                            <a:srgbClr val="1A1A1A"/>
                          </a:solidFill>
                          <a:latin typeface="Arial"/>
                          <a:ea typeface="Arial"/>
                          <a:cs typeface="Arial"/>
                          <a:sym typeface="Arial"/>
                        </a:rPr>
                        <a:t>build instructions</a:t>
                      </a:r>
                      <a:r>
                        <a:rPr b="0" lang="en-US" sz="1600" cap="none" strike="noStrike">
                          <a:solidFill>
                            <a:srgbClr val="1A1A1A"/>
                          </a:solidFill>
                          <a:latin typeface="Arial"/>
                          <a:ea typeface="Arial"/>
                          <a:cs typeface="Arial"/>
                          <a:sym typeface="Arial"/>
                        </a:rPr>
                        <a:t>; guidance needed</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a:t>
                      </a:r>
                      <a:r>
                        <a:rPr b="1" lang="en-US" sz="1600" u="none" cap="none" strike="noStrike">
                          <a:solidFill>
                            <a:srgbClr val="1A1A1A"/>
                          </a:solidFill>
                          <a:highlight>
                            <a:srgbClr val="B6D7A8"/>
                          </a:highlight>
                          <a:latin typeface="Arial"/>
                          <a:ea typeface="Arial"/>
                          <a:cs typeface="Arial"/>
                          <a:sym typeface="Arial"/>
                        </a:rPr>
                        <a:t> </a:t>
                      </a:r>
                      <a:r>
                        <a:rPr lang="en-US" sz="1600" u="sng" cap="none" strike="noStrike">
                          <a:solidFill>
                            <a:srgbClr val="1A1A1A"/>
                          </a:solidFill>
                          <a:highlight>
                            <a:srgbClr val="B6D7A8"/>
                          </a:highlight>
                        </a:rPr>
                        <a:t>automated scr</a:t>
                      </a:r>
                      <a:r>
                        <a:rPr b="0" lang="en-US" sz="1600" u="sng" cap="none" strike="noStrike">
                          <a:solidFill>
                            <a:srgbClr val="1A1A1A"/>
                          </a:solidFill>
                          <a:highlight>
                            <a:srgbClr val="B6D7A8"/>
                          </a:highlight>
                          <a:latin typeface="Arial"/>
                          <a:ea typeface="Arial"/>
                          <a:cs typeface="Arial"/>
                          <a:sym typeface="Arial"/>
                        </a:rPr>
                        <a:t>ipts</a:t>
                      </a:r>
                      <a:r>
                        <a:rPr lang="en-US" sz="1600">
                          <a:solidFill>
                            <a:srgbClr val="1A1A1A"/>
                          </a:solidFill>
                          <a:highlight>
                            <a:srgbClr val="B6D7A8"/>
                          </a:highlight>
                        </a:rPr>
                        <a:t> ≠ universal solution</a:t>
                      </a:r>
                      <a:r>
                        <a:rPr b="0" lang="en-US" sz="1600" u="none" cap="none" strike="noStrike">
                          <a:solidFill>
                            <a:srgbClr val="1A1A1A"/>
                          </a:solidFill>
                          <a:highlight>
                            <a:srgbClr val="B6D7A8"/>
                          </a:highlight>
                          <a:latin typeface="Arial"/>
                          <a:ea typeface="Arial"/>
                          <a:cs typeface="Arial"/>
                          <a:sym typeface="Arial"/>
                        </a:rPr>
                        <a:t>: </a:t>
                      </a:r>
                      <a:r>
                        <a:rPr lang="en-US" sz="1600">
                          <a:solidFill>
                            <a:srgbClr val="1A1A1A"/>
                          </a:solidFill>
                          <a:highlight>
                            <a:srgbClr val="B6D7A8"/>
                          </a:highlight>
                        </a:rPr>
                        <a:t>no insight on process </a:t>
                      </a:r>
                      <a:r>
                        <a:rPr lang="en-US" sz="1600">
                          <a:highlight>
                            <a:srgbClr val="B6D7A8"/>
                          </a:highlight>
                        </a:rPr>
                        <a:t>→ </a:t>
                      </a:r>
                      <a:r>
                        <a:rPr lang="en-US" sz="1600">
                          <a:highlight>
                            <a:srgbClr val="B6D7A8"/>
                          </a:highlight>
                        </a:rPr>
                        <a:t>may replicate mistakes</a:t>
                      </a:r>
                      <a:endParaRPr sz="1400" u="none" cap="none" strike="noStrike">
                        <a:highlight>
                          <a:srgbClr val="B6D7A8"/>
                        </a:highlight>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C5 </a:t>
                      </a:r>
                      <a:r>
                        <a:rPr b="1" lang="en-US" sz="1700" u="none" cap="none" strike="noStrike">
                          <a:solidFill>
                            <a:srgbClr val="1A1A1A"/>
                          </a:solidFill>
                          <a:latin typeface="Arial"/>
                          <a:ea typeface="Arial"/>
                          <a:cs typeface="Arial"/>
                          <a:sym typeface="Arial"/>
                        </a:rPr>
                        <a:t>Doesn’t fit purpose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doesn’t serve the purpose</a:t>
                      </a:r>
                      <a:r>
                        <a:rPr b="0" lang="en-US" sz="1600"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stated in the paper</a:t>
                      </a:r>
                      <a:r>
                        <a:rPr lang="en-US" sz="1600">
                          <a:solidFill>
                            <a:srgbClr val="1A1A1A"/>
                          </a:solidFill>
                        </a:rPr>
                        <a:t> </a:t>
                      </a:r>
                      <a:endParaRPr sz="1600">
                        <a:solidFill>
                          <a:srgbClr val="1A1A1A"/>
                        </a:solidFill>
                      </a:endParaRPr>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a:t>
                      </a:r>
                      <a:r>
                        <a:rPr lang="en-US" sz="1600">
                          <a:solidFill>
                            <a:srgbClr val="1A1A1A"/>
                          </a:solidFill>
                        </a:rPr>
                        <a:t> works only for narrow use case</a:t>
                      </a:r>
                      <a:endParaRPr sz="1600">
                        <a:solidFill>
                          <a:srgbClr val="5F6368"/>
                        </a:solidFill>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C6 </a:t>
                      </a:r>
                      <a:r>
                        <a:rPr b="1" lang="en-US" sz="1700" u="none" cap="none" strike="noStrike">
                          <a:solidFill>
                            <a:srgbClr val="1A1A1A"/>
                          </a:solidFill>
                          <a:latin typeface="Arial"/>
                          <a:ea typeface="Arial"/>
                          <a:cs typeface="Arial"/>
                          <a:sym typeface="Arial"/>
                        </a:rPr>
                        <a:t>No standards / guidelines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unclear standards</a:t>
                      </a:r>
                      <a:r>
                        <a:rPr b="0" lang="en-US" sz="1600" u="none" cap="none" strike="noStrike">
                          <a:solidFill>
                            <a:srgbClr val="1A1A1A"/>
                          </a:solidFill>
                          <a:latin typeface="Arial"/>
                          <a:ea typeface="Arial"/>
                          <a:cs typeface="Arial"/>
                          <a:sym typeface="Arial"/>
                        </a:rPr>
                        <a:t> </a:t>
                      </a:r>
                      <a:r>
                        <a:rPr lang="en-US" sz="1600">
                          <a:solidFill>
                            <a:srgbClr val="1A1A1A"/>
                          </a:solidFill>
                        </a:rPr>
                        <a:t>for</a:t>
                      </a:r>
                      <a:r>
                        <a:rPr b="0" lang="en-US" sz="1600" u="none" cap="none" strike="noStrike">
                          <a:solidFill>
                            <a:srgbClr val="1A1A1A"/>
                          </a:solidFill>
                          <a:latin typeface="Arial"/>
                          <a:ea typeface="Arial"/>
                          <a:cs typeface="Arial"/>
                          <a:sym typeface="Arial"/>
                        </a:rPr>
                        <a:t> packaging, contents, quality, </a:t>
                      </a:r>
                      <a:r>
                        <a:rPr lang="en-US" sz="1600"/>
                        <a:t>setup instructions, documentation</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lang="en-US" sz="1600" u="sng">
                          <a:solidFill>
                            <a:srgbClr val="1A1A1A"/>
                          </a:solidFill>
                        </a:rPr>
                        <a:t>a</a:t>
                      </a:r>
                      <a:r>
                        <a:rPr lang="en-US" sz="1600" u="sng">
                          <a:solidFill>
                            <a:srgbClr val="1A1A1A"/>
                          </a:solidFill>
                        </a:rPr>
                        <a:t>mbiguous criteria for good artifact</a:t>
                      </a:r>
                      <a:r>
                        <a:rPr lang="en-US" sz="1600">
                          <a:solidFill>
                            <a:srgbClr val="1A1A1A"/>
                          </a:solidFill>
                        </a:rPr>
                        <a:t>; confusing to apply</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artifa</a:t>
                      </a:r>
                      <a:r>
                        <a:rPr lang="en-US" sz="1600">
                          <a:solidFill>
                            <a:srgbClr val="1A1A1A"/>
                          </a:solidFill>
                        </a:rPr>
                        <a:t>ct </a:t>
                      </a:r>
                      <a:r>
                        <a:rPr b="0" lang="en-US" sz="1600" u="none" cap="none" strike="noStrike">
                          <a:solidFill>
                            <a:srgbClr val="1A1A1A"/>
                          </a:solidFill>
                          <a:latin typeface="Arial"/>
                          <a:ea typeface="Arial"/>
                          <a:cs typeface="Arial"/>
                          <a:sym typeface="Arial"/>
                        </a:rPr>
                        <a:t>review purpose</a:t>
                      </a:r>
                      <a:r>
                        <a:rPr lang="en-US" sz="1600">
                          <a:solidFill>
                            <a:srgbClr val="1A1A1A"/>
                          </a:solidFill>
                        </a:rPr>
                        <a:t>, e.g running script vs thorough investigation</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08" name="Google Shape;208;p2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09" name="Google Shape;209;p22"/>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C7-C9</a:t>
            </a:r>
            <a:endParaRPr b="0" i="0" sz="1400" u="none" cap="none" strike="noStrike">
              <a:solidFill>
                <a:srgbClr val="000000"/>
              </a:solidFill>
              <a:latin typeface="Arial"/>
              <a:ea typeface="Arial"/>
              <a:cs typeface="Arial"/>
              <a:sym typeface="Arial"/>
            </a:endParaRPr>
          </a:p>
        </p:txBody>
      </p:sp>
      <p:sp>
        <p:nvSpPr>
          <p:cNvPr id="210" name="Google Shape;210;p22"/>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11" name="Google Shape;211;p22"/>
          <p:cNvGraphicFramePr/>
          <p:nvPr/>
        </p:nvGraphicFramePr>
        <p:xfrm>
          <a:off x="640080" y="1554480"/>
          <a:ext cx="3000000" cy="3000000"/>
        </p:xfrm>
        <a:graphic>
          <a:graphicData uri="http://schemas.openxmlformats.org/drawingml/2006/table">
            <a:tbl>
              <a:tblPr bandRow="1" firstRow="1">
                <a:noFill/>
                <a:tableStyleId>{A3ED6575-EFB3-4068-A8AC-78191D0B7CCF}</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C7 </a:t>
                      </a:r>
                      <a:r>
                        <a:rPr b="1" lang="en-US" sz="1700" u="none" cap="none" strike="noStrike">
                          <a:solidFill>
                            <a:srgbClr val="1A1A1A"/>
                          </a:solidFill>
                          <a:latin typeface="Arial"/>
                          <a:ea typeface="Arial"/>
                          <a:cs typeface="Arial"/>
                          <a:sym typeface="Arial"/>
                        </a:rPr>
                        <a:t>Hosting</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lang="en-US" sz="1600">
                          <a:solidFill>
                            <a:srgbClr val="1A1A1A"/>
                          </a:solidFill>
                        </a:rPr>
                        <a:t>suitable place:</a:t>
                      </a: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needs indefinite, large, free hosting</a:t>
                      </a:r>
                      <a:r>
                        <a:rPr b="0" lang="en-US" sz="1600" u="none" cap="none" strike="noStrike">
                          <a:solidFill>
                            <a:srgbClr val="1A1A1A"/>
                          </a:solidFill>
                          <a:latin typeface="Arial"/>
                          <a:ea typeface="Arial"/>
                          <a:cs typeface="Arial"/>
                          <a:sym typeface="Arial"/>
                        </a:rPr>
                        <a:t>; GitHub, Drive, Dropbox </a:t>
                      </a:r>
                      <a:r>
                        <a:rPr lang="en-US" sz="1600">
                          <a:solidFill>
                            <a:srgbClr val="1A1A1A"/>
                          </a:solidFill>
                        </a:rPr>
                        <a:t>not </a:t>
                      </a:r>
                      <a:r>
                        <a:rPr b="0" lang="en-US" sz="1600" u="none" cap="none" strike="noStrike">
                          <a:solidFill>
                            <a:srgbClr val="1A1A1A"/>
                          </a:solidFill>
                          <a:latin typeface="Arial"/>
                          <a:ea typeface="Arial"/>
                          <a:cs typeface="Arial"/>
                          <a:sym typeface="Arial"/>
                        </a:rPr>
                        <a:t>intended as long</a:t>
                      </a:r>
                      <a:r>
                        <a:rPr lang="en-US" sz="1600">
                          <a:solidFill>
                            <a:srgbClr val="1A1A1A"/>
                          </a:solidFill>
                        </a:rPr>
                        <a:t>-term </a:t>
                      </a:r>
                      <a:r>
                        <a:rPr b="0" lang="en-US" sz="1600" u="none" cap="none" strike="noStrike">
                          <a:solidFill>
                            <a:srgbClr val="1A1A1A"/>
                          </a:solidFill>
                          <a:latin typeface="Arial"/>
                          <a:ea typeface="Arial"/>
                          <a:cs typeface="Arial"/>
                          <a:sym typeface="Arial"/>
                        </a:rPr>
                        <a:t>archives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a:t>
                      </a:r>
                      <a:r>
                        <a:rPr b="1" lang="en-US" sz="1600" cap="none" strike="noStrike">
                          <a:solidFill>
                            <a:srgbClr val="5F6368"/>
                          </a:solidFill>
                          <a:latin typeface="Arial"/>
                          <a:ea typeface="Arial"/>
                          <a:cs typeface="Arial"/>
                          <a:sym typeface="Arial"/>
                        </a:rPr>
                        <a:t> </a:t>
                      </a:r>
                      <a:r>
                        <a:rPr lang="en-US" sz="1600">
                          <a:solidFill>
                            <a:srgbClr val="1A1A1A"/>
                          </a:solidFill>
                        </a:rPr>
                        <a:t>unable to access artifacts; links dead etc.</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C8 </a:t>
                      </a:r>
                      <a:r>
                        <a:rPr b="1" lang="en-US" sz="1700" u="none" cap="none" strike="noStrike">
                          <a:solidFill>
                            <a:srgbClr val="1A1A1A"/>
                          </a:solidFill>
                          <a:latin typeface="Arial"/>
                          <a:ea typeface="Arial"/>
                          <a:cs typeface="Arial"/>
                          <a:sym typeface="Arial"/>
                        </a:rPr>
                        <a:t>Double-blind review</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artifact must be </a:t>
                      </a:r>
                      <a:r>
                        <a:rPr b="0" lang="en-US" sz="1600" u="sng" cap="none" strike="noStrike">
                          <a:solidFill>
                            <a:srgbClr val="1A1A1A"/>
                          </a:solidFill>
                          <a:latin typeface="Arial"/>
                          <a:ea typeface="Arial"/>
                          <a:cs typeface="Arial"/>
                          <a:sym typeface="Arial"/>
                        </a:rPr>
                        <a:t>anonymised</a:t>
                      </a:r>
                      <a:r>
                        <a:rPr b="0" lang="en-US" sz="1600" u="none" cap="none" strike="noStrike">
                          <a:solidFill>
                            <a:srgbClr val="1A1A1A"/>
                          </a:solidFill>
                          <a:latin typeface="Arial"/>
                          <a:ea typeface="Arial"/>
                          <a:cs typeface="Arial"/>
                          <a:sym typeface="Arial"/>
                        </a:rPr>
                        <a:t>; anonymous hosting </a:t>
                      </a:r>
                      <a:r>
                        <a:rPr lang="en-US" sz="1600">
                          <a:solidFill>
                            <a:srgbClr val="1A1A1A"/>
                          </a:solidFill>
                        </a:rPr>
                        <a:t>more complicated</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C9 </a:t>
                      </a:r>
                      <a:r>
                        <a:rPr b="1" lang="en-US" sz="1700" u="none" cap="none" strike="noStrike">
                          <a:solidFill>
                            <a:srgbClr val="1A1A1A"/>
                          </a:solidFill>
                          <a:latin typeface="Arial"/>
                          <a:ea typeface="Arial"/>
                          <a:cs typeface="Arial"/>
                          <a:sym typeface="Arial"/>
                        </a:rPr>
                        <a:t>External constraints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IP</a:t>
                      </a:r>
                      <a:r>
                        <a:rPr lang="en-US" sz="1600" u="sng">
                          <a:solidFill>
                            <a:srgbClr val="1A1A1A"/>
                          </a:solidFill>
                        </a:rPr>
                        <a:t>, </a:t>
                      </a:r>
                      <a:r>
                        <a:rPr b="0" lang="en-US" sz="1600" u="sng" cap="none" strike="noStrike">
                          <a:solidFill>
                            <a:srgbClr val="1A1A1A"/>
                          </a:solidFill>
                          <a:latin typeface="Arial"/>
                          <a:ea typeface="Arial"/>
                          <a:cs typeface="Arial"/>
                          <a:sym typeface="Arial"/>
                        </a:rPr>
                        <a:t>contracts, liability, privacy</a:t>
                      </a:r>
                      <a:r>
                        <a:rPr lang="en-US" sz="1600" u="sng">
                          <a:solidFill>
                            <a:srgbClr val="1A1A1A"/>
                          </a:solidFill>
                        </a:rPr>
                        <a:t> concerns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a:t>
                      </a:r>
                      <a:r>
                        <a:rPr lang="en-US" sz="1600">
                          <a:solidFill>
                            <a:srgbClr val="1A1A1A"/>
                          </a:solidFill>
                        </a:rPr>
                        <a:t> </a:t>
                      </a:r>
                      <a:r>
                        <a:rPr lang="en-US" sz="1600" u="sng">
                          <a:solidFill>
                            <a:srgbClr val="1A1A1A"/>
                          </a:solidFill>
                        </a:rPr>
                        <a:t>More difficult to build on</a:t>
                      </a:r>
                      <a:r>
                        <a:rPr lang="en-US" sz="1600">
                          <a:solidFill>
                            <a:srgbClr val="1A1A1A"/>
                          </a:solidFill>
                        </a:rPr>
                        <a:t> work/artifacts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reviewers lack licences</a:t>
                      </a:r>
                      <a:r>
                        <a:rPr lang="en-US" sz="1600">
                          <a:solidFill>
                            <a:srgbClr val="1A1A1A"/>
                          </a:solidFill>
                        </a:rPr>
                        <a:t>/</a:t>
                      </a:r>
                      <a:r>
                        <a:rPr b="0" lang="en-US" sz="1600" cap="none" strike="noStrike">
                          <a:solidFill>
                            <a:srgbClr val="1A1A1A"/>
                          </a:solidFill>
                          <a:latin typeface="Arial"/>
                          <a:ea typeface="Arial"/>
                          <a:cs typeface="Arial"/>
                          <a:sym typeface="Arial"/>
                        </a:rPr>
                        <a:t>proprietary tools </a:t>
                      </a:r>
                      <a:r>
                        <a:rPr b="0" lang="en-US" sz="1600" u="sng" cap="none" strike="noStrike">
                          <a:solidFill>
                            <a:srgbClr val="1A1A1A"/>
                          </a:solidFill>
                          <a:latin typeface="Arial"/>
                          <a:ea typeface="Arial"/>
                          <a:cs typeface="Arial"/>
                          <a:sym typeface="Arial"/>
                        </a:rPr>
                        <a:t>to install/use artifact</a:t>
                      </a:r>
                      <a:r>
                        <a:rPr b="0" lang="en-US" sz="1600" u="none" cap="none" strike="noStrike">
                          <a:solidFill>
                            <a:srgbClr val="1A1A1A"/>
                          </a:solidFill>
                          <a:latin typeface="Arial"/>
                          <a:ea typeface="Arial"/>
                          <a:cs typeface="Arial"/>
                          <a:sym typeface="Arial"/>
                        </a:rPr>
                        <a:t>; no </a:t>
                      </a:r>
                      <a:r>
                        <a:rPr lang="en-US" sz="1600">
                          <a:solidFill>
                            <a:srgbClr val="1A1A1A"/>
                          </a:solidFill>
                        </a:rPr>
                        <a:t>guidelines</a:t>
                      </a:r>
                      <a:r>
                        <a:rPr b="0" lang="en-US" sz="1600" u="none" cap="none" strike="noStrike">
                          <a:solidFill>
                            <a:srgbClr val="1A1A1A"/>
                          </a:solidFill>
                          <a:latin typeface="Arial"/>
                          <a:ea typeface="Arial"/>
                          <a:cs typeface="Arial"/>
                          <a:sym typeface="Arial"/>
                        </a:rPr>
                        <a:t> for this </a:t>
                      </a:r>
                      <a:r>
                        <a:rPr lang="en-US" sz="1600">
                          <a:solidFill>
                            <a:srgbClr val="1A1A1A"/>
                          </a:solidFill>
                        </a:rPr>
                        <a:t>case</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18" name="Google Shape;218;p2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19" name="Google Shape;219;p23"/>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C10-C12</a:t>
            </a:r>
            <a:endParaRPr b="0" i="0" sz="1400" u="none" cap="none" strike="noStrike">
              <a:solidFill>
                <a:srgbClr val="000000"/>
              </a:solidFill>
              <a:latin typeface="Arial"/>
              <a:ea typeface="Arial"/>
              <a:cs typeface="Arial"/>
              <a:sym typeface="Arial"/>
            </a:endParaRPr>
          </a:p>
        </p:txBody>
      </p:sp>
      <p:sp>
        <p:nvSpPr>
          <p:cNvPr id="220" name="Google Shape;220;p23"/>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21" name="Google Shape;221;p23"/>
          <p:cNvGraphicFramePr/>
          <p:nvPr/>
        </p:nvGraphicFramePr>
        <p:xfrm>
          <a:off x="640080" y="1554480"/>
          <a:ext cx="3000000" cy="3000000"/>
        </p:xfrm>
        <a:graphic>
          <a:graphicData uri="http://schemas.openxmlformats.org/drawingml/2006/table">
            <a:tbl>
              <a:tblPr bandRow="1" firstRow="1">
                <a:noFill/>
                <a:tableStyleId>{A3ED6575-EFB3-4068-A8AC-78191D0B7CCF}</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C10 </a:t>
                      </a:r>
                      <a:r>
                        <a:rPr b="1" lang="en-US" sz="1700" u="none" cap="none" strike="noStrike">
                          <a:solidFill>
                            <a:srgbClr val="1A1A1A"/>
                          </a:solidFill>
                          <a:latin typeface="Arial"/>
                          <a:ea typeface="Arial"/>
                          <a:cs typeface="Arial"/>
                          <a:sym typeface="Arial"/>
                        </a:rPr>
                        <a:t>No reviewer incentives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time-consuming, </a:t>
                      </a:r>
                      <a:r>
                        <a:rPr lang="en-US" sz="1600" u="sng">
                          <a:solidFill>
                            <a:srgbClr val="1A1A1A"/>
                          </a:solidFill>
                        </a:rPr>
                        <a:t>un</a:t>
                      </a:r>
                      <a:r>
                        <a:rPr b="0" lang="en-US" sz="1600" u="sng" cap="none" strike="noStrike">
                          <a:solidFill>
                            <a:srgbClr val="1A1A1A"/>
                          </a:solidFill>
                          <a:latin typeface="Arial"/>
                          <a:ea typeface="Arial"/>
                          <a:cs typeface="Arial"/>
                          <a:sym typeface="Arial"/>
                        </a:rPr>
                        <a:t>rewarded</a:t>
                      </a:r>
                      <a:r>
                        <a:rPr lang="en-US" sz="1600">
                          <a:solidFill>
                            <a:srgbClr val="1A1A1A"/>
                          </a:solidFill>
                        </a:rPr>
                        <a:t>≠</a:t>
                      </a:r>
                      <a:r>
                        <a:rPr b="0" lang="en-US" sz="1600" u="none" cap="none" strike="noStrike">
                          <a:solidFill>
                            <a:srgbClr val="1A1A1A"/>
                          </a:solidFill>
                          <a:latin typeface="Arial"/>
                          <a:ea typeface="Arial"/>
                          <a:cs typeface="Arial"/>
                          <a:sym typeface="Arial"/>
                        </a:rPr>
                        <a:t>paper review</a:t>
                      </a:r>
                      <a:endParaRPr/>
                    </a:p>
                    <a:p>
                      <a:pPr indent="0" lvl="0" marL="0" rtl="0" algn="l">
                        <a:spcBef>
                          <a:spcPts val="300"/>
                        </a:spcBef>
                        <a:spcAft>
                          <a:spcPts val="0"/>
                        </a:spcAft>
                        <a:buClr>
                          <a:srgbClr val="000000"/>
                        </a:buClr>
                        <a:buSzPts val="1600"/>
                        <a:buFont typeface="Arial"/>
                        <a:buNone/>
                      </a:pPr>
                      <a:r>
                        <a:rPr b="1" lang="en-US" sz="1600"/>
                        <a:t>★ </a:t>
                      </a:r>
                      <a:r>
                        <a:rPr lang="en-US" sz="1600"/>
                        <a:t>→ inconsistent, low-quality reviews</a:t>
                      </a:r>
                      <a:endParaRPr sz="1600">
                        <a:solidFill>
                          <a:srgbClr val="1A1A1A"/>
                        </a:solidFill>
                      </a:endParaRPr>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lang="en-US" sz="1600" u="sng">
                          <a:solidFill>
                            <a:srgbClr val="1A1A1A"/>
                          </a:solidFill>
                        </a:rPr>
                        <a:t>students do AEC as </a:t>
                      </a:r>
                      <a:r>
                        <a:rPr b="0" lang="en-US" sz="1600" u="sng" cap="none" strike="noStrike">
                          <a:solidFill>
                            <a:srgbClr val="1A1A1A"/>
                          </a:solidFill>
                          <a:latin typeface="Arial"/>
                          <a:ea typeface="Arial"/>
                          <a:cs typeface="Arial"/>
                          <a:sym typeface="Arial"/>
                        </a:rPr>
                        <a:t>training</a:t>
                      </a:r>
                      <a:r>
                        <a:rPr b="0" lang="en-US" sz="1600" u="none" cap="none" strike="noStrike">
                          <a:solidFill>
                            <a:srgbClr val="1A1A1A"/>
                          </a:solidFill>
                          <a:latin typeface="Arial"/>
                          <a:ea typeface="Arial"/>
                          <a:cs typeface="Arial"/>
                          <a:sym typeface="Arial"/>
                        </a:rPr>
                        <a:t>, artifacts </a:t>
                      </a:r>
                      <a:r>
                        <a:rPr lang="en-US" sz="1600">
                          <a:solidFill>
                            <a:srgbClr val="1A1A1A"/>
                          </a:solidFill>
                        </a:rPr>
                        <a:t>potentially seen as</a:t>
                      </a:r>
                      <a:r>
                        <a:rPr b="0" lang="en-US" sz="1600" u="none" cap="none" strike="noStrike">
                          <a:solidFill>
                            <a:srgbClr val="1A1A1A"/>
                          </a:solidFill>
                          <a:latin typeface="Arial"/>
                          <a:ea typeface="Arial"/>
                          <a:cs typeface="Arial"/>
                          <a:sym typeface="Arial"/>
                        </a:rPr>
                        <a:t> secondary</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C11 </a:t>
                      </a:r>
                      <a:r>
                        <a:rPr b="1" lang="en-US" sz="1700" u="none" cap="none" strike="noStrike">
                          <a:solidFill>
                            <a:srgbClr val="1A1A1A"/>
                          </a:solidFill>
                          <a:latin typeface="Arial"/>
                          <a:ea typeface="Arial"/>
                          <a:cs typeface="Arial"/>
                          <a:sym typeface="Arial"/>
                        </a:rPr>
                        <a:t>Technical obstacles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long </a:t>
                      </a:r>
                      <a:r>
                        <a:rPr b="0" lang="en-US" sz="1600" u="sng" cap="none" strike="noStrike">
                          <a:solidFill>
                            <a:srgbClr val="1A1A1A"/>
                          </a:solidFill>
                          <a:latin typeface="Arial"/>
                          <a:ea typeface="Arial"/>
                          <a:cs typeface="Arial"/>
                          <a:sym typeface="Arial"/>
                        </a:rPr>
                        <a:t>runtimes, </a:t>
                      </a:r>
                      <a:r>
                        <a:rPr lang="en-US" sz="1600" u="sng">
                          <a:solidFill>
                            <a:srgbClr val="1A1A1A"/>
                          </a:solidFill>
                        </a:rPr>
                        <a:t>inadequate </a:t>
                      </a:r>
                      <a:r>
                        <a:rPr b="0" lang="en-US" sz="1600" u="sng" cap="none" strike="noStrike">
                          <a:solidFill>
                            <a:srgbClr val="1A1A1A"/>
                          </a:solidFill>
                          <a:latin typeface="Arial"/>
                          <a:ea typeface="Arial"/>
                          <a:cs typeface="Arial"/>
                          <a:sym typeface="Arial"/>
                        </a:rPr>
                        <a:t>comput</a:t>
                      </a:r>
                      <a:r>
                        <a:rPr lang="en-US" sz="1600" u="sng">
                          <a:solidFill>
                            <a:srgbClr val="1A1A1A"/>
                          </a:solidFill>
                        </a:rPr>
                        <a:t>ing</a:t>
                      </a:r>
                      <a:r>
                        <a:rPr b="0" lang="en-US" sz="1600" u="sng" cap="none" strike="noStrike">
                          <a:solidFill>
                            <a:srgbClr val="1A1A1A"/>
                          </a:solidFill>
                          <a:latin typeface="Arial"/>
                          <a:ea typeface="Arial"/>
                          <a:cs typeface="Arial"/>
                          <a:sym typeface="Arial"/>
                        </a:rPr>
                        <a:t> resources</a:t>
                      </a:r>
                      <a:r>
                        <a:rPr lang="en-US" sz="1600" u="sng">
                          <a:solidFill>
                            <a:srgbClr val="1A1A1A"/>
                          </a:solidFill>
                        </a:rPr>
                        <a:t> / disk space</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some experiments infeasible to re-run: cloud, fuzzing, program repair</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C12 </a:t>
                      </a:r>
                      <a:r>
                        <a:rPr b="1" lang="en-US" sz="1700" u="none" cap="none" strike="noStrike">
                          <a:solidFill>
                            <a:srgbClr val="1A1A1A"/>
                          </a:solidFill>
                          <a:latin typeface="Arial"/>
                          <a:ea typeface="Arial"/>
                          <a:cs typeface="Arial"/>
                          <a:sym typeface="Arial"/>
                        </a:rPr>
                        <a:t>Limited communication</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rtl="0" algn="l">
                        <a:spcBef>
                          <a:spcPts val="0"/>
                        </a:spcBef>
                        <a:spcAft>
                          <a:spcPts val="0"/>
                        </a:spcAft>
                        <a:buClr>
                          <a:srgbClr val="000000"/>
                        </a:buClr>
                        <a:buSzPts val="1600"/>
                        <a:buFont typeface="Arial"/>
                        <a:buNone/>
                      </a:pPr>
                      <a:r>
                        <a:rPr b="1" lang="en-US" sz="1600"/>
                        <a:t>★ </a:t>
                      </a:r>
                      <a:r>
                        <a:rPr lang="en-US" sz="1600" u="sng"/>
                        <a:t>lack of communication channels</a:t>
                      </a:r>
                      <a:endParaRPr sz="1600" u="sng">
                        <a:solidFill>
                          <a:srgbClr val="1A1A1A"/>
                        </a:solidFill>
                      </a:endParaRPr>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minor install glitch shouldn’t mean rejection </a:t>
                      </a:r>
                      <a:r>
                        <a:rPr lang="en-US" sz="1600">
                          <a:solidFill>
                            <a:srgbClr val="1A1A1A"/>
                          </a:solidFill>
                        </a:rPr>
                        <a:t>→ </a:t>
                      </a:r>
                      <a:r>
                        <a:rPr lang="en-US" sz="1600" u="sng">
                          <a:solidFill>
                            <a:srgbClr val="1A1A1A"/>
                          </a:solidFill>
                        </a:rPr>
                        <a:t>owners could help resolve</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highlight>
                            <a:srgbClr val="B6D7A8"/>
                          </a:highlight>
                          <a:latin typeface="Arial"/>
                          <a:ea typeface="Arial"/>
                          <a:cs typeface="Arial"/>
                          <a:sym typeface="Arial"/>
                        </a:rPr>
                        <a:t>★ </a:t>
                      </a:r>
                      <a:r>
                        <a:rPr lang="en-US" sz="1600">
                          <a:solidFill>
                            <a:srgbClr val="1A1A1A"/>
                          </a:solidFill>
                          <a:highlight>
                            <a:srgbClr val="B6D7A8"/>
                          </a:highlight>
                        </a:rPr>
                        <a:t>responsive vs </a:t>
                      </a:r>
                      <a:r>
                        <a:rPr b="0" lang="en-US" sz="1600" u="none" cap="none" strike="noStrike">
                          <a:solidFill>
                            <a:srgbClr val="1A1A1A"/>
                          </a:solidFill>
                          <a:highlight>
                            <a:srgbClr val="B6D7A8"/>
                          </a:highlight>
                          <a:latin typeface="Arial"/>
                          <a:ea typeface="Arial"/>
                          <a:cs typeface="Arial"/>
                          <a:sym typeface="Arial"/>
                        </a:rPr>
                        <a:t>unresponsive authors</a:t>
                      </a:r>
                      <a:r>
                        <a:rPr b="0" lang="en-US" sz="1600" u="none" cap="none" strike="noStrike">
                          <a:solidFill>
                            <a:srgbClr val="1A1A1A"/>
                          </a:solidFill>
                          <a:latin typeface="Arial"/>
                          <a:ea typeface="Arial"/>
                          <a:cs typeface="Arial"/>
                          <a:sym typeface="Arial"/>
                        </a:rPr>
                        <a:t>, potent</a:t>
                      </a:r>
                      <a:r>
                        <a:rPr lang="en-US" sz="1600">
                          <a:solidFill>
                            <a:srgbClr val="1A1A1A"/>
                          </a:solidFill>
                        </a:rPr>
                        <a:t>ial wait times</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28" name="Google Shape;228;p2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29" name="Google Shape;229;p2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C12 Limited communication: One-shot or iterative review</a:t>
            </a:r>
            <a:endParaRPr b="0" i="0" sz="1400" u="none" cap="none" strike="noStrike">
              <a:solidFill>
                <a:srgbClr val="000000"/>
              </a:solidFill>
              <a:latin typeface="Arial"/>
              <a:ea typeface="Arial"/>
              <a:cs typeface="Arial"/>
              <a:sym typeface="Arial"/>
            </a:endParaRPr>
          </a:p>
        </p:txBody>
      </p:sp>
      <p:sp>
        <p:nvSpPr>
          <p:cNvPr id="230" name="Google Shape;230;p2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artifact evaluation be a one-shot review or a dialogue with the authors?</a:t>
            </a:r>
            <a:endParaRPr b="0" i="0" sz="1400" u="none" cap="none" strike="noStrike">
              <a:solidFill>
                <a:srgbClr val="000000"/>
              </a:solidFill>
              <a:latin typeface="Arial"/>
              <a:ea typeface="Arial"/>
              <a:cs typeface="Arial"/>
              <a:sym typeface="Arial"/>
            </a:endParaRPr>
          </a:p>
        </p:txBody>
      </p:sp>
      <p:sp>
        <p:nvSpPr>
          <p:cNvPr id="231" name="Google Shape;231;p2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4"/>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artifact fails on a typo in the install instructions: reject, or ask the authors?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Later users won't have the authors' help: should reviewers?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39" name="Google Shape;239;p2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40" name="Google Shape;240;p2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C4 Tacit knowledge: One-click reproduction scripts</a:t>
            </a:r>
            <a:endParaRPr b="0" i="0" sz="1400" u="none" cap="none" strike="noStrike">
              <a:solidFill>
                <a:srgbClr val="000000"/>
              </a:solidFill>
              <a:latin typeface="Arial"/>
              <a:ea typeface="Arial"/>
              <a:cs typeface="Arial"/>
              <a:sym typeface="Arial"/>
            </a:endParaRPr>
          </a:p>
        </p:txBody>
      </p:sp>
      <p:sp>
        <p:nvSpPr>
          <p:cNvPr id="241" name="Google Shape;241;p25"/>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Scripts capture steps that would otherwise stay in the developer's head. Reviewers warn they can be a black box that re-runs the authors' mistakes and gives no insight.</a:t>
            </a:r>
            <a:endParaRPr b="0" i="0" sz="1400" u="none" cap="none" strike="noStrike">
              <a:solidFill>
                <a:srgbClr val="000000"/>
              </a:solidFill>
              <a:latin typeface="Arial"/>
              <a:ea typeface="Arial"/>
              <a:cs typeface="Arial"/>
              <a:sym typeface="Arial"/>
            </a:endParaRPr>
          </a:p>
        </p:txBody>
      </p:sp>
      <p:sp>
        <p:nvSpPr>
          <p:cNvPr id="242" name="Google Shape;242;p25"/>
          <p:cNvSpPr txBox="1"/>
          <p:nvPr/>
        </p:nvSpPr>
        <p:spPr>
          <a:xfrm>
            <a:off x="640080" y="2697480"/>
            <a:ext cx="10908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a one-click reproduction script good or bad for scientific scrutiny and evaluation? </a:t>
            </a:r>
            <a:endParaRPr b="1" i="0" sz="28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lang="en-US" sz="2800">
                <a:solidFill>
                  <a:srgbClr val="1A1A1A"/>
                </a:solidFill>
              </a:rPr>
              <a:t>What are the pros and cons</a:t>
            </a:r>
            <a:r>
              <a:rPr b="1" i="0" lang="en-US" sz="2800" u="none" cap="none" strike="noStrike">
                <a:solidFill>
                  <a:srgbClr val="1A1A1A"/>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43" name="Google Shape;243;p2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5"/>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script reproduces the required data, but nobody reads the code behind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what besides a script would help you understand why the results come out?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51" name="Google Shape;251;p2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52" name="Google Shape;252;p2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a:t>
            </a:r>
            <a:r>
              <a:rPr b="1" lang="en-US" sz="2600">
                <a:solidFill>
                  <a:srgbClr val="00883A"/>
                </a:solidFill>
              </a:rPr>
              <a:t>11 Technical Obstacles</a:t>
            </a:r>
            <a:r>
              <a:rPr b="1" i="0" lang="en-US" sz="2600" u="none" cap="none" strike="noStrike">
                <a:solidFill>
                  <a:srgbClr val="00883A"/>
                </a:solidFill>
                <a:latin typeface="Arial"/>
                <a:ea typeface="Arial"/>
                <a:cs typeface="Arial"/>
                <a:sym typeface="Arial"/>
              </a:rPr>
              <a:t>: Reviewer effort</a:t>
            </a:r>
            <a:endParaRPr b="0" i="0" sz="1400" u="none" cap="none" strike="noStrike">
              <a:solidFill>
                <a:srgbClr val="000000"/>
              </a:solidFill>
              <a:latin typeface="Arial"/>
              <a:ea typeface="Arial"/>
              <a:cs typeface="Arial"/>
              <a:sym typeface="Arial"/>
            </a:endParaRPr>
          </a:p>
        </p:txBody>
      </p:sp>
      <p:sp>
        <p:nvSpPr>
          <p:cNvPr id="253" name="Google Shape;253;p2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Reviewers </a:t>
            </a:r>
            <a:r>
              <a:rPr lang="en-US" sz="2000">
                <a:solidFill>
                  <a:srgbClr val="5F6368"/>
                </a:solidFill>
              </a:rPr>
              <a:t>might be </a:t>
            </a:r>
            <a:r>
              <a:rPr b="0" i="0" lang="en-US" sz="2000" u="none" cap="none" strike="noStrike">
                <a:solidFill>
                  <a:srgbClr val="5F6368"/>
                </a:solidFill>
                <a:latin typeface="Arial"/>
                <a:ea typeface="Arial"/>
                <a:cs typeface="Arial"/>
                <a:sym typeface="Arial"/>
              </a:rPr>
              <a:t>missing instructions and needing</a:t>
            </a:r>
            <a:r>
              <a:rPr lang="en-US" sz="2000">
                <a:solidFill>
                  <a:srgbClr val="5F6368"/>
                </a:solidFill>
              </a:rPr>
              <a:t> </a:t>
            </a:r>
            <a:r>
              <a:rPr b="0" i="0" lang="en-US" sz="2000" u="none" cap="none" strike="noStrike">
                <a:solidFill>
                  <a:srgbClr val="5F6368"/>
                </a:solidFill>
                <a:latin typeface="Arial"/>
                <a:ea typeface="Arial"/>
                <a:cs typeface="Arial"/>
                <a:sym typeface="Arial"/>
              </a:rPr>
              <a:t>to fill gaps; deep dives can take days.</a:t>
            </a:r>
            <a:endParaRPr b="0" i="0" sz="1400" u="none" cap="none" strike="noStrike">
              <a:solidFill>
                <a:srgbClr val="000000"/>
              </a:solidFill>
              <a:latin typeface="Arial"/>
              <a:ea typeface="Arial"/>
              <a:cs typeface="Arial"/>
              <a:sym typeface="Arial"/>
            </a:endParaRPr>
          </a:p>
        </p:txBody>
      </p:sp>
      <p:sp>
        <p:nvSpPr>
          <p:cNvPr id="254" name="Google Shape;254;p26"/>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How much </a:t>
            </a:r>
            <a:r>
              <a:rPr b="1" lang="en-US" sz="2800">
                <a:solidFill>
                  <a:srgbClr val="1A1A1A"/>
                </a:solidFill>
              </a:rPr>
              <a:t>time and effort</a:t>
            </a:r>
            <a:r>
              <a:rPr b="1" i="0" lang="en-US" sz="2800" u="none" cap="none" strike="noStrike">
                <a:solidFill>
                  <a:srgbClr val="1A1A1A"/>
                </a:solidFill>
                <a:latin typeface="Arial"/>
                <a:ea typeface="Arial"/>
                <a:cs typeface="Arial"/>
                <a:sym typeface="Arial"/>
              </a:rPr>
              <a:t> should reviewers invest before giving up on an artifact?</a:t>
            </a:r>
            <a:endParaRPr b="0" i="0" sz="1400" u="none" cap="none" strike="noStrike">
              <a:solidFill>
                <a:srgbClr val="000000"/>
              </a:solidFill>
              <a:latin typeface="Arial"/>
              <a:ea typeface="Arial"/>
              <a:cs typeface="Arial"/>
              <a:sym typeface="Arial"/>
            </a:endParaRPr>
          </a:p>
        </p:txBody>
      </p:sp>
      <p:sp>
        <p:nvSpPr>
          <p:cNvPr id="255" name="Google Shape;255;p2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6"/>
          <p:cNvSpPr txBox="1"/>
          <p:nvPr/>
        </p:nvSpPr>
        <p:spPr>
          <a:xfrm>
            <a:off x="822960" y="4800600"/>
            <a:ext cx="10515600" cy="142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after two hours it fails on a missing dependency</a:t>
            </a:r>
            <a:r>
              <a:rPr lang="en-US" sz="2000">
                <a:solidFill>
                  <a:srgbClr val="1A1A1A"/>
                </a:solidFill>
              </a:rPr>
              <a:t>. Or </a:t>
            </a:r>
            <a:r>
              <a:rPr lang="en-US" sz="2000">
                <a:solidFill>
                  <a:schemeClr val="dk1"/>
                </a:solidFill>
              </a:rPr>
              <a:t>a fuzzing experiment that runs for three days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i="0" lang="en-US" sz="2000" u="none" cap="none" strike="noStrike"/>
              <a:t> </a:t>
            </a:r>
            <a:r>
              <a:rPr lang="en-US" sz="2000"/>
              <a:t>If you were the author would this time allotment be considered fair? How do we balance </a:t>
            </a:r>
            <a:r>
              <a:rPr lang="en-US" sz="2000"/>
              <a:t>reviewer</a:t>
            </a:r>
            <a:r>
              <a:rPr lang="en-US" sz="2000"/>
              <a:t> and author interests concerning time management?</a:t>
            </a:r>
            <a:endParaRPr b="0" i="0" sz="1400" u="none" cap="none" strike="noStrike">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63" name="Google Shape;263;p2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64" name="Google Shape;264;p2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C2 Portability: Running untrusted artifacts</a:t>
            </a:r>
            <a:endParaRPr b="0" i="0" sz="1400" u="none" cap="none" strike="noStrike">
              <a:solidFill>
                <a:srgbClr val="000000"/>
              </a:solidFill>
              <a:latin typeface="Arial"/>
              <a:ea typeface="Arial"/>
              <a:cs typeface="Arial"/>
              <a:sym typeface="Arial"/>
            </a:endParaRPr>
          </a:p>
        </p:txBody>
      </p:sp>
      <p:sp>
        <p:nvSpPr>
          <p:cNvPr id="265" name="Google Shape;265;p2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Running untrusted artifacts with outdated dependencies </a:t>
            </a:r>
            <a:r>
              <a:rPr lang="en-US" sz="2000">
                <a:solidFill>
                  <a:srgbClr val="5F6368"/>
                </a:solidFill>
              </a:rPr>
              <a:t>could be </a:t>
            </a:r>
            <a:r>
              <a:rPr b="0" i="0" lang="en-US" sz="2000" u="none" cap="none" strike="noStrike">
                <a:solidFill>
                  <a:srgbClr val="5F6368"/>
                </a:solidFill>
                <a:latin typeface="Arial"/>
                <a:ea typeface="Arial"/>
                <a:cs typeface="Arial"/>
                <a:sym typeface="Arial"/>
              </a:rPr>
              <a:t>a security risk for reviewers.</a:t>
            </a:r>
            <a:endParaRPr b="0" i="0" sz="1400" u="none" cap="none" strike="noStrike">
              <a:solidFill>
                <a:srgbClr val="000000"/>
              </a:solidFill>
              <a:latin typeface="Arial"/>
              <a:ea typeface="Arial"/>
              <a:cs typeface="Arial"/>
              <a:sym typeface="Arial"/>
            </a:endParaRPr>
          </a:p>
        </p:txBody>
      </p:sp>
      <p:sp>
        <p:nvSpPr>
          <p:cNvPr id="266" name="Google Shape;266;p2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reviewers be allowed to refuse artifacts that need root access or invasive libraries?</a:t>
            </a:r>
            <a:endParaRPr b="0" i="0" sz="1400" u="none" cap="none" strike="noStrike">
              <a:solidFill>
                <a:srgbClr val="000000"/>
              </a:solidFill>
              <a:latin typeface="Arial"/>
              <a:ea typeface="Arial"/>
              <a:cs typeface="Arial"/>
              <a:sym typeface="Arial"/>
            </a:endParaRPr>
          </a:p>
        </p:txBody>
      </p:sp>
      <p:sp>
        <p:nvSpPr>
          <p:cNvPr id="267" name="Google Shape;267;p2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7"/>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installer that changes system libraries on the reviewer's laptop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refusing were allowed, which research could no longer be evaluated?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75" name="Google Shape;275;p2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76" name="Google Shape;276;p28"/>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C7 Hosting: Very large artifacts</a:t>
            </a:r>
            <a:endParaRPr b="0" i="0" sz="1400" u="none" cap="none" strike="noStrike">
              <a:solidFill>
                <a:srgbClr val="000000"/>
              </a:solidFill>
              <a:latin typeface="Arial"/>
              <a:ea typeface="Arial"/>
              <a:cs typeface="Arial"/>
              <a:sym typeface="Arial"/>
            </a:endParaRPr>
          </a:p>
        </p:txBody>
      </p:sp>
      <p:sp>
        <p:nvSpPr>
          <p:cNvPr id="277" name="Google Shape;277;p28"/>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Large datasets don't fit common hosting or a reviewer's disk.</a:t>
            </a:r>
            <a:endParaRPr b="0" i="0" sz="1400" u="none" cap="none" strike="noStrike">
              <a:solidFill>
                <a:srgbClr val="000000"/>
              </a:solidFill>
              <a:latin typeface="Arial"/>
              <a:ea typeface="Arial"/>
              <a:cs typeface="Arial"/>
              <a:sym typeface="Arial"/>
            </a:endParaRPr>
          </a:p>
        </p:txBody>
      </p:sp>
      <p:sp>
        <p:nvSpPr>
          <p:cNvPr id="278" name="Google Shape;278;p28"/>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What should researchers do with artifacts too big for </a:t>
            </a:r>
            <a:r>
              <a:rPr b="1" lang="en-US" sz="2800">
                <a:solidFill>
                  <a:srgbClr val="1A1A1A"/>
                </a:solidFill>
              </a:rPr>
              <a:t>a repository </a:t>
            </a:r>
            <a:r>
              <a:rPr b="1" i="0" lang="en-US" sz="2800" u="none" cap="none" strike="noStrike">
                <a:solidFill>
                  <a:srgbClr val="1A1A1A"/>
                </a:solidFill>
                <a:latin typeface="Arial"/>
                <a:ea typeface="Arial"/>
                <a:cs typeface="Arial"/>
                <a:sym typeface="Arial"/>
              </a:rPr>
              <a:t>or a reviewer's laptop?</a:t>
            </a:r>
            <a:endParaRPr b="0" i="0" sz="1400" u="none" cap="none" strike="noStrike">
              <a:solidFill>
                <a:srgbClr val="000000"/>
              </a:solidFill>
              <a:latin typeface="Arial"/>
              <a:ea typeface="Arial"/>
              <a:cs typeface="Arial"/>
              <a:sym typeface="Arial"/>
            </a:endParaRPr>
          </a:p>
        </p:txBody>
      </p:sp>
      <p:sp>
        <p:nvSpPr>
          <p:cNvPr id="279" name="Google Shape;279;p28"/>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8"/>
          <p:cNvSpPr txBox="1"/>
          <p:nvPr/>
        </p:nvSpPr>
        <p:spPr>
          <a:xfrm>
            <a:off x="822960" y="4800600"/>
            <a:ext cx="10515600" cy="142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several terabytes of mined repository da</a:t>
            </a:r>
            <a:r>
              <a:rPr lang="en-US" sz="2000">
                <a:solidFill>
                  <a:srgbClr val="1A1A1A"/>
                </a:solidFill>
              </a:rPr>
              <a:t>ta. </a:t>
            </a:r>
            <a:r>
              <a:rPr lang="en-US" sz="2000">
                <a:solidFill>
                  <a:srgbClr val="1A1A1A"/>
                </a:solidFill>
              </a:rPr>
              <a:t>Zenodo limit is (50 GB per record, up to 200 GB on request) [1]</a:t>
            </a:r>
            <a:endParaRPr sz="2000">
              <a:solidFill>
                <a:srgbClr val="1A1A1A"/>
              </a:solidFil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you publish if your thesis data were that large? What could potential workarounds be </a:t>
            </a:r>
            <a:r>
              <a:rPr lang="en-US" sz="2000">
                <a:solidFill>
                  <a:srgbClr val="1A1A1A"/>
                </a:solidFill>
              </a:rPr>
              <a:t>to still effectively review your work/artifacts?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87" name="Google Shape;287;p2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88" name="Google Shape;288;p2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C11 Technical obstacles: Hardware reviewers don't have</a:t>
            </a:r>
            <a:endParaRPr b="0" i="0" sz="1400" u="none" cap="none" strike="noStrike">
              <a:solidFill>
                <a:srgbClr val="000000"/>
              </a:solidFill>
              <a:latin typeface="Arial"/>
              <a:ea typeface="Arial"/>
              <a:cs typeface="Arial"/>
              <a:sym typeface="Arial"/>
            </a:endParaRPr>
          </a:p>
        </p:txBody>
      </p:sp>
      <p:sp>
        <p:nvSpPr>
          <p:cNvPr id="289" name="Google Shape;289;p29"/>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en-US" sz="2000">
                <a:solidFill>
                  <a:srgbClr val="5F6368"/>
                </a:solidFill>
              </a:rPr>
              <a:t>Building on the </a:t>
            </a:r>
            <a:r>
              <a:rPr lang="en-US" sz="2000">
                <a:solidFill>
                  <a:schemeClr val="accent3"/>
                </a:solidFill>
              </a:rPr>
              <a:t>last question</a:t>
            </a:r>
            <a:r>
              <a:rPr lang="en-US" sz="2000">
                <a:solidFill>
                  <a:srgbClr val="5F6368"/>
                </a:solidFill>
              </a:rPr>
              <a:t>: </a:t>
            </a:r>
            <a:r>
              <a:rPr b="0" i="0" lang="en-US" sz="2000" u="none" cap="none" strike="noStrike">
                <a:solidFill>
                  <a:srgbClr val="5F6368"/>
                </a:solidFill>
                <a:latin typeface="Arial"/>
                <a:ea typeface="Arial"/>
                <a:cs typeface="Arial"/>
                <a:sym typeface="Arial"/>
              </a:rPr>
              <a:t>Reviewers often lack the hardware to run an artifact.</a:t>
            </a:r>
            <a:endParaRPr b="0" i="0" sz="1400" u="none" cap="none" strike="noStrike">
              <a:solidFill>
                <a:srgbClr val="000000"/>
              </a:solidFill>
              <a:latin typeface="Arial"/>
              <a:ea typeface="Arial"/>
              <a:cs typeface="Arial"/>
              <a:sym typeface="Arial"/>
            </a:endParaRPr>
          </a:p>
        </p:txBody>
      </p:sp>
      <p:sp>
        <p:nvSpPr>
          <p:cNvPr id="290" name="Google Shape;290;p2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conferences provide compute and storage for reviewers, e.g. remote servers with containers?</a:t>
            </a:r>
            <a:endParaRPr b="0" i="0" sz="1400" u="none" cap="none" strike="noStrike">
              <a:solidFill>
                <a:srgbClr val="000000"/>
              </a:solidFill>
              <a:latin typeface="Arial"/>
              <a:ea typeface="Arial"/>
              <a:cs typeface="Arial"/>
              <a:sym typeface="Arial"/>
            </a:endParaRPr>
          </a:p>
        </p:txBody>
      </p:sp>
      <p:sp>
        <p:nvSpPr>
          <p:cNvPr id="291" name="Google Shape;291;p2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9"/>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experiment needs eight GPUs for a week, and the reviewer has a laptop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from a reviewer who only ran a scaled-down version?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99" name="Google Shape;299;p3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00" name="Google Shape;300;p3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Open by default</a:t>
            </a:r>
            <a:endParaRPr b="0" i="0" sz="1400" u="none" cap="none" strike="noStrike">
              <a:solidFill>
                <a:srgbClr val="000000"/>
              </a:solidFill>
              <a:latin typeface="Arial"/>
              <a:ea typeface="Arial"/>
              <a:cs typeface="Arial"/>
              <a:sym typeface="Arial"/>
            </a:endParaRPr>
          </a:p>
        </p:txBody>
      </p:sp>
      <p:sp>
        <p:nvSpPr>
          <p:cNvPr id="301" name="Google Shape;301;p3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IP, privacy and commercial tools limit what can be shared.</a:t>
            </a:r>
            <a:endParaRPr b="0" i="0" sz="1400" u="none" cap="none" strike="noStrike">
              <a:solidFill>
                <a:srgbClr val="000000"/>
              </a:solidFill>
              <a:latin typeface="Arial"/>
              <a:ea typeface="Arial"/>
              <a:cs typeface="Arial"/>
              <a:sym typeface="Arial"/>
            </a:endParaRPr>
          </a:p>
        </p:txBody>
      </p:sp>
      <p:sp>
        <p:nvSpPr>
          <p:cNvPr id="302" name="Google Shape;302;p30"/>
          <p:cNvSpPr txBox="1"/>
          <p:nvPr/>
        </p:nvSpPr>
        <p:spPr>
          <a:xfrm>
            <a:off x="640080" y="2697480"/>
            <a:ext cx="109089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How open should research software be, and where are the legitimate limits?</a:t>
            </a:r>
            <a:endParaRPr b="1" i="0" sz="28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lang="en-US" sz="2800">
                <a:solidFill>
                  <a:srgbClr val="1A1A1A"/>
                </a:solidFill>
              </a:rPr>
              <a:t>Should it be critisiseable if a paper doesn’t share its data because its industry partner won’t release it?</a:t>
            </a:r>
            <a:endParaRPr b="0" i="0" sz="1400" u="none" cap="none" strike="noStrike">
              <a:solidFill>
                <a:srgbClr val="000000"/>
              </a:solidFill>
              <a:latin typeface="Arial"/>
              <a:ea typeface="Arial"/>
              <a:cs typeface="Arial"/>
              <a:sym typeface="Arial"/>
            </a:endParaRPr>
          </a:p>
        </p:txBody>
      </p:sp>
      <p:sp>
        <p:nvSpPr>
          <p:cNvPr id="303" name="Google Shape;303;p30"/>
          <p:cNvSpPr/>
          <p:nvPr/>
        </p:nvSpPr>
        <p:spPr>
          <a:xfrm>
            <a:off x="640075" y="4709148"/>
            <a:ext cx="10911600" cy="18162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0"/>
          <p:cNvSpPr txBox="1"/>
          <p:nvPr/>
        </p:nvSpPr>
        <p:spPr>
          <a:xfrm>
            <a:off x="822960" y="4800600"/>
            <a:ext cx="10515600" cy="193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company co-authored the tool and wants to sell it later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a:t>
            </a:r>
            <a:r>
              <a:rPr lang="en-US" sz="2000">
                <a:solidFill>
                  <a:srgbClr val="1A1A1A"/>
                </a:solidFill>
              </a:rPr>
              <a:t>ould you consider the artifact open enough or not, given that it won’t be </a:t>
            </a:r>
            <a:r>
              <a:rPr lang="en-US" sz="2000">
                <a:solidFill>
                  <a:srgbClr val="1A1A1A"/>
                </a:solidFill>
              </a:rPr>
              <a:t>accessible</a:t>
            </a:r>
            <a:r>
              <a:rPr lang="en-US" sz="2000">
                <a:solidFill>
                  <a:srgbClr val="1A1A1A"/>
                </a:solidFill>
              </a:rPr>
              <a:t> in the future</a:t>
            </a:r>
            <a:r>
              <a:rPr b="0" i="0" lang="en-US" sz="2000" u="none" cap="none" strike="noStrike">
                <a:solidFill>
                  <a:srgbClr val="1A1A1A"/>
                </a:solidFill>
                <a:latin typeface="Arial"/>
                <a:ea typeface="Arial"/>
                <a:cs typeface="Arial"/>
                <a:sym typeface="Arial"/>
              </a:rPr>
              <a:t>? </a:t>
            </a:r>
            <a:endParaRPr sz="2000">
              <a:solidFill>
                <a:srgbClr val="1A1A1A"/>
              </a:solidFill>
            </a:endParaRPr>
          </a:p>
          <a:p>
            <a:pPr indent="0" lvl="0" marL="0" marR="0" rtl="0" algn="l">
              <a:lnSpc>
                <a:spcPct val="100000"/>
              </a:lnSpc>
              <a:spcBef>
                <a:spcPts val="800"/>
              </a:spcBef>
              <a:spcAft>
                <a:spcPts val="0"/>
              </a:spcAft>
              <a:buClr>
                <a:srgbClr val="000000"/>
              </a:buClr>
              <a:buSzPts val="2000"/>
              <a:buFont typeface="Arial"/>
              <a:buNone/>
            </a:pPr>
            <a:r>
              <a:rPr lang="en-US" sz="2000">
                <a:solidFill>
                  <a:schemeClr val="dk1"/>
                </a:solidFill>
              </a:rPr>
              <a:t>I</a:t>
            </a:r>
            <a:r>
              <a:rPr lang="en-US" sz="2000">
                <a:solidFill>
                  <a:schemeClr val="dk1"/>
                </a:solidFill>
              </a:rPr>
              <a:t>f you were building on a study whose data is under NDA, would you trust it less?</a:t>
            </a:r>
            <a:endParaRPr/>
          </a:p>
          <a:p>
            <a:pPr indent="0" lvl="0" marL="0" marR="0" rtl="0" algn="l">
              <a:lnSpc>
                <a:spcPct val="100000"/>
              </a:lnSpc>
              <a:spcBef>
                <a:spcPts val="800"/>
              </a:spcBef>
              <a:spcAft>
                <a:spcPts val="0"/>
              </a:spcAft>
              <a:buClr>
                <a:srgbClr val="000000"/>
              </a:buClr>
              <a:buSzPts val="2000"/>
              <a:buFont typeface="Arial"/>
              <a:buNone/>
            </a:pPr>
            <a:r>
              <a:t/>
            </a:r>
            <a:endParaRPr sz="2000">
              <a:solidFill>
                <a:srgbClr val="1A1A1A"/>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11" name="Google Shape;311;p3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12" name="Google Shape;312;p3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Licensed software</a:t>
            </a:r>
            <a:endParaRPr b="0" i="0" sz="1400" u="none" cap="none" strike="noStrike">
              <a:solidFill>
                <a:srgbClr val="000000"/>
              </a:solidFill>
              <a:latin typeface="Arial"/>
              <a:ea typeface="Arial"/>
              <a:cs typeface="Arial"/>
              <a:sym typeface="Arial"/>
            </a:endParaRPr>
          </a:p>
        </p:txBody>
      </p:sp>
      <p:sp>
        <p:nvSpPr>
          <p:cNvPr id="313" name="Google Shape;313;p3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en-US" sz="2000">
                <a:solidFill>
                  <a:schemeClr val="accent3"/>
                </a:solidFill>
              </a:rPr>
              <a:t>Building on the </a:t>
            </a:r>
            <a:r>
              <a:rPr lang="en-US" sz="2000">
                <a:solidFill>
                  <a:schemeClr val="accent3"/>
                </a:solidFill>
              </a:rPr>
              <a:t>last question: </a:t>
            </a:r>
            <a:r>
              <a:rPr b="0" i="0" lang="en-US" sz="2000" u="none" cap="none" strike="noStrike">
                <a:solidFill>
                  <a:srgbClr val="5F6368"/>
                </a:solidFill>
                <a:latin typeface="Arial"/>
                <a:ea typeface="Arial"/>
                <a:cs typeface="Arial"/>
                <a:sym typeface="Arial"/>
              </a:rPr>
              <a:t>Some artifacts need paid licences reviewers don't have.</a:t>
            </a:r>
            <a:endParaRPr b="0" i="0" sz="1400" u="none" cap="none" strike="noStrike">
              <a:solidFill>
                <a:srgbClr val="000000"/>
              </a:solidFill>
              <a:latin typeface="Arial"/>
              <a:ea typeface="Arial"/>
              <a:cs typeface="Arial"/>
              <a:sym typeface="Arial"/>
            </a:endParaRPr>
          </a:p>
        </p:txBody>
      </p:sp>
      <p:sp>
        <p:nvSpPr>
          <p:cNvPr id="314" name="Google Shape;314;p3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research tools that depend on paid commercial software be accepted as artifacts at all?</a:t>
            </a:r>
            <a:endParaRPr b="0" i="0" sz="1400" u="none" cap="none" strike="noStrike">
              <a:solidFill>
                <a:srgbClr val="000000"/>
              </a:solidFill>
              <a:latin typeface="Arial"/>
              <a:ea typeface="Arial"/>
              <a:cs typeface="Arial"/>
              <a:sym typeface="Arial"/>
            </a:endParaRPr>
          </a:p>
        </p:txBody>
      </p:sp>
      <p:sp>
        <p:nvSpPr>
          <p:cNvPr id="315" name="Google Shape;315;p3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31"/>
          <p:cNvSpPr txBox="1"/>
          <p:nvPr/>
        </p:nvSpPr>
        <p:spPr>
          <a:xfrm>
            <a:off x="822960" y="4800600"/>
            <a:ext cx="10515600" cy="142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your artifact needs MATLAB, and the reviewer has no licence: whose problem is that?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would you pay for a licence yourself to evaluate someone else's artifact? </a:t>
            </a:r>
            <a:r>
              <a:rPr lang="en-US" sz="2000">
                <a:solidFill>
                  <a:srgbClr val="1A1A1A"/>
                </a:solidFill>
              </a:rPr>
              <a:t>Who</a:t>
            </a:r>
            <a:r>
              <a:rPr b="0" i="0" lang="en-US" sz="2000" u="none" cap="none" strike="noStrike">
                <a:solidFill>
                  <a:srgbClr val="1A1A1A"/>
                </a:solidFill>
                <a:latin typeface="Arial"/>
                <a:ea typeface="Arial"/>
                <a:cs typeface="Arial"/>
                <a:sym typeface="Arial"/>
              </a:rPr>
              <a:t> should</a:t>
            </a:r>
            <a:r>
              <a:rPr lang="en-US" sz="2000">
                <a:solidFill>
                  <a:srgbClr val="1A1A1A"/>
                </a:solidFill>
              </a:rPr>
              <a:t> instead?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23" name="Google Shape;323;p3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24" name="Google Shape;324;p3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C10 Lack of reviewer incentives: Students as reviewers</a:t>
            </a:r>
            <a:endParaRPr b="0" i="0" sz="1400" u="none" cap="none" strike="noStrike">
              <a:solidFill>
                <a:srgbClr val="000000"/>
              </a:solidFill>
              <a:latin typeface="Arial"/>
              <a:ea typeface="Arial"/>
              <a:cs typeface="Arial"/>
              <a:sym typeface="Arial"/>
            </a:endParaRPr>
          </a:p>
        </p:txBody>
      </p:sp>
      <p:sp>
        <p:nvSpPr>
          <p:cNvPr id="325" name="Google Shape;325;p3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Artifact review is poorly rewarded and often left to students.</a:t>
            </a:r>
            <a:endParaRPr b="0" i="0" sz="1400" u="none" cap="none" strike="noStrike">
              <a:solidFill>
                <a:srgbClr val="000000"/>
              </a:solidFill>
              <a:latin typeface="Arial"/>
              <a:ea typeface="Arial"/>
              <a:cs typeface="Arial"/>
              <a:sym typeface="Arial"/>
            </a:endParaRPr>
          </a:p>
        </p:txBody>
      </p:sp>
      <p:sp>
        <p:nvSpPr>
          <p:cNvPr id="326" name="Google Shape;326;p32"/>
          <p:cNvSpPr txBox="1"/>
          <p:nvPr/>
        </p:nvSpPr>
        <p:spPr>
          <a:xfrm>
            <a:off x="640080" y="2697480"/>
            <a:ext cx="10908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leaving artifact evaluation to students a good training opportunity, or does it undermine how rigorous and seriously taken the badges are?</a:t>
            </a:r>
            <a:endParaRPr b="0" i="0" sz="1400" u="none" cap="none" strike="noStrike">
              <a:solidFill>
                <a:srgbClr val="000000"/>
              </a:solidFill>
              <a:latin typeface="Arial"/>
              <a:ea typeface="Arial"/>
              <a:cs typeface="Arial"/>
              <a:sym typeface="Arial"/>
            </a:endParaRPr>
          </a:p>
        </p:txBody>
      </p:sp>
      <p:sp>
        <p:nvSpPr>
          <p:cNvPr id="327" name="Google Shape;327;p3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32"/>
          <p:cNvSpPr txBox="1"/>
          <p:nvPr/>
        </p:nvSpPr>
        <p:spPr>
          <a:xfrm>
            <a:off x="822960" y="4800600"/>
            <a:ext cx="10515600" cy="102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more if you knew a senior researcher rather than a student had awarded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3" name="Shape 333"/>
        <p:cNvGrpSpPr/>
        <p:nvPr/>
      </p:nvGrpSpPr>
      <p:grpSpPr>
        <a:xfrm>
          <a:off x="0" y="0"/>
          <a:ext cx="0" cy="0"/>
          <a:chOff x="0" y="0"/>
          <a:chExt cx="0" cy="0"/>
        </a:xfrm>
      </p:grpSpPr>
      <p:sp>
        <p:nvSpPr>
          <p:cNvPr id="334" name="Google Shape;334;p3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Further</a:t>
            </a:r>
            <a:endParaRPr b="0" i="0" sz="4000" u="none" cap="none" strike="noStrike">
              <a:solidFill>
                <a:schemeClr val="dk1"/>
              </a:solidFill>
              <a:latin typeface="Arial"/>
              <a:ea typeface="Arial"/>
              <a:cs typeface="Arial"/>
              <a:sym typeface="Arial"/>
            </a:endParaRPr>
          </a:p>
        </p:txBody>
      </p:sp>
      <p:sp>
        <p:nvSpPr>
          <p:cNvPr id="335" name="Google Shape;335;p3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42" name="Google Shape;342;p3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43" name="Google Shape;343;p3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C3 Maintenance: Decay and maintenance</a:t>
            </a:r>
            <a:endParaRPr b="0" i="0" sz="1400" u="none" cap="none" strike="noStrike">
              <a:solidFill>
                <a:srgbClr val="000000"/>
              </a:solidFill>
              <a:latin typeface="Arial"/>
              <a:ea typeface="Arial"/>
              <a:cs typeface="Arial"/>
              <a:sym typeface="Arial"/>
            </a:endParaRPr>
          </a:p>
        </p:txBody>
      </p:sp>
      <p:sp>
        <p:nvSpPr>
          <p:cNvPr id="344" name="Google Shape;344;p34"/>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Artifacts decay as dependencies age and student maintainers leave.</a:t>
            </a:r>
            <a:endParaRPr b="0" i="0" sz="1400" u="none" cap="none" strike="noStrike">
              <a:solidFill>
                <a:srgbClr val="000000"/>
              </a:solidFill>
              <a:latin typeface="Arial"/>
              <a:ea typeface="Arial"/>
              <a:cs typeface="Arial"/>
              <a:sym typeface="Arial"/>
            </a:endParaRPr>
          </a:p>
        </p:txBody>
      </p:sp>
      <p:sp>
        <p:nvSpPr>
          <p:cNvPr id="345" name="Google Shape;345;p3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software decay unavoidable, and what practical ways are there to limit it?</a:t>
            </a:r>
            <a:endParaRPr b="0" i="0" sz="1400" u="none" cap="none" strike="noStrike">
              <a:solidFill>
                <a:srgbClr val="000000"/>
              </a:solidFill>
              <a:latin typeface="Arial"/>
              <a:ea typeface="Arial"/>
              <a:cs typeface="Arial"/>
              <a:sym typeface="Arial"/>
            </a:endParaRPr>
          </a:p>
        </p:txBody>
      </p:sp>
      <p:sp>
        <p:nvSpPr>
          <p:cNvPr id="346" name="Google Shape;346;p3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4"/>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2015 thesis tool needs Python 2 and a library that no longer exists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Who should </a:t>
            </a:r>
            <a:r>
              <a:rPr lang="en-US" sz="2000">
                <a:solidFill>
                  <a:srgbClr val="1A1A1A"/>
                </a:solidFill>
              </a:rPr>
              <a:t>continue</a:t>
            </a:r>
            <a:r>
              <a:rPr b="0" i="0" lang="en-US" sz="2000" u="none" cap="none" strike="noStrike">
                <a:solidFill>
                  <a:srgbClr val="1A1A1A"/>
                </a:solidFill>
                <a:latin typeface="Arial"/>
                <a:ea typeface="Arial"/>
                <a:cs typeface="Arial"/>
                <a:sym typeface="Arial"/>
              </a:rPr>
              <a:t> keeping your thesis tool running after you leave?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54" name="Google Shape;354;p3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55" name="Google Shape;355;p3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RQ1: Rewards</a:t>
            </a:r>
            <a:endParaRPr b="0" i="0" sz="1400" u="none" cap="none" strike="noStrike">
              <a:solidFill>
                <a:srgbClr val="000000"/>
              </a:solidFill>
              <a:latin typeface="Arial"/>
              <a:ea typeface="Arial"/>
              <a:cs typeface="Arial"/>
              <a:sym typeface="Arial"/>
            </a:endParaRPr>
          </a:p>
        </p:txBody>
      </p:sp>
      <p:sp>
        <p:nvSpPr>
          <p:cNvPr id="356" name="Google Shape;356;p3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Which reward would actually make researchers invest more in artifacts?</a:t>
            </a:r>
            <a:endParaRPr b="0" i="0" sz="1400" u="none" cap="none" strike="noStrike">
              <a:solidFill>
                <a:srgbClr val="000000"/>
              </a:solidFill>
              <a:latin typeface="Arial"/>
              <a:ea typeface="Arial"/>
              <a:cs typeface="Arial"/>
              <a:sym typeface="Arial"/>
            </a:endParaRPr>
          </a:p>
        </p:txBody>
      </p:sp>
      <p:sp>
        <p:nvSpPr>
          <p:cNvPr id="357" name="Google Shape;357;p3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5"/>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best-artifact award at the conference vs. your artifacts counting in your next job application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make you spend an extra week on your thesis artifact?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3" name="Shape 363"/>
        <p:cNvGrpSpPr/>
        <p:nvPr/>
      </p:nvGrpSpPr>
      <p:grpSpPr>
        <a:xfrm>
          <a:off x="0" y="0"/>
          <a:ext cx="0" cy="0"/>
          <a:chOff x="0" y="0"/>
          <a:chExt cx="0" cy="0"/>
        </a:xfrm>
      </p:grpSpPr>
      <p:sp>
        <p:nvSpPr>
          <p:cNvPr id="364" name="Google Shape;364;p3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lang="en-US" sz="4000">
                <a:solidFill>
                  <a:srgbClr val="00883A"/>
                </a:solidFill>
              </a:rPr>
              <a:t>Backup</a:t>
            </a:r>
            <a:endParaRPr b="0" i="0" sz="4000" u="none" cap="none" strike="noStrike">
              <a:solidFill>
                <a:schemeClr val="dk1"/>
              </a:solidFill>
              <a:latin typeface="Arial"/>
              <a:ea typeface="Arial"/>
              <a:cs typeface="Arial"/>
              <a:sym typeface="Arial"/>
            </a:endParaRPr>
          </a:p>
        </p:txBody>
      </p:sp>
      <p:sp>
        <p:nvSpPr>
          <p:cNvPr id="365" name="Google Shape;365;p3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0" name="Shape 370"/>
        <p:cNvGrpSpPr/>
        <p:nvPr/>
      </p:nvGrpSpPr>
      <p:grpSpPr>
        <a:xfrm>
          <a:off x="0" y="0"/>
          <a:ext cx="0" cy="0"/>
          <a:chOff x="0" y="0"/>
          <a:chExt cx="0" cy="0"/>
        </a:xfrm>
      </p:grpSpPr>
      <p:sp>
        <p:nvSpPr>
          <p:cNvPr id="371" name="Google Shape;371;p3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72" name="Google Shape;372;p3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73" name="Google Shape;373;p3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 Not worth it: Fear of exposing mistakes</a:t>
            </a:r>
            <a:endParaRPr b="0" i="0" sz="1400" u="none" cap="none" strike="noStrike">
              <a:solidFill>
                <a:srgbClr val="000000"/>
              </a:solidFill>
              <a:latin typeface="Arial"/>
              <a:ea typeface="Arial"/>
              <a:cs typeface="Arial"/>
              <a:sym typeface="Arial"/>
            </a:endParaRPr>
          </a:p>
        </p:txBody>
      </p:sp>
      <p:sp>
        <p:nvSpPr>
          <p:cNvPr id="374" name="Google Shape;374;p37"/>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Creators fear shared code exposes mistakes and harms their reputation, though finding mistakes is what review is for.</a:t>
            </a:r>
            <a:endParaRPr b="0" i="0" sz="1400" u="none" cap="none" strike="noStrike">
              <a:solidFill>
                <a:srgbClr val="000000"/>
              </a:solidFill>
              <a:latin typeface="Arial"/>
              <a:ea typeface="Arial"/>
              <a:cs typeface="Arial"/>
              <a:sym typeface="Arial"/>
            </a:endParaRPr>
          </a:p>
        </p:txBody>
      </p:sp>
      <p:sp>
        <p:nvSpPr>
          <p:cNvPr id="375" name="Google Shape;375;p3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What would make you more or less willing to share your own code?</a:t>
            </a:r>
            <a:endParaRPr b="0" i="0" sz="1400" u="none" cap="none" strike="noStrike">
              <a:solidFill>
                <a:srgbClr val="000000"/>
              </a:solidFill>
              <a:latin typeface="Arial"/>
              <a:ea typeface="Arial"/>
              <a:cs typeface="Arial"/>
              <a:sym typeface="Arial"/>
            </a:endParaRPr>
          </a:p>
        </p:txBody>
      </p:sp>
      <p:sp>
        <p:nvSpPr>
          <p:cNvPr id="376" name="Google Shape;376;p3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7"/>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bug found later only leads to a correction note, not a retraction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share more readily if messy, as-is code were the norm?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2" name="Shape 382"/>
        <p:cNvGrpSpPr/>
        <p:nvPr/>
      </p:nvGrpSpPr>
      <p:grpSpPr>
        <a:xfrm>
          <a:off x="0" y="0"/>
          <a:ext cx="0" cy="0"/>
          <a:chOff x="0" y="0"/>
          <a:chExt cx="0" cy="0"/>
        </a:xfrm>
      </p:grpSpPr>
      <p:sp>
        <p:nvSpPr>
          <p:cNvPr id="383" name="Google Shape;383;p3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84" name="Google Shape;384;p3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85" name="Google Shape;385;p38"/>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 Not worth it: Holding back artifacts</a:t>
            </a:r>
            <a:endParaRPr b="0" i="0" sz="1400" u="none" cap="none" strike="noStrike">
              <a:solidFill>
                <a:srgbClr val="000000"/>
              </a:solidFill>
              <a:latin typeface="Arial"/>
              <a:ea typeface="Arial"/>
              <a:cs typeface="Arial"/>
              <a:sym typeface="Arial"/>
            </a:endParaRPr>
          </a:p>
        </p:txBody>
      </p:sp>
      <p:sp>
        <p:nvSpPr>
          <p:cNvPr id="386" name="Google Shape;386;p38"/>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Some creators hold back artifacts to protect future publications.</a:t>
            </a:r>
            <a:endParaRPr b="0" i="0" sz="1400" u="none" cap="none" strike="noStrike">
              <a:solidFill>
                <a:srgbClr val="000000"/>
              </a:solidFill>
              <a:latin typeface="Arial"/>
              <a:ea typeface="Arial"/>
              <a:cs typeface="Arial"/>
              <a:sym typeface="Arial"/>
            </a:endParaRPr>
          </a:p>
        </p:txBody>
      </p:sp>
      <p:sp>
        <p:nvSpPr>
          <p:cNvPr id="387" name="Google Shape;387;p38"/>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Does this slow down research, and how far should researchers accept being undercut for scientific progress?</a:t>
            </a:r>
            <a:endParaRPr b="0" i="0" sz="1400" u="none" cap="none" strike="noStrike">
              <a:solidFill>
                <a:srgbClr val="000000"/>
              </a:solidFill>
              <a:latin typeface="Arial"/>
              <a:ea typeface="Arial"/>
              <a:cs typeface="Arial"/>
              <a:sym typeface="Arial"/>
            </a:endParaRPr>
          </a:p>
        </p:txBody>
      </p:sp>
      <p:sp>
        <p:nvSpPr>
          <p:cNvPr id="388" name="Google Shape;388;p38"/>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8"/>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tool kept private until the PhD student's next paper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build on a paper whose tool you can't get?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4" name="Shape 394"/>
        <p:cNvGrpSpPr/>
        <p:nvPr/>
      </p:nvGrpSpPr>
      <p:grpSpPr>
        <a:xfrm>
          <a:off x="0" y="0"/>
          <a:ext cx="0" cy="0"/>
          <a:chOff x="0" y="0"/>
          <a:chExt cx="0" cy="0"/>
        </a:xfrm>
      </p:grpSpPr>
      <p:sp>
        <p:nvSpPr>
          <p:cNvPr id="395" name="Google Shape;395;p3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96" name="Google Shape;396;p3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97" name="Google Shape;397;p3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C4 Tacit knowledge: Capturing tacit knowledge</a:t>
            </a:r>
            <a:endParaRPr b="0" i="0" sz="1400" u="none" cap="none" strike="noStrike">
              <a:solidFill>
                <a:srgbClr val="000000"/>
              </a:solidFill>
              <a:latin typeface="Arial"/>
              <a:ea typeface="Arial"/>
              <a:cs typeface="Arial"/>
              <a:sym typeface="Arial"/>
            </a:endParaRPr>
          </a:p>
        </p:txBody>
      </p:sp>
      <p:sp>
        <p:nvSpPr>
          <p:cNvPr id="398" name="Google Shape;398;p39"/>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Much know-how about a prototype stays in the developer's head.</a:t>
            </a:r>
            <a:endParaRPr b="0" i="0" sz="1400" u="none" cap="none" strike="noStrike">
              <a:solidFill>
                <a:srgbClr val="000000"/>
              </a:solidFill>
              <a:latin typeface="Arial"/>
              <a:ea typeface="Arial"/>
              <a:cs typeface="Arial"/>
              <a:sym typeface="Arial"/>
            </a:endParaRPr>
          </a:p>
        </p:txBody>
      </p:sp>
      <p:sp>
        <p:nvSpPr>
          <p:cNvPr id="399" name="Google Shape;399;p3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What practical ways are there to capture this knowledge so that others can use the artifact?</a:t>
            </a:r>
            <a:endParaRPr b="0" i="0" sz="1400" u="none" cap="none" strike="noStrike">
              <a:solidFill>
                <a:srgbClr val="000000"/>
              </a:solidFill>
              <a:latin typeface="Arial"/>
              <a:ea typeface="Arial"/>
              <a:cs typeface="Arial"/>
              <a:sym typeface="Arial"/>
            </a:endParaRPr>
          </a:p>
        </p:txBody>
      </p:sp>
      <p:sp>
        <p:nvSpPr>
          <p:cNvPr id="400" name="Google Shape;400;p3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39"/>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order the scripts must run in, hard-coded paths, parameter values that were tried and dropped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someone reproduce your bachelor thesis results from your repository alone?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6" name="Shape 406"/>
        <p:cNvGrpSpPr/>
        <p:nvPr/>
      </p:nvGrpSpPr>
      <p:grpSpPr>
        <a:xfrm>
          <a:off x="0" y="0"/>
          <a:ext cx="0" cy="0"/>
          <a:chOff x="0" y="0"/>
          <a:chExt cx="0" cy="0"/>
        </a:xfrm>
      </p:grpSpPr>
      <p:sp>
        <p:nvSpPr>
          <p:cNvPr id="407" name="Google Shape;407;p4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08" name="Google Shape;408;p4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09" name="Google Shape;409;p4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Formal exceptions</a:t>
            </a:r>
            <a:endParaRPr b="0" i="0" sz="1400" u="none" cap="none" strike="noStrike">
              <a:solidFill>
                <a:srgbClr val="000000"/>
              </a:solidFill>
              <a:latin typeface="Arial"/>
              <a:ea typeface="Arial"/>
              <a:cs typeface="Arial"/>
              <a:sym typeface="Arial"/>
            </a:endParaRPr>
          </a:p>
        </p:txBody>
      </p:sp>
      <p:sp>
        <p:nvSpPr>
          <p:cNvPr id="410" name="Google Shape;410;p4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ACM separates "evaluated" from "publicly available".</a:t>
            </a:r>
            <a:endParaRPr b="0" i="0" sz="1400" u="none" cap="none" strike="noStrike">
              <a:solidFill>
                <a:srgbClr val="000000"/>
              </a:solidFill>
              <a:latin typeface="Arial"/>
              <a:ea typeface="Arial"/>
              <a:cs typeface="Arial"/>
              <a:sym typeface="Arial"/>
            </a:endParaRPr>
          </a:p>
        </p:txBody>
      </p:sp>
      <p:sp>
        <p:nvSpPr>
          <p:cNvPr id="411" name="Google Shape;411;p4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artifact evaluation have formal exceptions for artifacts like industry data?</a:t>
            </a:r>
            <a:endParaRPr b="0" i="0" sz="1400" u="none" cap="none" strike="noStrike">
              <a:solidFill>
                <a:srgbClr val="000000"/>
              </a:solidFill>
              <a:latin typeface="Arial"/>
              <a:ea typeface="Arial"/>
              <a:cs typeface="Arial"/>
              <a:sym typeface="Arial"/>
            </a:endParaRPr>
          </a:p>
        </p:txBody>
      </p:sp>
      <p:sp>
        <p:nvSpPr>
          <p:cNvPr id="412" name="Google Shape;412;p4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reviewers get temporary access under NDA, but readers never see the artifact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a badge saying "evaluated privately" convince you as a reader?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8" name="Shape 418"/>
        <p:cNvGrpSpPr/>
        <p:nvPr/>
      </p:nvGrpSpPr>
      <p:grpSpPr>
        <a:xfrm>
          <a:off x="0" y="0"/>
          <a:ext cx="0" cy="0"/>
          <a:chOff x="0" y="0"/>
          <a:chExt cx="0" cy="0"/>
        </a:xfrm>
      </p:grpSpPr>
      <p:sp>
        <p:nvSpPr>
          <p:cNvPr id="419" name="Google Shape;419;p4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20" name="Google Shape;420;p4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21" name="Google Shape;421;p4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C12 Limited communication: Support after publication</a:t>
            </a:r>
            <a:endParaRPr b="0" i="0" sz="1400" u="none" cap="none" strike="noStrike">
              <a:solidFill>
                <a:srgbClr val="000000"/>
              </a:solidFill>
              <a:latin typeface="Arial"/>
              <a:ea typeface="Arial"/>
              <a:cs typeface="Arial"/>
              <a:sym typeface="Arial"/>
            </a:endParaRPr>
          </a:p>
        </p:txBody>
      </p:sp>
      <p:sp>
        <p:nvSpPr>
          <p:cNvPr id="422" name="Google Shape;422;p4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Users value authors who help fix problems.</a:t>
            </a:r>
            <a:endParaRPr b="0" i="0" sz="1400" u="none" cap="none" strike="noStrike">
              <a:solidFill>
                <a:srgbClr val="000000"/>
              </a:solidFill>
              <a:latin typeface="Arial"/>
              <a:ea typeface="Arial"/>
              <a:cs typeface="Arial"/>
              <a:sym typeface="Arial"/>
            </a:endParaRPr>
          </a:p>
        </p:txBody>
      </p:sp>
      <p:sp>
        <p:nvSpPr>
          <p:cNvPr id="423" name="Google Shape;423;p41"/>
          <p:cNvSpPr txBox="1"/>
          <p:nvPr/>
        </p:nvSpPr>
        <p:spPr>
          <a:xfrm>
            <a:off x="640080" y="269748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that support sustainable, given it can't last forever?</a:t>
            </a:r>
            <a:endParaRPr b="0" i="0" sz="1400" u="none" cap="none" strike="noStrike">
              <a:solidFill>
                <a:srgbClr val="000000"/>
              </a:solidFill>
              <a:latin typeface="Arial"/>
              <a:ea typeface="Arial"/>
              <a:cs typeface="Arial"/>
              <a:sym typeface="Arial"/>
            </a:endParaRPr>
          </a:p>
        </p:txBody>
      </p:sp>
      <p:sp>
        <p:nvSpPr>
          <p:cNvPr id="424" name="Google Shape;424;p4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1"/>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student who built the tool graduated two years ago, and a user's bug report goes unanswered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answer emails about your thesis code in three years?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4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32" name="Google Shape;432;p4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33" name="Google Shape;433;p4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General Ideas Dump:</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Does every paper need an artifact?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Which motivation should artifact sharing serve first: letting others replicate, reproduce, or build upon the work? -&gt; which provides the most value?</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 evaluation stay optional and post-acceptance, or move into paper review, as TACAS does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it</a:t>
            </a:r>
            <a:r>
              <a:rPr lang="en-US" sz="1000">
                <a:highlight>
                  <a:srgbClr val="FFFF00"/>
                </a:highlight>
                <a:latin typeface="Roboto"/>
                <a:ea typeface="Roboto"/>
                <a:cs typeface="Roboto"/>
                <a:sym typeface="Roboto"/>
              </a:rPr>
              <a:t> a problem that ACM leaves the evaluation process entirely to each conference?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FF"/>
                </a:highlight>
                <a:latin typeface="Roboto"/>
                <a:ea typeface="Roboto"/>
                <a:cs typeface="Roboto"/>
                <a:sym typeface="Roboto"/>
              </a:rPr>
              <a:t>Should artifact evaluation allow formal exceptions, for example for industry papers whose data can't legally be shared? The ACM scheme already separates "works" from "public", and lets proprietary parts be replaced by proxies. </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FF"/>
                </a:highlight>
                <a:latin typeface="Roboto"/>
                <a:ea typeface="Roboto"/>
                <a:cs typeface="Roboto"/>
                <a:sym typeface="Roboto"/>
              </a:rPr>
              <a:t>Which DoI element do you think explains most of the problems: communication channels, time or the social system?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research-community policies be held to the same evidence standard as the research itself?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Results only describe the SE research community (p. 11). Do you expect the same challenges in other fields, e.g. HCI, ML or physics? -&gt; could differ for fields with central data infrastructures (e.g. physics with CERN) etc.</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Should an artifact be required whenever a paper makes empirical claims? -&gt; claims without evidence aren't checkable  OR peer review of the paper should be enough for many claims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Respondents want sharing "encouraged and rewarded". What reward would actually change your behaviour? -&gt; what reward do you think would incentivise you most as a Researcher?</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00FF"/>
                </a:highlight>
                <a:latin typeface="Roboto"/>
                <a:ea typeface="Roboto"/>
                <a:cs typeface="Roboto"/>
                <a:sym typeface="Roboto"/>
              </a:rPr>
              <a:t>Recommendations</a:t>
            </a:r>
            <a:r>
              <a:rPr lang="en-US" sz="1000">
                <a:highlight>
                  <a:srgbClr val="FF00FF"/>
                </a:highlight>
                <a:latin typeface="Roboto"/>
                <a:ea typeface="Roboto"/>
                <a:cs typeface="Roboto"/>
                <a:sym typeface="Roboto"/>
              </a:rPr>
              <a:t>:</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"Does not exacerbate any known challenges": do Rec 1–Rec 3 (more documentation, self-contained artifacts, planning) add work for creators, worsening C1 "not worth it"?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Which target group would change the most if it acted: creators, advisors, reviewers, organisers or community leaders?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00FFFF"/>
              </a:highlight>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8" name="Shape 438"/>
        <p:cNvGrpSpPr/>
        <p:nvPr/>
      </p:nvGrpSpPr>
      <p:grpSpPr>
        <a:xfrm>
          <a:off x="0" y="0"/>
          <a:ext cx="0" cy="0"/>
          <a:chOff x="0" y="0"/>
          <a:chExt cx="0" cy="0"/>
        </a:xfrm>
      </p:grpSpPr>
      <p:sp>
        <p:nvSpPr>
          <p:cNvPr id="439" name="Google Shape;439;p4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40" name="Google Shape;440;p4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41" name="Google Shape;441;p43"/>
          <p:cNvSpPr txBox="1"/>
          <p:nvPr/>
        </p:nvSpPr>
        <p:spPr>
          <a:xfrm>
            <a:off x="640075" y="1463050"/>
            <a:ext cx="10911600" cy="531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On RQ2: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solidFill>
                  <a:srgbClr val="1A1A1A"/>
                </a:solidFill>
                <a:highlight>
                  <a:srgbClr val="00FFFF"/>
                </a:highlight>
                <a:latin typeface="Roboto"/>
                <a:ea typeface="Roboto"/>
                <a:cs typeface="Roboto"/>
                <a:sym typeface="Roboto"/>
              </a:rPr>
              <a:t>Could go through all Challenges one by one, asking people which of these they think are actually legitimate concerns and why -&gt; probably a waste of ime compared to targetted questions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fear of being "scooped" a legitimate reason to delay sharing? -&gt; Maybe priority is established by the paper, and an embargo would be the better compromise. ? -&gt; What are other ways to try to resolve this?</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"Nobody else will use it" (limited audience). Should artifacts be shared even if probably nobody uses them? </a:t>
            </a:r>
            <a:r>
              <a:rPr lang="en-US" sz="1000">
                <a:highlight>
                  <a:srgbClr val="FFFF00"/>
                </a:highlight>
                <a:latin typeface="Roboto"/>
                <a:ea typeface="Roboto"/>
                <a:cs typeface="Roboto"/>
                <a:sym typeface="Roboto"/>
              </a:rPr>
              <a:t>-&gt; What are other ways to try to resolve this? -&gt; Respondent P68 says whole research areas died because early work had no artifacts.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FFFF00"/>
                </a:highlight>
                <a:latin typeface="Roboto"/>
                <a:ea typeface="Roboto"/>
                <a:cs typeface="Roboto"/>
                <a:sym typeface="Roboto"/>
              </a:rPr>
              <a:t>If a VM can't show realistic performance, should performance claims be excluded from artifact evaluation? </a:t>
            </a:r>
            <a:r>
              <a:rPr lang="en-US" sz="1000">
                <a:highlight>
                  <a:srgbClr val="00FFFF"/>
                </a:highlight>
                <a:latin typeface="Roboto"/>
                <a:ea typeface="Roboto"/>
                <a:cs typeface="Roboto"/>
                <a:sym typeface="Roboto"/>
              </a:rPr>
              <a:t>-&gt; </a:t>
            </a:r>
            <a:r>
              <a:rPr lang="en-US" sz="1000">
                <a:highlight>
                  <a:srgbClr val="00FFFF"/>
                </a:highlight>
                <a:latin typeface="Roboto"/>
                <a:ea typeface="Roboto"/>
                <a:cs typeface="Roboto"/>
                <a:sym typeface="Roboto"/>
              </a:rPr>
              <a:t>research</a:t>
            </a:r>
            <a:r>
              <a:rPr lang="en-US" sz="1000">
                <a:highlight>
                  <a:srgbClr val="00FFFF"/>
                </a:highlight>
                <a:latin typeface="Roboto"/>
                <a:ea typeface="Roboto"/>
                <a:cs typeface="Roboto"/>
                <a:sym typeface="Roboto"/>
              </a:rPr>
              <a:t> further</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Running untrusted artifacts is a security risk for reviewers. Should reviewers be allowed to refuse artifacts that need root access or invasive libraries?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C3:</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an artifact be expected to work only at publication time, or for a set period? -&gt; a stated period, e.g. 5 years (Rec 3 maintenance plans). </a:t>
            </a:r>
            <a:r>
              <a:rPr lang="en-US" sz="1000">
                <a:highlight>
                  <a:srgbClr val="00FFFF"/>
                </a:highlight>
                <a:latin typeface="Roboto"/>
                <a:ea typeface="Roboto"/>
                <a:cs typeface="Roboto"/>
                <a:sym typeface="Roboto"/>
              </a:rPr>
              <a:t>or just at publication and peer review time</a:t>
            </a:r>
            <a:r>
              <a:rPr lang="en-US" sz="1000">
                <a:highlight>
                  <a:srgbClr val="FF0000"/>
                </a:highlight>
                <a:latin typeface="Roboto"/>
                <a:ea typeface="Roboto"/>
                <a:cs typeface="Roboto"/>
                <a:sym typeface="Roboto"/>
              </a:rPr>
              <a:t> -&gt; what do you think would be a sensible timeframe?</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funders pay for artifact maintenance after a project ends? </a:t>
            </a:r>
            <a:r>
              <a:rPr lang="en-US" sz="1000">
                <a:highlight>
                  <a:srgbClr val="00FFFF"/>
                </a:highlight>
                <a:latin typeface="Roboto"/>
                <a:ea typeface="Roboto"/>
                <a:cs typeface="Roboto"/>
                <a:sym typeface="Roboto"/>
              </a:rPr>
              <a:t> -&gt; research more and try to find conclusion from last weeks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C4:</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a one-click reproduction script good or bad for scientific scrutiny? -&gt; hides the process and re-runs the same mistakes?</a:t>
            </a:r>
            <a:endParaRPr sz="1000">
              <a:highlight>
                <a:srgbClr val="00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FFFF"/>
                </a:highlight>
                <a:latin typeface="Roboto"/>
                <a:ea typeface="Roboto"/>
                <a:cs typeface="Roboto"/>
                <a:sym typeface="Roboto"/>
              </a:rPr>
              <a:t>C5:</a:t>
            </a:r>
            <a:endParaRPr sz="1000">
              <a:highlight>
                <a:srgbClr val="FF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C6:</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artifacts be mandatory for paper acceptance ? </a:t>
            </a:r>
            <a:r>
              <a:rPr lang="en-US" sz="1000">
                <a:highlight>
                  <a:srgbClr val="00FFFF"/>
                </a:highlight>
                <a:latin typeface="Roboto"/>
                <a:ea typeface="Roboto"/>
                <a:cs typeface="Roboto"/>
                <a:sym typeface="Roboto"/>
              </a:rPr>
              <a:t>-&gt; yes, unless legal reasons prevent it.? -&gt; construct your own regulation scheme</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C7:</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only archival repositories count for linking artifacts in papers, not GitHub or personal pages?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Who should pay for hosting large research data: authors, universities, publishers or public infrastructure?</a:t>
            </a:r>
            <a:r>
              <a:rPr lang="en-US" sz="1000">
                <a:highlight>
                  <a:srgbClr val="00FFFF"/>
                </a:highlight>
                <a:latin typeface="Roboto"/>
                <a:ea typeface="Roboto"/>
                <a:cs typeface="Roboto"/>
                <a:sym typeface="Roboto"/>
              </a:rPr>
              <a:t> -&gt; already covered in week 1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C8:</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00FF00"/>
                </a:highlight>
                <a:latin typeface="Roboto"/>
                <a:ea typeface="Roboto"/>
                <a:cs typeface="Roboto"/>
                <a:sym typeface="Roboto"/>
              </a:rPr>
              <a:t>Should conferences re-check artifact links a few years after publication and mark dead ones?</a:t>
            </a:r>
            <a:r>
              <a:rPr lang="en-US" sz="1000">
                <a:highlight>
                  <a:srgbClr val="00FFFF"/>
                </a:highlight>
                <a:latin typeface="Roboto"/>
                <a:ea typeface="Roboto"/>
                <a:cs typeface="Roboto"/>
                <a:sym typeface="Roboto"/>
              </a:rPr>
              <a:t> -&gt; how would you organise/pay for this?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C9:</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paper reviewers be allowed to criticise a paper for not sharing data that its industry partner won't release? </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Should research tools that depend on paid commercial software be accepted as artifacts at all? </a:t>
            </a:r>
            <a:endParaRPr b="1"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De-identified qualitative data can still be re-identified (p. 18). Should qualitative data ever be shared? </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C10:</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Is letting students do artifact evaluation a good training opportunity or a sign that artifacts aren't taken seriously? </a:t>
            </a:r>
            <a:r>
              <a:rPr b="1" lang="en-US" sz="1000">
                <a:highlight>
                  <a:srgbClr val="00FFFF"/>
                </a:highlight>
                <a:latin typeface="Roboto"/>
                <a:ea typeface="Roboto"/>
                <a:cs typeface="Roboto"/>
                <a:sym typeface="Roboto"/>
              </a:rPr>
              <a:t>-&gt; reformulate: rigor/validity of AMC badge / how seriously are they taken if work is left to </a:t>
            </a:r>
            <a:r>
              <a:rPr b="1" lang="en-US" sz="1000">
                <a:highlight>
                  <a:srgbClr val="00FFFF"/>
                </a:highlight>
                <a:latin typeface="Roboto"/>
                <a:ea typeface="Roboto"/>
                <a:cs typeface="Roboto"/>
                <a:sym typeface="Roboto"/>
              </a:rPr>
              <a:t>comparatively</a:t>
            </a:r>
            <a:r>
              <a:rPr b="1" lang="en-US" sz="1000">
                <a:highlight>
                  <a:srgbClr val="00FFFF"/>
                </a:highlight>
                <a:latin typeface="Roboto"/>
                <a:ea typeface="Roboto"/>
                <a:cs typeface="Roboto"/>
                <a:sym typeface="Roboto"/>
              </a:rPr>
              <a:t> underqualified students</a:t>
            </a:r>
            <a:endParaRPr b="1"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C11:</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it fair to have a fixed time limit (e.g. one day, or ICSE's 30-minute setup) after which an artifact is rejected?</a:t>
            </a:r>
            <a:r>
              <a:rPr lang="en-US" sz="1000">
                <a:highlight>
                  <a:srgbClr val="00FFFF"/>
                </a:highlight>
                <a:latin typeface="Roboto"/>
                <a:ea typeface="Roboto"/>
                <a:cs typeface="Roboto"/>
                <a:sym typeface="Roboto"/>
              </a:rPr>
              <a:t> -&gt; do you think something like 30mins is really reasonable</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conferences or ACM/IEEE provide compute, storage and other necessary resources for artifact reviewers? </a:t>
            </a:r>
            <a:r>
              <a:rPr lang="en-US" sz="1000">
                <a:highlight>
                  <a:srgbClr val="00FFFF"/>
                </a:highlight>
                <a:latin typeface="Roboto"/>
                <a:ea typeface="Roboto"/>
                <a:cs typeface="Roboto"/>
                <a:sym typeface="Roboto"/>
              </a:rPr>
              <a:t>-&gt; leads into Rec, not covered by me, be careful to avoid crossover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C12:</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artifact evaluation be a one-shot review or an iterative dialogue with authors? -&gt; one-shot, since later users won't have the author's help either?</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If an artifact only works with help from its authors, does it deserve a badge?</a:t>
            </a:r>
            <a:r>
              <a:rPr b="1" lang="en-US" sz="1000">
                <a:highlight>
                  <a:srgbClr val="FFFF00"/>
                </a:highlight>
                <a:latin typeface="Roboto"/>
                <a:ea typeface="Roboto"/>
                <a:cs typeface="Roboto"/>
                <a:sym typeface="Roboto"/>
              </a:rPr>
              <a:t> </a:t>
            </a:r>
            <a:r>
              <a:rPr b="1" lang="en-US" sz="1000">
                <a:highlight>
                  <a:srgbClr val="00FFFF"/>
                </a:highlight>
                <a:latin typeface="Roboto"/>
                <a:ea typeface="Roboto"/>
                <a:cs typeface="Roboto"/>
                <a:sym typeface="Roboto"/>
              </a:rPr>
              <a:t>-&gt; maybe too obvious an answer, see how I could rephrase -&gt; should there be a separate badge category for this case of failed artifact but active support</a:t>
            </a:r>
            <a:endParaRPr b="1"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authors have a deadline to answer reviewer questions, e.g. ICSE 2026's 72 hours? -&gt; too strict?</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6" name="Shape 446"/>
        <p:cNvGrpSpPr/>
        <p:nvPr/>
      </p:nvGrpSpPr>
      <p:grpSpPr>
        <a:xfrm>
          <a:off x="0" y="0"/>
          <a:ext cx="0" cy="0"/>
          <a:chOff x="0" y="0"/>
          <a:chExt cx="0" cy="0"/>
        </a:xfrm>
      </p:grpSpPr>
      <p:sp>
        <p:nvSpPr>
          <p:cNvPr id="447" name="Google Shape;447;p4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48" name="Google Shape;448;p4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49" name="Google Shape;449;p4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My questions/ideas to bounce off of to make more actually interesting ones to answer:</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Researchers fear sharing artifacts because mistakes in their analysis might be found. But isn't finding mistakes exactly the point of scientific review?</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core idea might be interesting but phrasing isnt great, could be expanded on</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much personal accountability for one's code and analysis should a researcher expect to carry once it's public?</a:t>
            </a:r>
            <a:endParaRPr sz="1000">
              <a:highlight>
                <a:srgbClr val="FFFF00"/>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To what degree should researchers expect / be open to their work to be undercut in some way for the greater goal of scientific progress? </a:t>
            </a:r>
            <a:r>
              <a:rPr lang="en-US" sz="1000">
                <a:highlight>
                  <a:srgbClr val="00FF00"/>
                </a:highlight>
                <a:latin typeface="Roboto"/>
                <a:ea typeface="Roboto"/>
                <a:cs typeface="Roboto"/>
                <a:sym typeface="Roboto"/>
              </a:rPr>
              <a:t>Does holding back artifacts to protect future publications slow down the progress of research as a whole?</a:t>
            </a:r>
            <a:r>
              <a:rPr lang="en-US" sz="1000">
                <a:highlight>
                  <a:srgbClr val="FFFFFF"/>
                </a:highlight>
                <a:latin typeface="Roboto"/>
                <a:ea typeface="Roboto"/>
                <a:cs typeface="Roboto"/>
                <a:sym typeface="Roboto"/>
              </a:rPr>
              <a:t> </a:t>
            </a:r>
            <a:r>
              <a:rPr lang="en-US" sz="1000">
                <a:highlight>
                  <a:srgbClr val="00FF00"/>
                </a:highlight>
                <a:latin typeface="Roboto"/>
                <a:ea typeface="Roboto"/>
                <a:cs typeface="Roboto"/>
                <a:sym typeface="Roboto"/>
              </a:rPr>
              <a:t> </a:t>
            </a:r>
            <a:r>
              <a:rPr lang="en-US" sz="1000">
                <a:highlight>
                  <a:srgbClr val="00FFFF"/>
                </a:highlight>
                <a:latin typeface="Roboto"/>
                <a:ea typeface="Roboto"/>
                <a:cs typeface="Roboto"/>
                <a:sym typeface="Roboto"/>
              </a:rPr>
              <a:t>-&gt; also makybe a bit too abstract/open a question, but I think its interesting, could maybe be refined</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can artifact reviewers accurately verify performance claims, if VMs distort timings and they rarely have the authors' hardware?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a:t>
            </a:r>
            <a:r>
              <a:rPr lang="en-US" sz="1000">
                <a:highlight>
                  <a:srgbClr val="FFFFFF"/>
                </a:highlight>
                <a:latin typeface="Roboto"/>
                <a:ea typeface="Roboto"/>
                <a:cs typeface="Roboto"/>
                <a:sym typeface="Roboto"/>
              </a:rPr>
              <a:t> on VMs and Containers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One respondent complains that containers don't prevent software degradation. Is that really a container problem, or a problem of rebuilding from unpinned recipes instead of archiving the built image?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 on VMs and Containers</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look into again</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C3:</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b="1" lang="en-US" sz="1000">
                <a:highlight>
                  <a:srgbClr val="00FF00"/>
                </a:highlight>
                <a:latin typeface="Roboto"/>
                <a:ea typeface="Roboto"/>
                <a:cs typeface="Roboto"/>
                <a:sym typeface="Roboto"/>
              </a:rPr>
              <a:t>Is software decay unavoidable as technology moves on? What practical ways are there to limit it </a:t>
            </a:r>
            <a:r>
              <a:rPr lang="en-US" sz="1000">
                <a:highlight>
                  <a:srgbClr val="00FF00"/>
                </a:highlight>
                <a:latin typeface="Roboto"/>
                <a:ea typeface="Roboto"/>
                <a:cs typeface="Roboto"/>
                <a:sym typeface="Roboto"/>
              </a:rPr>
              <a:t>(archived images, pinned dependencies, plain source code)?</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What should be done when a researcher retires, etc.? Who should be responsible for maintenance? or should we archive it and mark it unmaintained. </a:t>
            </a:r>
            <a:r>
              <a:rPr lang="en-US" sz="1000">
                <a:highlight>
                  <a:srgbClr val="00FFFF"/>
                </a:highlight>
                <a:latin typeface="Roboto"/>
                <a:ea typeface="Roboto"/>
                <a:cs typeface="Roboto"/>
                <a:sym typeface="Roboto"/>
              </a:rPr>
              <a:t>-&gt; research further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C4:</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Tacit knowledge is an implicit human problem: knowledge stays in the developer's head. What are practical ways to tackle it (templates, screencasts, pair onboarding, automation)?</a:t>
            </a:r>
            <a:r>
              <a:rPr lang="en-US" sz="1000">
                <a:highlight>
                  <a:srgbClr val="00FFFF"/>
                </a:highlight>
                <a:latin typeface="Roboto"/>
                <a:ea typeface="Roboto"/>
                <a:cs typeface="Roboto"/>
                <a:sym typeface="Roboto"/>
              </a:rPr>
              <a:t> -&gt; again a bit broad a question difficult for people to answer of the top of their heads, see if I can refine</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much effort, time and money should artifact reviewers be expected to invest before they may give up on an artifact?</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(also a bit duplicate with a question from the previous slide)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Automated scripts reproduce results, but can they help a reviewer understand </a:t>
            </a:r>
            <a:r>
              <a:rPr i="1" lang="en-US" sz="1000">
                <a:highlight>
                  <a:srgbClr val="00FFFF"/>
                </a:highlight>
                <a:latin typeface="Roboto"/>
                <a:ea typeface="Roboto"/>
                <a:cs typeface="Roboto"/>
                <a:sym typeface="Roboto"/>
              </a:rPr>
              <a:t>why</a:t>
            </a:r>
            <a:r>
              <a:rPr lang="en-US" sz="1000">
                <a:highlight>
                  <a:srgbClr val="00FFFF"/>
                </a:highlight>
                <a:latin typeface="Roboto"/>
                <a:ea typeface="Roboto"/>
                <a:cs typeface="Roboto"/>
                <a:sym typeface="Roboto"/>
              </a:rPr>
              <a:t> the results come out? If not, what can?</a:t>
            </a:r>
            <a:endParaRPr sz="1000">
              <a:highlight>
                <a:srgbClr val="00FFFF"/>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and with Reviewer: C4 (also a bit duplicate with a question from the previous slide)</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C5:</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C6:</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Isn't setting guidelines exactly what an AEC is supposed to do? If you could rewrite the ACM badge criteria or an AEC's call, what would you change? </a:t>
            </a:r>
            <a:r>
              <a:rPr lang="en-US" sz="1000">
                <a:highlight>
                  <a:srgbClr val="00FFFF"/>
                </a:highlight>
                <a:latin typeface="Roboto"/>
                <a:ea typeface="Roboto"/>
                <a:cs typeface="Roboto"/>
                <a:sym typeface="Roboto"/>
              </a:rPr>
              <a:t> -&gt; interesting, but way too broad a question for people to answer of the top of their heads, see if I can refine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What is the point of artifact review if it becomes a quick "rubber stamp" for any linked repository?</a:t>
            </a:r>
            <a:r>
              <a:rPr lang="en-US" sz="1000">
                <a:highlight>
                  <a:srgbClr val="00FFFF"/>
                </a:highlight>
                <a:latin typeface="Roboto"/>
                <a:ea typeface="Roboto"/>
                <a:cs typeface="Roboto"/>
                <a:sym typeface="Roboto"/>
              </a:rPr>
              <a:t> -&gt; answer too obvious, refine to make a more interestingly discussable question</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C7:</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Isn't hosting a solved problem with Zenodo? Free hosting, a DOI per version, 50–200 GB, automatic GitHub archiving. What remains unsolved?</a:t>
            </a:r>
            <a:endParaRPr sz="1000">
              <a:highlight>
                <a:srgbClr val="FF00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2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What would you do if your artifact were several terabytes, too big for Zenodo and for a reviewer's laptop?</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 . See if worth discussing further or already covered by recommendations etc</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C8:</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C9:</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there be formal exceptions to artifact evaluation for cases like industry data, following the ACM approach of separating "evaluated" from "publicly available"?</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1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open source should research software be, and how feasible is full openness given IP, privacy and commercial tools? </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8, Horizon Europe "as open as possible, as closed as necessary" </a:t>
            </a:r>
            <a:r>
              <a:rPr lang="en-US" sz="1000">
                <a:highlight>
                  <a:srgbClr val="00FFFF"/>
                </a:highlight>
                <a:latin typeface="Roboto"/>
                <a:ea typeface="Roboto"/>
                <a:cs typeface="Roboto"/>
                <a:sym typeface="Roboto"/>
              </a:rPr>
              <a:t>-&gt; look into again. Currently too broad a question, requiring background research, but could be refined to be more interesting without the need for everyone having a lot of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If a reviewer lacks a licence for a proprietary component, whose responsibility is it? Should reviewers be expected to pay, or is automatically rejecting such an artifact fair? (The ACM policy is silent on this; each AEC decides.)</a:t>
            </a:r>
            <a:endParaRPr sz="1000">
              <a:highlight>
                <a:srgbClr val="00FF00"/>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C10:</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C11:</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compute resources be provided to reviewers? Would remote servers combined with containers solve the compute, disk-space and consistency problems, and is that realistic?</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4 </a:t>
            </a:r>
            <a:r>
              <a:rPr lang="en-US" sz="1000">
                <a:highlight>
                  <a:srgbClr val="00FFFF"/>
                </a:highlight>
                <a:latin typeface="Roboto"/>
                <a:ea typeface="Roboto"/>
                <a:cs typeface="Roboto"/>
                <a:sym typeface="Roboto"/>
              </a:rPr>
              <a:t>-&gt; look into again. Bit of a duplicate of previous questions. And again refine to a question that is answerable without large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Reviewers struggle when a VM image doesn't fit on their disk. What happens to artifacts bigger than an ordinary PC's storage? Are they simply unreviewable under the current process?</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If whole classes of experiments can't be reproduced, how damaging is that to the scientific process?</a:t>
            </a:r>
            <a:r>
              <a:rPr lang="en-US" sz="1000">
                <a:highlight>
                  <a:srgbClr val="00FFFF"/>
                </a:highlight>
                <a:latin typeface="Roboto"/>
                <a:ea typeface="Roboto"/>
                <a:cs typeface="Roboto"/>
                <a:sym typeface="Roboto"/>
              </a:rPr>
              <a:t> -&gt; builds on the previous 2, but probably not worth asking independently</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C12:</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Respondents value authors who help users fix problems. Is that sustainable, given that support can't be offered forever?</a:t>
            </a:r>
            <a:r>
              <a:rPr lang="en-US" sz="1000">
                <a:highlight>
                  <a:srgbClr val="00FFFF"/>
                </a:highlight>
                <a:latin typeface="Roboto"/>
                <a:ea typeface="Roboto"/>
                <a:cs typeface="Roboto"/>
                <a:sym typeface="Roboto"/>
              </a:rPr>
              <a:t> -&gt; refine question. also a bit duplicate with previous ones</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t/>
            </a:r>
            <a:endParaRPr sz="10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4" name="Shape 454"/>
        <p:cNvGrpSpPr/>
        <p:nvPr/>
      </p:nvGrpSpPr>
      <p:grpSpPr>
        <a:xfrm>
          <a:off x="0" y="0"/>
          <a:ext cx="0" cy="0"/>
          <a:chOff x="0" y="0"/>
          <a:chExt cx="0" cy="0"/>
        </a:xfrm>
      </p:grpSpPr>
      <p:sp>
        <p:nvSpPr>
          <p:cNvPr id="455" name="Google Shape;455;p4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56" name="Google Shape;456;p4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57" name="Google Shape;457;p45"/>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Frage die mir eingefallen sind, idk ob die iwo reinpasst?</a:t>
            </a:r>
            <a:r>
              <a:rPr lang="en-US" sz="2200">
                <a:solidFill>
                  <a:srgbClr val="1A1A1A"/>
                </a:solidFill>
              </a:rPr>
              <a:t>…</a:t>
            </a:r>
            <a:endParaRPr sz="2200">
              <a:solidFill>
                <a:srgbClr val="1A1A1A"/>
              </a:solidFill>
            </a:endParaRPr>
          </a:p>
          <a:p>
            <a:pPr indent="-368300" lvl="0" marL="457200" rtl="0" algn="l">
              <a:lnSpc>
                <a:spcPct val="115000"/>
              </a:lnSpc>
              <a:spcBef>
                <a:spcPts val="0"/>
              </a:spcBef>
              <a:spcAft>
                <a:spcPts val="0"/>
              </a:spcAft>
              <a:buClr>
                <a:srgbClr val="1A1A1A"/>
              </a:buClr>
              <a:buSzPts val="2200"/>
              <a:buChar char="•"/>
            </a:pPr>
            <a:r>
              <a:rPr lang="en-US" sz="1100"/>
              <a:t>1.</a:t>
            </a:r>
            <a:r>
              <a:rPr lang="en-US" sz="700">
                <a:latin typeface="Times New Roman"/>
                <a:ea typeface="Times New Roman"/>
                <a:cs typeface="Times New Roman"/>
                <a:sym typeface="Times New Roman"/>
              </a:rPr>
              <a:t>      </a:t>
            </a:r>
            <a:r>
              <a:rPr lang="en-US" sz="1100"/>
              <a:t>Do you think any of the ACM artifact badges are unnecessary?</a:t>
            </a:r>
            <a:br>
              <a:rPr lang="en-US" sz="1100"/>
            </a:br>
            <a:r>
              <a:rPr lang="en-US" sz="1100"/>
              <a:t> For example, the Artifact Available Badge does not guarantee its functionality or say anything else other than there is an artifact that can be accessed.</a:t>
            </a:r>
            <a:endParaRPr sz="1100"/>
          </a:p>
          <a:p>
            <a:pPr indent="0" lvl="0" marL="457200" rtl="0" algn="l">
              <a:lnSpc>
                <a:spcPct val="115000"/>
              </a:lnSpc>
              <a:spcBef>
                <a:spcPts val="800"/>
              </a:spcBef>
              <a:spcAft>
                <a:spcPts val="0"/>
              </a:spcAft>
              <a:buNone/>
            </a:pPr>
            <a:r>
              <a:rPr lang="en-US" sz="1000"/>
              <a:t>-</a:t>
            </a:r>
            <a:r>
              <a:rPr lang="en-US" sz="700">
                <a:latin typeface="Times New Roman"/>
                <a:ea typeface="Times New Roman"/>
                <a:cs typeface="Times New Roman"/>
                <a:sym typeface="Times New Roman"/>
              </a:rPr>
              <a:t>  </a:t>
            </a:r>
            <a:r>
              <a:rPr lang="en-US" sz="1100"/>
              <a:t>How useful do you deem them overall? Some participants in the article’s survey mention that they hesitate submitting their artifact because the guidelines are not clear of what will get accepted?</a:t>
            </a:r>
            <a:endParaRPr sz="1100"/>
          </a:p>
          <a:p>
            <a:pPr indent="-368300" lvl="0" marL="457200" rtl="0" algn="l">
              <a:lnSpc>
                <a:spcPct val="115000"/>
              </a:lnSpc>
              <a:spcBef>
                <a:spcPts val="800"/>
              </a:spcBef>
              <a:spcAft>
                <a:spcPts val="0"/>
              </a:spcAft>
              <a:buClr>
                <a:srgbClr val="1A1A1A"/>
              </a:buClr>
              <a:buSzPts val="2200"/>
              <a:buChar char="•"/>
            </a:pPr>
            <a:r>
              <a:t/>
            </a:r>
            <a:endParaRPr sz="2200">
              <a:solidFill>
                <a:srgbClr val="1A1A1A"/>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Secondary Analysis</a:t>
            </a:r>
            <a:endParaRPr b="0" i="0" sz="4000" u="none" cap="none" strike="noStrike">
              <a:solidFill>
                <a:schemeClr val="dk1"/>
              </a:solidFill>
              <a:latin typeface="Arial"/>
              <a:ea typeface="Arial"/>
              <a:cs typeface="Arial"/>
              <a:sym typeface="Arial"/>
            </a:endParaRPr>
          </a:p>
        </p:txBody>
      </p:sp>
      <p:sp>
        <p:nvSpPr>
          <p:cNvPr id="464" name="Google Shape;464;p46"/>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lang="en-US" sz="2200">
                <a:solidFill>
                  <a:srgbClr val="1A1A1A"/>
                </a:solidFill>
              </a:rPr>
              <a:t>Limited adoption (DoI):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are difficult to adopt and spread</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Communication breakdowns: </a:t>
            </a:r>
            <a:endParaRPr sz="2200">
              <a:solidFill>
                <a:srgbClr val="1A1A1A"/>
              </a:solidFill>
            </a:endParaRPr>
          </a:p>
          <a:p>
            <a:pPr indent="457200" lvl="0" marL="0" marR="0" rtl="0" algn="l">
              <a:spcBef>
                <a:spcPts val="0"/>
              </a:spcBef>
              <a:spcAft>
                <a:spcPts val="0"/>
              </a:spcAft>
              <a:buNone/>
            </a:pPr>
            <a:r>
              <a:rPr lang="en-US" sz="2200">
                <a:solidFill>
                  <a:srgbClr val="1A1A1A"/>
                </a:solidFill>
              </a:rPr>
              <a:t>→ Communication between creators, reviewers, and users is limited and </a:t>
            </a:r>
            <a:endParaRPr sz="2200">
              <a:solidFill>
                <a:srgbClr val="1A1A1A"/>
              </a:solidFill>
            </a:endParaRPr>
          </a:p>
          <a:p>
            <a:pPr indent="457200" lvl="0" marL="0" marR="0" rtl="0" algn="l">
              <a:spcBef>
                <a:spcPts val="0"/>
              </a:spcBef>
              <a:spcAft>
                <a:spcPts val="0"/>
              </a:spcAft>
              <a:buNone/>
            </a:pPr>
            <a:r>
              <a:rPr lang="en-US" sz="2200">
                <a:solidFill>
                  <a:srgbClr val="1A1A1A"/>
                </a:solidFill>
              </a:rPr>
              <a:t>     inconsistent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Decay and maintenance: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deteriorate over time, while maintenance requires ongoing effort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Lack of incentives and standards: </a:t>
            </a:r>
            <a:endParaRPr sz="2200">
              <a:solidFill>
                <a:srgbClr val="1A1A1A"/>
              </a:solidFill>
            </a:endParaRPr>
          </a:p>
          <a:p>
            <a:pPr indent="457200" lvl="0" marL="0" marR="0" rtl="0" algn="l">
              <a:spcBef>
                <a:spcPts val="0"/>
              </a:spcBef>
              <a:spcAft>
                <a:spcPts val="0"/>
              </a:spcAft>
              <a:buNone/>
            </a:pPr>
            <a:r>
              <a:rPr lang="en-US" sz="2200">
                <a:solidFill>
                  <a:srgbClr val="1A1A1A"/>
                </a:solidFill>
              </a:rPr>
              <a:t>→ Little reward for artifact creation and review leads to low-quality artifacts, </a:t>
            </a:r>
            <a:endParaRPr sz="2200">
              <a:solidFill>
                <a:srgbClr val="1A1A1A"/>
              </a:solidFill>
            </a:endParaRPr>
          </a:p>
          <a:p>
            <a:pPr indent="0" lvl="0" marL="457200" marR="0" rtl="0" algn="l">
              <a:spcBef>
                <a:spcPts val="0"/>
              </a:spcBef>
              <a:spcAft>
                <a:spcPts val="0"/>
              </a:spcAft>
              <a:buNone/>
            </a:pPr>
            <a:r>
              <a:rPr lang="en-US" sz="2200">
                <a:solidFill>
                  <a:srgbClr val="1A1A1A"/>
                </a:solidFill>
              </a:rPr>
              <a:t>     inexperienced reviewers, and inconsistent evaluation standards.</a:t>
            </a:r>
            <a:endParaRPr sz="2200">
              <a:solidFill>
                <a:srgbClr val="1A1A1A"/>
              </a:solidFill>
            </a:endParaRPr>
          </a:p>
        </p:txBody>
      </p:sp>
      <p:sp>
        <p:nvSpPr>
          <p:cNvPr id="465" name="Google Shape;465;p4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472" name="Google Shape;472;p4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grpSp>
        <p:nvGrpSpPr>
          <p:cNvPr id="473" name="Google Shape;473;p47"/>
          <p:cNvGrpSpPr/>
          <p:nvPr/>
        </p:nvGrpSpPr>
        <p:grpSpPr>
          <a:xfrm>
            <a:off x="452950" y="1652625"/>
            <a:ext cx="3202800" cy="4262725"/>
            <a:chOff x="452950" y="1652625"/>
            <a:chExt cx="3202800" cy="4262725"/>
          </a:xfrm>
        </p:grpSpPr>
        <p:sp>
          <p:nvSpPr>
            <p:cNvPr id="474" name="Google Shape;474;p47"/>
            <p:cNvSpPr/>
            <p:nvPr/>
          </p:nvSpPr>
          <p:spPr>
            <a:xfrm>
              <a:off x="45295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47"/>
            <p:cNvSpPr txBox="1"/>
            <p:nvPr/>
          </p:nvSpPr>
          <p:spPr>
            <a:xfrm>
              <a:off x="123040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476" name="Google Shape;476;p47"/>
            <p:cNvSpPr txBox="1"/>
            <p:nvPr/>
          </p:nvSpPr>
          <p:spPr>
            <a:xfrm>
              <a:off x="570250" y="2738950"/>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grpSp>
      <p:grpSp>
        <p:nvGrpSpPr>
          <p:cNvPr id="477" name="Google Shape;477;p47"/>
          <p:cNvGrpSpPr/>
          <p:nvPr/>
        </p:nvGrpSpPr>
        <p:grpSpPr>
          <a:xfrm>
            <a:off x="4494475" y="1423475"/>
            <a:ext cx="3346350" cy="4696775"/>
            <a:chOff x="4494475" y="1423475"/>
            <a:chExt cx="3346350" cy="4696775"/>
          </a:xfrm>
        </p:grpSpPr>
        <p:sp>
          <p:nvSpPr>
            <p:cNvPr id="478" name="Google Shape;478;p47"/>
            <p:cNvSpPr/>
            <p:nvPr/>
          </p:nvSpPr>
          <p:spPr>
            <a:xfrm>
              <a:off x="4494475"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47"/>
            <p:cNvSpPr txBox="1"/>
            <p:nvPr/>
          </p:nvSpPr>
          <p:spPr>
            <a:xfrm>
              <a:off x="4494475" y="1423475"/>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480" name="Google Shape;480;p47"/>
            <p:cNvSpPr txBox="1"/>
            <p:nvPr/>
          </p:nvSpPr>
          <p:spPr>
            <a:xfrm>
              <a:off x="4638025" y="2738950"/>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a:t>
              </a:r>
              <a:r>
                <a:rPr lang="en-US" sz="1700"/>
                <a:t>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a:t>
              </a:r>
              <a:r>
                <a:rPr lang="en-US" sz="1700"/>
                <a:t> </a:t>
              </a:r>
              <a:r>
                <a:rPr lang="en-US" sz="1700"/>
                <a:t>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a:t>
              </a:r>
              <a:r>
                <a:rPr lang="en-US" sz="1500"/>
                <a:t>   </a:t>
              </a:r>
              <a:r>
                <a:rPr lang="en-US" sz="1700"/>
                <a:t>"lazy second evaluation",</a:t>
              </a:r>
              <a:endParaRPr sz="1700"/>
            </a:p>
            <a:p>
              <a:pPr indent="0" lvl="0" marL="0" rtl="0" algn="l">
                <a:spcBef>
                  <a:spcPts val="0"/>
                </a:spcBef>
                <a:spcAft>
                  <a:spcPts val="0"/>
                </a:spcAft>
                <a:buNone/>
              </a:pPr>
              <a:r>
                <a:rPr lang="en-US" sz="1700"/>
                <a:t>       best-reviewer award</a:t>
              </a:r>
              <a:endParaRPr sz="1700"/>
            </a:p>
          </p:txBody>
        </p:sp>
      </p:grpSp>
      <p:grpSp>
        <p:nvGrpSpPr>
          <p:cNvPr id="481" name="Google Shape;481;p47"/>
          <p:cNvGrpSpPr/>
          <p:nvPr/>
        </p:nvGrpSpPr>
        <p:grpSpPr>
          <a:xfrm>
            <a:off x="8536000" y="1652625"/>
            <a:ext cx="3202800" cy="4467625"/>
            <a:chOff x="8536000" y="1652625"/>
            <a:chExt cx="3202800" cy="4467625"/>
          </a:xfrm>
        </p:grpSpPr>
        <p:sp>
          <p:nvSpPr>
            <p:cNvPr id="482" name="Google Shape;482;p47"/>
            <p:cNvSpPr/>
            <p:nvPr/>
          </p:nvSpPr>
          <p:spPr>
            <a:xfrm>
              <a:off x="853600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47"/>
            <p:cNvSpPr txBox="1"/>
            <p:nvPr/>
          </p:nvSpPr>
          <p:spPr>
            <a:xfrm>
              <a:off x="931345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484" name="Google Shape;484;p47"/>
            <p:cNvSpPr txBox="1"/>
            <p:nvPr/>
          </p:nvSpPr>
          <p:spPr>
            <a:xfrm>
              <a:off x="8653300" y="2738950"/>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8"/>
          <p:cNvSpPr txBox="1"/>
          <p:nvPr/>
        </p:nvSpPr>
        <p:spPr>
          <a:xfrm>
            <a:off x="640075" y="1463050"/>
            <a:ext cx="10911600" cy="724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R1 - 3 </a:t>
            </a:r>
            <a:r>
              <a:rPr lang="en-US" sz="2200">
                <a:solidFill>
                  <a:srgbClr val="1A1A1A"/>
                </a:solidFill>
              </a:rPr>
              <a:t>Better documentation, self-contained artifacts, earlier planning</a:t>
            </a:r>
            <a:endParaRPr sz="2200">
              <a:solidFill>
                <a:srgbClr val="1A1A1A"/>
              </a:solidFill>
            </a:endParaRPr>
          </a:p>
          <a:p>
            <a:pPr indent="0" lvl="0" marL="457200" rtl="0" algn="l">
              <a:spcBef>
                <a:spcPts val="0"/>
              </a:spcBef>
              <a:spcAft>
                <a:spcPts val="0"/>
              </a:spcAft>
              <a:buNone/>
            </a:pPr>
            <a:r>
              <a:rPr lang="en-US" sz="2200">
                <a:solidFill>
                  <a:srgbClr val="1A1A1A"/>
                </a:solidFill>
              </a:rPr>
              <a:t>→ Does that not add more work for creators and worsen C1 (“not worth it”)?</a:t>
            </a:r>
            <a:endParaRPr sz="2200">
              <a:solidFill>
                <a:srgbClr val="1A1A1A"/>
              </a:solidFill>
            </a:endParaRPr>
          </a:p>
        </p:txBody>
      </p:sp>
      <p:sp>
        <p:nvSpPr>
          <p:cNvPr id="491" name="Google Shape;491;p4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4000"/>
              <a:buFont typeface="Arial"/>
              <a:buNone/>
            </a:pPr>
            <a:r>
              <a:rPr b="1" lang="en-US" sz="4000">
                <a:solidFill>
                  <a:schemeClr val="dk2"/>
                </a:solidFill>
              </a:rPr>
              <a:t>Paper 2 · Discussion</a:t>
            </a:r>
            <a:endParaRPr b="1" sz="4000">
              <a:solidFill>
                <a:srgbClr val="00883A"/>
              </a:solidFill>
            </a:endParaRPr>
          </a:p>
        </p:txBody>
      </p:sp>
      <p:sp>
        <p:nvSpPr>
          <p:cNvPr id="492" name="Google Shape;492;p4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93" name="Google Shape;493;p48"/>
          <p:cNvSpPr txBox="1"/>
          <p:nvPr/>
        </p:nvSpPr>
        <p:spPr>
          <a:xfrm>
            <a:off x="640200" y="2253248"/>
            <a:ext cx="10911600" cy="8229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R2 </a:t>
            </a:r>
            <a:r>
              <a:rPr lang="en-US" sz="2200">
                <a:solidFill>
                  <a:schemeClr val="dk1"/>
                </a:solidFill>
              </a:rPr>
              <a:t> Make it self-contained or proof-of-concept</a:t>
            </a:r>
            <a:endParaRPr sz="2200">
              <a:solidFill>
                <a:schemeClr val="dk1"/>
              </a:solidFill>
            </a:endParaRPr>
          </a:p>
          <a:p>
            <a:pPr indent="0" lvl="0" marL="457200" rtl="0" algn="l">
              <a:lnSpc>
                <a:spcPct val="115000"/>
              </a:lnSpc>
              <a:spcBef>
                <a:spcPts val="0"/>
              </a:spcBef>
              <a:spcAft>
                <a:spcPts val="1000"/>
              </a:spcAft>
              <a:buNone/>
            </a:pPr>
            <a:r>
              <a:rPr lang="en-US" sz="2200">
                <a:solidFill>
                  <a:schemeClr val="dk1"/>
                </a:solidFill>
              </a:rPr>
              <a:t>→ Should researchers share the entire implementation to get the badges?</a:t>
            </a:r>
            <a:endParaRPr sz="2200">
              <a:solidFill>
                <a:srgbClr val="1A1A1A"/>
              </a:solidFill>
            </a:endParaRPr>
          </a:p>
        </p:txBody>
      </p:sp>
      <p:sp>
        <p:nvSpPr>
          <p:cNvPr id="494" name="Google Shape;494;p48"/>
          <p:cNvSpPr txBox="1"/>
          <p:nvPr/>
        </p:nvSpPr>
        <p:spPr>
          <a:xfrm>
            <a:off x="640075" y="5125772"/>
            <a:ext cx="10911600" cy="7776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R8</a:t>
            </a:r>
            <a:r>
              <a:rPr lang="en-US" sz="2200">
                <a:solidFill>
                  <a:srgbClr val="1A1A1A"/>
                </a:solidFill>
              </a:rPr>
              <a:t>  Long-term strategy and a standard artifact description format</a:t>
            </a:r>
            <a:endParaRPr sz="2200">
              <a:solidFill>
                <a:srgbClr val="1A1A1A"/>
              </a:solidFill>
            </a:endParaRPr>
          </a:p>
          <a:p>
            <a:pPr indent="0" lvl="0" marL="457200" rtl="0" algn="l">
              <a:lnSpc>
                <a:spcPct val="115000"/>
              </a:lnSpc>
              <a:spcBef>
                <a:spcPts val="0"/>
              </a:spcBef>
              <a:spcAft>
                <a:spcPts val="0"/>
              </a:spcAft>
              <a:buNone/>
            </a:pPr>
            <a:r>
              <a:rPr lang="en-US" sz="2200">
                <a:solidFill>
                  <a:srgbClr val="1A1A1A"/>
                </a:solidFill>
              </a:rPr>
              <a:t>→ Should artifacts be reevaluated regularly?</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p:txBody>
      </p:sp>
      <p:sp>
        <p:nvSpPr>
          <p:cNvPr id="495" name="Google Shape;495;p48"/>
          <p:cNvSpPr txBox="1"/>
          <p:nvPr/>
        </p:nvSpPr>
        <p:spPr>
          <a:xfrm>
            <a:off x="640200" y="5989371"/>
            <a:ext cx="10911600" cy="3657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lang="en-US" sz="2200">
                <a:solidFill>
                  <a:schemeClr val="dk1"/>
                </a:solidFill>
              </a:rPr>
              <a:t>Why is artifact evaluation seen as an annoying task, and how can we change it?</a:t>
            </a:r>
            <a:endParaRPr sz="2200">
              <a:solidFill>
                <a:srgbClr val="1A1A1A"/>
              </a:solidFill>
            </a:endParaRPr>
          </a:p>
          <a:p>
            <a:pPr indent="0" lvl="0" marL="0" marR="0" rtl="0" algn="l">
              <a:spcBef>
                <a:spcPts val="1000"/>
              </a:spcBef>
              <a:spcAft>
                <a:spcPts val="0"/>
              </a:spcAft>
              <a:buNone/>
            </a:pPr>
            <a:r>
              <a:rPr lang="en-US" sz="2200">
                <a:solidFill>
                  <a:srgbClr val="1A1A1A"/>
                </a:solidFill>
              </a:rPr>
              <a:t> </a:t>
            </a:r>
            <a:endParaRPr sz="2200">
              <a:solidFill>
                <a:srgbClr val="1A1A1A"/>
              </a:solidFill>
            </a:endParaRPr>
          </a:p>
        </p:txBody>
      </p:sp>
      <p:sp>
        <p:nvSpPr>
          <p:cNvPr id="496" name="Google Shape;496;p48"/>
          <p:cNvSpPr txBox="1"/>
          <p:nvPr/>
        </p:nvSpPr>
        <p:spPr>
          <a:xfrm>
            <a:off x="640200" y="3119625"/>
            <a:ext cx="10911600" cy="880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R6</a:t>
            </a:r>
            <a:r>
              <a:rPr lang="en-US" sz="2200">
                <a:solidFill>
                  <a:schemeClr val="dk1"/>
                </a:solidFill>
              </a:rPr>
              <a:t>  Reduce review cost: two-way communication, anonymizing mailbox, "lazy second evaluation", best-reviewer award</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How important do you feel anonymity?</a:t>
            </a:r>
            <a:endParaRPr sz="2200">
              <a:solidFill>
                <a:schemeClr val="dk1"/>
              </a:solidFill>
            </a:endParaRPr>
          </a:p>
        </p:txBody>
      </p:sp>
      <p:sp>
        <p:nvSpPr>
          <p:cNvPr id="497" name="Google Shape;497;p48"/>
          <p:cNvSpPr txBox="1"/>
          <p:nvPr/>
        </p:nvSpPr>
        <p:spPr>
          <a:xfrm>
            <a:off x="640200" y="4275203"/>
            <a:ext cx="10911600" cy="661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R7</a:t>
            </a:r>
            <a:r>
              <a:rPr lang="en-US" sz="2200">
                <a:solidFill>
                  <a:schemeClr val="dk1"/>
                </a:solidFill>
              </a:rPr>
              <a:t>  Recognize and fund artifact work (hiring, promotion, grant)</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Agree/Disagree? Issues?</a:t>
            </a:r>
            <a:endParaRPr sz="2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504" name="Google Shape;504;p4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05" name="Google Shape;505;p49"/>
          <p:cNvSpPr/>
          <p:nvPr/>
        </p:nvSpPr>
        <p:spPr>
          <a:xfrm>
            <a:off x="45295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49"/>
          <p:cNvSpPr/>
          <p:nvPr/>
        </p:nvSpPr>
        <p:spPr>
          <a:xfrm>
            <a:off x="4494475"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49"/>
          <p:cNvSpPr/>
          <p:nvPr/>
        </p:nvSpPr>
        <p:spPr>
          <a:xfrm>
            <a:off x="853600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49"/>
          <p:cNvSpPr txBox="1"/>
          <p:nvPr/>
        </p:nvSpPr>
        <p:spPr>
          <a:xfrm>
            <a:off x="123040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509" name="Google Shape;509;p49"/>
          <p:cNvSpPr txBox="1"/>
          <p:nvPr/>
        </p:nvSpPr>
        <p:spPr>
          <a:xfrm>
            <a:off x="4494475" y="1188650"/>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510" name="Google Shape;510;p49"/>
          <p:cNvSpPr txBox="1"/>
          <p:nvPr/>
        </p:nvSpPr>
        <p:spPr>
          <a:xfrm>
            <a:off x="931345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511" name="Google Shape;511;p49"/>
          <p:cNvSpPr txBox="1"/>
          <p:nvPr/>
        </p:nvSpPr>
        <p:spPr>
          <a:xfrm>
            <a:off x="570250" y="2504125"/>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512" name="Google Shape;512;p49"/>
          <p:cNvSpPr txBox="1"/>
          <p:nvPr/>
        </p:nvSpPr>
        <p:spPr>
          <a:xfrm>
            <a:off x="4638025" y="2504125"/>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 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513" name="Google Shape;513;p49"/>
          <p:cNvSpPr txBox="1"/>
          <p:nvPr/>
        </p:nvSpPr>
        <p:spPr>
          <a:xfrm>
            <a:off x="8653300" y="2504125"/>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
        <p:nvSpPr>
          <p:cNvPr id="514" name="Google Shape;514;p49"/>
          <p:cNvSpPr txBox="1"/>
          <p:nvPr/>
        </p:nvSpPr>
        <p:spPr>
          <a:xfrm>
            <a:off x="4376400" y="5885425"/>
            <a:ext cx="34392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t>Agree?/Disagree?</a:t>
            </a:r>
            <a:endParaRPr sz="26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9" name="Shape 519"/>
        <p:cNvGrpSpPr/>
        <p:nvPr/>
      </p:nvGrpSpPr>
      <p:grpSpPr>
        <a:xfrm>
          <a:off x="0" y="0"/>
          <a:ext cx="0" cy="0"/>
          <a:chOff x="0" y="0"/>
          <a:chExt cx="0" cy="0"/>
        </a:xfrm>
      </p:grpSpPr>
      <p:sp>
        <p:nvSpPr>
          <p:cNvPr id="520" name="Google Shape;520;p50"/>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521" name="Google Shape;521;p50"/>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6" name="Shape 526"/>
        <p:cNvGrpSpPr/>
        <p:nvPr/>
      </p:nvGrpSpPr>
      <p:grpSpPr>
        <a:xfrm>
          <a:off x="0" y="0"/>
          <a:ext cx="0" cy="0"/>
          <a:chOff x="0" y="0"/>
          <a:chExt cx="0" cy="0"/>
        </a:xfrm>
      </p:grpSpPr>
      <p:sp>
        <p:nvSpPr>
          <p:cNvPr id="527" name="Google Shape;527;p5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sp>
        <p:nvSpPr>
          <p:cNvPr id="528" name="Google Shape;528;p5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29" name="Google Shape;529;p5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530" name="Google Shape;530;p51"/>
          <p:cNvSpPr txBox="1"/>
          <p:nvPr/>
        </p:nvSpPr>
        <p:spPr>
          <a:xfrm>
            <a:off x="1903700" y="2180425"/>
            <a:ext cx="66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5" name="Shape 535"/>
        <p:cNvGrpSpPr/>
        <p:nvPr/>
      </p:nvGrpSpPr>
      <p:grpSpPr>
        <a:xfrm>
          <a:off x="0" y="0"/>
          <a:ext cx="0" cy="0"/>
          <a:chOff x="0" y="0"/>
          <a:chExt cx="0" cy="0"/>
        </a:xfrm>
      </p:grpSpPr>
      <p:sp>
        <p:nvSpPr>
          <p:cNvPr id="536" name="Google Shape;536;p5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537" name="Google Shape;537;p5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538" name="Google Shape;538;p5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3" name="Shape 543"/>
        <p:cNvGrpSpPr/>
        <p:nvPr/>
      </p:nvGrpSpPr>
      <p:grpSpPr>
        <a:xfrm>
          <a:off x="0" y="0"/>
          <a:ext cx="0" cy="0"/>
          <a:chOff x="0" y="0"/>
          <a:chExt cx="0" cy="0"/>
        </a:xfrm>
      </p:grpSpPr>
      <p:sp>
        <p:nvSpPr>
          <p:cNvPr id="544" name="Google Shape;544;p5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545" name="Google Shape;545;p5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46" name="Google Shape;546;p5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1" name="Shape 551"/>
        <p:cNvGrpSpPr/>
        <p:nvPr/>
      </p:nvGrpSpPr>
      <p:grpSpPr>
        <a:xfrm>
          <a:off x="0" y="0"/>
          <a:ext cx="0" cy="0"/>
          <a:chOff x="0" y="0"/>
          <a:chExt cx="0" cy="0"/>
        </a:xfrm>
      </p:grpSpPr>
      <p:sp>
        <p:nvSpPr>
          <p:cNvPr id="552" name="Google Shape;552;p54"/>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553" name="Google Shape;553;p54"/>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8" name="Shape 558"/>
        <p:cNvGrpSpPr/>
        <p:nvPr/>
      </p:nvGrpSpPr>
      <p:grpSpPr>
        <a:xfrm>
          <a:off x="0" y="0"/>
          <a:ext cx="0" cy="0"/>
          <a:chOff x="0" y="0"/>
          <a:chExt cx="0" cy="0"/>
        </a:xfrm>
      </p:grpSpPr>
      <p:sp>
        <p:nvSpPr>
          <p:cNvPr id="559" name="Google Shape;559;p5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Discussion </a:t>
            </a:r>
            <a:r>
              <a:rPr b="1" lang="en-US" sz="4000">
                <a:solidFill>
                  <a:srgbClr val="00883A"/>
                </a:solidFill>
              </a:rPr>
              <a:t>-</a:t>
            </a:r>
            <a:r>
              <a:rPr b="1" i="0" lang="en-US" sz="4000" u="none" cap="none" strike="noStrike">
                <a:solidFill>
                  <a:srgbClr val="00883A"/>
                </a:solidFill>
                <a:latin typeface="Arial"/>
                <a:ea typeface="Arial"/>
                <a:cs typeface="Arial"/>
                <a:sym typeface="Arial"/>
              </a:rPr>
              <a:t> Paper 1 (?)</a:t>
            </a:r>
            <a:endParaRPr b="0" i="0" sz="4000" u="none" cap="none" strike="noStrike">
              <a:solidFill>
                <a:schemeClr val="dk1"/>
              </a:solidFill>
              <a:latin typeface="Arial"/>
              <a:ea typeface="Arial"/>
              <a:cs typeface="Arial"/>
              <a:sym typeface="Arial"/>
            </a:endParaRPr>
          </a:p>
        </p:txBody>
      </p:sp>
      <p:sp>
        <p:nvSpPr>
          <p:cNvPr id="560" name="Google Shape;560;p55"/>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561" name="Google Shape;561;p5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6" name="Shape 566"/>
        <p:cNvGrpSpPr/>
        <p:nvPr/>
      </p:nvGrpSpPr>
      <p:grpSpPr>
        <a:xfrm>
          <a:off x="0" y="0"/>
          <a:ext cx="0" cy="0"/>
          <a:chOff x="0" y="0"/>
          <a:chExt cx="0" cy="0"/>
        </a:xfrm>
      </p:grpSpPr>
      <p:sp>
        <p:nvSpPr>
          <p:cNvPr id="567" name="Google Shape;567;p5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a:t>
            </a:r>
            <a:r>
              <a:rPr b="1" lang="en-US" sz="4000">
                <a:solidFill>
                  <a:srgbClr val="00883A"/>
                </a:solidFill>
              </a:rPr>
              <a:t>Discussion</a:t>
            </a:r>
            <a:r>
              <a:rPr b="1" i="0" lang="en-US" sz="4000" u="none" cap="none" strike="noStrike">
                <a:solidFill>
                  <a:srgbClr val="00883A"/>
                </a:solidFill>
                <a:latin typeface="Arial"/>
                <a:ea typeface="Arial"/>
                <a:cs typeface="Arial"/>
                <a:sym typeface="Arial"/>
              </a:rPr>
              <a:t> </a:t>
            </a:r>
            <a:r>
              <a:rPr b="1" lang="en-US" sz="4000">
                <a:solidFill>
                  <a:srgbClr val="00883A"/>
                </a:solidFill>
              </a:rPr>
              <a:t>-</a:t>
            </a:r>
            <a:r>
              <a:rPr b="1" i="0" lang="en-US" sz="4000" u="none" cap="none" strike="noStrike">
                <a:solidFill>
                  <a:srgbClr val="00883A"/>
                </a:solidFill>
                <a:latin typeface="Arial"/>
                <a:ea typeface="Arial"/>
                <a:cs typeface="Arial"/>
                <a:sym typeface="Arial"/>
              </a:rPr>
              <a:t> Paper 2 </a:t>
            </a:r>
            <a:r>
              <a:rPr b="1" lang="en-US" sz="4000">
                <a:solidFill>
                  <a:schemeClr val="dk2"/>
                </a:solidFill>
              </a:rPr>
              <a:t>(?)</a:t>
            </a:r>
            <a:endParaRPr b="0" i="0" sz="4000" u="none" cap="none" strike="noStrike">
              <a:solidFill>
                <a:schemeClr val="dk1"/>
              </a:solidFill>
              <a:latin typeface="Arial"/>
              <a:ea typeface="Arial"/>
              <a:cs typeface="Arial"/>
              <a:sym typeface="Arial"/>
            </a:endParaRPr>
          </a:p>
        </p:txBody>
      </p:sp>
      <p:sp>
        <p:nvSpPr>
          <p:cNvPr id="568" name="Google Shape;568;p56"/>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 If we keep this:</a:t>
            </a:r>
            <a:endParaRPr sz="2200">
              <a:solidFill>
                <a:srgbClr val="1A1A1A"/>
              </a:solidFill>
            </a:endParaRPr>
          </a:p>
          <a:p>
            <a:pPr indent="0" lvl="0" marL="0" rtl="0" algn="l">
              <a:lnSpc>
                <a:spcPct val="115000"/>
              </a:lnSpc>
              <a:spcBef>
                <a:spcPts val="400"/>
              </a:spcBef>
              <a:spcAft>
                <a:spcPts val="0"/>
              </a:spcAft>
              <a:buNone/>
            </a:pPr>
            <a:r>
              <a:t/>
            </a:r>
            <a:endParaRPr sz="2200">
              <a:solidFill>
                <a:srgbClr val="1A1A1A"/>
              </a:solidFill>
            </a:endParaRPr>
          </a:p>
          <a:p>
            <a:pPr indent="0" lvl="0" marL="0" rtl="0" algn="l">
              <a:spcBef>
                <a:spcPts val="0"/>
              </a:spcBef>
              <a:spcAft>
                <a:spcPts val="0"/>
              </a:spcAft>
              <a:buNone/>
            </a:pPr>
            <a:r>
              <a:rPr lang="en-US" sz="1000">
                <a:latin typeface="Roboto"/>
                <a:ea typeface="Roboto"/>
                <a:cs typeface="Roboto"/>
                <a:sym typeface="Roboto"/>
              </a:rPr>
              <a:t>Methodology:</a:t>
            </a:r>
            <a:endParaRPr sz="1000">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Is "the URL can be accessed" a good enough test of availability? -&gt; A live page with a dead download, or an unusable artifact, still counts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Should the authors have contacted paper authors for missing artifacts, as Collberg &amp; Proebsting did? -&gt; otherwise availability is underestimated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How should we read a 26 % dead-link rate for 2014 vs. 5 % for 2018 ? -&gt; older links simply had more time to break</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00FFFF"/>
                </a:highlight>
                <a:latin typeface="Roboto"/>
                <a:ea typeface="Roboto"/>
                <a:cs typeface="Roboto"/>
                <a:sym typeface="Roboto"/>
              </a:rPr>
              <a:t>Bias in the 22 % response rate? -&gt; 78 % didn't answer, and those who did probably care more about artifacts (self-selection) -&gt; refine? or maybe leave out methodology questions from discussion?</a:t>
            </a:r>
            <a:endParaRPr sz="1000">
              <a:highlight>
                <a:srgbClr val="00FFFF"/>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FF00"/>
                </a:highlight>
                <a:latin typeface="Roboto"/>
                <a:ea typeface="Roboto"/>
                <a:cs typeface="Roboto"/>
                <a:sym typeface="Roboto"/>
              </a:rPr>
              <a:t>Should the survey also have reached researchers who have never shared an artifact, or who left academia? -&gt; they hold the main reasons for </a:t>
            </a:r>
            <a:r>
              <a:rPr i="1" lang="en-US" sz="1000">
                <a:highlight>
                  <a:srgbClr val="FFFF00"/>
                </a:highlight>
                <a:latin typeface="Roboto"/>
                <a:ea typeface="Roboto"/>
                <a:cs typeface="Roboto"/>
                <a:sym typeface="Roboto"/>
              </a:rPr>
              <a:t>not</a:t>
            </a:r>
            <a:r>
              <a:rPr lang="en-US" sz="1000">
                <a:highlight>
                  <a:srgbClr val="FFFF00"/>
                </a:highlight>
                <a:latin typeface="Roboto"/>
                <a:ea typeface="Roboto"/>
                <a:cs typeface="Roboto"/>
                <a:sym typeface="Roboto"/>
              </a:rPr>
              <a:t> sharing.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0000"/>
                </a:highlight>
                <a:latin typeface="Roboto"/>
                <a:ea typeface="Roboto"/>
                <a:cs typeface="Roboto"/>
                <a:sym typeface="Roboto"/>
              </a:rPr>
              <a:t>A study about artifact sharing can't share its qualitative data (confidentiality). Is that a contradiction, or the same legitimate constraint as C9? -&gt; it shows the field accepts "can't share" too easily.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FF00"/>
                </a:highlight>
                <a:latin typeface="Roboto"/>
                <a:ea typeface="Roboto"/>
                <a:cs typeface="Roboto"/>
                <a:sym typeface="Roboto"/>
              </a:rPr>
              <a:t>Internal validity: respondents and researchers can be biased. Which bias do you think matters most here? -&gt; respondents presenting themselves as good sharers. OR the authors (artifact advocates) reading the answers through their own views. </a:t>
            </a:r>
            <a:endParaRPr sz="1000">
              <a:highlight>
                <a:srgbClr val="FFFF00"/>
              </a:highlight>
              <a:latin typeface="Roboto"/>
              <a:ea typeface="Roboto"/>
              <a:cs typeface="Roboto"/>
              <a:sym typeface="Roboto"/>
            </a:endParaRPr>
          </a:p>
          <a:p>
            <a:pPr indent="0" lvl="0" marL="0" rtl="0" algn="l">
              <a:spcBef>
                <a:spcPts val="0"/>
              </a:spcBef>
              <a:spcAft>
                <a:spcPts val="0"/>
              </a:spcAft>
              <a:buNone/>
            </a:pPr>
            <a:r>
              <a:t/>
            </a:r>
            <a:endParaRPr sz="1000">
              <a:highlight>
                <a:srgbClr val="FFFF00"/>
              </a:highlight>
              <a:latin typeface="Roboto"/>
              <a:ea typeface="Roboto"/>
              <a:cs typeface="Roboto"/>
              <a:sym typeface="Roboto"/>
            </a:endParaRPr>
          </a:p>
          <a:p>
            <a:pPr indent="0" lvl="0" marL="0" rtl="0" algn="l">
              <a:spcBef>
                <a:spcPts val="0"/>
              </a:spcBef>
              <a:spcAft>
                <a:spcPts val="0"/>
              </a:spcAft>
              <a:buNone/>
            </a:pPr>
            <a:r>
              <a:rPr lang="en-US" sz="1150">
                <a:highlight>
                  <a:srgbClr val="FFFFFF"/>
                </a:highlight>
                <a:latin typeface="Roboto"/>
                <a:ea typeface="Roboto"/>
                <a:cs typeface="Roboto"/>
                <a:sym typeface="Roboto"/>
              </a:rPr>
              <a:t>62.69 % is far above Heumüller's 47.8 % linked. Which number better describes the state of SE?</a:t>
            </a:r>
            <a:r>
              <a:rPr lang="en-US" sz="1100"/>
              <a:t> </a:t>
            </a:r>
            <a:endParaRPr sz="1100"/>
          </a:p>
          <a:p>
            <a:pPr indent="-301625" lvl="0" marL="457200" rtl="0" algn="l">
              <a:lnSpc>
                <a:spcPct val="115000"/>
              </a:lnSpc>
              <a:spcBef>
                <a:spcPts val="400"/>
              </a:spcBef>
              <a:spcAft>
                <a:spcPts val="0"/>
              </a:spcAft>
              <a:buSzPts val="1150"/>
              <a:buFont typeface="Roboto"/>
              <a:buChar char="●"/>
            </a:pPr>
            <a:r>
              <a:rPr lang="en-US" sz="1150">
                <a:highlight>
                  <a:srgbClr val="FFFFFF"/>
                </a:highlight>
                <a:latin typeface="Roboto"/>
                <a:ea typeface="Roboto"/>
                <a:cs typeface="Roboto"/>
                <a:sym typeface="Roboto"/>
              </a:rPr>
              <a:t>A: Heumüller, because runnable code is what matters.</a:t>
            </a:r>
            <a:endParaRPr sz="1150">
              <a:highlight>
                <a:srgbClr val="FFFFFF"/>
              </a:highlight>
              <a:latin typeface="Roboto"/>
              <a:ea typeface="Roboto"/>
              <a:cs typeface="Roboto"/>
              <a:sym typeface="Roboto"/>
            </a:endParaRPr>
          </a:p>
          <a:p>
            <a:pPr indent="-301625" lvl="0" marL="457200" rtl="0" algn="l">
              <a:lnSpc>
                <a:spcPct val="115000"/>
              </a:lnSpc>
              <a:spcBef>
                <a:spcPts val="0"/>
              </a:spcBef>
              <a:spcAft>
                <a:spcPts val="0"/>
              </a:spcAft>
              <a:buSzPts val="1150"/>
              <a:buFont typeface="Roboto"/>
              <a:buChar char="●"/>
            </a:pPr>
            <a:r>
              <a:rPr lang="en-US" sz="1150">
                <a:highlight>
                  <a:srgbClr val="FFFFFF"/>
                </a:highlight>
                <a:latin typeface="Roboto"/>
                <a:ea typeface="Roboto"/>
                <a:cs typeface="Roboto"/>
                <a:sym typeface="Roboto"/>
              </a:rPr>
              <a:t>B: Timperley, because data and survey material are artifacts too.</a:t>
            </a:r>
            <a:endParaRPr sz="2200">
              <a:solidFill>
                <a:srgbClr val="1A1A1A"/>
              </a:solidFill>
            </a:endParaRPr>
          </a:p>
        </p:txBody>
      </p:sp>
      <p:sp>
        <p:nvSpPr>
          <p:cNvPr id="569" name="Google Shape;569;p5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576" name="Google Shape;576;p57"/>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rgbClr val="1A1A1A"/>
              </a:solidFill>
              <a:latin typeface="Arial"/>
              <a:ea typeface="Arial"/>
              <a:cs typeface="Arial"/>
              <a:sym typeface="Arial"/>
            </a:endParaRPr>
          </a:p>
          <a:p>
            <a:pPr indent="-279400" lvl="0" marL="279400" marR="0" rtl="0" algn="l">
              <a:spcBef>
                <a:spcPts val="1000"/>
              </a:spcBef>
              <a:spcAft>
                <a:spcPts val="0"/>
              </a:spcAft>
              <a:buClr>
                <a:srgbClr val="1A1A1A"/>
              </a:buClr>
              <a:buSzPts val="2200"/>
              <a:buChar char="•"/>
            </a:pPr>
            <a:r>
              <a:rPr lang="en-US" sz="2200">
                <a:solidFill>
                  <a:srgbClr val="1A1A1A"/>
                </a:solidFill>
              </a:rPr>
              <a:t>What would you do as a follow-up study to these presented papers?</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577" name="Google Shape;577;p5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8"/>
          <p:cNvSpPr txBox="1"/>
          <p:nvPr/>
        </p:nvSpPr>
        <p:spPr>
          <a:xfrm>
            <a:off x="640080" y="2560320"/>
            <a:ext cx="10911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5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References</a:t>
            </a:r>
            <a:endParaRPr b="0" i="0" sz="4000" u="none" cap="none" strike="noStrike">
              <a:solidFill>
                <a:schemeClr val="dk1"/>
              </a:solidFill>
              <a:latin typeface="Arial"/>
              <a:ea typeface="Arial"/>
              <a:cs typeface="Arial"/>
              <a:sym typeface="Arial"/>
            </a:endParaRPr>
          </a:p>
        </p:txBody>
      </p:sp>
      <p:sp>
        <p:nvSpPr>
          <p:cNvPr id="589" name="Google Shape;589;p5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90" name="Google Shape;590;p59"/>
          <p:cNvSpPr txBox="1"/>
          <p:nvPr/>
        </p:nvSpPr>
        <p:spPr>
          <a:xfrm>
            <a:off x="640080" y="1463040"/>
            <a:ext cx="10908900" cy="211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A1A1A"/>
                </a:solidFill>
                <a:latin typeface="Arial"/>
                <a:ea typeface="Arial"/>
                <a:cs typeface="Arial"/>
                <a:sym typeface="Arial"/>
              </a:rPr>
              <a:t>[1] Zenodo: size limitations and general policies. help.zenodo.org; about.zenodo.org/policies</a:t>
            </a:r>
            <a:r>
              <a:rPr b="0" i="0" lang="en-US" sz="1800" u="none" cap="none" strike="noStrike">
                <a:solidFill>
                  <a:srgbClr val="1A1A1A"/>
                </a:solidFill>
                <a:latin typeface="Arial"/>
                <a:ea typeface="Arial"/>
                <a:cs typeface="Arial"/>
                <a:sym typeface="Arial"/>
              </a:rP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5" name="Shape 595"/>
        <p:cNvGrpSpPr/>
        <p:nvPr/>
      </p:nvGrpSpPr>
      <p:grpSpPr>
        <a:xfrm>
          <a:off x="0" y="0"/>
          <a:ext cx="0" cy="0"/>
          <a:chOff x="0" y="0"/>
          <a:chExt cx="0" cy="0"/>
        </a:xfrm>
      </p:grpSpPr>
      <p:sp>
        <p:nvSpPr>
          <p:cNvPr id="596" name="Google Shape;596;p60"/>
          <p:cNvSpPr txBox="1"/>
          <p:nvPr/>
        </p:nvSpPr>
        <p:spPr>
          <a:xfrm>
            <a:off x="640080" y="2011680"/>
            <a:ext cx="10911535" cy="1463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597" name="Google Shape;597;p60"/>
          <p:cNvSpPr txBox="1"/>
          <p:nvPr/>
        </p:nvSpPr>
        <p:spPr>
          <a:xfrm>
            <a:off x="640080" y="365760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598" name="Google Shape;598;p60"/>
          <p:cNvSpPr txBox="1"/>
          <p:nvPr/>
        </p:nvSpPr>
        <p:spPr>
          <a:xfrm>
            <a:off x="640080" y="4754880"/>
            <a:ext cx="1091153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3" name="Shape 603"/>
        <p:cNvGrpSpPr/>
        <p:nvPr/>
      </p:nvGrpSpPr>
      <p:grpSpPr>
        <a:xfrm>
          <a:off x="0" y="0"/>
          <a:ext cx="0" cy="0"/>
          <a:chOff x="0" y="0"/>
          <a:chExt cx="0" cy="0"/>
        </a:xfrm>
      </p:grpSpPr>
      <p:sp>
        <p:nvSpPr>
          <p:cNvPr id="604" name="Google Shape;604;p6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605" name="Google Shape;605;p61"/>
          <p:cNvSpPr txBox="1"/>
          <p:nvPr/>
        </p:nvSpPr>
        <p:spPr>
          <a:xfrm>
            <a:off x="640080" y="15544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606" name="Google Shape;606;p61"/>
          <p:cNvSpPr txBox="1"/>
          <p:nvPr/>
        </p:nvSpPr>
        <p:spPr>
          <a:xfrm>
            <a:off x="1463040" y="15544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607" name="Google Shape;607;p61"/>
          <p:cNvSpPr txBox="1"/>
          <p:nvPr/>
        </p:nvSpPr>
        <p:spPr>
          <a:xfrm>
            <a:off x="640080" y="21945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608" name="Google Shape;608;p61"/>
          <p:cNvSpPr txBox="1"/>
          <p:nvPr/>
        </p:nvSpPr>
        <p:spPr>
          <a:xfrm>
            <a:off x="1463040" y="21945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609" name="Google Shape;609;p61"/>
          <p:cNvSpPr txBox="1"/>
          <p:nvPr/>
        </p:nvSpPr>
        <p:spPr>
          <a:xfrm>
            <a:off x="640080" y="283464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610" name="Google Shape;610;p61"/>
          <p:cNvSpPr txBox="1"/>
          <p:nvPr/>
        </p:nvSpPr>
        <p:spPr>
          <a:xfrm>
            <a:off x="1463040" y="283464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611" name="Google Shape;611;p61"/>
          <p:cNvSpPr txBox="1"/>
          <p:nvPr/>
        </p:nvSpPr>
        <p:spPr>
          <a:xfrm>
            <a:off x="640080" y="347472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612" name="Google Shape;612;p61"/>
          <p:cNvSpPr txBox="1"/>
          <p:nvPr/>
        </p:nvSpPr>
        <p:spPr>
          <a:xfrm>
            <a:off x="1463040" y="347472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613" name="Google Shape;613;p61"/>
          <p:cNvSpPr txBox="1"/>
          <p:nvPr/>
        </p:nvSpPr>
        <p:spPr>
          <a:xfrm>
            <a:off x="640080" y="411480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614" name="Google Shape;614;p61"/>
          <p:cNvSpPr txBox="1"/>
          <p:nvPr/>
        </p:nvSpPr>
        <p:spPr>
          <a:xfrm>
            <a:off x="1463040" y="411480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615" name="Google Shape;615;p61"/>
          <p:cNvSpPr txBox="1"/>
          <p:nvPr/>
        </p:nvSpPr>
        <p:spPr>
          <a:xfrm>
            <a:off x="640080" y="47548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616" name="Google Shape;616;p61"/>
          <p:cNvSpPr txBox="1"/>
          <p:nvPr/>
        </p:nvSpPr>
        <p:spPr>
          <a:xfrm>
            <a:off x="1463040" y="47548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617" name="Google Shape;617;p61"/>
          <p:cNvSpPr txBox="1"/>
          <p:nvPr/>
        </p:nvSpPr>
        <p:spPr>
          <a:xfrm>
            <a:off x="640080" y="53949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618" name="Google Shape;618;p61"/>
          <p:cNvSpPr txBox="1"/>
          <p:nvPr/>
        </p:nvSpPr>
        <p:spPr>
          <a:xfrm>
            <a:off x="1463040" y="53949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619" name="Google Shape;619;p6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4" name="Shape 624"/>
        <p:cNvGrpSpPr/>
        <p:nvPr/>
      </p:nvGrpSpPr>
      <p:grpSpPr>
        <a:xfrm>
          <a:off x="0" y="0"/>
          <a:ext cx="0" cy="0"/>
          <a:chOff x="0" y="0"/>
          <a:chExt cx="0" cy="0"/>
        </a:xfrm>
      </p:grpSpPr>
      <p:sp>
        <p:nvSpPr>
          <p:cNvPr id="625" name="Google Shape;625;p62"/>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626" name="Google Shape;626;p62"/>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1" name="Shape 631"/>
        <p:cNvGrpSpPr/>
        <p:nvPr/>
      </p:nvGrpSpPr>
      <p:grpSpPr>
        <a:xfrm>
          <a:off x="0" y="0"/>
          <a:ext cx="0" cy="0"/>
          <a:chOff x="0" y="0"/>
          <a:chExt cx="0" cy="0"/>
        </a:xfrm>
      </p:grpSpPr>
      <p:sp>
        <p:nvSpPr>
          <p:cNvPr id="632" name="Google Shape;632;p6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33" name="Google Shape;633;p63"/>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evaluation (AE): committees check artifacts of accepted papers and award badges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Asked the reviewers (AEC members) what AE is for and what they expect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Found no shared quality threshold and inconsistent terms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 badge only means something within one conference and year (p. 478)</a:t>
            </a:r>
            <a:endParaRPr b="0" i="0" sz="2200" u="none" cap="none" strike="noStrike">
              <a:solidFill>
                <a:schemeClr val="dk1"/>
              </a:solidFill>
              <a:latin typeface="Arial"/>
              <a:ea typeface="Arial"/>
              <a:cs typeface="Arial"/>
              <a:sym typeface="Arial"/>
            </a:endParaRPr>
          </a:p>
        </p:txBody>
      </p:sp>
      <p:sp>
        <p:nvSpPr>
          <p:cNvPr id="634" name="Google Shape;634;p6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9" name="Shape 639"/>
        <p:cNvGrpSpPr/>
        <p:nvPr/>
      </p:nvGrpSpPr>
      <p:grpSpPr>
        <a:xfrm>
          <a:off x="0" y="0"/>
          <a:ext cx="0" cy="0"/>
          <a:chOff x="0" y="0"/>
          <a:chExt cx="0" cy="0"/>
        </a:xfrm>
      </p:grpSpPr>
      <p:sp>
        <p:nvSpPr>
          <p:cNvPr id="640" name="Google Shape;640;p6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graphicFrame>
        <p:nvGraphicFramePr>
          <p:cNvPr id="641" name="Google Shape;641;p64"/>
          <p:cNvGraphicFramePr/>
          <p:nvPr/>
        </p:nvGraphicFramePr>
        <p:xfrm>
          <a:off x="640080" y="1554480"/>
          <a:ext cx="3000000" cy="3000000"/>
        </p:xfrm>
        <a:graphic>
          <a:graphicData uri="http://schemas.openxmlformats.org/drawingml/2006/table">
            <a:tbl>
              <a:tblPr>
                <a:noFill/>
                <a:tableStyleId>{B93A5F36-DCFF-479B-8887-EC226CF57605}</a:tableStyleId>
              </a:tblPr>
              <a:tblGrid>
                <a:gridCol w="3637175"/>
                <a:gridCol w="3637175"/>
                <a:gridCol w="3637175"/>
              </a:tblGrid>
              <a:tr h="640075">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Setting</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Paper (old ACM)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Our lecture (2020)</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Same team, 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authors'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own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
        <p:nvSpPr>
          <p:cNvPr id="642" name="Google Shape;642;p64"/>
          <p:cNvSpPr txBox="1"/>
          <p:nvPr/>
        </p:nvSpPr>
        <p:spPr>
          <a:xfrm>
            <a:off x="640080" y="443484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Footnote 5, p. 471. Artifact = "a self-contained work result, having a context-specific purpose" (p. 470). Badges: Available, Functional, Reusable, Results.</a:t>
            </a:r>
            <a:endParaRPr b="0" i="0" sz="1800" u="none" cap="none" strike="noStrike">
              <a:solidFill>
                <a:schemeClr val="dk1"/>
              </a:solidFill>
              <a:latin typeface="Arial"/>
              <a:ea typeface="Arial"/>
              <a:cs typeface="Arial"/>
              <a:sym typeface="Arial"/>
            </a:endParaRPr>
          </a:p>
        </p:txBody>
      </p:sp>
      <p:sp>
        <p:nvSpPr>
          <p:cNvPr id="643" name="Google Shape;643;p6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8" name="Shape 648"/>
        <p:cNvGrpSpPr/>
        <p:nvPr/>
      </p:nvGrpSpPr>
      <p:grpSpPr>
        <a:xfrm>
          <a:off x="0" y="0"/>
          <a:ext cx="0" cy="0"/>
          <a:chOff x="0" y="0"/>
          <a:chExt cx="0" cy="0"/>
        </a:xfrm>
      </p:grpSpPr>
      <p:sp>
        <p:nvSpPr>
          <p:cNvPr id="649" name="Google Shape;649;p6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650" name="Google Shape;650;p6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What do AEC members see as the purpose of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 What do they expect from an artifact as reviewers?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RQ3: What do they expect as users of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Pre-study: what do calls for artifacts and ACM guidelines demand?</a:t>
            </a:r>
            <a:endParaRPr b="0" i="0" sz="2200" u="none" cap="none" strike="noStrike">
              <a:solidFill>
                <a:schemeClr val="dk1"/>
              </a:solidFill>
              <a:latin typeface="Arial"/>
              <a:ea typeface="Arial"/>
              <a:cs typeface="Arial"/>
              <a:sym typeface="Arial"/>
            </a:endParaRPr>
          </a:p>
        </p:txBody>
      </p:sp>
      <p:sp>
        <p:nvSpPr>
          <p:cNvPr id="651" name="Google Shape;651;p6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6" name="Shape 656"/>
        <p:cNvGrpSpPr/>
        <p:nvPr/>
      </p:nvGrpSpPr>
      <p:grpSpPr>
        <a:xfrm>
          <a:off x="0" y="0"/>
          <a:ext cx="0" cy="0"/>
          <a:chOff x="0" y="0"/>
          <a:chExt cx="0" cy="0"/>
        </a:xfrm>
      </p:grpSpPr>
      <p:sp>
        <p:nvSpPr>
          <p:cNvPr id="657" name="Google Shape;657;p6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658" name="Google Shape;658;p66"/>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6"/>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79</a:t>
            </a:r>
            <a:endParaRPr b="0" i="0" sz="3600" u="none" cap="none" strike="noStrike">
              <a:solidFill>
                <a:schemeClr val="dk1"/>
              </a:solidFill>
              <a:latin typeface="Arial"/>
              <a:ea typeface="Arial"/>
              <a:cs typeface="Arial"/>
              <a:sym typeface="Arial"/>
            </a:endParaRPr>
          </a:p>
        </p:txBody>
      </p:sp>
      <p:sp>
        <p:nvSpPr>
          <p:cNvPr id="660" name="Google Shape;660;p66"/>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calls analysed</a:t>
            </a:r>
            <a:endParaRPr b="0" i="0" sz="1800" u="none" cap="none" strike="noStrike">
              <a:solidFill>
                <a:schemeClr val="dk1"/>
              </a:solidFill>
              <a:latin typeface="Arial"/>
              <a:ea typeface="Arial"/>
              <a:cs typeface="Arial"/>
              <a:sym typeface="Arial"/>
            </a:endParaRPr>
          </a:p>
        </p:txBody>
      </p:sp>
      <p:sp>
        <p:nvSpPr>
          <p:cNvPr id="661" name="Google Shape;661;p66"/>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6"/>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1034</a:t>
            </a:r>
            <a:endParaRPr b="0" i="0" sz="3600" u="none" cap="none" strike="noStrike">
              <a:solidFill>
                <a:schemeClr val="dk1"/>
              </a:solidFill>
              <a:latin typeface="Arial"/>
              <a:ea typeface="Arial"/>
              <a:cs typeface="Arial"/>
              <a:sym typeface="Arial"/>
            </a:endParaRPr>
          </a:p>
        </p:txBody>
      </p:sp>
      <p:sp>
        <p:nvSpPr>
          <p:cNvPr id="663" name="Google Shape;663;p66"/>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reviewers invited</a:t>
            </a:r>
            <a:endParaRPr b="0" i="0" sz="1800" u="none" cap="none" strike="noStrike">
              <a:solidFill>
                <a:schemeClr val="dk1"/>
              </a:solidFill>
              <a:latin typeface="Arial"/>
              <a:ea typeface="Arial"/>
              <a:cs typeface="Arial"/>
              <a:sym typeface="Arial"/>
            </a:endParaRPr>
          </a:p>
        </p:txBody>
      </p:sp>
      <p:sp>
        <p:nvSpPr>
          <p:cNvPr id="664" name="Google Shape;664;p66"/>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6"/>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257</a:t>
            </a:r>
            <a:endParaRPr b="0" i="0" sz="3600" u="none" cap="none" strike="noStrike">
              <a:solidFill>
                <a:schemeClr val="dk1"/>
              </a:solidFill>
              <a:latin typeface="Arial"/>
              <a:ea typeface="Arial"/>
              <a:cs typeface="Arial"/>
              <a:sym typeface="Arial"/>
            </a:endParaRPr>
          </a:p>
        </p:txBody>
      </p:sp>
      <p:sp>
        <p:nvSpPr>
          <p:cNvPr id="666" name="Google Shape;666;p66"/>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responses</a:t>
            </a:r>
            <a:endParaRPr b="0" i="0" sz="1800" u="none" cap="none" strike="noStrike">
              <a:solidFill>
                <a:schemeClr val="dk1"/>
              </a:solidFill>
              <a:latin typeface="Arial"/>
              <a:ea typeface="Arial"/>
              <a:cs typeface="Arial"/>
              <a:sym typeface="Arial"/>
            </a:endParaRPr>
          </a:p>
        </p:txBody>
      </p:sp>
      <p:sp>
        <p:nvSpPr>
          <p:cNvPr id="667" name="Google Shape;667;p66"/>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79 calls for artifacts, SE and PL conferences, 2011–2019, coded by two researchers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Survey with open questions sent to 1034 AEC members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257 responded, 124 completed; ~25 % response; mostly programming languages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Answers grouped by open card sorting; counts given as total (PL/SE)</a:t>
            </a:r>
            <a:endParaRPr b="0" i="0" sz="2000" u="none" cap="none" strike="noStrike">
              <a:solidFill>
                <a:schemeClr val="dk1"/>
              </a:solidFill>
              <a:latin typeface="Arial"/>
              <a:ea typeface="Arial"/>
              <a:cs typeface="Arial"/>
              <a:sym typeface="Arial"/>
            </a:endParaRPr>
          </a:p>
        </p:txBody>
      </p:sp>
      <p:sp>
        <p:nvSpPr>
          <p:cNvPr id="668" name="Google Shape;668;p6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3" name="Shape 673"/>
        <p:cNvGrpSpPr/>
        <p:nvPr/>
      </p:nvGrpSpPr>
      <p:grpSpPr>
        <a:xfrm>
          <a:off x="0" y="0"/>
          <a:ext cx="0" cy="0"/>
          <a:chOff x="0" y="0"/>
          <a:chExt cx="0" cy="0"/>
        </a:xfrm>
      </p:grpSpPr>
      <p:sp>
        <p:nvSpPr>
          <p:cNvPr id="674" name="Google Shape;674;p6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675" name="Google Shape;675;p6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Calls name criteria (documentation 46, consistency 45) but no levels (pp. 471–472)</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Purpose drifts: from checking claims to reproducibility and reuse (RQ1)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want reproducible results, users want reusable tools (RQ2, RQ3)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20 users see a difference between evaluated and unevaluated artifacts, 34 do not (p. 477)</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reviewers serve once; a third never submitted an artifact (pp. 473, 478)</a:t>
            </a:r>
            <a:endParaRPr b="0" i="0" sz="2200" u="none" cap="none" strike="noStrike">
              <a:solidFill>
                <a:schemeClr val="dk1"/>
              </a:solidFill>
              <a:latin typeface="Arial"/>
              <a:ea typeface="Arial"/>
              <a:cs typeface="Arial"/>
              <a:sym typeface="Arial"/>
            </a:endParaRPr>
          </a:p>
        </p:txBody>
      </p:sp>
      <p:sp>
        <p:nvSpPr>
          <p:cNvPr id="676" name="Google Shape;676;p6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1" name="Shape 681"/>
        <p:cNvGrpSpPr/>
        <p:nvPr/>
      </p:nvGrpSpPr>
      <p:grpSpPr>
        <a:xfrm>
          <a:off x="0" y="0"/>
          <a:ext cx="0" cy="0"/>
          <a:chOff x="0" y="0"/>
          <a:chExt cx="0" cy="0"/>
        </a:xfrm>
      </p:grpSpPr>
      <p:sp>
        <p:nvSpPr>
          <p:cNvPr id="682" name="Google Shape;682;p6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683" name="Google Shape;683;p68"/>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mostly PL: a deliberate trade-off (p. 479)</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 sorting by one labeller, checked by a second, no agreement measure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Implications: purpose and standards per community, written into the calls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Brief one-time reviewers; couple AE more tightly to acceptance (p. 479)</a:t>
            </a:r>
            <a:endParaRPr b="0" i="0" sz="2200" u="none" cap="none" strike="noStrike">
              <a:solidFill>
                <a:schemeClr val="dk1"/>
              </a:solidFill>
              <a:latin typeface="Arial"/>
              <a:ea typeface="Arial"/>
              <a:cs typeface="Arial"/>
              <a:sym typeface="Arial"/>
            </a:endParaRPr>
          </a:p>
        </p:txBody>
      </p:sp>
      <p:sp>
        <p:nvSpPr>
          <p:cNvPr id="684" name="Google Shape;684;p6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9" name="Shape 689"/>
        <p:cNvGrpSpPr/>
        <p:nvPr/>
      </p:nvGrpSpPr>
      <p:grpSpPr>
        <a:xfrm>
          <a:off x="0" y="0"/>
          <a:ext cx="0" cy="0"/>
          <a:chOff x="0" y="0"/>
          <a:chExt cx="0" cy="0"/>
        </a:xfrm>
      </p:grpSpPr>
      <p:sp>
        <p:nvSpPr>
          <p:cNvPr id="690" name="Google Shape;690;p6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691" name="Google Shape;691;p69"/>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artifact badges be easy to get or hard to get?</a:t>
            </a:r>
            <a:endParaRPr b="0" i="0" sz="2600" u="none" cap="none" strike="noStrike">
              <a:solidFill>
                <a:schemeClr val="dk1"/>
              </a:solidFill>
              <a:latin typeface="Arial"/>
              <a:ea typeface="Arial"/>
              <a:cs typeface="Arial"/>
              <a:sym typeface="Arial"/>
            </a:endParaRPr>
          </a:p>
        </p:txBody>
      </p:sp>
      <p:sp>
        <p:nvSpPr>
          <p:cNvPr id="692" name="Google Shape;692;p69"/>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69"/>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"Enforcing quality criteria only means that some authors will not publish their code" (id 96, p. 475). ICSE and FSE dropped the Functional badge to raise the bar (p. 476).</a:t>
            </a:r>
            <a:endParaRPr b="0" i="0" sz="1800" u="none" cap="none" strike="noStrike">
              <a:solidFill>
                <a:schemeClr val="dk1"/>
              </a:solidFill>
              <a:latin typeface="Arial"/>
              <a:ea typeface="Arial"/>
              <a:cs typeface="Arial"/>
              <a:sym typeface="Arial"/>
            </a:endParaRPr>
          </a:p>
        </p:txBody>
      </p:sp>
      <p:sp>
        <p:nvSpPr>
          <p:cNvPr id="694" name="Google Shape;694;p69"/>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9"/>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Low bar</a:t>
            </a:r>
            <a:endParaRPr b="0" i="0" sz="2200" u="none" cap="none" strike="noStrike">
              <a:solidFill>
                <a:schemeClr val="dk1"/>
              </a:solidFill>
              <a:latin typeface="Arial"/>
              <a:ea typeface="Arial"/>
              <a:cs typeface="Arial"/>
              <a:sym typeface="Arial"/>
            </a:endParaRPr>
          </a:p>
        </p:txBody>
      </p:sp>
      <p:sp>
        <p:nvSpPr>
          <p:cNvPr id="696" name="Google Shape;696;p69"/>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Availability is the bottleneck. Any code beats none.</a:t>
            </a:r>
            <a:endParaRPr b="0" i="0" sz="2000" u="none" cap="none" strike="noStrike">
              <a:solidFill>
                <a:schemeClr val="dk1"/>
              </a:solidFill>
              <a:latin typeface="Arial"/>
              <a:ea typeface="Arial"/>
              <a:cs typeface="Arial"/>
              <a:sym typeface="Arial"/>
            </a:endParaRPr>
          </a:p>
        </p:txBody>
      </p:sp>
      <p:sp>
        <p:nvSpPr>
          <p:cNvPr id="697" name="Google Shape;697;p69"/>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69"/>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High bar</a:t>
            </a:r>
            <a:endParaRPr b="0" i="0" sz="2200" u="none" cap="none" strike="noStrike">
              <a:solidFill>
                <a:schemeClr val="dk1"/>
              </a:solidFill>
              <a:latin typeface="Arial"/>
              <a:ea typeface="Arial"/>
              <a:cs typeface="Arial"/>
              <a:sym typeface="Arial"/>
            </a:endParaRPr>
          </a:p>
        </p:txBody>
      </p:sp>
      <p:sp>
        <p:nvSpPr>
          <p:cNvPr id="699" name="Google Shape;699;p69"/>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almost everything passes, a badge signals little.</a:t>
            </a:r>
            <a:endParaRPr b="0" i="0" sz="2000" u="none" cap="none" strike="noStrike">
              <a:solidFill>
                <a:schemeClr val="dk1"/>
              </a:solidFill>
              <a:latin typeface="Arial"/>
              <a:ea typeface="Arial"/>
              <a:cs typeface="Arial"/>
              <a:sym typeface="Arial"/>
            </a:endParaRPr>
          </a:p>
        </p:txBody>
      </p:sp>
      <p:sp>
        <p:nvSpPr>
          <p:cNvPr id="700" name="Google Shape;700;p6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5" name="Shape 705"/>
        <p:cNvGrpSpPr/>
        <p:nvPr/>
      </p:nvGrpSpPr>
      <p:grpSpPr>
        <a:xfrm>
          <a:off x="0" y="0"/>
          <a:ext cx="0" cy="0"/>
          <a:chOff x="0" y="0"/>
          <a:chExt cx="0" cy="0"/>
        </a:xfrm>
      </p:grpSpPr>
      <p:sp>
        <p:nvSpPr>
          <p:cNvPr id="706" name="Google Shape;706;p7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707" name="Google Shape;707;p70"/>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checks the checkers?</a:t>
            </a:r>
            <a:endParaRPr b="0" i="0" sz="2600" u="none" cap="none" strike="noStrike">
              <a:solidFill>
                <a:schemeClr val="dk1"/>
              </a:solidFill>
              <a:latin typeface="Arial"/>
              <a:ea typeface="Arial"/>
              <a:cs typeface="Arial"/>
              <a:sym typeface="Arial"/>
            </a:endParaRPr>
          </a:p>
        </p:txBody>
      </p:sp>
      <p:sp>
        <p:nvSpPr>
          <p:cNvPr id="708" name="Google Shape;708;p70"/>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70"/>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Most AEC members serve once, and a third have never built an artifact themselves (pp. 473, 478).</a:t>
            </a:r>
            <a:endParaRPr b="0" i="0" sz="1800" u="none" cap="none" strike="noStrike">
              <a:solidFill>
                <a:schemeClr val="dk1"/>
              </a:solidFill>
              <a:latin typeface="Arial"/>
              <a:ea typeface="Arial"/>
              <a:cs typeface="Arial"/>
              <a:sym typeface="Arial"/>
            </a:endParaRPr>
          </a:p>
        </p:txBody>
      </p:sp>
      <p:sp>
        <p:nvSpPr>
          <p:cNvPr id="710" name="Google Shape;710;p70"/>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70"/>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Students are fine</a:t>
            </a:r>
            <a:endParaRPr b="0" i="0" sz="2200" u="none" cap="none" strike="noStrike">
              <a:solidFill>
                <a:schemeClr val="dk1"/>
              </a:solidFill>
              <a:latin typeface="Arial"/>
              <a:ea typeface="Arial"/>
              <a:cs typeface="Arial"/>
              <a:sym typeface="Arial"/>
            </a:endParaRPr>
          </a:p>
        </p:txBody>
      </p:sp>
      <p:sp>
        <p:nvSpPr>
          <p:cNvPr id="712" name="Google Shape;712;p70"/>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Reviewing is training; fresh eyes see what users will see.</a:t>
            </a:r>
            <a:endParaRPr b="0" i="0" sz="2000" u="none" cap="none" strike="noStrike">
              <a:solidFill>
                <a:schemeClr val="dk1"/>
              </a:solidFill>
              <a:latin typeface="Arial"/>
              <a:ea typeface="Arial"/>
              <a:cs typeface="Arial"/>
              <a:sym typeface="Arial"/>
            </a:endParaRPr>
          </a:p>
        </p:txBody>
      </p:sp>
      <p:sp>
        <p:nvSpPr>
          <p:cNvPr id="713" name="Google Shape;713;p70"/>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70"/>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Experts needed</a:t>
            </a:r>
            <a:endParaRPr b="0" i="0" sz="2200" u="none" cap="none" strike="noStrike">
              <a:solidFill>
                <a:schemeClr val="dk1"/>
              </a:solidFill>
              <a:latin typeface="Arial"/>
              <a:ea typeface="Arial"/>
              <a:cs typeface="Arial"/>
              <a:sym typeface="Arial"/>
            </a:endParaRPr>
          </a:p>
        </p:txBody>
      </p:sp>
      <p:sp>
        <p:nvSpPr>
          <p:cNvPr id="715" name="Google Shape;715;p70"/>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Inexperienced reviewers make badges inconsistent across years.</a:t>
            </a:r>
            <a:endParaRPr b="0" i="0" sz="2000" u="none" cap="none" strike="noStrike">
              <a:solidFill>
                <a:schemeClr val="dk1"/>
              </a:solidFill>
              <a:latin typeface="Arial"/>
              <a:ea typeface="Arial"/>
              <a:cs typeface="Arial"/>
              <a:sym typeface="Arial"/>
            </a:endParaRPr>
          </a:p>
        </p:txBody>
      </p:sp>
      <p:sp>
        <p:nvSpPr>
          <p:cNvPr id="716" name="Google Shape;716;p7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1" name="Shape 721"/>
        <p:cNvGrpSpPr/>
        <p:nvPr/>
      </p:nvGrpSpPr>
      <p:grpSpPr>
        <a:xfrm>
          <a:off x="0" y="0"/>
          <a:ext cx="0" cy="0"/>
          <a:chOff x="0" y="0"/>
          <a:chExt cx="0" cy="0"/>
        </a:xfrm>
      </p:grpSpPr>
      <p:sp>
        <p:nvSpPr>
          <p:cNvPr id="722" name="Google Shape;722;p7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723" name="Google Shape;723;p71"/>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Is "set up in 30 minutes" a quality standard or a convenience rule?</a:t>
            </a:r>
            <a:endParaRPr b="0" i="0" sz="2600" u="none" cap="none" strike="noStrike">
              <a:solidFill>
                <a:schemeClr val="dk1"/>
              </a:solidFill>
              <a:latin typeface="Arial"/>
              <a:ea typeface="Arial"/>
              <a:cs typeface="Arial"/>
              <a:sym typeface="Arial"/>
            </a:endParaRPr>
          </a:p>
        </p:txBody>
      </p:sp>
      <p:sp>
        <p:nvSpPr>
          <p:cNvPr id="724" name="Google Shape;724;p71"/>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71"/>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It is the only concrete threshold in 79 calls (10 calls, p. 472).</a:t>
            </a:r>
            <a:endParaRPr b="0" i="0" sz="1800" u="none" cap="none" strike="noStrike">
              <a:solidFill>
                <a:schemeClr val="dk1"/>
              </a:solidFill>
              <a:latin typeface="Arial"/>
              <a:ea typeface="Arial"/>
              <a:cs typeface="Arial"/>
              <a:sym typeface="Arial"/>
            </a:endParaRPr>
          </a:p>
        </p:txBody>
      </p:sp>
      <p:sp>
        <p:nvSpPr>
          <p:cNvPr id="726" name="Google Shape;726;p71"/>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71"/>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A real standard</a:t>
            </a:r>
            <a:endParaRPr b="0" i="0" sz="2200" u="none" cap="none" strike="noStrike">
              <a:solidFill>
                <a:schemeClr val="dk1"/>
              </a:solidFill>
              <a:latin typeface="Arial"/>
              <a:ea typeface="Arial"/>
              <a:cs typeface="Arial"/>
              <a:sym typeface="Arial"/>
            </a:endParaRPr>
          </a:p>
        </p:txBody>
      </p:sp>
      <p:sp>
        <p:nvSpPr>
          <p:cNvPr id="728" name="Google Shape;728;p71"/>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users cannot start it quickly, they will not use it.</a:t>
            </a:r>
            <a:endParaRPr b="0" i="0" sz="2000" u="none" cap="none" strike="noStrike">
              <a:solidFill>
                <a:schemeClr val="dk1"/>
              </a:solidFill>
              <a:latin typeface="Arial"/>
              <a:ea typeface="Arial"/>
              <a:cs typeface="Arial"/>
              <a:sym typeface="Arial"/>
            </a:endParaRPr>
          </a:p>
        </p:txBody>
      </p:sp>
      <p:sp>
        <p:nvSpPr>
          <p:cNvPr id="729" name="Google Shape;729;p71"/>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71"/>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Just convenience</a:t>
            </a:r>
            <a:endParaRPr b="0" i="0" sz="2200" u="none" cap="none" strike="noStrike">
              <a:solidFill>
                <a:schemeClr val="dk1"/>
              </a:solidFill>
              <a:latin typeface="Arial"/>
              <a:ea typeface="Arial"/>
              <a:cs typeface="Arial"/>
              <a:sym typeface="Arial"/>
            </a:endParaRPr>
          </a:p>
        </p:txBody>
      </p:sp>
      <p:sp>
        <p:nvSpPr>
          <p:cNvPr id="731" name="Google Shape;731;p71"/>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It says nothing about whether the results are right.</a:t>
            </a:r>
            <a:endParaRPr b="0" i="0" sz="2000" u="none" cap="none" strike="noStrike">
              <a:solidFill>
                <a:schemeClr val="dk1"/>
              </a:solidFill>
              <a:latin typeface="Arial"/>
              <a:ea typeface="Arial"/>
              <a:cs typeface="Arial"/>
              <a:sym typeface="Arial"/>
            </a:endParaRPr>
          </a:p>
        </p:txBody>
      </p:sp>
      <p:sp>
        <p:nvSpPr>
          <p:cNvPr id="732" name="Google Shape;732;p7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7" name="Shape 737"/>
        <p:cNvGrpSpPr/>
        <p:nvPr/>
      </p:nvGrpSpPr>
      <p:grpSpPr>
        <a:xfrm>
          <a:off x="0" y="0"/>
          <a:ext cx="0" cy="0"/>
          <a:chOff x="0" y="0"/>
          <a:chExt cx="0" cy="0"/>
        </a:xfrm>
      </p:grpSpPr>
      <p:sp>
        <p:nvSpPr>
          <p:cNvPr id="738" name="Google Shape;738;p72"/>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739" name="Google Shape;739;p72"/>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4" name="Shape 744"/>
        <p:cNvGrpSpPr/>
        <p:nvPr/>
      </p:nvGrpSpPr>
      <p:grpSpPr>
        <a:xfrm>
          <a:off x="0" y="0"/>
          <a:ext cx="0" cy="0"/>
          <a:chOff x="0" y="0"/>
          <a:chExt cx="0" cy="0"/>
        </a:xfrm>
      </p:grpSpPr>
      <p:sp>
        <p:nvSpPr>
          <p:cNvPr id="745" name="Google Shape;745;p7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746" name="Google Shape;746;p73"/>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Counted artifact links in 1434 SE papers and surveyed 153 authors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papers link an artifact, few go through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Twelve challenges for creators, users and reviewers; the root is incentives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Eight recommendations, each aimed at a specific group</a:t>
            </a:r>
            <a:endParaRPr b="0" i="0" sz="2200" u="none" cap="none" strike="noStrike">
              <a:solidFill>
                <a:schemeClr val="dk1"/>
              </a:solidFill>
              <a:latin typeface="Arial"/>
              <a:ea typeface="Arial"/>
              <a:cs typeface="Arial"/>
              <a:sym typeface="Arial"/>
            </a:endParaRPr>
          </a:p>
        </p:txBody>
      </p:sp>
      <p:sp>
        <p:nvSpPr>
          <p:cNvPr id="747" name="Google Shape;747;p7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2" name="Shape 752"/>
        <p:cNvGrpSpPr/>
        <p:nvPr/>
      </p:nvGrpSpPr>
      <p:grpSpPr>
        <a:xfrm>
          <a:off x="0" y="0"/>
          <a:ext cx="0" cy="0"/>
          <a:chOff x="0" y="0"/>
          <a:chExt cx="0" cy="0"/>
        </a:xfrm>
      </p:grpSpPr>
      <p:sp>
        <p:nvSpPr>
          <p:cNvPr id="753" name="Google Shape;753;p7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754" name="Google Shape;754;p7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"any external materials or information provided … via a link" (p. 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Available: the link still works; content was not checked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ACM quality criteria: documented, consistent, complete, exercisable (pp. 4–5)</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Mostly says "replication"; re-running an artifact = our 2020 reproducibility</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Diffusion of Innovations: innovation, channels, time, social system (p. 5)</a:t>
            </a:r>
            <a:endParaRPr b="0" i="0" sz="2200" u="none" cap="none" strike="noStrike">
              <a:solidFill>
                <a:schemeClr val="dk1"/>
              </a:solidFill>
              <a:latin typeface="Arial"/>
              <a:ea typeface="Arial"/>
              <a:cs typeface="Arial"/>
              <a:sym typeface="Arial"/>
            </a:endParaRPr>
          </a:p>
        </p:txBody>
      </p:sp>
      <p:sp>
        <p:nvSpPr>
          <p:cNvPr id="755" name="Google Shape;755;p7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0" name="Shape 760"/>
        <p:cNvGrpSpPr/>
        <p:nvPr/>
      </p:nvGrpSpPr>
      <p:grpSpPr>
        <a:xfrm>
          <a:off x="0" y="0"/>
          <a:ext cx="0" cy="0"/>
          <a:chOff x="0" y="0"/>
          <a:chExt cx="0" cy="0"/>
        </a:xfrm>
      </p:grpSpPr>
      <p:sp>
        <p:nvSpPr>
          <p:cNvPr id="761" name="Google Shape;761;p7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62" name="Google Shape;762;p7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763" name="Google Shape;763;p7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8" name="Shape 768"/>
        <p:cNvGrpSpPr/>
        <p:nvPr/>
      </p:nvGrpSpPr>
      <p:grpSpPr>
        <a:xfrm>
          <a:off x="0" y="0"/>
          <a:ext cx="0" cy="0"/>
          <a:chOff x="0" y="0"/>
          <a:chExt cx="0" cy="0"/>
        </a:xfrm>
      </p:grpSpPr>
      <p:sp>
        <p:nvSpPr>
          <p:cNvPr id="769" name="Google Shape;769;p7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770" name="Google Shape;770;p76"/>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6"/>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1434</a:t>
            </a:r>
            <a:endParaRPr b="0" i="0" sz="3600" u="none" cap="none" strike="noStrike">
              <a:solidFill>
                <a:schemeClr val="dk1"/>
              </a:solidFill>
              <a:latin typeface="Arial"/>
              <a:ea typeface="Arial"/>
              <a:cs typeface="Arial"/>
              <a:sym typeface="Arial"/>
            </a:endParaRPr>
          </a:p>
        </p:txBody>
      </p:sp>
      <p:sp>
        <p:nvSpPr>
          <p:cNvPr id="772" name="Google Shape;772;p76"/>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papers surveyed</a:t>
            </a:r>
            <a:endParaRPr b="0" i="0" sz="1800" u="none" cap="none" strike="noStrike">
              <a:solidFill>
                <a:schemeClr val="dk1"/>
              </a:solidFill>
              <a:latin typeface="Arial"/>
              <a:ea typeface="Arial"/>
              <a:cs typeface="Arial"/>
              <a:sym typeface="Arial"/>
            </a:endParaRPr>
          </a:p>
        </p:txBody>
      </p:sp>
      <p:sp>
        <p:nvSpPr>
          <p:cNvPr id="773" name="Google Shape;773;p76"/>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6"/>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153</a:t>
            </a:r>
            <a:endParaRPr b="0" i="0" sz="3600" u="none" cap="none" strike="noStrike">
              <a:solidFill>
                <a:schemeClr val="dk1"/>
              </a:solidFill>
              <a:latin typeface="Arial"/>
              <a:ea typeface="Arial"/>
              <a:cs typeface="Arial"/>
              <a:sym typeface="Arial"/>
            </a:endParaRPr>
          </a:p>
        </p:txBody>
      </p:sp>
      <p:sp>
        <p:nvSpPr>
          <p:cNvPr id="775" name="Google Shape;775;p76"/>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authors answered</a:t>
            </a:r>
            <a:endParaRPr b="0" i="0" sz="1800" u="none" cap="none" strike="noStrike">
              <a:solidFill>
                <a:schemeClr val="dk1"/>
              </a:solidFill>
              <a:latin typeface="Arial"/>
              <a:ea typeface="Arial"/>
              <a:cs typeface="Arial"/>
              <a:sym typeface="Arial"/>
            </a:endParaRPr>
          </a:p>
        </p:txBody>
      </p:sp>
      <p:sp>
        <p:nvSpPr>
          <p:cNvPr id="776" name="Google Shape;776;p76"/>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6"/>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32</a:t>
            </a:r>
            <a:endParaRPr b="0" i="0" sz="3600" u="none" cap="none" strike="noStrike">
              <a:solidFill>
                <a:schemeClr val="dk1"/>
              </a:solidFill>
              <a:latin typeface="Arial"/>
              <a:ea typeface="Arial"/>
              <a:cs typeface="Arial"/>
              <a:sym typeface="Arial"/>
            </a:endParaRPr>
          </a:p>
        </p:txBody>
      </p:sp>
      <p:sp>
        <p:nvSpPr>
          <p:cNvPr id="778" name="Google Shape;778;p76"/>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of them reviewers</a:t>
            </a:r>
            <a:endParaRPr b="0" i="0" sz="1800" u="none" cap="none" strike="noStrike">
              <a:solidFill>
                <a:schemeClr val="dk1"/>
              </a:solidFill>
              <a:latin typeface="Arial"/>
              <a:ea typeface="Arial"/>
              <a:cs typeface="Arial"/>
              <a:sym typeface="Arial"/>
            </a:endParaRPr>
          </a:p>
        </p:txBody>
      </p:sp>
      <p:sp>
        <p:nvSpPr>
          <p:cNvPr id="779" name="Google Shape;779;p76"/>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All technical papers at ICSE, FSE, ASE, EMSE 2014–2018; links found by regex, checked by hand</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Links checked once, January–February 2019</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744 authors of 2018 papers emailed; 153 answered (22 %)</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Descriptive and axial coding; shows the range of themes, not their prevalence (p. 9)</a:t>
            </a:r>
            <a:endParaRPr b="0" i="0" sz="2000" u="none" cap="none" strike="noStrike">
              <a:solidFill>
                <a:schemeClr val="dk1"/>
              </a:solidFill>
              <a:latin typeface="Arial"/>
              <a:ea typeface="Arial"/>
              <a:cs typeface="Arial"/>
              <a:sym typeface="Arial"/>
            </a:endParaRPr>
          </a:p>
        </p:txBody>
      </p:sp>
      <p:sp>
        <p:nvSpPr>
          <p:cNvPr id="780" name="Google Shape;780;p7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5" name="Shape 785"/>
        <p:cNvGrpSpPr/>
        <p:nvPr/>
      </p:nvGrpSpPr>
      <p:grpSpPr>
        <a:xfrm>
          <a:off x="0" y="0"/>
          <a:ext cx="0" cy="0"/>
          <a:chOff x="0" y="0"/>
          <a:chExt cx="0" cy="0"/>
        </a:xfrm>
      </p:grpSpPr>
      <p:sp>
        <p:nvSpPr>
          <p:cNvPr id="786" name="Google Shape;786;p7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787" name="Google Shape;787;p7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62.7 % of papers link an artifact, rising from 51 % to 69 %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About 14 % of links dead; 26 % for 2014 papers (Fig. 3, p. 20)</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FSE: 74 of 196 artifact papers submitted to AE, 64 accepted (Fig. 4)</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Top user problems: no usage instructions (103), artifact gone (81)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C1 "not worth it" and C10 "no reviewer incentives" drive the rest</a:t>
            </a:r>
            <a:endParaRPr b="0" i="0" sz="2200" u="none" cap="none" strike="noStrike">
              <a:solidFill>
                <a:schemeClr val="dk1"/>
              </a:solidFill>
              <a:latin typeface="Arial"/>
              <a:ea typeface="Arial"/>
              <a:cs typeface="Arial"/>
              <a:sym typeface="Arial"/>
            </a:endParaRPr>
          </a:p>
        </p:txBody>
      </p:sp>
      <p:sp>
        <p:nvSpPr>
          <p:cNvPr id="788" name="Google Shape;788;p7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3" name="Shape 793"/>
        <p:cNvGrpSpPr/>
        <p:nvPr/>
      </p:nvGrpSpPr>
      <p:grpSpPr>
        <a:xfrm>
          <a:off x="0" y="0"/>
          <a:ext cx="0" cy="0"/>
          <a:chOff x="0" y="0"/>
          <a:chExt cx="0" cy="0"/>
        </a:xfrm>
      </p:grpSpPr>
      <p:sp>
        <p:nvSpPr>
          <p:cNvPr id="794" name="Google Shape;794;p7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795" name="Google Shape;795;p78"/>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Creators: describe the artifact, make it self-contained, plan from day one (R1–R3)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and organisers: rubrics, aligned expectations, cheaper reviewing (R4–R6)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Community leaders: count artifacts in hiring, promotion and grants (R7–R8)</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Threats: links ≠ usable artifacts; authors not contacted; 2018 authors only (pp. 10–11)</a:t>
            </a:r>
            <a:endParaRPr b="0" i="0" sz="2200" u="none" cap="none" strike="noStrike">
              <a:solidFill>
                <a:schemeClr val="dk1"/>
              </a:solidFill>
              <a:latin typeface="Arial"/>
              <a:ea typeface="Arial"/>
              <a:cs typeface="Arial"/>
              <a:sym typeface="Arial"/>
            </a:endParaRPr>
          </a:p>
        </p:txBody>
      </p:sp>
      <p:sp>
        <p:nvSpPr>
          <p:cNvPr id="796" name="Google Shape;796;p7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1" name="Shape 801"/>
        <p:cNvGrpSpPr/>
        <p:nvPr/>
      </p:nvGrpSpPr>
      <p:grpSpPr>
        <a:xfrm>
          <a:off x="0" y="0"/>
          <a:ext cx="0" cy="0"/>
          <a:chOff x="0" y="0"/>
          <a:chExt cx="0" cy="0"/>
        </a:xfrm>
      </p:grpSpPr>
      <p:sp>
        <p:nvSpPr>
          <p:cNvPr id="802" name="Google Shape;802;p7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803" name="Google Shape;803;p79"/>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 failed artifact evaluation be able to reject a paper?</a:t>
            </a:r>
            <a:endParaRPr b="0" i="0" sz="2600" u="none" cap="none" strike="noStrike">
              <a:solidFill>
                <a:schemeClr val="dk1"/>
              </a:solidFill>
              <a:latin typeface="Arial"/>
              <a:ea typeface="Arial"/>
              <a:cs typeface="Arial"/>
              <a:sym typeface="Arial"/>
            </a:endParaRPr>
          </a:p>
        </p:txBody>
      </p:sp>
      <p:sp>
        <p:nvSpPr>
          <p:cNvPr id="804" name="Google Shape;804;p79"/>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79"/>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Timperley et al. say artifacts should be part of paper review (p. 28). "The evaluations do not determine if the paper is accepted, so I didn't pay much attention" (Hermann, id 79, p. 478).</a:t>
            </a:r>
            <a:endParaRPr b="0" i="0" sz="1800" u="none" cap="none" strike="noStrike">
              <a:solidFill>
                <a:schemeClr val="dk1"/>
              </a:solidFill>
              <a:latin typeface="Arial"/>
              <a:ea typeface="Arial"/>
              <a:cs typeface="Arial"/>
              <a:sym typeface="Arial"/>
            </a:endParaRPr>
          </a:p>
        </p:txBody>
      </p:sp>
      <p:sp>
        <p:nvSpPr>
          <p:cNvPr id="806" name="Google Shape;806;p79"/>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79"/>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Yes</a:t>
            </a:r>
            <a:endParaRPr b="0" i="0" sz="2200" u="none" cap="none" strike="noStrike">
              <a:solidFill>
                <a:schemeClr val="dk1"/>
              </a:solidFill>
              <a:latin typeface="Arial"/>
              <a:ea typeface="Arial"/>
              <a:cs typeface="Arial"/>
              <a:sym typeface="Arial"/>
            </a:endParaRPr>
          </a:p>
        </p:txBody>
      </p:sp>
      <p:sp>
        <p:nvSpPr>
          <p:cNvPr id="808" name="Google Shape;808;p79"/>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AE is optional decoration.</a:t>
            </a:r>
            <a:endParaRPr b="0" i="0" sz="2000" u="none" cap="none" strike="noStrike">
              <a:solidFill>
                <a:schemeClr val="dk1"/>
              </a:solidFill>
              <a:latin typeface="Arial"/>
              <a:ea typeface="Arial"/>
              <a:cs typeface="Arial"/>
              <a:sym typeface="Arial"/>
            </a:endParaRPr>
          </a:p>
        </p:txBody>
      </p:sp>
      <p:sp>
        <p:nvSpPr>
          <p:cNvPr id="809" name="Google Shape;809;p79"/>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79"/>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No</a:t>
            </a:r>
            <a:endParaRPr b="0" i="0" sz="2200" u="none" cap="none" strike="noStrike">
              <a:solidFill>
                <a:schemeClr val="dk1"/>
              </a:solidFill>
              <a:latin typeface="Arial"/>
              <a:ea typeface="Arial"/>
              <a:cs typeface="Arial"/>
              <a:sym typeface="Arial"/>
            </a:endParaRPr>
          </a:p>
        </p:txBody>
      </p:sp>
      <p:sp>
        <p:nvSpPr>
          <p:cNvPr id="811" name="Google Shape;811;p79"/>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Clashes with double-blind review (C8) and penalises industry papers (C9).</a:t>
            </a:r>
            <a:endParaRPr b="0" i="0" sz="2000" u="none" cap="none" strike="noStrike">
              <a:solidFill>
                <a:schemeClr val="dk1"/>
              </a:solidFill>
              <a:latin typeface="Arial"/>
              <a:ea typeface="Arial"/>
              <a:cs typeface="Arial"/>
              <a:sym typeface="Arial"/>
            </a:endParaRPr>
          </a:p>
        </p:txBody>
      </p:sp>
      <p:sp>
        <p:nvSpPr>
          <p:cNvPr id="812" name="Google Shape;812;p7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7" name="Shape 817"/>
        <p:cNvGrpSpPr/>
        <p:nvPr/>
      </p:nvGrpSpPr>
      <p:grpSpPr>
        <a:xfrm>
          <a:off x="0" y="0"/>
          <a:ext cx="0" cy="0"/>
          <a:chOff x="0" y="0"/>
          <a:chExt cx="0" cy="0"/>
        </a:xfrm>
      </p:grpSpPr>
      <p:sp>
        <p:nvSpPr>
          <p:cNvPr id="818" name="Google Shape;818;p8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819" name="Google Shape;819;p80"/>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keeps an artifact alive after the PhD?</a:t>
            </a:r>
            <a:endParaRPr b="0" i="0" sz="2600" u="none" cap="none" strike="noStrike">
              <a:solidFill>
                <a:schemeClr val="dk1"/>
              </a:solidFill>
              <a:latin typeface="Arial"/>
              <a:ea typeface="Arial"/>
              <a:cs typeface="Arial"/>
              <a:sym typeface="Arial"/>
            </a:endParaRPr>
          </a:p>
        </p:txBody>
      </p:sp>
      <p:sp>
        <p:nvSpPr>
          <p:cNvPr id="820" name="Google Shape;820;p80"/>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80"/>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C3 maintenance (p. 16). R3 asks advisors for transition plans and a Zenodo snapshot (p. 32).</a:t>
            </a:r>
            <a:endParaRPr b="0" i="0" sz="1800" u="none" cap="none" strike="noStrike">
              <a:solidFill>
                <a:schemeClr val="dk1"/>
              </a:solidFill>
              <a:latin typeface="Arial"/>
              <a:ea typeface="Arial"/>
              <a:cs typeface="Arial"/>
              <a:sym typeface="Arial"/>
            </a:endParaRPr>
          </a:p>
        </p:txBody>
      </p:sp>
      <p:sp>
        <p:nvSpPr>
          <p:cNvPr id="822" name="Google Shape;822;p80"/>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80"/>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Snapshot is enough</a:t>
            </a:r>
            <a:endParaRPr b="0" i="0" sz="2200" u="none" cap="none" strike="noStrike">
              <a:solidFill>
                <a:schemeClr val="dk1"/>
              </a:solidFill>
              <a:latin typeface="Arial"/>
              <a:ea typeface="Arial"/>
              <a:cs typeface="Arial"/>
              <a:sym typeface="Arial"/>
            </a:endParaRPr>
          </a:p>
        </p:txBody>
      </p:sp>
      <p:sp>
        <p:nvSpPr>
          <p:cNvPr id="824" name="Google Shape;824;p80"/>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Archive it, mark it unmaintained, move on.</a:t>
            </a:r>
            <a:endParaRPr b="0" i="0" sz="2000" u="none" cap="none" strike="noStrike">
              <a:solidFill>
                <a:schemeClr val="dk1"/>
              </a:solidFill>
              <a:latin typeface="Arial"/>
              <a:ea typeface="Arial"/>
              <a:cs typeface="Arial"/>
              <a:sym typeface="Arial"/>
            </a:endParaRPr>
          </a:p>
        </p:txBody>
      </p:sp>
      <p:sp>
        <p:nvSpPr>
          <p:cNvPr id="825" name="Google Shape;825;p80"/>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80"/>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Ongoing upkeep</a:t>
            </a:r>
            <a:endParaRPr b="0" i="0" sz="2200" u="none" cap="none" strike="noStrike">
              <a:solidFill>
                <a:schemeClr val="dk1"/>
              </a:solidFill>
              <a:latin typeface="Arial"/>
              <a:ea typeface="Arial"/>
              <a:cs typeface="Arial"/>
              <a:sym typeface="Arial"/>
            </a:endParaRPr>
          </a:p>
        </p:txBody>
      </p:sp>
      <p:sp>
        <p:nvSpPr>
          <p:cNvPr id="827" name="Google Shape;827;p80"/>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Research software is infrastructure and needs funding (P102, p. 19).</a:t>
            </a:r>
            <a:endParaRPr b="0" i="0" sz="2000" u="none" cap="none" strike="noStrike">
              <a:solidFill>
                <a:schemeClr val="dk1"/>
              </a:solidFill>
              <a:latin typeface="Arial"/>
              <a:ea typeface="Arial"/>
              <a:cs typeface="Arial"/>
              <a:sym typeface="Arial"/>
            </a:endParaRPr>
          </a:p>
        </p:txBody>
      </p:sp>
      <p:sp>
        <p:nvSpPr>
          <p:cNvPr id="828" name="Google Shape;828;p8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3" name="Shape 833"/>
        <p:cNvGrpSpPr/>
        <p:nvPr/>
      </p:nvGrpSpPr>
      <p:grpSpPr>
        <a:xfrm>
          <a:off x="0" y="0"/>
          <a:ext cx="0" cy="0"/>
          <a:chOff x="0" y="0"/>
          <a:chExt cx="0" cy="0"/>
        </a:xfrm>
      </p:grpSpPr>
      <p:sp>
        <p:nvSpPr>
          <p:cNvPr id="834" name="Google Shape;834;p8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835" name="Google Shape;835;p81"/>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Students as artifact reviewers: training opportunity or devaluation?</a:t>
            </a:r>
            <a:endParaRPr b="0" i="0" sz="2600" u="none" cap="none" strike="noStrike">
              <a:solidFill>
                <a:schemeClr val="dk1"/>
              </a:solidFill>
              <a:latin typeface="Arial"/>
              <a:ea typeface="Arial"/>
              <a:cs typeface="Arial"/>
              <a:sym typeface="Arial"/>
            </a:endParaRPr>
          </a:p>
        </p:txBody>
      </p:sp>
      <p:sp>
        <p:nvSpPr>
          <p:cNvPr id="836" name="Google Shape;836;p81"/>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81"/>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"We usually just make students do AEC … it reinforces the idea that artifacts are not a primary thing" (P64, p. 23).</a:t>
            </a:r>
            <a:endParaRPr b="0" i="0" sz="1800" u="none" cap="none" strike="noStrike">
              <a:solidFill>
                <a:schemeClr val="dk1"/>
              </a:solidFill>
              <a:latin typeface="Arial"/>
              <a:ea typeface="Arial"/>
              <a:cs typeface="Arial"/>
              <a:sym typeface="Arial"/>
            </a:endParaRPr>
          </a:p>
        </p:txBody>
      </p:sp>
      <p:sp>
        <p:nvSpPr>
          <p:cNvPr id="838" name="Google Shape;838;p81"/>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81"/>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Training</a:t>
            </a:r>
            <a:endParaRPr b="0" i="0" sz="2200" u="none" cap="none" strike="noStrike">
              <a:solidFill>
                <a:schemeClr val="dk1"/>
              </a:solidFill>
              <a:latin typeface="Arial"/>
              <a:ea typeface="Arial"/>
              <a:cs typeface="Arial"/>
              <a:sym typeface="Arial"/>
            </a:endParaRPr>
          </a:p>
        </p:txBody>
      </p:sp>
      <p:sp>
        <p:nvSpPr>
          <p:cNvPr id="840" name="Google Shape;840;p81"/>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Students learn what good artifacts look like.</a:t>
            </a:r>
            <a:endParaRPr b="0" i="0" sz="2000" u="none" cap="none" strike="noStrike">
              <a:solidFill>
                <a:schemeClr val="dk1"/>
              </a:solidFill>
              <a:latin typeface="Arial"/>
              <a:ea typeface="Arial"/>
              <a:cs typeface="Arial"/>
              <a:sym typeface="Arial"/>
            </a:endParaRPr>
          </a:p>
        </p:txBody>
      </p:sp>
      <p:sp>
        <p:nvSpPr>
          <p:cNvPr id="841" name="Google Shape;841;p81"/>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81"/>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Devaluation</a:t>
            </a:r>
            <a:endParaRPr b="0" i="0" sz="2200" u="none" cap="none" strike="noStrike">
              <a:solidFill>
                <a:schemeClr val="dk1"/>
              </a:solidFill>
              <a:latin typeface="Arial"/>
              <a:ea typeface="Arial"/>
              <a:cs typeface="Arial"/>
              <a:sym typeface="Arial"/>
            </a:endParaRPr>
          </a:p>
        </p:txBody>
      </p:sp>
      <p:sp>
        <p:nvSpPr>
          <p:cNvPr id="843" name="Google Shape;843;p81"/>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Signals that artifact work is second-class.</a:t>
            </a:r>
            <a:endParaRPr b="0" i="0" sz="2000" u="none" cap="none" strike="noStrike">
              <a:solidFill>
                <a:schemeClr val="dk1"/>
              </a:solidFill>
              <a:latin typeface="Arial"/>
              <a:ea typeface="Arial"/>
              <a:cs typeface="Arial"/>
              <a:sym typeface="Arial"/>
            </a:endParaRPr>
          </a:p>
        </p:txBody>
      </p:sp>
      <p:sp>
        <p:nvSpPr>
          <p:cNvPr id="844" name="Google Shape;844;p8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9" name="Shape 849"/>
        <p:cNvGrpSpPr/>
        <p:nvPr/>
      </p:nvGrpSpPr>
      <p:grpSpPr>
        <a:xfrm>
          <a:off x="0" y="0"/>
          <a:ext cx="0" cy="0"/>
          <a:chOff x="0" y="0"/>
          <a:chExt cx="0" cy="0"/>
        </a:xfrm>
      </p:grpSpPr>
      <p:sp>
        <p:nvSpPr>
          <p:cNvPr id="850" name="Google Shape;850;p82"/>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851" name="Google Shape;851;p82"/>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6" name="Shape 856"/>
        <p:cNvGrpSpPr/>
        <p:nvPr/>
      </p:nvGrpSpPr>
      <p:grpSpPr>
        <a:xfrm>
          <a:off x="0" y="0"/>
          <a:ext cx="0" cy="0"/>
          <a:chOff x="0" y="0"/>
          <a:chExt cx="0" cy="0"/>
        </a:xfrm>
      </p:grpSpPr>
      <p:sp>
        <p:nvSpPr>
          <p:cNvPr id="857" name="Google Shape;857;p8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graphicFrame>
        <p:nvGraphicFramePr>
          <p:cNvPr id="858" name="Google Shape;858;p83"/>
          <p:cNvGraphicFramePr/>
          <p:nvPr/>
        </p:nvGraphicFramePr>
        <p:xfrm>
          <a:off x="640080" y="1554480"/>
          <a:ext cx="3000000" cy="3000000"/>
        </p:xfrm>
        <a:graphic>
          <a:graphicData uri="http://schemas.openxmlformats.org/drawingml/2006/table">
            <a:tbl>
              <a:tblPr>
                <a:noFill/>
                <a:tableStyleId>{B93A5F36-DCFF-479B-8887-EC226CF57605}</a:tableStyleId>
              </a:tblPr>
              <a:tblGrid>
                <a:gridCol w="3637175"/>
                <a:gridCol w="3637175"/>
                <a:gridCol w="3637175"/>
              </a:tblGrid>
              <a:tr h="640075">
                <a:tc>
                  <a:txBody>
                    <a:bodyPr/>
                    <a:lstStyle/>
                    <a:p>
                      <a:pPr indent="0" lvl="0" marL="0" marR="0" rtl="0" algn="l">
                        <a:spcBef>
                          <a:spcPts val="0"/>
                        </a:spcBef>
                        <a:spcAft>
                          <a:spcPts val="0"/>
                        </a:spcAft>
                        <a:buClr>
                          <a:schemeClr val="dk1"/>
                        </a:buClr>
                        <a:buSzPts val="2000"/>
                        <a:buFont typeface="Arial"/>
                        <a:buNone/>
                      </a:pPr>
                      <a:r>
                        <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Hermann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Timperley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Asked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Reviewers (AEC members)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Authors (few reviewers)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Field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and programming languages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only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Diagnosis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Unclear purpose and standards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Misaligned incentives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Proposal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Standards per community in the calls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R1–R8 for each group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bl>
          </a:graphicData>
        </a:graphic>
      </p:graphicFrame>
      <p:sp>
        <p:nvSpPr>
          <p:cNvPr id="859" name="Google Shape;859;p83"/>
          <p:cNvSpPr txBox="1"/>
          <p:nvPr/>
        </p:nvSpPr>
        <p:spPr>
          <a:xfrm>
            <a:off x="640080" y="507492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Timperley et al. build three recommendations on Hermann et al.</a:t>
            </a:r>
            <a:endParaRPr b="0" i="0" sz="1800" u="none" cap="none" strike="noStrike">
              <a:solidFill>
                <a:schemeClr val="dk1"/>
              </a:solidFill>
              <a:latin typeface="Arial"/>
              <a:ea typeface="Arial"/>
              <a:cs typeface="Arial"/>
              <a:sym typeface="Arial"/>
            </a:endParaRPr>
          </a:p>
        </p:txBody>
      </p:sp>
      <p:sp>
        <p:nvSpPr>
          <p:cNvPr id="860" name="Google Shape;860;p8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5" name="Shape 865"/>
        <p:cNvGrpSpPr/>
        <p:nvPr/>
      </p:nvGrpSpPr>
      <p:grpSpPr>
        <a:xfrm>
          <a:off x="0" y="0"/>
          <a:ext cx="0" cy="0"/>
          <a:chOff x="0" y="0"/>
          <a:chExt cx="0" cy="0"/>
        </a:xfrm>
      </p:grpSpPr>
      <p:sp>
        <p:nvSpPr>
          <p:cNvPr id="866" name="Google Shape;866;p8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867" name="Google Shape;867;p8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No agreed quality threshold (Hermann p. 478; Timperley C6, p. 16)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are inexperienced and under-rewarded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Both lean towards coupling AE to paper acceptance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Neither opens an artifact or tests whether badges mean better artifacts</a:t>
            </a:r>
            <a:endParaRPr b="0" i="0" sz="2200" u="none" cap="none" strike="noStrike">
              <a:solidFill>
                <a:schemeClr val="dk1"/>
              </a:solidFill>
              <a:latin typeface="Arial"/>
              <a:ea typeface="Arial"/>
              <a:cs typeface="Arial"/>
              <a:sym typeface="Arial"/>
            </a:endParaRPr>
          </a:p>
        </p:txBody>
      </p:sp>
      <p:sp>
        <p:nvSpPr>
          <p:cNvPr id="868" name="Google Shape;868;p8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3" name="Shape 873"/>
        <p:cNvGrpSpPr/>
        <p:nvPr/>
      </p:nvGrpSpPr>
      <p:grpSpPr>
        <a:xfrm>
          <a:off x="0" y="0"/>
          <a:ext cx="0" cy="0"/>
          <a:chOff x="0" y="0"/>
          <a:chExt cx="0" cy="0"/>
        </a:xfrm>
      </p:grpSpPr>
      <p:sp>
        <p:nvSpPr>
          <p:cNvPr id="874" name="Google Shape;874;p8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875" name="Google Shape;875;p85"/>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Fix the definitions first, or the incentives?</a:t>
            </a:r>
            <a:endParaRPr b="0" i="0" sz="2600" u="none" cap="none" strike="noStrike">
              <a:solidFill>
                <a:schemeClr val="dk1"/>
              </a:solidFill>
              <a:latin typeface="Arial"/>
              <a:ea typeface="Arial"/>
              <a:cs typeface="Arial"/>
              <a:sym typeface="Arial"/>
            </a:endParaRPr>
          </a:p>
        </p:txBody>
      </p:sp>
      <p:sp>
        <p:nvSpPr>
          <p:cNvPr id="876" name="Google Shape;876;p85"/>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85"/>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Hermann: purpose, criteria and terms (p. 479). Timperley: "not worth it" (C1) and rewards in hiring and grants (R7, p. 34).</a:t>
            </a:r>
            <a:endParaRPr b="0" i="0" sz="1800" u="none" cap="none" strike="noStrike">
              <a:solidFill>
                <a:schemeClr val="dk1"/>
              </a:solidFill>
              <a:latin typeface="Arial"/>
              <a:ea typeface="Arial"/>
              <a:cs typeface="Arial"/>
              <a:sym typeface="Arial"/>
            </a:endParaRPr>
          </a:p>
        </p:txBody>
      </p:sp>
      <p:sp>
        <p:nvSpPr>
          <p:cNvPr id="878" name="Google Shape;878;p85"/>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85"/>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Standards first</a:t>
            </a:r>
            <a:endParaRPr b="0" i="0" sz="2200" u="none" cap="none" strike="noStrike">
              <a:solidFill>
                <a:schemeClr val="dk1"/>
              </a:solidFill>
              <a:latin typeface="Arial"/>
              <a:ea typeface="Arial"/>
              <a:cs typeface="Arial"/>
              <a:sym typeface="Arial"/>
            </a:endParaRPr>
          </a:p>
        </p:txBody>
      </p:sp>
      <p:sp>
        <p:nvSpPr>
          <p:cNvPr id="880" name="Google Shape;880;p85"/>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You cannot reward what you cannot measure.</a:t>
            </a:r>
            <a:endParaRPr b="0" i="0" sz="2000" u="none" cap="none" strike="noStrike">
              <a:solidFill>
                <a:schemeClr val="dk1"/>
              </a:solidFill>
              <a:latin typeface="Arial"/>
              <a:ea typeface="Arial"/>
              <a:cs typeface="Arial"/>
              <a:sym typeface="Arial"/>
            </a:endParaRPr>
          </a:p>
        </p:txBody>
      </p:sp>
      <p:sp>
        <p:nvSpPr>
          <p:cNvPr id="881" name="Google Shape;881;p85"/>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85"/>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Incentives first</a:t>
            </a:r>
            <a:endParaRPr b="0" i="0" sz="2200" u="none" cap="none" strike="noStrike">
              <a:solidFill>
                <a:schemeClr val="dk1"/>
              </a:solidFill>
              <a:latin typeface="Arial"/>
              <a:ea typeface="Arial"/>
              <a:cs typeface="Arial"/>
              <a:sym typeface="Arial"/>
            </a:endParaRPr>
          </a:p>
        </p:txBody>
      </p:sp>
      <p:sp>
        <p:nvSpPr>
          <p:cNvPr id="883" name="Google Shape;883;p85"/>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Perfect criteria change nothing if nobody submits.</a:t>
            </a:r>
            <a:endParaRPr b="0" i="0" sz="2000" u="none" cap="none" strike="noStrike">
              <a:solidFill>
                <a:schemeClr val="dk1"/>
              </a:solidFill>
              <a:latin typeface="Arial"/>
              <a:ea typeface="Arial"/>
              <a:cs typeface="Arial"/>
              <a:sym typeface="Arial"/>
            </a:endParaRPr>
          </a:p>
        </p:txBody>
      </p:sp>
      <p:sp>
        <p:nvSpPr>
          <p:cNvPr id="884" name="Google Shape;884;p8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9" name="Shape 889"/>
        <p:cNvGrpSpPr/>
        <p:nvPr/>
      </p:nvGrpSpPr>
      <p:grpSpPr>
        <a:xfrm>
          <a:off x="0" y="0"/>
          <a:ext cx="0" cy="0"/>
          <a:chOff x="0" y="0"/>
          <a:chExt cx="0" cy="0"/>
        </a:xfrm>
      </p:grpSpPr>
      <p:sp>
        <p:nvSpPr>
          <p:cNvPr id="890" name="Google Shape;890;p8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891" name="Google Shape;891;p86"/>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Run the authors' scripts, or try to break them?</a:t>
            </a:r>
            <a:endParaRPr b="0" i="0" sz="2600" u="none" cap="none" strike="noStrike">
              <a:solidFill>
                <a:schemeClr val="dk1"/>
              </a:solidFill>
              <a:latin typeface="Arial"/>
              <a:ea typeface="Arial"/>
              <a:cs typeface="Arial"/>
              <a:sym typeface="Arial"/>
            </a:endParaRPr>
          </a:p>
        </p:txBody>
      </p:sp>
      <p:sp>
        <p:nvSpPr>
          <p:cNvPr id="892" name="Google Shape;892;p86"/>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86"/>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"AECs, by asking for replicable scripts, are likely to replicate the same mistake" (Timperley P25, p. 22). Hermann: hard-coded outputs found only by reading code (p. 477).</a:t>
            </a:r>
            <a:endParaRPr b="0" i="0" sz="1800" u="none" cap="none" strike="noStrike">
              <a:solidFill>
                <a:schemeClr val="dk1"/>
              </a:solidFill>
              <a:latin typeface="Arial"/>
              <a:ea typeface="Arial"/>
              <a:cs typeface="Arial"/>
              <a:sym typeface="Arial"/>
            </a:endParaRPr>
          </a:p>
        </p:txBody>
      </p:sp>
      <p:sp>
        <p:nvSpPr>
          <p:cNvPr id="894" name="Google Shape;894;p86"/>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86"/>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Run scripts</a:t>
            </a:r>
            <a:endParaRPr b="0" i="0" sz="2200" u="none" cap="none" strike="noStrike">
              <a:solidFill>
                <a:schemeClr val="dk1"/>
              </a:solidFill>
              <a:latin typeface="Arial"/>
              <a:ea typeface="Arial"/>
              <a:cs typeface="Arial"/>
              <a:sym typeface="Arial"/>
            </a:endParaRPr>
          </a:p>
        </p:txBody>
      </p:sp>
      <p:sp>
        <p:nvSpPr>
          <p:cNvPr id="896" name="Google Shape;896;p86"/>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Cheap, scalable: exactly 2020 reproducibility.</a:t>
            </a:r>
            <a:endParaRPr b="0" i="0" sz="2000" u="none" cap="none" strike="noStrike">
              <a:solidFill>
                <a:schemeClr val="dk1"/>
              </a:solidFill>
              <a:latin typeface="Arial"/>
              <a:ea typeface="Arial"/>
              <a:cs typeface="Arial"/>
              <a:sym typeface="Arial"/>
            </a:endParaRPr>
          </a:p>
        </p:txBody>
      </p:sp>
      <p:sp>
        <p:nvSpPr>
          <p:cNvPr id="897" name="Google Shape;897;p86"/>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86"/>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Probe</a:t>
            </a:r>
            <a:endParaRPr b="0" i="0" sz="2200" u="none" cap="none" strike="noStrike">
              <a:solidFill>
                <a:schemeClr val="dk1"/>
              </a:solidFill>
              <a:latin typeface="Arial"/>
              <a:ea typeface="Arial"/>
              <a:cs typeface="Arial"/>
              <a:sym typeface="Arial"/>
            </a:endParaRPr>
          </a:p>
        </p:txBody>
      </p:sp>
      <p:sp>
        <p:nvSpPr>
          <p:cNvPr id="899" name="Google Shape;899;p86"/>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 badge certifies a repeatable bug.</a:t>
            </a:r>
            <a:endParaRPr b="0" i="0" sz="2000" u="none" cap="none" strike="noStrike">
              <a:solidFill>
                <a:schemeClr val="dk1"/>
              </a:solidFill>
              <a:latin typeface="Arial"/>
              <a:ea typeface="Arial"/>
              <a:cs typeface="Arial"/>
              <a:sym typeface="Arial"/>
            </a:endParaRPr>
          </a:p>
        </p:txBody>
      </p:sp>
      <p:sp>
        <p:nvSpPr>
          <p:cNvPr id="900" name="Google Shape;900;p8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5" name="Shape 905"/>
        <p:cNvGrpSpPr/>
        <p:nvPr/>
      </p:nvGrpSpPr>
      <p:grpSpPr>
        <a:xfrm>
          <a:off x="0" y="0"/>
          <a:ext cx="0" cy="0"/>
          <a:chOff x="0" y="0"/>
          <a:chExt cx="0" cy="0"/>
        </a:xfrm>
      </p:grpSpPr>
      <p:sp>
        <p:nvSpPr>
          <p:cNvPr id="906" name="Google Shape;906;p87"/>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907" name="Google Shape;907;p87"/>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2" name="Shape 912"/>
        <p:cNvGrpSpPr/>
        <p:nvPr/>
      </p:nvGrpSpPr>
      <p:grpSpPr>
        <a:xfrm>
          <a:off x="0" y="0"/>
          <a:ext cx="0" cy="0"/>
          <a:chOff x="0" y="0"/>
          <a:chExt cx="0" cy="0"/>
        </a:xfrm>
      </p:grpSpPr>
      <p:sp>
        <p:nvSpPr>
          <p:cNvPr id="913" name="Google Shape;913;p8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1</a:t>
            </a:r>
            <a:endParaRPr b="0" i="0" sz="4000" u="none" cap="none" strike="noStrike">
              <a:solidFill>
                <a:schemeClr val="dk1"/>
              </a:solidFill>
              <a:latin typeface="Arial"/>
              <a:ea typeface="Arial"/>
              <a:cs typeface="Arial"/>
              <a:sym typeface="Arial"/>
            </a:endParaRPr>
          </a:p>
        </p:txBody>
      </p:sp>
      <p:sp>
        <p:nvSpPr>
          <p:cNvPr id="914" name="Google Shape;914;p88"/>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authors who never submit are missing</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125 PL vs 36 SE respondents; SE counts often single digits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257 started, 124 finished; each question has a different sample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Card-sort counts look precise but depend on one labeller</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PL/SE totals differ between sections (p. 472 vs p. 474)</a:t>
            </a:r>
            <a:endParaRPr b="0" i="0" sz="2200" u="none" cap="none" strike="noStrike">
              <a:solidFill>
                <a:schemeClr val="dk1"/>
              </a:solidFill>
              <a:latin typeface="Arial"/>
              <a:ea typeface="Arial"/>
              <a:cs typeface="Arial"/>
              <a:sym typeface="Arial"/>
            </a:endParaRPr>
          </a:p>
        </p:txBody>
      </p:sp>
      <p:sp>
        <p:nvSpPr>
          <p:cNvPr id="915" name="Google Shape;915;p8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0" name="Shape 920"/>
        <p:cNvGrpSpPr/>
        <p:nvPr/>
      </p:nvGrpSpPr>
      <p:grpSpPr>
        <a:xfrm>
          <a:off x="0" y="0"/>
          <a:ext cx="0" cy="0"/>
          <a:chOff x="0" y="0"/>
          <a:chExt cx="0" cy="0"/>
        </a:xfrm>
      </p:grpSpPr>
      <p:sp>
        <p:nvSpPr>
          <p:cNvPr id="921" name="Google Shape;921;p8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2</a:t>
            </a:r>
            <a:endParaRPr b="0" i="0" sz="4000" u="none" cap="none" strike="noStrike">
              <a:solidFill>
                <a:schemeClr val="dk1"/>
              </a:solidFill>
              <a:latin typeface="Arial"/>
              <a:ea typeface="Arial"/>
              <a:cs typeface="Arial"/>
              <a:sym typeface="Arial"/>
            </a:endParaRPr>
          </a:p>
        </p:txBody>
      </p:sp>
      <p:sp>
        <p:nvSpPr>
          <p:cNvPr id="922" name="Google Shape;922;p89"/>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link counts as an artifact; a live link counts as available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"value" rests on link counts and quotes from willing respondents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Fig. 4: 26.33 % is 74 of all 281 papers; of 196 artifact papers it is 38 %</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Small inconsistencies: 81 vs 82, 60 vs 62; Table 6 cites an undefined C13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recommendations still ask creators and reviewers for more work</a:t>
            </a:r>
            <a:endParaRPr b="0" i="0" sz="2200" u="none" cap="none" strike="noStrike">
              <a:solidFill>
                <a:schemeClr val="dk1"/>
              </a:solidFill>
              <a:latin typeface="Arial"/>
              <a:ea typeface="Arial"/>
              <a:cs typeface="Arial"/>
              <a:sym typeface="Arial"/>
            </a:endParaRPr>
          </a:p>
        </p:txBody>
      </p:sp>
      <p:sp>
        <p:nvSpPr>
          <p:cNvPr id="923" name="Google Shape;923;p8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8" name="Shape 928"/>
        <p:cNvGrpSpPr/>
        <p:nvPr/>
      </p:nvGrpSpPr>
      <p:grpSpPr>
        <a:xfrm>
          <a:off x="0" y="0"/>
          <a:ext cx="0" cy="0"/>
          <a:chOff x="0" y="0"/>
          <a:chExt cx="0" cy="0"/>
        </a:xfrm>
      </p:grpSpPr>
      <p:sp>
        <p:nvSpPr>
          <p:cNvPr id="929" name="Google Shape;929;p9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930" name="Google Shape;930;p9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931" name="Google Shape;931;p9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6" name="Shape 936"/>
        <p:cNvGrpSpPr/>
        <p:nvPr/>
      </p:nvGrpSpPr>
      <p:grpSpPr>
        <a:xfrm>
          <a:off x="0" y="0"/>
          <a:ext cx="0" cy="0"/>
          <a:chOff x="0" y="0"/>
          <a:chExt cx="0" cy="0"/>
        </a:xfrm>
      </p:grpSpPr>
      <p:sp>
        <p:nvSpPr>
          <p:cNvPr id="937" name="Google Shape;937;p91"/>
          <p:cNvSpPr txBox="1"/>
          <p:nvPr/>
        </p:nvSpPr>
        <p:spPr>
          <a:xfrm>
            <a:off x="640080" y="2560320"/>
            <a:ext cx="10911535"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