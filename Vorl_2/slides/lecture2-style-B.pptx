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a004be6-2fd6-b06f-a0ab-15be5a1caadc}">
          <p14:sldIdLst>
            <p14:sldId id="256"/>
            <p14:sldId id="257"/>
          </p14:sldIdLst>
        </p14:section>
        <p14:section name="Paper 1" id="{388f2aca-ca81-15fd-513a-8a5d519a775b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aper 2" id="{c873cca1-eec6-1ad6-fba6-6597845128ea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ross Comparison" id="{00678f4c-f69d-7d58-8653-1547f1ca7d91}">
          <p14:sldIdLst>
            <p14:sldId id="278"/>
            <p14:sldId id="279"/>
            <p14:sldId id="280"/>
            <p14:sldId id="281"/>
            <p14:sldId id="282"/>
          </p14:sldIdLst>
        </p14:section>
        <p14:section name="Criticism" id="{8f752d6b-b43d-f2b6-3321-1dcb30d99311}">
          <p14:sldIdLst>
            <p14:sldId id="283"/>
            <p14:sldId id="284"/>
            <p14:sldId id="285"/>
          </p14:sldIdLst>
        </p14:section>
        <p14:section name="Close" id="{e6b2780b-1f29-c60e-c03b-7c33c62c080f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Two papers on artifact evaluation, one asking reviewers, one asking authors. Stefan Winter, our lecturer, co-wrote the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message: AE grew from the FSE 2011 pilot, but there is no evidence yet that it leads to better artifacts (p. 469).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when respondents said 'reproducibility', under the 2020 definitions they were right; the paper reads it as replicability (p. 473).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RQs on p. 470.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§3 p. 471, §4.1 pp. 472–473. No artifact was opened.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reviewer caught a fraudulent artifact with hard-coded outputs (p. 477). 13 respondents want AE coupled to paper acceptance, unprompted (p. 478).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§6 threats pp. 478–479; §7 implications p. 479.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Follow-up: 34 users saw no difference between evaluated and unevaluated artifacts (p. 477).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own point. Would you sign up for an AEC next year? Why or why not?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own point. What would a second, meaningful threshold look like?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methods, then a Diffusion of Innovations secondary analysis (pp. 2–3).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Implementation Science: evidence-based, iterative change from medicine (p.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p.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§3, pp. 6–9. FSE AEC chairs supplied submission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challenges, Table 4 pp. 14–15: not worth it, portability, maintenance, tacit knowledge, doesn't fit purpose, no standards, hosting, double-blind review, external constraints, no reviewer incentives, technical obstacles, limited communication.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Authors believe artifacts should be reviewed as part of paper review (p. 28).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 way: conditional acceptance (Hermann id 214, p. 478).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 link: Docker may not exist in 40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own point. Connects to Hermann's one-time reviewers.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Follow-up: P31 stopped submitting because of 'wildly different reviewer expectations' (p. 26). Standards or incentive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Outside the box: what if an AI agent ran every artifact automatically? What would it miss?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Counterpoint: explicitly qualitative, a 'first step', data published.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Counterpoint: careful about what thematic analysis shows, data on Zenodo, concrete recommendations.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8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2: Paper Discussion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6576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Hermann, Winter &amp; Siegmund (FSE 2020) · Timperley, Herckis, Le Goues &amp; Hilton (EMSE 2021)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3F1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Seminar: Reproducibility of Scientific Results in Software Engineering Research · 27 October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55448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1: Hermann et al. 2020 · summary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3464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3464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2: Timperley et al. 2021 · summary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747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47472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1148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11480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comparison: similarities and differences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754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75488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what do you agree with?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3949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539496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 of the papers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3F1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Hermann, Winter &amp; Siegmund (2020): Community Expectations for Research Artifacts and Evaluation Processes · ESEC/FSE, pp. 469–480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Summary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 evaluation (AE): committees check artifacts of accepted papers and award badges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Asked the reviewers (AEC members) what AE is for and what they expect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no shared quality threshold and inconsistent terms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badge only means something within one conference and year (p. 478)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Terminology / Definitions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3637178"/>
                <a:gridCol w="3637178"/>
                <a:gridCol w="3637178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 (old ACM)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lecture (2020)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team, same setup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team, authors' artifacts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Reproducibility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team, own artifacts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Reproducibility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44348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Footnote 5, p. 471. Artifact = "a self-contained work result, having a context-specific purpose" (p. 470). Badges: Available, Functional, Reusable, Results.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RQ1: What do AEC members see as the purpose of artifact evaluation?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RQ2: What do they expect from an artifact as reviewers?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RQ3: What do they expect as users of artifacts?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Pre-study: what do calls for artifacts and ACM guidelines demand?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3" name="panel0"/>
          <p:cNvSpPr/>
          <p:nvPr/>
        </p:nvSpPr>
        <p:spPr>
          <a:xfrm>
            <a:off x="640080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analysed</a:t>
            </a:r>
            <a:endParaRPr lang="en-US" sz="1800" dirty="0"/>
          </a:p>
        </p:txBody>
      </p:sp>
      <p:sp>
        <p:nvSpPr>
          <p:cNvPr id="6" name="panel1"/>
          <p:cNvSpPr/>
          <p:nvPr/>
        </p:nvSpPr>
        <p:spPr>
          <a:xfrm>
            <a:off x="4368698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97298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1034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97498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invited</a:t>
            </a:r>
            <a:endParaRPr lang="en-US" sz="1800" dirty="0"/>
          </a:p>
        </p:txBody>
      </p:sp>
      <p:sp>
        <p:nvSpPr>
          <p:cNvPr id="9" name="panel2"/>
          <p:cNvSpPr/>
          <p:nvPr/>
        </p:nvSpPr>
        <p:spPr>
          <a:xfrm>
            <a:off x="8097317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5917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926117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1091153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calls for artifacts, SE and PL conferences, 2011–2019, coded by two researchers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 with open questions sent to 1034 AEC members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 responded, 124 completed; ~25 % response; mostly programming languages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grouped by open card sorting; counts given as total (PL/SE)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name criteria (documentation 46, consistency 45) but no levels (pp. 471–472)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drifts: from checking claims to reproducibility and reuse (RQ1)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want reproducible results, users want reusable tools (RQ2, RQ3)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users see a difference between evaluated and unevaluated artifacts, 34 do not (p. 477)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reviewers serve once; a third never submitted an artifact (pp. 473, 478)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Validity /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AEC members asked, mostly PL: a deliberate trade-off (p. 479)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sorting by one labeller, checked by a second, no agreement measure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Implications: purpose and standards per community, written into the calls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one-time reviewers; couple AE more tightly to acceptance (p. 479)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artifact badges be easy to get or hard to get?</a:t>
            </a:r>
            <a:endParaRPr lang="en-US" sz="2600" dirty="0"/>
          </a:p>
        </p:txBody>
      </p:sp>
      <p:sp>
        <p:nvSpPr>
          <p:cNvPr id="4" name="panel3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"Enforcing quality criteria only means that some authors will not publish their code" (id 96, p. 475). ICSE and FSE dropped the Functional badge to raise the bar (p. 476).</a:t>
            </a:r>
            <a:endParaRPr lang="en-US" sz="1800" dirty="0"/>
          </a:p>
        </p:txBody>
      </p:sp>
      <p:sp>
        <p:nvSpPr>
          <p:cNvPr id="6" name="panel4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bar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 is the bottleneck. Any code beats none.</a:t>
            </a:r>
            <a:endParaRPr lang="en-US" sz="2000" dirty="0"/>
          </a:p>
        </p:txBody>
      </p:sp>
      <p:sp>
        <p:nvSpPr>
          <p:cNvPr id="9" name="panel5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bar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almost everything passes, a badge signals little.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checks the checkers?</a:t>
            </a:r>
            <a:endParaRPr lang="en-US" sz="2600" dirty="0"/>
          </a:p>
        </p:txBody>
      </p:sp>
      <p:sp>
        <p:nvSpPr>
          <p:cNvPr id="4" name="panel6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AEC members serve once, and a third have never built an artifact themselves (pp. 473, 478).</a:t>
            </a:r>
            <a:endParaRPr lang="en-US" sz="1800" dirty="0"/>
          </a:p>
        </p:txBody>
      </p:sp>
      <p:sp>
        <p:nvSpPr>
          <p:cNvPr id="6" name="panel7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are fine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Reviewing is training; fresh eyes see what users will see.</a:t>
            </a:r>
            <a:endParaRPr lang="en-US" sz="2000" dirty="0"/>
          </a:p>
        </p:txBody>
      </p:sp>
      <p:sp>
        <p:nvSpPr>
          <p:cNvPr id="9" name="panel8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Experts needed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Inexperienced reviewers make badges inconsistent across years.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"set up in 30 minutes" a quality standard or a convenience rule?</a:t>
            </a:r>
            <a:endParaRPr lang="en-US" sz="2600" dirty="0"/>
          </a:p>
        </p:txBody>
      </p:sp>
      <p:sp>
        <p:nvSpPr>
          <p:cNvPr id="4" name="panel9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only concrete threshold in 79 calls (10 calls, p. 472).</a:t>
            </a:r>
            <a:endParaRPr lang="en-US" sz="1800" dirty="0"/>
          </a:p>
        </p:txBody>
      </p:sp>
      <p:sp>
        <p:nvSpPr>
          <p:cNvPr id="6" name="panel10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standard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users cannot start it quickly, they will not use it.</a:t>
            </a:r>
            <a:endParaRPr lang="en-US" sz="2000" dirty="0"/>
          </a:p>
        </p:txBody>
      </p:sp>
      <p:sp>
        <p:nvSpPr>
          <p:cNvPr id="9" name="panel11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convenience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says nothing about whether the results are right.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3F1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Timperley, Herckis, Le Goues &amp; Hilton (2021): Understanding and improving artifact sharing in software engineering research · EMSE 26:67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Summary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Counted artifact links in 1434 SE papers and surveyed 153 authors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papers link an artifact, few go through artifact evaluation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challenges for creators, users and reviewers; the root is incentives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recommendations, each aimed at a specific group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Terminology / Definitions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Artifact: "any external materials or information provided … via a link" (p. 3)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Available: the link still works; content was not checked (p. 11)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quality criteria: documented, consistent, complete, exercisable (pp. 4–5)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says "replication"; re-running an artifact = our 2020 reproducibility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of Innovations: innovation, channels, time, social system (p. 5)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RQ1: Does the SE community perceive inherent value in artifacts?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RQ2.1: What challenges do artifact creators face?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RQ2.2: What challenges do artifact users face?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RQ2.3: What challenges do artifact reviewers face?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3" name="panel12"/>
          <p:cNvSpPr/>
          <p:nvPr/>
        </p:nvSpPr>
        <p:spPr>
          <a:xfrm>
            <a:off x="640080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1434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papers surveyed</a:t>
            </a:r>
            <a:endParaRPr lang="en-US" sz="1800" dirty="0"/>
          </a:p>
        </p:txBody>
      </p:sp>
      <p:sp>
        <p:nvSpPr>
          <p:cNvPr id="6" name="panel13"/>
          <p:cNvSpPr/>
          <p:nvPr/>
        </p:nvSpPr>
        <p:spPr>
          <a:xfrm>
            <a:off x="4368698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97298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97498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 answered</a:t>
            </a:r>
            <a:endParaRPr lang="en-US" sz="1800" dirty="0"/>
          </a:p>
        </p:txBody>
      </p:sp>
      <p:sp>
        <p:nvSpPr>
          <p:cNvPr id="9" name="panel14"/>
          <p:cNvSpPr/>
          <p:nvPr/>
        </p:nvSpPr>
        <p:spPr>
          <a:xfrm>
            <a:off x="8097317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5917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926117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them reviewers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1091153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technical papers at ICSE, FSE, ASE, EMSE 2014–2018; links found by regex, checked by hand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checked once, January–February 2019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 authors of 2018 papers emailed; 153 answered (22 %)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Descriptive and axial coding; shows the range of themes, not their prevalence (p. 9)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62.7 % of papers link an artifact, rising from 51 % to 69 % (p. 11)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14 % of links dead; 26 % for 2014 papers (Fig. 3, p. 20)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FSE: 74 of 196 artifact papers submitted to AE, 64 accepted (Fig. 4)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user problems: no usage instructions (103), artifact gone (81)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 "not worth it" and C10 "no reviewer incentives" drive the rest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Validity /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Creators: describe the artifact, make it self-contained, plan from day one (R1–R3)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and organisers: rubrics, aligned expectations, cheaper reviewing (R4–R6)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leaders: count artifacts in hiring, promotion and grants (R7–R8)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Threats: links ≠ usable artifacts; authors not contacted; 2018 authors only (pp. 10–11)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a failed artifact evaluation be able to reject a paper?</a:t>
            </a:r>
            <a:endParaRPr lang="en-US" sz="2600" dirty="0"/>
          </a:p>
        </p:txBody>
      </p:sp>
      <p:sp>
        <p:nvSpPr>
          <p:cNvPr id="4" name="panel15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Timperley et al. say artifacts should be part of paper review (p. 28). "The evaluations do not determine if the paper is accepted, so I didn't pay much attention" (Hermann, id 79, p. 478).</a:t>
            </a:r>
            <a:endParaRPr lang="en-US" sz="1800" dirty="0"/>
          </a:p>
        </p:txBody>
      </p:sp>
      <p:sp>
        <p:nvSpPr>
          <p:cNvPr id="6" name="panel16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Otherwise AE is optional decoration.</a:t>
            </a:r>
            <a:endParaRPr lang="en-US" sz="2000" dirty="0"/>
          </a:p>
        </p:txBody>
      </p:sp>
      <p:sp>
        <p:nvSpPr>
          <p:cNvPr id="9" name="panel17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Clashes with double-blind review (C8) and penalises industry papers (C9).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keeps an artifact alive after the PhD?</a:t>
            </a:r>
            <a:endParaRPr lang="en-US" sz="2600" dirty="0"/>
          </a:p>
        </p:txBody>
      </p:sp>
      <p:sp>
        <p:nvSpPr>
          <p:cNvPr id="4" name="panel18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 maintenance (p. 16). R3 asks advisors for transition plans and a Zenodo snapshot (p. 32).</a:t>
            </a:r>
            <a:endParaRPr lang="en-US" sz="1800" dirty="0"/>
          </a:p>
        </p:txBody>
      </p:sp>
      <p:sp>
        <p:nvSpPr>
          <p:cNvPr id="6" name="panel19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is enough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 it, mark it unmaintained, move on.</a:t>
            </a:r>
            <a:endParaRPr lang="en-US" sz="2000" dirty="0"/>
          </a:p>
        </p:txBody>
      </p:sp>
      <p:sp>
        <p:nvSpPr>
          <p:cNvPr id="9" name="panel20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upkeep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software is infrastructure and needs funding (P102, p. 19).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as artifact reviewers: training opportunity or devaluation?</a:t>
            </a:r>
            <a:endParaRPr lang="en-US" sz="2600" dirty="0"/>
          </a:p>
        </p:txBody>
      </p:sp>
      <p:sp>
        <p:nvSpPr>
          <p:cNvPr id="4" name="panel21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 usually just make students do AEC … it reinforces the idea that artifacts are not a primary thing" (P64, p. 23).</a:t>
            </a:r>
            <a:endParaRPr lang="en-US" sz="1800" dirty="0"/>
          </a:p>
        </p:txBody>
      </p:sp>
      <p:sp>
        <p:nvSpPr>
          <p:cNvPr id="6" name="panel22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learn what good artifacts look like.</a:t>
            </a:r>
            <a:endParaRPr lang="en-US" sz="2000" dirty="0"/>
          </a:p>
        </p:txBody>
      </p:sp>
      <p:sp>
        <p:nvSpPr>
          <p:cNvPr id="9" name="panel23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Devaluation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that artifact work is second-class.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Comparison: Differences</a:t>
            </a:r>
            <a:endParaRPr lang="en-US" sz="4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3637178"/>
                <a:gridCol w="3637178"/>
                <a:gridCol w="3637178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Hermann et al.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Timperley et al.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Asked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Reviewers (AEC members)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Authors (few reviewers)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and programming languages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only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Diagnosis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Unclear purpose and standards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Misaligned incentives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Proposal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Standards per community in the calls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R1–R8 for each group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Timperley et al. build three recommendations on Hermann et 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Comparison: Similarities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agreed quality threshold (Hermann p. 478; Timperley C6, p. 16)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are inexperienced and under-rewarded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lean towards coupling AE to paper acceptance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opens an artifact or tests whether badges mean better artifacts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What Do You Agree With?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definitions first, or the incentives?</a:t>
            </a:r>
            <a:endParaRPr lang="en-US" sz="2600" dirty="0"/>
          </a:p>
        </p:txBody>
      </p:sp>
      <p:sp>
        <p:nvSpPr>
          <p:cNvPr id="4" name="panel24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Hermann: purpose, criteria and terms (p. 479). Timperley: "not worth it" (C1) and rewards in hiring and grants (R7, p. 34).</a:t>
            </a:r>
            <a:endParaRPr lang="en-US" sz="1800" dirty="0"/>
          </a:p>
        </p:txBody>
      </p:sp>
      <p:sp>
        <p:nvSpPr>
          <p:cNvPr id="6" name="panel25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first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cannot reward what you cannot measure.</a:t>
            </a:r>
            <a:endParaRPr lang="en-US" sz="2000" dirty="0"/>
          </a:p>
        </p:txBody>
      </p:sp>
      <p:sp>
        <p:nvSpPr>
          <p:cNvPr id="9" name="panel26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Incentives first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criteria change nothing if nobody submits.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What Do You Agree With?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authors' scripts, or try to break them?</a:t>
            </a:r>
            <a:endParaRPr lang="en-US" sz="2600" dirty="0"/>
          </a:p>
        </p:txBody>
      </p:sp>
      <p:sp>
        <p:nvSpPr>
          <p:cNvPr id="4" name="panel27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"AECs, by asking for replicable scripts, are likely to replicate the same mistake" (Timperley P25, p. 22). Hermann: hard-coded outputs found only by reading code (p. 477).</a:t>
            </a:r>
            <a:endParaRPr lang="en-US" sz="1800" dirty="0"/>
          </a:p>
        </p:txBody>
      </p:sp>
      <p:sp>
        <p:nvSpPr>
          <p:cNvPr id="6" name="panel28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scripts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Cheap, scalable: exactly 2020 reproducibility.</a:t>
            </a:r>
            <a:endParaRPr lang="en-US" sz="2000" dirty="0"/>
          </a:p>
        </p:txBody>
      </p:sp>
      <p:sp>
        <p:nvSpPr>
          <p:cNvPr id="9" name="panel29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Otherwise a badge certifies a repeatable bug.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 · Paper 1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AEC members asked: authors who never submit are missing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 PL vs 36 SE respondents; SE counts often single digits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 started, 124 finished; each question has a different sample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Card-sort counts look precise but depend on one labeller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PL/SE totals differ between sections (p. 472 vs p. 474)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 · Paper 2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link counts as an artifact; a live link counts as available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 "value" rests on link counts and quotes from willing respondents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4: 26.33 % is 74 of all 281 papers; of 196 artifact papers it is 38 %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inconsistencies: 81 vs 82, 60 vs 62; Table 6 cites an undefined C13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recommendations still ask creators and reviewers for more work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56032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for your attention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MU Green">
  <a:themeElements>
    <a:clrScheme name="LMU Green">
      <a:dk1>
        <a:srgbClr val="1A1A1A"/>
      </a:dk1>
      <a:lt1>
        <a:srgbClr val="FFFFFF"/>
      </a:lt1>
      <a:dk2>
        <a:srgbClr val="00883A"/>
      </a:dk2>
      <a:lt2>
        <a:srgbClr val="F1F3F2"/>
      </a:lt2>
      <a:accent1>
        <a:srgbClr val="00883A"/>
      </a:accent1>
      <a:accent2>
        <a:srgbClr val="1A1A1A"/>
      </a:accent2>
      <a:accent3>
        <a:srgbClr val="5F6368"/>
      </a:accent3>
      <a:accent4>
        <a:srgbClr val="E3F1E8"/>
      </a:accent4>
      <a:accent5>
        <a:srgbClr val="ECECEC"/>
      </a:accent5>
      <a:accent6>
        <a:srgbClr val="F1F3F2"/>
      </a:accent6>
      <a:hlink>
        <a:srgbClr val="00883A"/>
      </a:hlink>
      <a:folHlink>
        <a:srgbClr val="5F6368"/>
      </a:folHlink>
    </a:clrScheme>
    <a:fontScheme name="LMU Gree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Artifact Evaluation – Lecture 2 Discussion (LMU Green)</dc:title>
  <dc:subject>PptxGenJS Presentation</dc:subject>
  <dc:creator>PptxGenJS</dc:creator>
  <cp:lastModifiedBy>PptxGenJS</cp:lastModifiedBy>
  <cp:revision>1</cp:revision>
  <dcterms:created xsi:type="dcterms:W3CDTF">2026-10-22T17:20:24Z</dcterms:created>
  <dcterms:modified xsi:type="dcterms:W3CDTF">2026-10-22T17:20:24Z</dcterms:modified>
</cp:coreProperties>
</file>