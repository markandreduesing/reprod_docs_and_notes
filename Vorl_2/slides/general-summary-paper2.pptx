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PROTOCOL (about 30 seconds)</a:t>
            </a:r>
          </a:p>
          <a:p/>
          <a:p>
            <a:r>
              <a:t>1. Link to last week: "Last week's papers asked why so few working artifacts exist. This paper asks why making good artifacts is hard, and what could be done about it."</a:t>
            </a:r>
          </a:p>
          <a:p/>
          <a:p>
            <a:r>
              <a:t>2. Paper: "Timperley and colleagues from Carnegie Mellon, published in Empirical Software Engineering in 2021."</a:t>
            </a:r>
          </a:p>
          <a:p/>
          <a:p>
            <a:r>
              <a:t>3. Did: "They did two studies in parallel: a publication survey, checking how many papers at top SE venues link an artifact and whether those links still work, and an author survey asking researchers about their experiences as creators, users and reviewers of artifacts."</a:t>
            </a:r>
          </a:p>
          <a:p/>
          <a:p>
            <a:r>
              <a:t>4. Found: "First, the community does value artifacts, and sharing has become a norm. Second, there are many challenges along the way, in creating, sharing, using and reviewing artifacts. We'll go through them in a moment."</a:t>
            </a:r>
          </a:p>
          <a:p/>
          <a:p>
            <a:r>
              <a:t>5. Analysed: "In a secondary analysis they look at why these challenges persist and how they connect."</a:t>
            </a:r>
          </a:p>
          <a:p/>
          <a:p>
            <a:r>
              <a:t>6. Then: "From that they derive recommendations for researchers, reviewers and institutions; [teammate] will present those later."</a:t>
            </a:r>
          </a:p>
          <a:p/>
          <a:p>
            <a:r>
              <a:t>Hand-over: "First, some terms we need." (next slide: Terminology)</a:t>
            </a:r>
          </a:p>
          <a:p/>
          <a:p>
            <a:r>
              <a:t>BACKGROUND IF ASKED</a:t>
            </a:r>
          </a:p>
          <a:p>
            <a:r>
              <a:t>- Publication survey: technical-track papers at ICSE, FSE, ASE and EMSE, 2014-2018; artifact = any linked material; available = link still works.</a:t>
            </a:r>
          </a:p>
          <a:p>
            <a:r>
              <a:t>- Author survey: authors of 2018 papers at those venues; open answers coded into themes.</a:t>
            </a:r>
          </a:p>
          <a:p>
            <a:r>
              <a:t>- 12 challenges (C1-C12); 8 recommendations (R1-R8).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822960"/>
          </a:xfrm>
          <a:prstGeom prst="rect">
            <a:avLst/>
          </a:prstGeom>
          <a:noFill/>
        </p:spPr>
        <p:txBody>
          <a:bodyPr wrap="square">
            <a:spAutoFit/>
          </a:bodyPr>
          <a:lstStyle/>
          <a:p>
            <a:pPr algn="l">
              <a:spcAft>
                <a:spcPts val="600"/>
              </a:spcAft>
            </a:pPr>
            <a:r>
              <a:rPr sz="4000" b="1" i="0">
                <a:solidFill>
                  <a:srgbClr val="00883A"/>
                </a:solidFill>
                <a:latin typeface="Arial"/>
              </a:rPr>
              <a:t>General Summary</a:t>
            </a:r>
          </a:p>
        </p:txBody>
      </p:sp>
      <p:sp>
        <p:nvSpPr>
          <p:cNvPr id="3" name="TextBox 2"/>
          <p:cNvSpPr txBox="1"/>
          <p:nvPr/>
        </p:nvSpPr>
        <p:spPr>
          <a:xfrm>
            <a:off x="640080" y="1554480"/>
            <a:ext cx="10908792" cy="4754880"/>
          </a:xfrm>
          <a:prstGeom prst="rect">
            <a:avLst/>
          </a:prstGeom>
          <a:noFill/>
        </p:spPr>
        <p:txBody>
          <a:bodyPr wrap="square">
            <a:spAutoFit/>
          </a:bodyPr>
          <a:lstStyle/>
          <a:p>
            <a:pPr algn="l">
              <a:spcAft>
                <a:spcPts val="1200"/>
              </a:spcAft>
            </a:pPr>
            <a:r>
              <a:rPr sz="2000" b="0" i="0">
                <a:solidFill>
                  <a:srgbClr val="1A1A1A"/>
                </a:solidFill>
                <a:latin typeface="Arial"/>
              </a:rPr>
              <a:t>• </a:t>
            </a:r>
            <a:r>
              <a:rPr sz="2000" b="1" i="0">
                <a:solidFill>
                  <a:srgbClr val="00883A"/>
                </a:solidFill>
                <a:latin typeface="Arial"/>
              </a:rPr>
              <a:t>Paper: </a:t>
            </a:r>
            <a:r>
              <a:rPr sz="2000" b="0" i="0">
                <a:solidFill>
                  <a:srgbClr val="1A1A1A"/>
                </a:solidFill>
                <a:latin typeface="Arial"/>
              </a:rPr>
              <a:t>why good artifact sharing is hard in SE</a:t>
            </a:r>
          </a:p>
          <a:p>
            <a:pPr algn="l">
              <a:spcAft>
                <a:spcPts val="1200"/>
              </a:spcAft>
            </a:pPr>
            <a:r>
              <a:rPr sz="2000" b="0" i="0">
                <a:solidFill>
                  <a:srgbClr val="1A1A1A"/>
                </a:solidFill>
                <a:latin typeface="Arial"/>
              </a:rPr>
              <a:t>• </a:t>
            </a:r>
            <a:r>
              <a:rPr sz="2000" b="1" i="0">
                <a:solidFill>
                  <a:srgbClr val="00883A"/>
                </a:solidFill>
                <a:latin typeface="Arial"/>
              </a:rPr>
              <a:t>Did: </a:t>
            </a:r>
            <a:r>
              <a:rPr sz="2000" b="0" i="0">
                <a:solidFill>
                  <a:srgbClr val="1A1A1A"/>
                </a:solidFill>
                <a:latin typeface="Arial"/>
              </a:rPr>
              <a:t>publication survey (artifact availability) + author survey (challenges)</a:t>
            </a:r>
          </a:p>
          <a:p>
            <a:pPr algn="l">
              <a:spcAft>
                <a:spcPts val="1200"/>
              </a:spcAft>
            </a:pPr>
            <a:r>
              <a:rPr sz="2000" b="0" i="0">
                <a:solidFill>
                  <a:srgbClr val="1A1A1A"/>
                </a:solidFill>
                <a:latin typeface="Arial"/>
              </a:rPr>
              <a:t>• </a:t>
            </a:r>
            <a:r>
              <a:rPr sz="2000" b="1" i="0">
                <a:solidFill>
                  <a:srgbClr val="00883A"/>
                </a:solidFill>
                <a:latin typeface="Arial"/>
              </a:rPr>
              <a:t>Found: </a:t>
            </a:r>
            <a:r>
              <a:rPr sz="2000" b="0" i="0">
                <a:solidFill>
                  <a:srgbClr val="1A1A1A"/>
                </a:solidFill>
                <a:latin typeface="Arial"/>
              </a:rPr>
              <a:t>artifacts are valued; challenges in creating, sharing, using and reviewing artifacts</a:t>
            </a:r>
          </a:p>
          <a:p>
            <a:pPr algn="l">
              <a:spcAft>
                <a:spcPts val="1200"/>
              </a:spcAft>
            </a:pPr>
            <a:r>
              <a:rPr sz="2000" b="0" i="0">
                <a:solidFill>
                  <a:srgbClr val="1A1A1A"/>
                </a:solidFill>
                <a:latin typeface="Arial"/>
              </a:rPr>
              <a:t>• </a:t>
            </a:r>
            <a:r>
              <a:rPr sz="2000" b="1" i="0">
                <a:solidFill>
                  <a:srgbClr val="00883A"/>
                </a:solidFill>
                <a:latin typeface="Arial"/>
              </a:rPr>
              <a:t>Analysed: </a:t>
            </a:r>
            <a:r>
              <a:rPr sz="2000" b="0" i="0">
                <a:solidFill>
                  <a:srgbClr val="1A1A1A"/>
                </a:solidFill>
                <a:latin typeface="Arial"/>
              </a:rPr>
              <a:t>why these challenges persist + how they connect (secondary analysis)</a:t>
            </a:r>
          </a:p>
          <a:p>
            <a:pPr algn="l">
              <a:spcAft>
                <a:spcPts val="1200"/>
              </a:spcAft>
            </a:pPr>
            <a:r>
              <a:rPr sz="2000" b="0" i="0">
                <a:solidFill>
                  <a:srgbClr val="1A1A1A"/>
                </a:solidFill>
                <a:latin typeface="Arial"/>
              </a:rPr>
              <a:t>• </a:t>
            </a:r>
            <a:r>
              <a:rPr sz="2000" b="1" i="0">
                <a:solidFill>
                  <a:srgbClr val="00883A"/>
                </a:solidFill>
                <a:latin typeface="Arial"/>
              </a:rPr>
              <a:t>Then: </a:t>
            </a:r>
            <a:r>
              <a:rPr sz="2000" b="0" i="0">
                <a:solidFill>
                  <a:srgbClr val="1A1A1A"/>
                </a:solidFill>
                <a:latin typeface="Arial"/>
              </a:rPr>
              <a:t>recommendations for researchers, reviewers and institutions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