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322" r:id="rId80"/>
    <p:sldId id="323" r:id="rId81"/>
    <p:sldId id="269" r:id="rId19"/>
    <p:sldId id="270" r:id="rId20"/>
    <p:sldId id="271" r:id="rId21"/>
    <p:sldId id="324" r:id="rId82"/>
    <p:sldId id="325" r:id="rId83"/>
    <p:sldId id="326" r:id="rId84"/>
    <p:sldId id="327" r:id="rId85"/>
    <p:sldId id="328" r:id="rId86"/>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329" r:id="rId87"/>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y="6858000" cx="12192000"/>
  <p:notesSz cx="6858000" cy="12192000"/>
  <p:embeddedFontLst>
    <p:embeddedFont>
      <p:font typeface="Playfair Display"/>
      <p:regular r:id="rId72"/>
      <p:bold r:id="rId73"/>
      <p:italic r:id="rId74"/>
      <p:boldItalic r:id="rId75"/>
    </p:embeddedFont>
    <p:embeddedFont>
      <p:font typeface="DM Sans"/>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6CE9DF0-B079-444F-8531-439F84C1735D}">
  <a:tblStyle styleId="{86CE9DF0-B079-444F-8531-439F84C1735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font" Target="fonts/PlayfairDisplay-regular.fntdata"/><Relationship Id="rId73" Type="http://schemas.openxmlformats.org/officeDocument/2006/relationships/font" Target="fonts/PlayfairDisplay-bold.fntdata"/><Relationship Id="rId74" Type="http://schemas.openxmlformats.org/officeDocument/2006/relationships/font" Target="fonts/PlayfairDisplay-italic.fntdata"/><Relationship Id="rId75" Type="http://schemas.openxmlformats.org/officeDocument/2006/relationships/font" Target="fonts/PlayfairDisplay-boldItalic.fntdata"/><Relationship Id="rId76" Type="http://schemas.openxmlformats.org/officeDocument/2006/relationships/font" Target="fonts/DMSans-regular.fntdata"/><Relationship Id="rId77" Type="http://schemas.openxmlformats.org/officeDocument/2006/relationships/font" Target="fonts/DMSans-bold.fntdata"/><Relationship Id="rId78" Type="http://schemas.openxmlformats.org/officeDocument/2006/relationships/font" Target="fonts/DMSans-italic.fntdata"/><Relationship Id="rId79" Type="http://schemas.openxmlformats.org/officeDocument/2006/relationships/font" Target="fonts/DMSans-boldItalic.fntdata"/><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4" name="Google Shape;114;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2" name="Google Shape;122;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h14a77dcaeeb36948_1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h14a77dcaeeb36948_1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Abstract p. 1; intro pp. 2-3. Issues stem from four areas: communication, social system (reward), time (bitrot), technical aspects (p. 3). Collberg et al.'s earlier work and its controversy show there are no clear community standards (p. 2). Secondary analysis (§5) and recommendations (§6) are presented by a teammate.</a:t>
            </a:r>
          </a:p>
        </p:txBody>
      </p:sp>
      <p:sp>
        <p:nvSpPr>
          <p:cNvPr id="129" name="Google Shape;129;h14a77dcaeeb36948_1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h14a77dcaeeb36948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h14a77dcaeeb36948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Motivations for sharing: let others replicate, reproduce or build upon work (p. 4). First AEC at FSE 2011, ICSE from 2019 (p. 4). Badge processes assess claims, uncover usability issues, signal quality; met with praise and criticism (p. 2).</a:t>
            </a:r>
          </a:p>
        </p:txBody>
      </p:sp>
      <p:sp>
        <p:nvSpPr>
          <p:cNvPr id="137" name="Google Shape;137;h14a77dcaeeb36948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h14a77dcaeeb36948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h14a77dcaeeb36948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145" name="Google Shape;145;h14a77dcaeeb36948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14a77dcaeeb36948_1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h14a77dcaeeb36948_1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Fig. 1 p. 7; §3.1 p. 7; §3.2 pp. 7-9; design p. 10. 899 artifacts in 1434 papers; availability checked 29 Jan - 6 Feb 2019. 744 authors emailed, 153 of 698 delivered completed (22%); 91% academic; creators 137, users 129, reviewers 32. Coding: descriptive then axial, 3 domain experts + 1 methodologist. Secondary analysis and recommendations covered by a teammate.</a:t>
            </a:r>
          </a:p>
        </p:txBody>
      </p:sp>
      <p:sp>
        <p:nvSpPr>
          <p:cNvPr id="153" name="Google Shape;153;h14a77dcaeeb36948_1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14a77dcaeeb36948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14a77dcaeeb36948_1_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62.69% of papers at ASE, EMSE, FSE, ICSE 2014-2018 contain an artifact, rising from 50.56% (2014) to 69.47% (2018) (Fig. 2, pp. 11-12). Quotes: "a big fan of sharing" (P89), "sharing is essential" (P20).</a:t>
            </a:r>
          </a:p>
        </p:txBody>
      </p:sp>
      <p:sp>
        <p:nvSpPr>
          <p:cNvPr id="161" name="Google Shape;161;h14a77dcaeeb36948_1_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14a77dcaeeb36948_1_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14a77dcaeeb36948_1_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§3.5 pp. 10-11. External mitigation: authors sampled from several top conferences and a leading journal. Design mitigation: parallel-convergent mixed methods.</a:t>
            </a:r>
          </a:p>
        </p:txBody>
      </p:sp>
      <p:sp>
        <p:nvSpPr>
          <p:cNvPr id="169" name="Google Shape;169;h14a77dcaeeb36948_1_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177" name="Google Shape;177;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185" name="Google Shape;185;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 name="Google Shape;192;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193" name="Google Shape;193;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01" name="Google Shape;201;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a:t>
            </a:r>
            <a:r>
              <a:rPr lang="en-US"/>
              <a:t>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sz="2200"/>
          </a:p>
          <a:p>
            <a:pPr indent="0" lvl="0" marL="0" rtl="0" algn="l">
              <a:spcBef>
                <a:spcPts val="0"/>
              </a:spcBef>
              <a:spcAft>
                <a:spcPts val="0"/>
              </a:spcAft>
              <a:buNone/>
            </a:pPr>
            <a:r>
              <a:t/>
            </a:r>
            <a:endParaRPr/>
          </a:p>
        </p:txBody>
      </p:sp>
      <p:sp>
        <p:nvSpPr>
          <p:cNvPr id="217" name="Google Shape;217;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1" name="Google Shape;241;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9" name="Google Shape;24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 name="Google Shape;25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257" name="Google Shape;25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272" name="Google Shape;27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280" name="Google Shape;28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288" name="Google Shape;28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6" name="Google Shape;29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1" name="Google Shape;301;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2" name="Google Shape;302;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 name="Google Shape;307;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11" name="Google Shape;311;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317" name="Google Shape;31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5" name="Google Shape;3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6" name="Google Shape;3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353" name="Google Shape;35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361" name="Google Shape;36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370" name="Google Shape;37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378" name="Google Shape;37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395" name="Google Shape;39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403" name="Google Shape;40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411" name="Google Shape;41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6" name="Google Shape;42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427" name="Google Shape;42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443" name="Google Shape;44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466" name="Google Shape;46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3" name="Google Shape;47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474" name="Google Shape;47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482" name="Google Shape;48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490" name="Google Shape;49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507" name="Google Shape;5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515" name="Google Shape;51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23" name="Google Shape;52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8" name="Google Shape;53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539" name="Google Shape;53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4" name="Google Shape;55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555" name="Google Shape;55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 name="Google Shape;57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7" name="Google Shape;57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8" name="Google Shape;57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7" name="Google Shape;587;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595" name="Google Shape;5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611" name="Google Shape;61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7" name="Google Shape;6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3" name="Google Shape;63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634" name="Google Shape;63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1" name="Google Shape;641;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642" name="Google Shape;642;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9" name="Google Shape;649;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650" name="Google Shape;650;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7" name="Google Shape;657;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8" name="Google Shape;658;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p>
        </p:txBody>
      </p:sp>
      <p:sp>
        <p:nvSpPr>
          <p:cNvPr id="4" name="Slide Number Placeholder 3"/>
          <p:cNvSpPr>
            <a:spLocks noGrp="1"/>
          </p:cNvSpPr>
          <p:nvPr>
            <p:ph type="sldNum" idx="12"/>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DoI p. 5-6; IS p. 6. Coding terms (p. 8-9): descriptive coding = label each answer segment; axial coding = organise codes, find dominant themes and improvement opportunities; thematic analysis shows the range of themes, not how common they are.</a:t>
            </a:r>
          </a:p>
        </p:txBody>
      </p:sp>
      <p:sp>
        <p:nvSpPr>
          <p:cNvPr id="4" name="Slide Number Placeholder 3"/>
          <p:cNvSpPr>
            <a:spLocks noGrp="1"/>
          </p:cNvSpPr>
          <p:nvPr>
            <p:ph type="sldNum" idx="12"/>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Themes from thematic analysis: they show which challenges exist, not how common each is (p. 9). Overall: issues stem from communication, social system, time and technical aspects.</a:t>
            </a:r>
          </a:p>
        </p:txBody>
      </p:sp>
      <p:sp>
        <p:nvSpPr>
          <p:cNvPr id="4" name="Slide Number Placeholder 3"/>
          <p:cNvSpPr>
            <a:spLocks noGrp="1"/>
          </p:cNvSpPr>
          <p:nvPr>
            <p:ph type="sldNum" idx="12"/>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p>
        </p:txBody>
      </p:sp>
      <p:sp>
        <p:nvSpPr>
          <p:cNvPr id="4" name="Slide Number Placeholder 3"/>
          <p:cNvSpPr>
            <a:spLocks noGrp="1"/>
          </p:cNvSpPr>
          <p:nvPr>
            <p:ph type="sldNum" idx="12"/>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p>
        </p:txBody>
      </p:sp>
      <p:sp>
        <p:nvSpPr>
          <p:cNvPr id="4" name="Slide Number Placeholder 3"/>
          <p:cNvSpPr>
            <a:spLocks noGrp="1"/>
          </p:cNvSpPr>
          <p:nvPr>
            <p:ph type="sldNum" idx="12"/>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p>
        </p:txBody>
      </p:sp>
      <p:sp>
        <p:nvSpPr>
          <p:cNvPr id="4" name="Slide Number Placeholder 3"/>
          <p:cNvSpPr>
            <a:spLocks noGrp="1"/>
          </p:cNvSpPr>
          <p:nvPr>
            <p:ph type="sldNum" idx="12"/>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Reviewers face the same issues as users (portability, docs) and as creators (guidelines, incentives) (p. 21). Research: MobiSys allows reduced representative experiments; IISWC has authors provide remote access; no SE venue provides compute.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{86CE9DF0-B079-444F-8531-439F84C1735D}</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1" i="0" lang="en-US" sz="2200" u="none" cap="none" strike="noStrike">
                <a:solidFill>
                  <a:srgbClr val="1A1A1A"/>
                </a:solidFill>
              </a:rPr>
              <a:t>Pre-study:</a:t>
            </a:r>
            <a:r>
              <a:rPr b="0" i="0" lang="en-US" sz="2200" u="none" cap="none" strike="noStrike">
                <a:solidFill>
                  <a:srgbClr val="1A1A1A"/>
                </a:solidFill>
                <a:latin typeface="Arial"/>
                <a:ea typeface="Arial"/>
                <a:cs typeface="Arial"/>
                <a:sym typeface="Arial"/>
              </a:rPr>
              <a:t> what do calls for artifacts and ACM guidelines demand?</a:t>
            </a:r>
            <a:endParaRPr b="0" i="0" sz="2200" u="none" cap="none" strike="noStrike">
              <a:solidFill>
                <a:schemeClr val="dk1"/>
              </a:solidFill>
              <a:latin typeface="Arial"/>
              <a:ea typeface="Arial"/>
              <a:cs typeface="Arial"/>
              <a:sym typeface="Aria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lang="en-US" sz="2000">
                <a:solidFill>
                  <a:srgbClr val="1A1A1A"/>
                </a:solidFill>
              </a:rPr>
              <a:t>Questions: </a:t>
            </a:r>
            <a:endParaRPr sz="2000">
              <a:solidFill>
                <a:srgbClr val="1A1A1A"/>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7" name="Google Shape;117;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8" name="Google Shape;118;p1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5" name="Google Shape;125;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600200"/>
            <a:ext cx="3017520" cy="4389120"/>
          </a:xfrm>
          <a:prstGeom prst="rect">
            <a:avLst/>
          </a:prstGeom>
          <a:noFill/>
        </p:spPr>
        <p:txBody>
          <a:bodyPr wrap="square">
            <a:spAutoFit/>
          </a:bodyPr>
          <a:lstStyle/>
          <a:p>
            <a:pPr>
              <a:spcAft>
                <a:spcPts val="1800"/>
              </a:spcAft>
            </a:pPr>
            <a:r>
              <a:rPr sz="2400" b="1" i="0">
                <a:solidFill>
                  <a:srgbClr val="00883A"/>
                </a:solidFill>
                <a:latin typeface="Arial"/>
              </a:rPr>
              <a:t>Why is making good artifacts hard?</a:t>
            </a:r>
          </a:p>
          <a:p>
            <a:pPr>
              <a:spcAft>
                <a:spcPts val="1800"/>
              </a:spcAft>
            </a:pPr>
            <a:r>
              <a:rPr sz="2400" b="1" i="0">
                <a:solidFill>
                  <a:srgbClr val="00883A"/>
                </a:solidFill>
                <a:latin typeface="Arial"/>
              </a:rPr>
              <a:t>Potential solutions to this?</a:t>
            </a:r>
          </a:p>
        </p:txBody>
      </p:sp>
      <p:sp>
        <p:nvSpPr>
          <p:cNvPr id="135" name="TextBox 134"/>
          <p:cNvSpPr txBox="1"/>
          <p:nvPr/>
        </p:nvSpPr>
        <p:spPr>
          <a:xfrm>
            <a:off x="3968496" y="1463040"/>
            <a:ext cx="7589520" cy="4754880"/>
          </a:xfrm>
          <a:prstGeom prst="rect">
            <a:avLst/>
          </a:prstGeom>
          <a:noFill/>
        </p:spPr>
        <p:txBody>
          <a:bodyPr wrap="square">
            <a:spAutoFit/>
          </a:bodyPr>
          <a:lstStyle/>
          <a:p>
            <a:pPr>
              <a:spcAft>
                <a:spcPts val="1200"/>
              </a:spcAft>
            </a:pPr>
            <a:r>
              <a:rPr sz="1900" b="1" i="0">
                <a:solidFill>
                  <a:srgbClr val="1A1A1A"/>
                </a:solidFill>
                <a:latin typeface="Arial"/>
              </a:rPr>
              <a:t>Problem: </a:t>
            </a:r>
            <a:r>
              <a:rPr sz="1900" b="0" i="0">
                <a:solidFill>
                  <a:srgbClr val="1A1A1A"/>
                </a:solidFill>
                <a:latin typeface="Arial"/>
              </a:rPr>
              <a:t>artifacts (tools, benchmarks, data) should back claims and enable future research, but in practice fall short</a:t>
            </a:r>
          </a:p>
          <a:p>
            <a:pPr>
              <a:spcAft>
                <a:spcPts val="1200"/>
              </a:spcAft>
            </a:pPr>
            <a:r>
              <a:rPr sz="1900" b="1" i="0">
                <a:solidFill>
                  <a:srgbClr val="1A1A1A"/>
                </a:solidFill>
                <a:latin typeface="Arial"/>
              </a:rPr>
              <a:t>Approach: </a:t>
            </a:r>
            <a:r>
              <a:rPr sz="1900" b="0" i="0">
                <a:solidFill>
                  <a:srgbClr val="1A1A1A"/>
                </a:solidFill>
                <a:latin typeface="Arial"/>
              </a:rPr>
              <a:t>mixed methods: survey of artifacts in top SE publications + online survey of SE researchers; creator, user and reviewer views</a:t>
            </a:r>
          </a:p>
          <a:p>
            <a:pPr>
              <a:spcAft>
                <a:spcPts val="1200"/>
              </a:spcAft>
            </a:pPr>
            <a:r>
              <a:rPr sz="1900" b="1" i="0">
                <a:solidFill>
                  <a:srgbClr val="1A1A1A"/>
                </a:solidFill>
                <a:latin typeface="Arial"/>
              </a:rPr>
              <a:t>Findings: </a:t>
            </a:r>
            <a:r>
              <a:rPr sz="1900" b="0" i="0">
                <a:solidFill>
                  <a:srgbClr val="1A1A1A"/>
                </a:solidFill>
                <a:latin typeface="Arial"/>
              </a:rPr>
              <a:t>sharing is valued and widespread, but 12 challenges stand in the way; key issues are mismatched expectations and too little reward for creators and reviewers</a:t>
            </a:r>
          </a:p>
          <a:p>
            <a:pPr>
              <a:spcAft>
                <a:spcPts val="1200"/>
              </a:spcAft>
            </a:pPr>
            <a:r>
              <a:rPr sz="1900" b="1" i="0">
                <a:solidFill>
                  <a:srgbClr val="1A1A1A"/>
                </a:solidFill>
                <a:latin typeface="Arial"/>
              </a:rPr>
              <a:t>Analysis: </a:t>
            </a:r>
            <a:r>
              <a:rPr sz="1900" b="0" i="0">
                <a:solidFill>
                  <a:srgbClr val="1A1A1A"/>
                </a:solidFill>
                <a:latin typeface="Arial"/>
              </a:rPr>
              <a:t>Diffusion of Innovations links the challenges via communication, time and the social system</a:t>
            </a:r>
          </a:p>
          <a:p>
            <a:pPr>
              <a:spcAft>
                <a:spcPts val="1200"/>
              </a:spcAft>
            </a:pPr>
            <a:r>
              <a:rPr sz="1900" b="1" i="0">
                <a:solidFill>
                  <a:srgbClr val="1A1A1A"/>
                </a:solidFill>
                <a:latin typeface="Arial"/>
              </a:rPr>
              <a:t>Solutions: </a:t>
            </a:r>
            <a:r>
              <a:rPr sz="1900" b="0" i="0">
                <a:solidFill>
                  <a:srgbClr val="1A1A1A"/>
                </a:solidFill>
                <a:latin typeface="Arial"/>
              </a:rPr>
              <a:t>8 recommendations for creators, reviewers, organisers and community leaders; AECs are well placed to raise artifact quality</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1" name="Google Shape;141;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2" name="Rounded Rectangle 141"/>
          <p:cNvSpPr/>
          <p:nvPr/>
        </p:nvSpPr>
        <p:spPr>
          <a:xfrm>
            <a:off x="640080" y="146304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22960" y="155448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Artifact (this paper)</a:t>
            </a:r>
          </a:p>
        </p:txBody>
      </p:sp>
      <p:sp>
        <p:nvSpPr>
          <p:cNvPr id="144" name="TextBox 143"/>
          <p:cNvSpPr txBox="1"/>
          <p:nvPr/>
        </p:nvSpPr>
        <p:spPr>
          <a:xfrm>
            <a:off x="3566160" y="155448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any external material linked from a paper: tools, code, data, replication packages, companion sites, survey instruments, proofs</a:t>
            </a:r>
          </a:p>
        </p:txBody>
      </p:sp>
      <p:sp>
        <p:nvSpPr>
          <p:cNvPr id="145" name="Rounded Rectangle 144"/>
          <p:cNvSpPr/>
          <p:nvPr/>
        </p:nvSpPr>
        <p:spPr>
          <a:xfrm>
            <a:off x="640080" y="265176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822960" y="274320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Artifact (ACM)</a:t>
            </a:r>
          </a:p>
        </p:txBody>
      </p:sp>
      <p:sp>
        <p:nvSpPr>
          <p:cNvPr id="147" name="TextBox 146"/>
          <p:cNvSpPr txBox="1"/>
          <p:nvPr/>
        </p:nvSpPr>
        <p:spPr>
          <a:xfrm>
            <a:off x="3566160" y="274320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digital object created for the study or generated by it</a:t>
            </a:r>
          </a:p>
        </p:txBody>
      </p:sp>
      <p:sp>
        <p:nvSpPr>
          <p:cNvPr id="148" name="Rounded Rectangle 147"/>
          <p:cNvSpPr/>
          <p:nvPr/>
        </p:nvSpPr>
        <p:spPr>
          <a:xfrm>
            <a:off x="640080" y="384048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822960" y="393192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AEC</a:t>
            </a:r>
          </a:p>
        </p:txBody>
      </p:sp>
      <p:sp>
        <p:nvSpPr>
          <p:cNvPr id="150" name="TextBox 149"/>
          <p:cNvSpPr txBox="1"/>
          <p:nvPr/>
        </p:nvSpPr>
        <p:spPr>
          <a:xfrm>
            <a:off x="3566160" y="393192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Artifact Evaluation Committee: reviews artifacts of accepted papers; opt-in, after acceptance, cannot reject a paper</a:t>
            </a:r>
          </a:p>
        </p:txBody>
      </p:sp>
      <p:sp>
        <p:nvSpPr>
          <p:cNvPr id="151" name="Rounded Rectangle 150"/>
          <p:cNvSpPr/>
          <p:nvPr/>
        </p:nvSpPr>
        <p:spPr>
          <a:xfrm>
            <a:off x="640080" y="502920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2960" y="512064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ACM quality criteria</a:t>
            </a:r>
          </a:p>
        </p:txBody>
      </p:sp>
      <p:sp>
        <p:nvSpPr>
          <p:cNvPr id="153" name="TextBox 152"/>
          <p:cNvSpPr txBox="1"/>
          <p:nvPr/>
        </p:nvSpPr>
        <p:spPr>
          <a:xfrm>
            <a:off x="3566160" y="512064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documented · consistent (supports main results) · complete (proprietary parts may be replaced by proxies) · exercisable</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48" name="Google Shape;148;p1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49" name="Google Shape;149;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56" name="Google Shape;156;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57" name="TextBox 156"/>
          <p:cNvSpPr txBox="1"/>
          <p:nvPr/>
        </p:nvSpPr>
        <p:spPr>
          <a:xfrm>
            <a:off x="640080" y="1234440"/>
            <a:ext cx="10908792" cy="548640"/>
          </a:xfrm>
          <a:prstGeom prst="rect">
            <a:avLst/>
          </a:prstGeom>
          <a:noFill/>
        </p:spPr>
        <p:txBody>
          <a:bodyPr wrap="square">
            <a:spAutoFit/>
          </a:bodyPr>
          <a:lstStyle/>
          <a:p>
            <a:pPr>
              <a:spcAft>
                <a:spcPts val="600"/>
              </a:spcAft>
            </a:pPr>
            <a:r>
              <a:rPr sz="1900" b="1" i="0">
                <a:solidFill>
                  <a:srgbClr val="00883A"/>
                </a:solidFill>
                <a:latin typeface="Arial"/>
              </a:rPr>
              <a:t>Mixed methods, parallel-convergent: </a:t>
            </a:r>
            <a:r>
              <a:rPr sz="1900" b="0" i="0">
                <a:solidFill>
                  <a:srgbClr val="1A1A1A"/>
                </a:solidFill>
                <a:latin typeface="Arial"/>
              </a:rPr>
              <a:t>two studies at the same time, analysed separately, then merged</a:t>
            </a:r>
          </a:p>
        </p:txBody>
      </p:sp>
      <p:sp>
        <p:nvSpPr>
          <p:cNvPr id="158" name="Rounded Rectangle 157"/>
          <p:cNvSpPr/>
          <p:nvPr/>
        </p:nvSpPr>
        <p:spPr>
          <a:xfrm>
            <a:off x="640080" y="1965960"/>
            <a:ext cx="5212080" cy="365760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2959" y="2057400"/>
            <a:ext cx="4846320" cy="3474720"/>
          </a:xfrm>
          <a:prstGeom prst="rect">
            <a:avLst/>
          </a:prstGeom>
          <a:noFill/>
        </p:spPr>
        <p:txBody>
          <a:bodyPr wrap="square">
            <a:spAutoFit/>
          </a:bodyPr>
          <a:lstStyle/>
          <a:p>
            <a:pPr>
              <a:spcAft>
                <a:spcPts val="1000"/>
              </a:spcAft>
            </a:pPr>
            <a:r>
              <a:rPr sz="2100" b="1" i="0">
                <a:solidFill>
                  <a:srgbClr val="00883A"/>
                </a:solidFill>
                <a:latin typeface="Arial"/>
              </a:rPr>
              <a:t>§3.1 Publication survey</a:t>
            </a:r>
          </a:p>
          <a:p>
            <a:pPr>
              <a:spcAft>
                <a:spcPts val="1000"/>
              </a:spcAft>
            </a:pPr>
            <a:r>
              <a:rPr sz="1800" b="0" i="0">
                <a:solidFill>
                  <a:srgbClr val="1A1A1A"/>
                </a:solidFill>
                <a:latin typeface="Arial"/>
              </a:rPr>
              <a:t>• all technical-track papers, ICSE · FSE · ASE · EMSE, 2014-2018</a:t>
            </a:r>
          </a:p>
          <a:p>
            <a:pPr>
              <a:spcAft>
                <a:spcPts val="1000"/>
              </a:spcAft>
            </a:pPr>
            <a:r>
              <a:rPr sz="1800" b="0" i="0">
                <a:solidFill>
                  <a:srgbClr val="1A1A1A"/>
                </a:solidFill>
                <a:latin typeface="Arial"/>
              </a:rPr>
              <a:t>• links found in the papers, checked by hand</a:t>
            </a:r>
          </a:p>
          <a:p>
            <a:pPr>
              <a:spcAft>
                <a:spcPts val="1000"/>
              </a:spcAft>
            </a:pPr>
            <a:r>
              <a:rPr sz="1800" b="0" i="0">
                <a:solidFill>
                  <a:srgbClr val="1A1A1A"/>
                </a:solidFill>
                <a:latin typeface="Arial"/>
              </a:rPr>
              <a:t>• artifact = any linked material; available = link still works</a:t>
            </a:r>
          </a:p>
          <a:p>
            <a:pPr>
              <a:spcAft>
                <a:spcPts val="1000"/>
              </a:spcAft>
            </a:pPr>
            <a:r>
              <a:rPr sz="1800" b="0" i="0">
                <a:solidFill>
                  <a:srgbClr val="1A1A1A"/>
                </a:solidFill>
                <a:latin typeface="Arial"/>
              </a:rPr>
              <a:t>• AEC chairs asked for submission and acceptance data</a:t>
            </a:r>
          </a:p>
        </p:txBody>
      </p:sp>
      <p:sp>
        <p:nvSpPr>
          <p:cNvPr id="160" name="Rounded Rectangle 159"/>
          <p:cNvSpPr/>
          <p:nvPr/>
        </p:nvSpPr>
        <p:spPr>
          <a:xfrm>
            <a:off x="6336792" y="1965960"/>
            <a:ext cx="5212080" cy="365760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519672" y="2057400"/>
            <a:ext cx="4846320" cy="3474720"/>
          </a:xfrm>
          <a:prstGeom prst="rect">
            <a:avLst/>
          </a:prstGeom>
          <a:noFill/>
        </p:spPr>
        <p:txBody>
          <a:bodyPr wrap="square">
            <a:spAutoFit/>
          </a:bodyPr>
          <a:lstStyle/>
          <a:p>
            <a:pPr>
              <a:spcAft>
                <a:spcPts val="1000"/>
              </a:spcAft>
            </a:pPr>
            <a:r>
              <a:rPr sz="2100" b="1" i="0">
                <a:solidFill>
                  <a:srgbClr val="00883A"/>
                </a:solidFill>
                <a:latin typeface="Arial"/>
              </a:rPr>
              <a:t>§3.2 Author survey</a:t>
            </a:r>
          </a:p>
          <a:p>
            <a:pPr>
              <a:spcAft>
                <a:spcPts val="1000"/>
              </a:spcAft>
            </a:pPr>
            <a:r>
              <a:rPr sz="1800" b="0" i="0">
                <a:solidFill>
                  <a:srgbClr val="1A1A1A"/>
                </a:solidFill>
                <a:latin typeface="Arial"/>
              </a:rPr>
              <a:t>• online questionnaire for authors of 2018 papers</a:t>
            </a:r>
          </a:p>
          <a:p>
            <a:pPr>
              <a:spcAft>
                <a:spcPts val="1000"/>
              </a:spcAft>
            </a:pPr>
            <a:r>
              <a:rPr sz="1800" b="0" i="0">
                <a:solidFill>
                  <a:srgbClr val="1A1A1A"/>
                </a:solidFill>
                <a:latin typeface="Arial"/>
              </a:rPr>
              <a:t>• branching by role: creator, user, reviewer</a:t>
            </a:r>
          </a:p>
          <a:p>
            <a:pPr>
              <a:spcAft>
                <a:spcPts val="1000"/>
              </a:spcAft>
            </a:pPr>
            <a:r>
              <a:rPr sz="1800" b="0" i="0">
                <a:solidFill>
                  <a:srgbClr val="1A1A1A"/>
                </a:solidFill>
                <a:latin typeface="Arial"/>
              </a:rPr>
              <a:t>• open answers coded into themes (range, not frequency)</a:t>
            </a:r>
          </a:p>
          <a:p>
            <a:pPr>
              <a:spcAft>
                <a:spcPts val="1000"/>
              </a:spcAft>
            </a:pPr>
            <a:r>
              <a:rPr sz="1800" b="0" i="0">
                <a:solidFill>
                  <a:srgbClr val="1A1A1A"/>
                </a:solidFill>
                <a:latin typeface="Arial"/>
              </a:rPr>
              <a:t>• questions mapped to RQ1 (value) and RQ2 (challenges)</a:t>
            </a:r>
          </a:p>
        </p:txBody>
      </p:sp>
      <p:sp>
        <p:nvSpPr>
          <p:cNvPr id="162" name="TextBox 161"/>
          <p:cNvSpPr txBox="1"/>
          <p:nvPr/>
        </p:nvSpPr>
        <p:spPr>
          <a:xfrm>
            <a:off x="640080" y="5760720"/>
            <a:ext cx="10908792" cy="457200"/>
          </a:xfrm>
          <a:prstGeom prst="rect">
            <a:avLst/>
          </a:prstGeom>
          <a:noFill/>
        </p:spPr>
        <p:txBody>
          <a:bodyPr wrap="square">
            <a:spAutoFit/>
          </a:bodyPr>
          <a:lstStyle/>
          <a:p>
            <a:pPr>
              <a:spcAft>
                <a:spcPts val="600"/>
              </a:spcAft>
            </a:pPr>
            <a:r>
              <a:rPr sz="1800" b="1" i="0">
                <a:solidFill>
                  <a:srgbClr val="00883A"/>
                </a:solidFill>
                <a:latin typeface="Arial"/>
              </a:rPr>
              <a:t>→ </a:t>
            </a:r>
            <a:r>
              <a:rPr sz="1800" b="0" i="0">
                <a:solidFill>
                  <a:srgbClr val="1A1A1A"/>
                </a:solidFill>
                <a:latin typeface="Arial"/>
              </a:rPr>
              <a:t>merged into the results: RQ1 value · RQ2 challenges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65" name="Google Shape;165;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6" name="TextBox 165"/>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RQ1 · Does the community value artifacts?</a:t>
            </a:r>
          </a:p>
        </p:txBody>
      </p:sp>
      <p:sp>
        <p:nvSpPr>
          <p:cNvPr id="167" name="Rounded Rectangle 166"/>
          <p:cNvSpPr/>
          <p:nvPr/>
        </p:nvSpPr>
        <p:spPr>
          <a:xfrm>
            <a:off x="640080" y="1554480"/>
            <a:ext cx="10908792" cy="146304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22960" y="1600200"/>
            <a:ext cx="10515600" cy="1371600"/>
          </a:xfrm>
          <a:prstGeom prst="rect">
            <a:avLst/>
          </a:prstGeom>
          <a:noFill/>
        </p:spPr>
        <p:txBody>
          <a:bodyPr wrap="square" anchor="ctr">
            <a:spAutoFit/>
          </a:bodyPr>
          <a:lstStyle/>
          <a:p>
            <a:pPr>
              <a:spcAft>
                <a:spcPts val="600"/>
              </a:spcAft>
            </a:pPr>
            <a:r>
              <a:rPr sz="1900" b="1" i="0">
                <a:solidFill>
                  <a:srgbClr val="00883A"/>
                </a:solidFill>
                <a:latin typeface="Arial"/>
              </a:rPr>
              <a:t>Yes: </a:t>
            </a:r>
            <a:r>
              <a:rPr sz="1900" b="0" i="0">
                <a:solidFill>
                  <a:srgbClr val="1A1A1A"/>
                </a:solidFill>
                <a:latin typeface="Arial"/>
              </a:rPr>
              <a:t>artifacts are seen as inherently valuable; sharing is an established and growing norm (most papers now link one)</a:t>
            </a:r>
          </a:p>
          <a:p>
            <a:pPr>
              <a:spcAft>
                <a:spcPts val="600"/>
              </a:spcAft>
            </a:pPr>
            <a:r>
              <a:rPr sz="1900" b="0" i="0">
                <a:solidFill>
                  <a:srgbClr val="1A1A1A"/>
                </a:solidFill>
                <a:latin typeface="Arial"/>
              </a:rPr>
              <a:t>Not every paper needs one, but sharing should be encouraged and rewarded; replication is hard and unreliable without artifacts</a:t>
            </a:r>
          </a:p>
        </p:txBody>
      </p:sp>
      <p:sp>
        <p:nvSpPr>
          <p:cNvPr id="169" name="TextBox 168"/>
          <p:cNvSpPr txBox="1"/>
          <p:nvPr/>
        </p:nvSpPr>
        <p:spPr>
          <a:xfrm>
            <a:off x="640080" y="3200400"/>
            <a:ext cx="10908792" cy="365760"/>
          </a:xfrm>
          <a:prstGeom prst="rect">
            <a:avLst/>
          </a:prstGeom>
          <a:noFill/>
        </p:spPr>
        <p:txBody>
          <a:bodyPr wrap="square">
            <a:spAutoFit/>
          </a:bodyPr>
          <a:lstStyle/>
          <a:p>
            <a:pPr>
              <a:spcAft>
                <a:spcPts val="600"/>
              </a:spcAft>
            </a:pPr>
            <a:r>
              <a:rPr sz="1600" b="1" i="0">
                <a:solidFill>
                  <a:srgbClr val="5F6368"/>
                </a:solidFill>
                <a:latin typeface="Arial"/>
              </a:rPr>
              <a:t>Why authors share</a:t>
            </a:r>
          </a:p>
        </p:txBody>
      </p:sp>
      <p:sp>
        <p:nvSpPr>
          <p:cNvPr id="170" name="Rounded Rectangle 169"/>
          <p:cNvSpPr/>
          <p:nvPr/>
        </p:nvSpPr>
        <p:spPr>
          <a:xfrm>
            <a:off x="640080"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777240"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Supporting evidence</a:t>
            </a:r>
          </a:p>
          <a:p>
            <a:pPr>
              <a:spcAft>
                <a:spcPts val="1000"/>
              </a:spcAft>
            </a:pPr>
            <a:r>
              <a:rPr sz="1700" b="0" i="0">
                <a:solidFill>
                  <a:srgbClr val="1A1A1A"/>
                </a:solidFill>
                <a:latin typeface="Arial"/>
              </a:rPr>
              <a:t>backs the paper’s claims, builds trust</a:t>
            </a:r>
          </a:p>
        </p:txBody>
      </p:sp>
      <p:sp>
        <p:nvSpPr>
          <p:cNvPr id="172" name="Rounded Rectangle 171"/>
          <p:cNvSpPr/>
          <p:nvPr/>
        </p:nvSpPr>
        <p:spPr>
          <a:xfrm>
            <a:off x="3410711"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3547871"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Community norm</a:t>
            </a:r>
          </a:p>
          <a:p>
            <a:pPr>
              <a:spcAft>
                <a:spcPts val="1000"/>
              </a:spcAft>
            </a:pPr>
            <a:r>
              <a:rPr sz="1700" b="0" i="0">
                <a:solidFill>
                  <a:srgbClr val="1A1A1A"/>
                </a:solidFill>
                <a:latin typeface="Arial"/>
              </a:rPr>
              <a:t>"good practice" that benefits all</a:t>
            </a:r>
          </a:p>
        </p:txBody>
      </p:sp>
      <p:sp>
        <p:nvSpPr>
          <p:cNvPr id="174" name="Rounded Rectangle 173"/>
          <p:cNvSpPr/>
          <p:nvPr/>
        </p:nvSpPr>
        <p:spPr>
          <a:xfrm>
            <a:off x="6181344"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318504"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Reuse</a:t>
            </a:r>
          </a:p>
          <a:p>
            <a:pPr>
              <a:spcAft>
                <a:spcPts val="1000"/>
              </a:spcAft>
            </a:pPr>
            <a:r>
              <a:rPr sz="1700" b="0" i="0">
                <a:solidFill>
                  <a:srgbClr val="1A1A1A"/>
                </a:solidFill>
                <a:latin typeface="Arial"/>
              </a:rPr>
              <a:t>tools and data others can extend</a:t>
            </a:r>
          </a:p>
        </p:txBody>
      </p:sp>
      <p:sp>
        <p:nvSpPr>
          <p:cNvPr id="176" name="Rounded Rectangle 175"/>
          <p:cNvSpPr/>
          <p:nvPr/>
        </p:nvSpPr>
        <p:spPr>
          <a:xfrm>
            <a:off x="8951976"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089136"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Understanding</a:t>
            </a:r>
          </a:p>
          <a:p>
            <a:pPr>
              <a:spcAft>
                <a:spcPts val="1000"/>
              </a:spcAft>
            </a:pPr>
            <a:r>
              <a:rPr sz="1700" b="0" i="0">
                <a:solidFill>
                  <a:srgbClr val="1A1A1A"/>
                </a:solidFill>
                <a:latin typeface="Arial"/>
              </a:rPr>
              <a:t>details that don’t fit in a paper</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73" name="Google Shape;173;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4" name="Rounded Rectangle 173"/>
          <p:cNvSpPr/>
          <p:nvPr/>
        </p:nvSpPr>
        <p:spPr>
          <a:xfrm>
            <a:off x="640080" y="1417320"/>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822960" y="1463040"/>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Replicability</a:t>
            </a:r>
          </a:p>
        </p:txBody>
      </p:sp>
      <p:sp>
        <p:nvSpPr>
          <p:cNvPr id="176" name="TextBox 175"/>
          <p:cNvSpPr txBox="1"/>
          <p:nvPr/>
        </p:nvSpPr>
        <p:spPr>
          <a:xfrm>
            <a:off x="3200400" y="1463040"/>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data and scripts shared; qualitative answers kept confidential</a:t>
            </a:r>
          </a:p>
        </p:txBody>
      </p:sp>
      <p:sp>
        <p:nvSpPr>
          <p:cNvPr id="177" name="Rounded Rectangle 176"/>
          <p:cNvSpPr/>
          <p:nvPr/>
        </p:nvSpPr>
        <p:spPr>
          <a:xfrm>
            <a:off x="640080" y="2395728"/>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22960" y="2441448"/>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Construct</a:t>
            </a:r>
          </a:p>
        </p:txBody>
      </p:sp>
      <p:sp>
        <p:nvSpPr>
          <p:cNvPr id="179" name="TextBox 178"/>
          <p:cNvSpPr txBox="1"/>
          <p:nvPr/>
        </p:nvSpPr>
        <p:spPr>
          <a:xfrm>
            <a:off x="3200400" y="2441448"/>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artifact = any link; unlinked artifacts missed; authors not contacted</a:t>
            </a:r>
          </a:p>
        </p:txBody>
      </p:sp>
      <p:sp>
        <p:nvSpPr>
          <p:cNvPr id="180" name="Rounded Rectangle 179"/>
          <p:cNvSpPr/>
          <p:nvPr/>
        </p:nvSpPr>
        <p:spPr>
          <a:xfrm>
            <a:off x="640080" y="3374136"/>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822960" y="3419856"/>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Internal</a:t>
            </a:r>
          </a:p>
        </p:txBody>
      </p:sp>
      <p:sp>
        <p:nvSpPr>
          <p:cNvPr id="182" name="TextBox 181"/>
          <p:cNvSpPr txBox="1"/>
          <p:nvPr/>
        </p:nvSpPr>
        <p:spPr>
          <a:xfrm>
            <a:off x="3200400" y="3419856"/>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survey bias from respondents and researchers; triangulation, documented coding</a:t>
            </a:r>
          </a:p>
        </p:txBody>
      </p:sp>
      <p:sp>
        <p:nvSpPr>
          <p:cNvPr id="183" name="Rounded Rectangle 182"/>
          <p:cNvSpPr/>
          <p:nvPr/>
        </p:nvSpPr>
        <p:spPr>
          <a:xfrm>
            <a:off x="640080" y="4352544"/>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822960" y="4398264"/>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"Available"</a:t>
            </a:r>
          </a:p>
        </p:txBody>
      </p:sp>
      <p:sp>
        <p:nvSpPr>
          <p:cNvPr id="185" name="TextBox 184"/>
          <p:cNvSpPr txBox="1"/>
          <p:nvPr/>
        </p:nvSpPr>
        <p:spPr>
          <a:xfrm>
            <a:off x="3200400" y="4398264"/>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link still works; content and quality not checked</a:t>
            </a:r>
          </a:p>
        </p:txBody>
      </p:sp>
      <p:sp>
        <p:nvSpPr>
          <p:cNvPr id="186" name="Rounded Rectangle 185"/>
          <p:cNvSpPr/>
          <p:nvPr/>
        </p:nvSpPr>
        <p:spPr>
          <a:xfrm>
            <a:off x="640080" y="5330952"/>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22960" y="5376672"/>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External</a:t>
            </a:r>
          </a:p>
        </p:txBody>
      </p:sp>
      <p:sp>
        <p:nvSpPr>
          <p:cNvPr id="188" name="TextBox 187"/>
          <p:cNvSpPr txBox="1"/>
          <p:nvPr/>
        </p:nvSpPr>
        <p:spPr>
          <a:xfrm>
            <a:off x="3200400" y="5376672"/>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results describe only the SE research community</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80" name="Google Shape;180;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1" name="Google Shape;181;p2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88" name="Google Shape;188;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9" name="Google Shape;189;p2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196" name="Google Shape;196;p2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197" name="Google Shape;197;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204" name="Google Shape;20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5" name="Google Shape;205;p2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6" name="Google Shape;206;p2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7" name="Google Shape;207;p2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8" name="Google Shape;208;p2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209" name="Google Shape;209;p2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210" name="Google Shape;210;p2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211" name="Google Shape;211;p2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212" name="Google Shape;212;p2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213" name="Google Shape;213;p2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220" name="Google Shape;220;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21" name="Google Shape;221;p26"/>
          <p:cNvSpPr/>
          <p:nvPr/>
        </p:nvSpPr>
        <p:spPr>
          <a:xfrm>
            <a:off x="452950"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2" name="Google Shape;222;p26"/>
          <p:cNvSpPr/>
          <p:nvPr/>
        </p:nvSpPr>
        <p:spPr>
          <a:xfrm>
            <a:off x="4494475"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3" name="Google Shape;223;p26"/>
          <p:cNvSpPr/>
          <p:nvPr/>
        </p:nvSpPr>
        <p:spPr>
          <a:xfrm>
            <a:off x="8536000"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4" name="Google Shape;224;p26"/>
          <p:cNvSpPr txBox="1"/>
          <p:nvPr/>
        </p:nvSpPr>
        <p:spPr>
          <a:xfrm>
            <a:off x="1230400" y="1489163"/>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225" name="Google Shape;225;p26"/>
          <p:cNvSpPr txBox="1"/>
          <p:nvPr/>
        </p:nvSpPr>
        <p:spPr>
          <a:xfrm>
            <a:off x="4494475" y="1260013"/>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226" name="Google Shape;226;p26"/>
          <p:cNvSpPr txBox="1"/>
          <p:nvPr/>
        </p:nvSpPr>
        <p:spPr>
          <a:xfrm>
            <a:off x="9313450" y="1489163"/>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227" name="Google Shape;227;p26"/>
          <p:cNvSpPr txBox="1"/>
          <p:nvPr/>
        </p:nvSpPr>
        <p:spPr>
          <a:xfrm>
            <a:off x="570250" y="2575488"/>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228" name="Google Shape;228;p26"/>
          <p:cNvSpPr txBox="1"/>
          <p:nvPr/>
        </p:nvSpPr>
        <p:spPr>
          <a:xfrm>
            <a:off x="4638025" y="2575488"/>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229" name="Google Shape;229;p26"/>
          <p:cNvSpPr txBox="1"/>
          <p:nvPr/>
        </p:nvSpPr>
        <p:spPr>
          <a:xfrm>
            <a:off x="8653300" y="2575488"/>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230" name="Google Shape;230;p26"/>
          <p:cNvSpPr txBox="1"/>
          <p:nvPr/>
        </p:nvSpPr>
        <p:spPr>
          <a:xfrm>
            <a:off x="4739425" y="5956800"/>
            <a:ext cx="3000000" cy="5541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US" sz="2400"/>
              <a:t>Agree/Disagree?</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237" name="Google Shape;237;p2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244" name="Google Shape;244;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45" name="Google Shape;245;p2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252" name="Google Shape;252;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53" name="Google Shape;253;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260" name="Google Shape;260;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1" name="Google Shape;261;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31"/>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268" name="Google Shape;268;p31"/>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275" name="Google Shape;275;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76" name="Google Shape;276;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283" name="Google Shape;283;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84" name="Google Shape;284;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291" name="Google Shape;291;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292" name="Google Shape;292;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5"/>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9"/>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320" name="Google Shape;320;p39"/>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321" name="Google Shape;321;p39"/>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4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328" name="Google Shape;328;p40"/>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29" name="Google Shape;329;p40"/>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30" name="Google Shape;330;p40"/>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31" name="Google Shape;331;p40"/>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2" name="Google Shape;332;p40"/>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33" name="Google Shape;333;p40"/>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34" name="Google Shape;334;p40"/>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35" name="Google Shape;335;p40"/>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36" name="Google Shape;336;p40"/>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37" name="Google Shape;337;p40"/>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38" name="Google Shape;338;p40"/>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339" name="Google Shape;339;p40"/>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340" name="Google Shape;340;p40"/>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341" name="Google Shape;341;p40"/>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342" name="Google Shape;342;p4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4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349" name="Google Shape;349;p4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4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356" name="Google Shape;356;p4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357" name="Google Shape;357;p4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4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364" name="Google Shape;364;p43"/>
          <p:cNvGraphicFramePr/>
          <p:nvPr/>
        </p:nvGraphicFramePr>
        <p:xfrm>
          <a:off x="640080" y="1554480"/>
          <a:ext cx="3000000" cy="3000000"/>
        </p:xfrm>
        <a:graphic>
          <a:graphicData uri="http://schemas.openxmlformats.org/drawingml/2006/table">
            <a:tbl>
              <a:tblPr>
                <a:noFill/>
                <a:tableStyleId>{86CE9DF0-B079-444F-8531-439F84C1735D}</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365" name="Google Shape;365;p43"/>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366" name="Google Shape;366;p4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4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373" name="Google Shape;373;p4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374" name="Google Shape;374;p4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4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381" name="Google Shape;381;p45"/>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45"/>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383" name="Google Shape;383;p45"/>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384" name="Google Shape;384;p45"/>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45"/>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386" name="Google Shape;386;p45"/>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387" name="Google Shape;387;p45"/>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45"/>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389" name="Google Shape;389;p45"/>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390" name="Google Shape;390;p45"/>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391" name="Google Shape;391;p4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4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398" name="Google Shape;398;p4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399" name="Google Shape;399;p4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4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406" name="Google Shape;406;p4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407" name="Google Shape;407;p4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4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14" name="Google Shape;414;p4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415" name="Google Shape;415;p4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4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417" name="Google Shape;417;p4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4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419" name="Google Shape;419;p4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420" name="Google Shape;420;p4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4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422" name="Google Shape;422;p4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423" name="Google Shape;423;p4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4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30" name="Google Shape;430;p49"/>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431" name="Google Shape;431;p49"/>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49"/>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433" name="Google Shape;433;p49"/>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49"/>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435" name="Google Shape;435;p49"/>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436" name="Google Shape;436;p49"/>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49"/>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438" name="Google Shape;438;p49"/>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439" name="Google Shape;439;p4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5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46" name="Google Shape;446;p5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447" name="Google Shape;447;p5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5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449" name="Google Shape;449;p5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5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451" name="Google Shape;451;p5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452" name="Google Shape;452;p5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5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454" name="Google Shape;454;p5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455" name="Google Shape;455;p5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5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462" name="Google Shape;462;p5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469" name="Google Shape;469;p5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470" name="Google Shape;470;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sp>
        <p:nvSpPr>
          <p:cNvPr id="476" name="Google Shape;476;p5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477" name="Google Shape;477;p53"/>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478" name="Google Shape;478;p5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485" name="Google Shape;485;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486" name="Google Shape;486;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493" name="Google Shape;493;p55"/>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55"/>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495" name="Google Shape;495;p55"/>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496" name="Google Shape;496;p55"/>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55"/>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498" name="Google Shape;498;p55"/>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499" name="Google Shape;499;p55"/>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55"/>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501" name="Google Shape;501;p55"/>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502" name="Google Shape;502;p55"/>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503" name="Google Shape;50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10" name="Google Shape;51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511" name="Google Shape;51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18" name="Google Shape;518;p5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519" name="Google Shape;519;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26" name="Google Shape;526;p5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527" name="Google Shape;527;p5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5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529" name="Google Shape;529;p5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5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531" name="Google Shape;531;p5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532" name="Google Shape;532;p5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5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534" name="Google Shape;534;p5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535" name="Google Shape;535;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42" name="Google Shape;542;p59"/>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543" name="Google Shape;543;p59"/>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59"/>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545" name="Google Shape;545;p59"/>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59"/>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547" name="Google Shape;547;p59"/>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548" name="Google Shape;548;p59"/>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59"/>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550" name="Google Shape;550;p59"/>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551" name="Google Shape;551;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58" name="Google Shape;558;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559" name="Google Shape;559;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561" name="Google Shape;561;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563" name="Google Shape;563;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564" name="Google Shape;564;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566" name="Google Shape;566;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567" name="Google Shape;567;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6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574" name="Google Shape;574;p6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581" name="Google Shape;581;p62"/>
          <p:cNvGraphicFramePr/>
          <p:nvPr/>
        </p:nvGraphicFramePr>
        <p:xfrm>
          <a:off x="640080" y="1554480"/>
          <a:ext cx="3000000" cy="3000000"/>
        </p:xfrm>
        <a:graphic>
          <a:graphicData uri="http://schemas.openxmlformats.org/drawingml/2006/table">
            <a:tbl>
              <a:tblPr>
                <a:noFill/>
                <a:tableStyleId>{86CE9DF0-B079-444F-8531-439F84C1735D}</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582" name="Google Shape;582;p62"/>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583" name="Google Shape;583;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6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590" name="Google Shape;590;p63"/>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591" name="Google Shape;591;p6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598" name="Google Shape;598;p64"/>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599" name="Google Shape;599;p64"/>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64"/>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601" name="Google Shape;601;p64"/>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64"/>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603" name="Google Shape;603;p64"/>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604" name="Google Shape;604;p64"/>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4"/>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606" name="Google Shape;606;p64"/>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607" name="Google Shape;60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614" name="Google Shape;614;p65"/>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615" name="Google Shape;615;p65"/>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65"/>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617" name="Google Shape;617;p65"/>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65"/>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619" name="Google Shape;619;p65"/>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620" name="Google Shape;620;p65"/>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5"/>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622" name="Google Shape;622;p65"/>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623" name="Google Shape;623;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p66"/>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630" name="Google Shape;630;p66"/>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637" name="Google Shape;637;p6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638" name="Google Shape;638;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645" name="Google Shape;645;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646" name="Google Shape;646;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653" name="Google Shape;653;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654" name="Google Shape;654;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70"/>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ACM badges [1, 2]</a:t>
            </a:r>
          </a:p>
        </p:txBody>
      </p:sp>
      <p:graphicFrame>
        <p:nvGraphicFramePr>
          <p:cNvPr id="135" name="Table 134"/>
          <p:cNvGraphicFramePr>
            <a:graphicFrameLocks noGrp="1"/>
          </p:cNvGraphicFramePr>
          <p:nvPr/>
        </p:nvGraphicFramePr>
        <p:xfrm>
          <a:off x="640080" y="1554480"/>
          <a:ext cx="10908792" cy="2743200"/>
        </p:xfrm>
        <a:graphic>
          <a:graphicData uri="http://schemas.openxmlformats.org/drawingml/2006/table">
            <a:tbl>
              <a:tblPr firstRow="1" bandRow="1">
                <a:tableStyleId>{5C22544A-7EE6-4342-B048-85BDC9FD1C3A}</a:tableStyleId>
              </a:tblPr>
              <a:tblGrid>
                <a:gridCol w="2651760"/>
                <a:gridCol w="2926080"/>
                <a:gridCol w="5330952"/>
              </a:tblGrid>
              <a:tr h="457200">
                <a:tc>
                  <a:txBody>
                    <a:bodyPr/>
                    <a:lstStyle/>
                    <a:p>
                      <a:r>
                        <a:rPr sz="1700" b="1">
                          <a:solidFill>
                            <a:srgbClr val="FFFFFF"/>
                          </a:solidFill>
                          <a:latin typeface="Arial"/>
                        </a:rPr>
                        <a:t>Question</a:t>
                      </a:r>
                    </a:p>
                  </a:txBody>
                  <a:tcPr marL="91440" marR="91440">
                    <a:solidFill>
                      <a:srgbClr val="00883A"/>
                    </a:solidFill>
                  </a:tcPr>
                </a:tc>
                <a:tc>
                  <a:txBody>
                    <a:bodyPr/>
                    <a:lstStyle/>
                    <a:p>
                      <a:r>
                        <a:rPr sz="1700" b="1">
                          <a:solidFill>
                            <a:srgbClr val="FFFFFF"/>
                          </a:solidFill>
                          <a:latin typeface="Arial"/>
                        </a:rPr>
                        <a:t>Badge</a:t>
                      </a:r>
                    </a:p>
                  </a:txBody>
                  <a:tcPr marL="91440" marR="91440">
                    <a:solidFill>
                      <a:srgbClr val="00883A"/>
                    </a:solidFill>
                  </a:tcPr>
                </a:tc>
                <a:tc>
                  <a:txBody>
                    <a:bodyPr/>
                    <a:lstStyle/>
                    <a:p>
                      <a:r>
                        <a:rPr sz="1700" b="1">
                          <a:solidFill>
                            <a:srgbClr val="FFFFFF"/>
                          </a:solidFill>
                          <a:latin typeface="Arial"/>
                        </a:rPr>
                        <a:t>Required</a:t>
                      </a:r>
                    </a:p>
                  </a:txBody>
                  <a:tcPr marL="91440" marR="91440">
                    <a:solidFill>
                      <a:srgbClr val="00883A"/>
                    </a:solidFill>
                  </a:tcPr>
                </a:tc>
              </a:tr>
              <a:tr h="457200">
                <a:tc>
                  <a:txBody>
                    <a:bodyPr/>
                    <a:lstStyle/>
                    <a:p>
                      <a:r>
                        <a:rPr sz="1700" b="0">
                          <a:solidFill>
                            <a:srgbClr val="1A1A1A"/>
                          </a:solidFill>
                          <a:latin typeface="Arial"/>
                        </a:rPr>
                        <a:t>Does it work?</a:t>
                      </a:r>
                    </a:p>
                  </a:txBody>
                  <a:tcPr marL="91440" marR="91440">
                    <a:solidFill>
                      <a:srgbClr val="F1F3F2"/>
                    </a:solidFill>
                  </a:tcPr>
                </a:tc>
                <a:tc>
                  <a:txBody>
                    <a:bodyPr/>
                    <a:lstStyle/>
                    <a:p>
                      <a:r>
                        <a:rPr sz="1700" b="1">
                          <a:solidFill>
                            <a:srgbClr val="1A1A1A"/>
                          </a:solidFill>
                          <a:latin typeface="Arial"/>
                        </a:rPr>
                        <a:t>Evaluated – Functional</a:t>
                      </a:r>
                    </a:p>
                  </a:txBody>
                  <a:tcPr marL="91440" marR="91440">
                    <a:solidFill>
                      <a:srgbClr val="F1F3F2"/>
                    </a:solidFill>
                  </a:tcPr>
                </a:tc>
                <a:tc>
                  <a:txBody>
                    <a:bodyPr/>
                    <a:lstStyle/>
                    <a:p>
                      <a:r>
                        <a:rPr sz="1700" b="0">
                          <a:solidFill>
                            <a:srgbClr val="1A1A1A"/>
                          </a:solidFill>
                          <a:latin typeface="Arial"/>
                        </a:rPr>
                        <a:t>documented, consistent, complete, exercisable</a:t>
                      </a:r>
                    </a:p>
                  </a:txBody>
                  <a:tcPr marL="91440" marR="91440">
                    <a:solidFill>
                      <a:srgbClr val="F1F3F2"/>
                    </a:solidFill>
                  </a:tcPr>
                </a:tc>
              </a:tr>
              <a:tr h="457200">
                <a:tc>
                  <a:txBody>
                    <a:bodyPr/>
                    <a:lstStyle/>
                    <a:p>
                      <a:r>
                        <a:rPr sz="1700" b="0">
                          <a:solidFill>
                            <a:srgbClr val="1A1A1A"/>
                          </a:solidFill>
                          <a:latin typeface="Arial"/>
                        </a:rPr>
                        <a:t/>
                      </a:r>
                    </a:p>
                  </a:txBody>
                  <a:tcPr marL="91440" marR="91440">
                    <a:solidFill>
                      <a:srgbClr val="FFFFFF"/>
                    </a:solidFill>
                  </a:tcPr>
                </a:tc>
                <a:tc>
                  <a:txBody>
                    <a:bodyPr/>
                    <a:lstStyle/>
                    <a:p>
                      <a:r>
                        <a:rPr sz="1700" b="1">
                          <a:solidFill>
                            <a:srgbClr val="1A1A1A"/>
                          </a:solidFill>
                          <a:latin typeface="Arial"/>
                        </a:rPr>
                        <a:t>Evaluated – Reusable</a:t>
                      </a:r>
                    </a:p>
                  </a:txBody>
                  <a:tcPr marL="91440" marR="91440">
                    <a:solidFill>
                      <a:srgbClr val="FFFFFF"/>
                    </a:solidFill>
                  </a:tcPr>
                </a:tc>
                <a:tc>
                  <a:txBody>
                    <a:bodyPr/>
                    <a:lstStyle/>
                    <a:p>
                      <a:r>
                        <a:rPr sz="1700" b="0">
                          <a:solidFill>
                            <a:srgbClr val="1A1A1A"/>
                          </a:solidFill>
                          <a:latin typeface="Arial"/>
                        </a:rPr>
                        <a:t>Functional + well structured and documented for reuse</a:t>
                      </a:r>
                    </a:p>
                  </a:txBody>
                  <a:tcPr marL="91440" marR="91440">
                    <a:solidFill>
                      <a:srgbClr val="FFFFFF"/>
                    </a:solidFill>
                  </a:tcPr>
                </a:tc>
              </a:tr>
              <a:tr h="457200">
                <a:tc>
                  <a:txBody>
                    <a:bodyPr/>
                    <a:lstStyle/>
                    <a:p>
                      <a:r>
                        <a:rPr sz="1700" b="0">
                          <a:solidFill>
                            <a:srgbClr val="1A1A1A"/>
                          </a:solidFill>
                          <a:latin typeface="Arial"/>
                        </a:rPr>
                        <a:t>Permanently available?</a:t>
                      </a:r>
                    </a:p>
                  </a:txBody>
                  <a:tcPr marL="91440" marR="91440">
                    <a:solidFill>
                      <a:srgbClr val="F1F3F2"/>
                    </a:solidFill>
                  </a:tcPr>
                </a:tc>
                <a:tc>
                  <a:txBody>
                    <a:bodyPr/>
                    <a:lstStyle/>
                    <a:p>
                      <a:r>
                        <a:rPr sz="1700" b="1">
                          <a:solidFill>
                            <a:srgbClr val="1A1A1A"/>
                          </a:solidFill>
                          <a:latin typeface="Arial"/>
                        </a:rPr>
                        <a:t>Available</a:t>
                      </a:r>
                    </a:p>
                  </a:txBody>
                  <a:tcPr marL="91440" marR="91440">
                    <a:solidFill>
                      <a:srgbClr val="F1F3F2"/>
                    </a:solidFill>
                  </a:tcPr>
                </a:tc>
                <a:tc>
                  <a:txBody>
                    <a:bodyPr/>
                    <a:lstStyle/>
                    <a:p>
                      <a:r>
                        <a:rPr sz="1700" b="0">
                          <a:solidFill>
                            <a:srgbClr val="1A1A1A"/>
                          </a:solidFill>
                          <a:latin typeface="Arial"/>
                        </a:rPr>
                        <a:t>public archival repository with DOI (Zenodo, Software Heritage …); GitHub alone not enough; no evaluation</a:t>
                      </a:r>
                    </a:p>
                  </a:txBody>
                  <a:tcPr marL="91440" marR="91440">
                    <a:solidFill>
                      <a:srgbClr val="F1F3F2"/>
                    </a:solidFill>
                  </a:tcPr>
                </a:tc>
              </a:tr>
              <a:tr h="457200">
                <a:tc>
                  <a:txBody>
                    <a:bodyPr/>
                    <a:lstStyle/>
                    <a:p>
                      <a:r>
                        <a:rPr sz="1700" b="0">
                          <a:solidFill>
                            <a:srgbClr val="1A1A1A"/>
                          </a:solidFill>
                          <a:latin typeface="Arial"/>
                        </a:rPr>
                        <a:t>Results confirmed?</a:t>
                      </a:r>
                    </a:p>
                  </a:txBody>
                  <a:tcPr marL="91440" marR="91440">
                    <a:solidFill>
                      <a:srgbClr val="FFFFFF"/>
                    </a:solidFill>
                  </a:tcPr>
                </a:tc>
                <a:tc>
                  <a:txBody>
                    <a:bodyPr/>
                    <a:lstStyle/>
                    <a:p>
                      <a:r>
                        <a:rPr sz="1700" b="1">
                          <a:solidFill>
                            <a:srgbClr val="1A1A1A"/>
                          </a:solidFill>
                          <a:latin typeface="Arial"/>
                        </a:rPr>
                        <a:t>Results Reproduced</a:t>
                      </a:r>
                    </a:p>
                  </a:txBody>
                  <a:tcPr marL="91440" marR="91440">
                    <a:solidFill>
                      <a:srgbClr val="FFFFFF"/>
                    </a:solidFill>
                  </a:tcPr>
                </a:tc>
                <a:tc>
                  <a:txBody>
                    <a:bodyPr/>
                    <a:lstStyle/>
                    <a:p>
                      <a:r>
                        <a:rPr sz="1700" b="0">
                          <a:solidFill>
                            <a:srgbClr val="1A1A1A"/>
                          </a:solidFill>
                          <a:latin typeface="Arial"/>
                        </a:rPr>
                        <a:t>other team gets main results with the authors’ artifacts</a:t>
                      </a:r>
                    </a:p>
                  </a:txBody>
                  <a:tcPr marL="91440" marR="91440">
                    <a:solidFill>
                      <a:srgbClr val="FFFFFF"/>
                    </a:solidFill>
                  </a:tcPr>
                </a:tc>
              </a:tr>
              <a:tr h="457200">
                <a:tc>
                  <a:txBody>
                    <a:bodyPr/>
                    <a:lstStyle/>
                    <a:p>
                      <a:r>
                        <a:rPr sz="1700" b="0">
                          <a:solidFill>
                            <a:srgbClr val="1A1A1A"/>
                          </a:solidFill>
                          <a:latin typeface="Arial"/>
                        </a:rPr>
                        <a:t/>
                      </a:r>
                    </a:p>
                  </a:txBody>
                  <a:tcPr marL="91440" marR="91440">
                    <a:solidFill>
                      <a:srgbClr val="F1F3F2"/>
                    </a:solidFill>
                  </a:tcPr>
                </a:tc>
                <a:tc>
                  <a:txBody>
                    <a:bodyPr/>
                    <a:lstStyle/>
                    <a:p>
                      <a:r>
                        <a:rPr sz="1700" b="1">
                          <a:solidFill>
                            <a:srgbClr val="1A1A1A"/>
                          </a:solidFill>
                          <a:latin typeface="Arial"/>
                        </a:rPr>
                        <a:t>Results Replicated</a:t>
                      </a:r>
                    </a:p>
                  </a:txBody>
                  <a:tcPr marL="91440" marR="91440">
                    <a:solidFill>
                      <a:srgbClr val="F1F3F2"/>
                    </a:solidFill>
                  </a:tcPr>
                </a:tc>
                <a:tc>
                  <a:txBody>
                    <a:bodyPr/>
                    <a:lstStyle/>
                    <a:p>
                      <a:r>
                        <a:rPr sz="1700" b="0">
                          <a:solidFill>
                            <a:srgbClr val="1A1A1A"/>
                          </a:solidFill>
                          <a:latin typeface="Arial"/>
                        </a:rPr>
                        <a:t>other team gets main results without them</a:t>
                      </a:r>
                    </a:p>
                  </a:txBody>
                  <a:tcPr marL="91440" marR="91440">
                    <a:solidFill>
                      <a:srgbClr val="F1F3F2"/>
                    </a:solidFill>
                  </a:tcPr>
                </a:tc>
              </a:tr>
            </a:tbl>
          </a:graphicData>
        </a:graphic>
      </p:graphicFrame>
      <p:sp>
        <p:nvSpPr>
          <p:cNvPr id="136" name="TextBox 135"/>
          <p:cNvSpPr txBox="1"/>
          <p:nvPr/>
        </p:nvSpPr>
        <p:spPr>
          <a:xfrm>
            <a:off x="640080" y="5029200"/>
            <a:ext cx="10908792" cy="548640"/>
          </a:xfrm>
          <a:prstGeom prst="rect">
            <a:avLst/>
          </a:prstGeom>
          <a:noFill/>
        </p:spPr>
        <p:txBody>
          <a:bodyPr wrap="square">
            <a:spAutoFit/>
          </a:bodyPr>
          <a:lstStyle/>
          <a:p>
            <a:pPr>
              <a:spcAft>
                <a:spcPts val="600"/>
              </a:spcAft>
            </a:pPr>
            <a:r>
              <a:rPr sz="1500" b="0" i="0">
                <a:solidFill>
                  <a:srgbClr val="5F6368"/>
                </a:solidFill>
                <a:latin typeface="Arial"/>
              </a:rPr>
              <a:t>The paper names "Available, Evaluated, Results Validated"; Results Validated is now split in two. ACM only defines the badges; each conference’s AEC sets its own concrete rules [1, 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Diffusion of Innovations (DoI): how new ideas and practices spread</a:t>
            </a:r>
          </a:p>
        </p:txBody>
      </p:sp>
      <p:sp>
        <p:nvSpPr>
          <p:cNvPr id="135" name="Rounded Rectangle 134"/>
          <p:cNvSpPr/>
          <p:nvPr/>
        </p:nvSpPr>
        <p:spPr>
          <a:xfrm>
            <a:off x="640080"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77240"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Innovation</a:t>
            </a:r>
          </a:p>
          <a:p>
            <a:pPr>
              <a:spcAft>
                <a:spcPts val="1000"/>
              </a:spcAft>
            </a:pPr>
            <a:r>
              <a:rPr sz="1700" b="0" i="0">
                <a:solidFill>
                  <a:srgbClr val="1A1A1A"/>
                </a:solidFill>
                <a:latin typeface="Arial"/>
              </a:rPr>
              <a:t>each artifact</a:t>
            </a:r>
          </a:p>
        </p:txBody>
      </p:sp>
      <p:sp>
        <p:nvSpPr>
          <p:cNvPr id="137" name="Rounded Rectangle 136"/>
          <p:cNvSpPr/>
          <p:nvPr/>
        </p:nvSpPr>
        <p:spPr>
          <a:xfrm>
            <a:off x="3410711"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547871"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Communication channels</a:t>
            </a:r>
          </a:p>
          <a:p>
            <a:pPr>
              <a:spcAft>
                <a:spcPts val="1000"/>
              </a:spcAft>
            </a:pPr>
            <a:r>
              <a:rPr sz="1700" b="0" i="0">
                <a:solidFill>
                  <a:srgbClr val="1A1A1A"/>
                </a:solidFill>
                <a:latin typeface="Arial"/>
              </a:rPr>
              <a:t>links, AECs, badges</a:t>
            </a:r>
          </a:p>
        </p:txBody>
      </p:sp>
      <p:sp>
        <p:nvSpPr>
          <p:cNvPr id="139" name="Rounded Rectangle 138"/>
          <p:cNvSpPr/>
          <p:nvPr/>
        </p:nvSpPr>
        <p:spPr>
          <a:xfrm>
            <a:off x="6181344"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318504"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Time</a:t>
            </a:r>
          </a:p>
          <a:p>
            <a:pPr>
              <a:spcAft>
                <a:spcPts val="1000"/>
              </a:spcAft>
            </a:pPr>
            <a:r>
              <a:rPr sz="1700" b="0" i="0">
                <a:solidFill>
                  <a:srgbClr val="1A1A1A"/>
                </a:solidFill>
                <a:latin typeface="Arial"/>
              </a:rPr>
              <a:t>availability and usability over time</a:t>
            </a:r>
          </a:p>
        </p:txBody>
      </p:sp>
      <p:sp>
        <p:nvSpPr>
          <p:cNvPr id="141" name="Rounded Rectangle 140"/>
          <p:cNvSpPr/>
          <p:nvPr/>
        </p:nvSpPr>
        <p:spPr>
          <a:xfrm>
            <a:off x="8951976"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9089136"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Social system</a:t>
            </a:r>
          </a:p>
          <a:p>
            <a:pPr>
              <a:spcAft>
                <a:spcPts val="1000"/>
              </a:spcAft>
            </a:pPr>
            <a:r>
              <a:rPr sz="1700" b="0" i="0">
                <a:solidFill>
                  <a:srgbClr val="1A1A1A"/>
                </a:solidFill>
                <a:latin typeface="Arial"/>
              </a:rPr>
              <a:t>SE research community, its norms and values</a:t>
            </a:r>
          </a:p>
        </p:txBody>
      </p:sp>
      <p:sp>
        <p:nvSpPr>
          <p:cNvPr id="143" name="TextBox 142"/>
          <p:cNvSpPr txBox="1"/>
          <p:nvPr/>
        </p:nvSpPr>
        <p:spPr>
          <a:xfrm>
            <a:off x="640080" y="4114800"/>
            <a:ext cx="10908792" cy="457200"/>
          </a:xfrm>
          <a:prstGeom prst="rect">
            <a:avLst/>
          </a:prstGeom>
          <a:noFill/>
        </p:spPr>
        <p:txBody>
          <a:bodyPr wrap="square">
            <a:spAutoFit/>
          </a:bodyPr>
          <a:lstStyle/>
          <a:p>
            <a:pPr>
              <a:spcAft>
                <a:spcPts val="600"/>
              </a:spcAft>
            </a:pPr>
            <a:r>
              <a:rPr sz="1800" b="1" i="0">
                <a:solidFill>
                  <a:srgbClr val="00883A"/>
                </a:solidFill>
                <a:latin typeface="Arial"/>
              </a:rPr>
              <a:t>Used here: </a:t>
            </a:r>
            <a:r>
              <a:rPr sz="1800" b="0" i="0">
                <a:solidFill>
                  <a:srgbClr val="1A1A1A"/>
                </a:solidFill>
                <a:latin typeface="Arial"/>
              </a:rPr>
              <a:t>analytical lens to link the findings of the two studies (§5)</a:t>
            </a:r>
          </a:p>
        </p:txBody>
      </p:sp>
      <p:sp>
        <p:nvSpPr>
          <p:cNvPr id="144" name="Rounded Rectangle 143"/>
          <p:cNvSpPr/>
          <p:nvPr/>
        </p:nvSpPr>
        <p:spPr>
          <a:xfrm>
            <a:off x="640080" y="4846320"/>
            <a:ext cx="1090879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22960" y="4937760"/>
            <a:ext cx="10515600" cy="1005840"/>
          </a:xfrm>
          <a:prstGeom prst="rect">
            <a:avLst/>
          </a:prstGeom>
          <a:noFill/>
        </p:spPr>
        <p:txBody>
          <a:bodyPr wrap="square" anchor="ctr">
            <a:spAutoFit/>
          </a:bodyPr>
          <a:lstStyle/>
          <a:p>
            <a:pPr>
              <a:spcAft>
                <a:spcPts val="600"/>
              </a:spcAft>
            </a:pPr>
            <a:r>
              <a:rPr sz="1800" b="1" i="0">
                <a:solidFill>
                  <a:srgbClr val="00883A"/>
                </a:solidFill>
                <a:latin typeface="Arial"/>
              </a:rPr>
              <a:t>Implementation Science (IS): </a:t>
            </a:r>
            <a:r>
              <a:rPr sz="1800" b="0" i="0">
                <a:solidFill>
                  <a:srgbClr val="1A1A1A"/>
                </a:solidFill>
                <a:latin typeface="Arial"/>
              </a:rPr>
              <a:t>iterative, evidence-based way of moving research into practice (from medicine): practices identified, trialled, observed, improved. Used to shape the recommendations.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Challenges of creating, sharing, using and reviewing</a:t>
            </a:r>
          </a:p>
        </p:txBody>
      </p:sp>
      <p:sp>
        <p:nvSpPr>
          <p:cNvPr id="135" name="Rounded Rectangle 134"/>
          <p:cNvSpPr/>
          <p:nvPr/>
        </p:nvSpPr>
        <p:spPr>
          <a:xfrm>
            <a:off x="640080"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49808"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C1 </a:t>
            </a:r>
            <a:r>
              <a:rPr sz="1700" b="0" i="0">
                <a:solidFill>
                  <a:srgbClr val="1A1A1A"/>
                </a:solidFill>
                <a:latin typeface="Arial"/>
              </a:rPr>
              <a:t>Not worth it</a:t>
            </a:r>
          </a:p>
          <a:p>
            <a:pPr>
              <a:spcAft>
                <a:spcPts val="400"/>
              </a:spcAft>
            </a:pPr>
            <a:r>
              <a:rPr sz="1800" b="1" i="0">
                <a:solidFill>
                  <a:srgbClr val="00883A"/>
                </a:solidFill>
                <a:latin typeface="Arial"/>
              </a:rPr>
              <a:t>■ </a:t>
            </a:r>
          </a:p>
        </p:txBody>
      </p:sp>
      <p:sp>
        <p:nvSpPr>
          <p:cNvPr id="137" name="Rounded Rectangle 136"/>
          <p:cNvSpPr/>
          <p:nvPr/>
        </p:nvSpPr>
        <p:spPr>
          <a:xfrm>
            <a:off x="3410711"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520439"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C2 </a:t>
            </a:r>
            <a:r>
              <a:rPr sz="1700" b="0" i="0">
                <a:solidFill>
                  <a:srgbClr val="1A1A1A"/>
                </a:solidFill>
                <a:latin typeface="Arial"/>
              </a:rPr>
              <a:t>Portability</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39" name="Rounded Rectangle 138"/>
          <p:cNvSpPr/>
          <p:nvPr/>
        </p:nvSpPr>
        <p:spPr>
          <a:xfrm>
            <a:off x="6181344"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291072"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C3 </a:t>
            </a:r>
            <a:r>
              <a:rPr sz="1700" b="0" i="0">
                <a:solidFill>
                  <a:srgbClr val="1A1A1A"/>
                </a:solidFill>
                <a:latin typeface="Arial"/>
              </a:rPr>
              <a:t>Maintenance</a:t>
            </a:r>
          </a:p>
          <a:p>
            <a:pPr>
              <a:spcAft>
                <a:spcPts val="400"/>
              </a:spcAft>
            </a:pPr>
            <a:r>
              <a:rPr sz="1800" b="1" i="0">
                <a:solidFill>
                  <a:srgbClr val="00883A"/>
                </a:solidFill>
                <a:latin typeface="Arial"/>
              </a:rPr>
              <a:t>■ </a:t>
            </a:r>
            <a:r>
              <a:rPr sz="1800" b="1" i="0">
                <a:solidFill>
                  <a:srgbClr val="5F6368"/>
                </a:solidFill>
                <a:latin typeface="Arial"/>
              </a:rPr>
              <a:t>▲ </a:t>
            </a:r>
          </a:p>
        </p:txBody>
      </p:sp>
      <p:sp>
        <p:nvSpPr>
          <p:cNvPr id="141" name="Rounded Rectangle 140"/>
          <p:cNvSpPr/>
          <p:nvPr/>
        </p:nvSpPr>
        <p:spPr>
          <a:xfrm>
            <a:off x="8951976"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9061703"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C4 </a:t>
            </a:r>
            <a:r>
              <a:rPr sz="1700" b="0" i="0">
                <a:solidFill>
                  <a:srgbClr val="1A1A1A"/>
                </a:solidFill>
                <a:latin typeface="Arial"/>
              </a:rPr>
              <a:t>Tacit knowledge</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43" name="Rounded Rectangle 142"/>
          <p:cNvSpPr/>
          <p:nvPr/>
        </p:nvSpPr>
        <p:spPr>
          <a:xfrm>
            <a:off x="640080"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749808"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C5 </a:t>
            </a:r>
            <a:r>
              <a:rPr sz="1700" b="0" i="0">
                <a:solidFill>
                  <a:srgbClr val="1A1A1A"/>
                </a:solidFill>
                <a:latin typeface="Arial"/>
              </a:rPr>
              <a:t>Doesn’t fit purpose</a:t>
            </a:r>
          </a:p>
          <a:p>
            <a:pPr>
              <a:spcAft>
                <a:spcPts val="400"/>
              </a:spcAft>
            </a:pPr>
            <a:r>
              <a:rPr sz="1800" b="1" i="0">
                <a:solidFill>
                  <a:srgbClr val="5F6368"/>
                </a:solidFill>
                <a:latin typeface="Arial"/>
              </a:rPr>
              <a:t>▲ </a:t>
            </a:r>
          </a:p>
        </p:txBody>
      </p:sp>
      <p:sp>
        <p:nvSpPr>
          <p:cNvPr id="145" name="Rounded Rectangle 144"/>
          <p:cNvSpPr/>
          <p:nvPr/>
        </p:nvSpPr>
        <p:spPr>
          <a:xfrm>
            <a:off x="3410711"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3520439"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C6 </a:t>
            </a:r>
            <a:r>
              <a:rPr sz="1700" b="0" i="0">
                <a:solidFill>
                  <a:srgbClr val="1A1A1A"/>
                </a:solidFill>
                <a:latin typeface="Arial"/>
              </a:rPr>
              <a:t>No standards / guidelines</a:t>
            </a:r>
          </a:p>
          <a:p>
            <a:pPr>
              <a:spcAft>
                <a:spcPts val="400"/>
              </a:spcAft>
            </a:pPr>
            <a:r>
              <a:rPr sz="1800" b="1" i="0">
                <a:solidFill>
                  <a:srgbClr val="00883A"/>
                </a:solidFill>
                <a:latin typeface="Arial"/>
              </a:rPr>
              <a:t>■ </a:t>
            </a:r>
            <a:r>
              <a:rPr sz="1800" b="1" i="0">
                <a:solidFill>
                  <a:srgbClr val="1A1A1A"/>
                </a:solidFill>
                <a:latin typeface="Arial"/>
              </a:rPr>
              <a:t>★ </a:t>
            </a:r>
          </a:p>
        </p:txBody>
      </p:sp>
      <p:sp>
        <p:nvSpPr>
          <p:cNvPr id="147" name="Rounded Rectangle 146"/>
          <p:cNvSpPr/>
          <p:nvPr/>
        </p:nvSpPr>
        <p:spPr>
          <a:xfrm>
            <a:off x="6181344"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6291072"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C7 </a:t>
            </a:r>
            <a:r>
              <a:rPr sz="1700" b="0" i="0">
                <a:solidFill>
                  <a:srgbClr val="1A1A1A"/>
                </a:solidFill>
                <a:latin typeface="Arial"/>
              </a:rPr>
              <a:t>Hosting</a:t>
            </a:r>
          </a:p>
          <a:p>
            <a:pPr>
              <a:spcAft>
                <a:spcPts val="400"/>
              </a:spcAft>
            </a:pPr>
            <a:r>
              <a:rPr sz="1800" b="1" i="0">
                <a:solidFill>
                  <a:srgbClr val="00883A"/>
                </a:solidFill>
                <a:latin typeface="Arial"/>
              </a:rPr>
              <a:t>■ </a:t>
            </a:r>
            <a:r>
              <a:rPr sz="1800" b="1" i="0">
                <a:solidFill>
                  <a:srgbClr val="5F6368"/>
                </a:solidFill>
                <a:latin typeface="Arial"/>
              </a:rPr>
              <a:t>▲ </a:t>
            </a:r>
          </a:p>
        </p:txBody>
      </p:sp>
      <p:sp>
        <p:nvSpPr>
          <p:cNvPr id="149" name="Rounded Rectangle 148"/>
          <p:cNvSpPr/>
          <p:nvPr/>
        </p:nvSpPr>
        <p:spPr>
          <a:xfrm>
            <a:off x="8951976"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061703"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C8 </a:t>
            </a:r>
            <a:r>
              <a:rPr sz="1700" b="0" i="0">
                <a:solidFill>
                  <a:srgbClr val="1A1A1A"/>
                </a:solidFill>
                <a:latin typeface="Arial"/>
              </a:rPr>
              <a:t>Double-blind review</a:t>
            </a:r>
          </a:p>
          <a:p>
            <a:pPr>
              <a:spcAft>
                <a:spcPts val="400"/>
              </a:spcAft>
            </a:pPr>
            <a:r>
              <a:rPr sz="1800" b="1" i="0">
                <a:solidFill>
                  <a:srgbClr val="00883A"/>
                </a:solidFill>
                <a:latin typeface="Arial"/>
              </a:rPr>
              <a:t>■ </a:t>
            </a:r>
          </a:p>
        </p:txBody>
      </p:sp>
      <p:sp>
        <p:nvSpPr>
          <p:cNvPr id="151" name="Rounded Rectangle 150"/>
          <p:cNvSpPr/>
          <p:nvPr/>
        </p:nvSpPr>
        <p:spPr>
          <a:xfrm>
            <a:off x="640080"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49808"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C9 </a:t>
            </a:r>
            <a:r>
              <a:rPr sz="1700" b="0" i="0">
                <a:solidFill>
                  <a:srgbClr val="1A1A1A"/>
                </a:solidFill>
                <a:latin typeface="Arial"/>
              </a:rPr>
              <a:t>External constraints</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53" name="Rounded Rectangle 152"/>
          <p:cNvSpPr/>
          <p:nvPr/>
        </p:nvSpPr>
        <p:spPr>
          <a:xfrm>
            <a:off x="3410711"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3520439"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C10 </a:t>
            </a:r>
            <a:r>
              <a:rPr sz="1700" b="0" i="0">
                <a:solidFill>
                  <a:srgbClr val="1A1A1A"/>
                </a:solidFill>
                <a:latin typeface="Arial"/>
              </a:rPr>
              <a:t>No reviewer incentives</a:t>
            </a:r>
          </a:p>
          <a:p>
            <a:pPr>
              <a:spcAft>
                <a:spcPts val="400"/>
              </a:spcAft>
            </a:pPr>
            <a:r>
              <a:rPr sz="1800" b="1" i="0">
                <a:solidFill>
                  <a:srgbClr val="1A1A1A"/>
                </a:solidFill>
                <a:latin typeface="Arial"/>
              </a:rPr>
              <a:t>★ </a:t>
            </a:r>
          </a:p>
        </p:txBody>
      </p:sp>
      <p:sp>
        <p:nvSpPr>
          <p:cNvPr id="155" name="Rounded Rectangle 154"/>
          <p:cNvSpPr/>
          <p:nvPr/>
        </p:nvSpPr>
        <p:spPr>
          <a:xfrm>
            <a:off x="6181344"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C11 </a:t>
            </a:r>
            <a:r>
              <a:rPr sz="1700" b="0" i="0">
                <a:solidFill>
                  <a:srgbClr val="1A1A1A"/>
                </a:solidFill>
                <a:latin typeface="Arial"/>
              </a:rPr>
              <a:t>Technical obstacles</a:t>
            </a:r>
          </a:p>
          <a:p>
            <a:pPr>
              <a:spcAft>
                <a:spcPts val="400"/>
              </a:spcAft>
            </a:pPr>
            <a:r>
              <a:rPr sz="1800" b="1" i="0">
                <a:solidFill>
                  <a:srgbClr val="1A1A1A"/>
                </a:solidFill>
                <a:latin typeface="Arial"/>
              </a:rPr>
              <a:t>★ </a:t>
            </a:r>
          </a:p>
        </p:txBody>
      </p:sp>
      <p:sp>
        <p:nvSpPr>
          <p:cNvPr id="157" name="Rounded Rectangle 156"/>
          <p:cNvSpPr/>
          <p:nvPr/>
        </p:nvSpPr>
        <p:spPr>
          <a:xfrm>
            <a:off x="8951976"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9061703"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C12 </a:t>
            </a:r>
            <a:r>
              <a:rPr sz="1700" b="0" i="0">
                <a:solidFill>
                  <a:srgbClr val="1A1A1A"/>
                </a:solidFill>
                <a:latin typeface="Arial"/>
              </a:rPr>
              <a:t>Limited communication</a:t>
            </a:r>
          </a:p>
          <a:p>
            <a:pPr>
              <a:spcAft>
                <a:spcPts val="400"/>
              </a:spcAft>
            </a:pPr>
            <a:r>
              <a:rPr sz="1800" b="1" i="0">
                <a:solidFill>
                  <a:srgbClr val="1A1A1A"/>
                </a:solidFill>
                <a:latin typeface="Arial"/>
              </a:rPr>
              <a:t>★ </a:t>
            </a:r>
          </a:p>
        </p:txBody>
      </p:sp>
      <p:sp>
        <p:nvSpPr>
          <p:cNvPr id="159" name="TextBox 158"/>
          <p:cNvSpPr txBox="1"/>
          <p:nvPr/>
        </p:nvSpPr>
        <p:spPr>
          <a:xfrm>
            <a:off x="640080" y="5806440"/>
            <a:ext cx="10908792" cy="457200"/>
          </a:xfrm>
          <a:prstGeom prst="rect">
            <a:avLst/>
          </a:prstGeom>
          <a:noFill/>
        </p:spPr>
        <p:txBody>
          <a:bodyPr wrap="square">
            <a:spAutoFit/>
          </a:bodyPr>
          <a:lstStyle/>
          <a:p>
            <a:pPr>
              <a:spcAft>
                <a:spcPts val="600"/>
              </a:spcAft>
            </a:pPr>
            <a:r>
              <a:rPr sz="1600" b="1" i="0">
                <a:solidFill>
                  <a:srgbClr val="00883A"/>
                </a:solidFill>
                <a:latin typeface="Arial"/>
              </a:rPr>
              <a:t>■ </a:t>
            </a:r>
            <a:r>
              <a:rPr sz="1600" b="0" i="0">
                <a:solidFill>
                  <a:srgbClr val="5F6368"/>
                </a:solidFill>
                <a:latin typeface="Arial"/>
              </a:rPr>
              <a:t>creator   </a:t>
            </a:r>
            <a:r>
              <a:rPr sz="1600" b="1" i="0">
                <a:solidFill>
                  <a:srgbClr val="5F6368"/>
                </a:solidFill>
                <a:latin typeface="Arial"/>
              </a:rPr>
              <a:t>▲ </a:t>
            </a:r>
            <a:r>
              <a:rPr sz="1600" b="0" i="0">
                <a:solidFill>
                  <a:srgbClr val="5F6368"/>
                </a:solidFill>
                <a:latin typeface="Arial"/>
              </a:rPr>
              <a:t>user   </a:t>
            </a:r>
            <a:r>
              <a:rPr sz="1600" b="1" i="0">
                <a:solidFill>
                  <a:srgbClr val="1A1A1A"/>
                </a:solidFill>
                <a:latin typeface="Arial"/>
              </a:rPr>
              <a:t>★ </a:t>
            </a:r>
            <a:r>
              <a:rPr sz="1600" b="0" i="0">
                <a:solidFill>
                  <a:srgbClr val="5F6368"/>
                </a:solidFill>
                <a:latin typeface="Arial"/>
              </a:rPr>
              <a:t>reviewer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C1-C3</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C1 </a:t>
                      </a:r>
                      <a:r>
                        <a:rPr sz="1700" b="1">
                          <a:solidFill>
                            <a:srgbClr val="1A1A1A"/>
                          </a:solidFill>
                          <a:latin typeface="Arial"/>
                        </a:rPr>
                        <a:t>Not worth it</a:t>
                      </a:r>
                    </a:p>
                    <a:p>
                      <a:r>
                        <a:rPr sz="1600" b="1">
                          <a:solidFill>
                            <a:srgbClr val="00883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costly; time better spent on papers; little career benefit</a:t>
                      </a:r>
                    </a:p>
                    <a:p>
                      <a:pPr>
                        <a:spcAft>
                          <a:spcPts val="300"/>
                        </a:spcAft>
                      </a:pPr>
                      <a:r>
                        <a:rPr sz="1600" b="1">
                          <a:solidFill>
                            <a:srgbClr val="00883A"/>
                          </a:solidFill>
                          <a:latin typeface="Arial"/>
                        </a:rPr>
                        <a:t>■ </a:t>
                      </a:r>
                      <a:r>
                        <a:rPr sz="1600" b="0">
                          <a:solidFill>
                            <a:srgbClr val="1A1A1A"/>
                          </a:solidFill>
                          <a:latin typeface="Arial"/>
                        </a:rPr>
                        <a:t>risks: reputation (code quality), scooping, mistakes found, maintenance burden, no users</a:t>
                      </a:r>
                    </a:p>
                    <a:p>
                      <a:pPr>
                        <a:spcAft>
                          <a:spcPts val="300"/>
                        </a:spcAft>
                      </a:pPr>
                      <a:r>
                        <a:rPr sz="1600" b="1">
                          <a:solidFill>
                            <a:srgbClr val="00883A"/>
                          </a:solidFill>
                          <a:latin typeface="Arial"/>
                        </a:rPr>
                        <a:t>■ </a:t>
                      </a:r>
                      <a:r>
                        <a:rPr sz="1600" b="0">
                          <a:solidFill>
                            <a:srgbClr val="1A1A1A"/>
                          </a:solidFill>
                          <a:latin typeface="Arial"/>
                        </a:rPr>
                        <a:t>held back for untapped publication value ("protect a PhD student"); limited audience</a:t>
                      </a:r>
                    </a:p>
                    <a:p>
                      <a:pPr>
                        <a:spcAft>
                          <a:spcPts val="300"/>
                        </a:spcAft>
                      </a:pPr>
                      <a:r>
                        <a:rPr sz="1600" b="1">
                          <a:solidFill>
                            <a:srgbClr val="00883A"/>
                          </a:solidFill>
                          <a:latin typeface="Arial"/>
                        </a:rPr>
                        <a:t>■ </a:t>
                      </a:r>
                      <a:r>
                        <a:rPr sz="1600" b="0">
                          <a:solidFill>
                            <a:srgbClr val="1A1A1A"/>
                          </a:solidFill>
                          <a:latin typeface="Arial"/>
                        </a:rPr>
                        <a:t>counterpoint: whole research areas died for lack of artifacts</a:t>
                      </a:r>
                    </a:p>
                  </a:txBody>
                  <a:tcPr marT="36576" marB="36576">
                    <a:solidFill>
                      <a:srgbClr val="F1F3F2"/>
                    </a:solidFill>
                  </a:tcPr>
                </a:tc>
              </a:tr>
              <a:tr h="411480">
                <a:tc>
                  <a:txBody>
                    <a:bodyPr/>
                    <a:lstStyle/>
                    <a:p>
                      <a:r>
                        <a:rPr sz="1700" b="1">
                          <a:solidFill>
                            <a:srgbClr val="00883A"/>
                          </a:solidFill>
                          <a:latin typeface="Arial"/>
                        </a:rPr>
                        <a:t>C2 </a:t>
                      </a:r>
                      <a:r>
                        <a:rPr sz="1700" b="1">
                          <a:solidFill>
                            <a:srgbClr val="1A1A1A"/>
                          </a:solidFill>
                          <a:latin typeface="Arial"/>
                        </a:rPr>
                        <a:t>Portability</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FFFFF"/>
                    </a:solidFill>
                  </a:tcPr>
                </a:tc>
                <a:tc>
                  <a:txBody>
                    <a:bodyPr/>
                    <a:lstStyle/>
                    <a:p>
                      <a:pPr>
                        <a:spcAft>
                          <a:spcPts val="300"/>
                        </a:spcAft>
                      </a:pPr>
                      <a:r>
                        <a:rPr sz="1600" b="1">
                          <a:solidFill>
                            <a:srgbClr val="00883A"/>
                          </a:solidFill>
                          <a:latin typeface="Arial"/>
                        </a:rPr>
                        <a:t>■ </a:t>
                      </a:r>
                      <a:r>
                        <a:rPr sz="1600" b="0">
                          <a:solidFill>
                            <a:srgbClr val="1A1A1A"/>
                          </a:solidFill>
                          <a:latin typeface="Arial"/>
                        </a:rPr>
                        <a:t>hard to anticipate environments; retrofit = refactor or VM/container, test elsewhere</a:t>
                      </a:r>
                    </a:p>
                    <a:p>
                      <a:pPr>
                        <a:spcAft>
                          <a:spcPts val="300"/>
                        </a:spcAft>
                      </a:pPr>
                      <a:r>
                        <a:rPr sz="1600" b="1">
                          <a:solidFill>
                            <a:srgbClr val="5F6368"/>
                          </a:solidFill>
                          <a:latin typeface="Arial"/>
                        </a:rPr>
                        <a:t>▲ </a:t>
                      </a:r>
                      <a:r>
                        <a:rPr sz="1600" b="0">
                          <a:solidFill>
                            <a:srgbClr val="1A1A1A"/>
                          </a:solidFill>
                          <a:latin typeface="Arial"/>
                        </a:rPr>
                        <a:t>hard-wired paths, root needed; build and run failures</a:t>
                      </a:r>
                    </a:p>
                    <a:p>
                      <a:pPr>
                        <a:spcAft>
                          <a:spcPts val="300"/>
                        </a:spcAft>
                      </a:pPr>
                      <a:r>
                        <a:rPr sz="1600" b="1">
                          <a:solidFill>
                            <a:srgbClr val="1A1A1A"/>
                          </a:solidFill>
                          <a:latin typeface="Arial"/>
                        </a:rPr>
                        <a:t>★ </a:t>
                      </a:r>
                      <a:r>
                        <a:rPr sz="1600" b="0">
                          <a:solidFill>
                            <a:srgbClr val="1A1A1A"/>
                          </a:solidFill>
                          <a:latin typeface="Arial"/>
                        </a:rPr>
                        <a:t>installing dependencies = main review hurdle; invasive libraries</a:t>
                      </a:r>
                    </a:p>
                    <a:p>
                      <a:pPr>
                        <a:spcAft>
                          <a:spcPts val="300"/>
                        </a:spcAft>
                      </a:pPr>
                      <a:r>
                        <a:rPr sz="1600" b="1">
                          <a:solidFill>
                            <a:srgbClr val="1A1A1A"/>
                          </a:solidFill>
                          <a:latin typeface="Arial"/>
                        </a:rPr>
                        <a:t>★ </a:t>
                      </a:r>
                      <a:r>
                        <a:rPr sz="1600" b="0">
                          <a:solidFill>
                            <a:srgbClr val="1A1A1A"/>
                          </a:solidFill>
                          <a:latin typeface="Arial"/>
                        </a:rPr>
                        <a:t>VMs: safe but huge, cross-OS issues, no performance check; containers don’t stop decay</a:t>
                      </a:r>
                    </a:p>
                  </a:txBody>
                  <a:tcPr marT="36576" marB="36576">
                    <a:solidFill>
                      <a:srgbClr val="FFFFFF"/>
                    </a:solidFill>
                  </a:tcPr>
                </a:tc>
              </a:tr>
              <a:tr h="411480">
                <a:tc>
                  <a:txBody>
                    <a:bodyPr/>
                    <a:lstStyle/>
                    <a:p>
                      <a:r>
                        <a:rPr sz="1700" b="1">
                          <a:solidFill>
                            <a:srgbClr val="00883A"/>
                          </a:solidFill>
                          <a:latin typeface="Arial"/>
                        </a:rPr>
                        <a:t>C3 </a:t>
                      </a:r>
                      <a:r>
                        <a:rPr sz="1700" b="1">
                          <a:solidFill>
                            <a:srgbClr val="1A1A1A"/>
                          </a:solidFill>
                          <a:latin typeface="Arial"/>
                        </a:rPr>
                        <a:t>Maintenance</a:t>
                      </a:r>
                    </a:p>
                    <a:p>
                      <a:r>
                        <a:rPr sz="1600" b="1">
                          <a:solidFill>
                            <a:srgbClr val="00883A"/>
                          </a:solidFill>
                          <a:latin typeface="Arial"/>
                        </a:rPr>
                        <a:t>■ </a:t>
                      </a:r>
                      <a:r>
                        <a:rPr sz="1600" b="1">
                          <a:solidFill>
                            <a:srgbClr val="5F6368"/>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ongoing cost: bugs, changing use cases, bitrot</a:t>
                      </a:r>
                    </a:p>
                    <a:p>
                      <a:pPr>
                        <a:spcAft>
                          <a:spcPts val="300"/>
                        </a:spcAft>
                      </a:pPr>
                      <a:r>
                        <a:rPr sz="1600" b="1">
                          <a:solidFill>
                            <a:srgbClr val="00883A"/>
                          </a:solidFill>
                          <a:latin typeface="Arial"/>
                        </a:rPr>
                        <a:t>■ </a:t>
                      </a:r>
                      <a:r>
                        <a:rPr sz="1600" b="0">
                          <a:solidFill>
                            <a:srgbClr val="1A1A1A"/>
                          </a:solidFill>
                          <a:latin typeface="Arial"/>
                        </a:rPr>
                        <a:t>students maintain artifacts, then graduate</a:t>
                      </a:r>
                    </a:p>
                    <a:p>
                      <a:pPr>
                        <a:spcAft>
                          <a:spcPts val="300"/>
                        </a:spcAft>
                      </a:pPr>
                      <a:r>
                        <a:rPr sz="1600" b="1">
                          <a:solidFill>
                            <a:srgbClr val="5F6368"/>
                          </a:solidFill>
                          <a:latin typeface="Arial"/>
                        </a:rPr>
                        <a:t>▲ </a:t>
                      </a:r>
                      <a:r>
                        <a:rPr sz="1600" b="0">
                          <a:solidFill>
                            <a:srgbClr val="1A1A1A"/>
                          </a:solidFill>
                          <a:latin typeface="Arial"/>
                        </a:rPr>
                        <a:t>unmaintained artifacts need old libraries that are ever harder to get</a:t>
                      </a:r>
                    </a:p>
                  </a:txBody>
                  <a:tcPr marT="36576" marB="36576">
                    <a:solidFill>
                      <a:srgbClr val="F1F3F2"/>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C4-C6</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C4 </a:t>
                      </a:r>
                      <a:r>
                        <a:rPr sz="1700" b="1">
                          <a:solidFill>
                            <a:srgbClr val="1A1A1A"/>
                          </a:solidFill>
                          <a:latin typeface="Arial"/>
                        </a:rPr>
                        <a:t>Tacit knowledge</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documentation and refactoring burdensome; know-how "in developers’ heads"; prototypes change fast</a:t>
                      </a:r>
                    </a:p>
                    <a:p>
                      <a:pPr>
                        <a:spcAft>
                          <a:spcPts val="300"/>
                        </a:spcAft>
                      </a:pPr>
                      <a:r>
                        <a:rPr sz="1600" b="1">
                          <a:solidFill>
                            <a:srgbClr val="5F6368"/>
                          </a:solidFill>
                          <a:latin typeface="Arial"/>
                        </a:rPr>
                        <a:t>▲ </a:t>
                      </a:r>
                      <a:r>
                        <a:rPr sz="1600" b="0">
                          <a:solidFill>
                            <a:srgbClr val="1A1A1A"/>
                          </a:solidFill>
                          <a:latin typeface="Arial"/>
                        </a:rPr>
                        <a:t>missing usage and build instructions = most common user problems</a:t>
                      </a:r>
                    </a:p>
                    <a:p>
                      <a:pPr>
                        <a:spcAft>
                          <a:spcPts val="300"/>
                        </a:spcAft>
                      </a:pPr>
                      <a:r>
                        <a:rPr sz="1600" b="1">
                          <a:solidFill>
                            <a:srgbClr val="1A1A1A"/>
                          </a:solidFill>
                          <a:latin typeface="Arial"/>
                        </a:rPr>
                        <a:t>★ </a:t>
                      </a:r>
                      <a:r>
                        <a:rPr sz="1600" b="0">
                          <a:solidFill>
                            <a:srgbClr val="1A1A1A"/>
                          </a:solidFill>
                          <a:latin typeface="Arial"/>
                        </a:rPr>
                        <a:t>instructions incomplete, had to read the paper to fill gaps</a:t>
                      </a:r>
                    </a:p>
                    <a:p>
                      <a:pPr>
                        <a:spcAft>
                          <a:spcPts val="300"/>
                        </a:spcAft>
                      </a:pPr>
                      <a:r>
                        <a:rPr sz="1600" b="1">
                          <a:solidFill>
                            <a:srgbClr val="1A1A1A"/>
                          </a:solidFill>
                          <a:latin typeface="Arial"/>
                        </a:rPr>
                        <a:t>★ </a:t>
                      </a:r>
                      <a:r>
                        <a:rPr sz="1600" b="0">
                          <a:solidFill>
                            <a:srgbClr val="1A1A1A"/>
                          </a:solidFill>
                          <a:latin typeface="Arial"/>
                        </a:rPr>
                        <a:t>scripts no panacea: black box, may repeat authors’ mistakes; docs still needed</a:t>
                      </a:r>
                    </a:p>
                  </a:txBody>
                  <a:tcPr marT="36576" marB="36576">
                    <a:solidFill>
                      <a:srgbClr val="F1F3F2"/>
                    </a:solidFill>
                  </a:tcPr>
                </a:tc>
              </a:tr>
              <a:tr h="411480">
                <a:tc>
                  <a:txBody>
                    <a:bodyPr/>
                    <a:lstStyle/>
                    <a:p>
                      <a:r>
                        <a:rPr sz="1700" b="1">
                          <a:solidFill>
                            <a:srgbClr val="00883A"/>
                          </a:solidFill>
                          <a:latin typeface="Arial"/>
                        </a:rPr>
                        <a:t>C5 </a:t>
                      </a:r>
                      <a:r>
                        <a:rPr sz="1700" b="1">
                          <a:solidFill>
                            <a:srgbClr val="1A1A1A"/>
                          </a:solidFill>
                          <a:latin typeface="Arial"/>
                        </a:rPr>
                        <a:t>Doesn’t fit purpose</a:t>
                      </a:r>
                    </a:p>
                    <a:p>
                      <a:r>
                        <a:rPr sz="1600" b="1">
                          <a:solidFill>
                            <a:srgbClr val="5F6368"/>
                          </a:solidFill>
                          <a:latin typeface="Arial"/>
                        </a:rPr>
                        <a:t>▲ </a:t>
                      </a:r>
                    </a:p>
                  </a:txBody>
                  <a:tcPr marT="36576" marB="36576">
                    <a:solidFill>
                      <a:srgbClr val="FFFFFF"/>
                    </a:solidFill>
                  </a:tcPr>
                </a:tc>
                <a:tc>
                  <a:txBody>
                    <a:bodyPr/>
                    <a:lstStyle/>
                    <a:p>
                      <a:pPr>
                        <a:spcAft>
                          <a:spcPts val="300"/>
                        </a:spcAft>
                      </a:pPr>
                      <a:r>
                        <a:rPr sz="1600" b="1">
                          <a:solidFill>
                            <a:srgbClr val="5F6368"/>
                          </a:solidFill>
                          <a:latin typeface="Arial"/>
                        </a:rPr>
                        <a:t>▲ </a:t>
                      </a:r>
                      <a:r>
                        <a:rPr sz="1600" b="0">
                          <a:solidFill>
                            <a:srgbClr val="1A1A1A"/>
                          </a:solidFill>
                          <a:latin typeface="Arial"/>
                        </a:rPr>
                        <a:t>doesn’t serve the purpose stated in the paper; very narrow use cases</a:t>
                      </a:r>
                    </a:p>
                    <a:p>
                      <a:pPr>
                        <a:spcAft>
                          <a:spcPts val="300"/>
                        </a:spcAft>
                      </a:pPr>
                      <a:r>
                        <a:rPr sz="1600" b="1">
                          <a:solidFill>
                            <a:srgbClr val="5F6368"/>
                          </a:solidFill>
                          <a:latin typeface="Arial"/>
                        </a:rPr>
                        <a:t>▲ </a:t>
                      </a:r>
                      <a:r>
                        <a:rPr sz="1600" b="0">
                          <a:solidFill>
                            <a:srgbClr val="1A1A1A"/>
                          </a:solidFill>
                          <a:latin typeface="Arial"/>
                        </a:rPr>
                        <a:t>users end up modifying or reimplementing</a:t>
                      </a:r>
                    </a:p>
                  </a:txBody>
                  <a:tcPr marT="36576" marB="36576">
                    <a:solidFill>
                      <a:srgbClr val="FFFFFF"/>
                    </a:solidFill>
                  </a:tcPr>
                </a:tc>
              </a:tr>
              <a:tr h="411480">
                <a:tc>
                  <a:txBody>
                    <a:bodyPr/>
                    <a:lstStyle/>
                    <a:p>
                      <a:r>
                        <a:rPr sz="1700" b="1">
                          <a:solidFill>
                            <a:srgbClr val="00883A"/>
                          </a:solidFill>
                          <a:latin typeface="Arial"/>
                        </a:rPr>
                        <a:t>C6 </a:t>
                      </a:r>
                      <a:r>
                        <a:rPr sz="1700" b="1">
                          <a:solidFill>
                            <a:srgbClr val="1A1A1A"/>
                          </a:solidFill>
                          <a:latin typeface="Arial"/>
                        </a:rPr>
                        <a:t>No standards / guidelines</a:t>
                      </a:r>
                    </a:p>
                    <a:p>
                      <a:r>
                        <a:rPr sz="1600" b="1">
                          <a:solidFill>
                            <a:srgbClr val="00883A"/>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unclear packaging, contents, quality; how to handle existing datasets</a:t>
                      </a:r>
                    </a:p>
                    <a:p>
                      <a:pPr>
                        <a:spcAft>
                          <a:spcPts val="300"/>
                        </a:spcAft>
                      </a:pPr>
                      <a:r>
                        <a:rPr sz="1600" b="1">
                          <a:solidFill>
                            <a:srgbClr val="00883A"/>
                          </a:solidFill>
                          <a:latin typeface="Arial"/>
                        </a:rPr>
                        <a:t>■ </a:t>
                      </a:r>
                      <a:r>
                        <a:rPr sz="1600" b="0">
                          <a:solidFill>
                            <a:srgbClr val="1A1A1A"/>
                          </a:solidFill>
                          <a:latin typeface="Arial"/>
                        </a:rPr>
                        <a:t>no guidance on setup instructions, contribution guides, docs</a:t>
                      </a:r>
                    </a:p>
                    <a:p>
                      <a:pPr>
                        <a:spcAft>
                          <a:spcPts val="300"/>
                        </a:spcAft>
                      </a:pPr>
                      <a:r>
                        <a:rPr sz="1600" b="1">
                          <a:solidFill>
                            <a:srgbClr val="1A1A1A"/>
                          </a:solidFill>
                          <a:latin typeface="Arial"/>
                        </a:rPr>
                        <a:t>★ </a:t>
                      </a:r>
                      <a:r>
                        <a:rPr sz="1600" b="0">
                          <a:solidFill>
                            <a:srgbClr val="1A1A1A"/>
                          </a:solidFill>
                          <a:latin typeface="Arial"/>
                        </a:rPr>
                        <a:t>review criteria and ACM badge text vague, "too general"</a:t>
                      </a:r>
                    </a:p>
                    <a:p>
                      <a:pPr>
                        <a:spcAft>
                          <a:spcPts val="300"/>
                        </a:spcAft>
                      </a:pPr>
                      <a:r>
                        <a:rPr sz="1600" b="1">
                          <a:solidFill>
                            <a:srgbClr val="1A1A1A"/>
                          </a:solidFill>
                          <a:latin typeface="Arial"/>
                        </a:rPr>
                        <a:t>★ </a:t>
                      </a:r>
                      <a:r>
                        <a:rPr sz="1600" b="0">
                          <a:solidFill>
                            <a:srgbClr val="1A1A1A"/>
                          </a:solidFill>
                          <a:latin typeface="Arial"/>
                        </a:rPr>
                        <a:t>unclear purpose (run scripts vs. deep dive) and link to paper acceptance: reject or "rubber stamp"?</a:t>
                      </a:r>
                    </a:p>
                  </a:txBody>
                  <a:tcPr marT="36576" marB="36576">
                    <a:solidFill>
                      <a:srgbClr val="F1F3F2"/>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C7-C9</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C7 </a:t>
                      </a:r>
                      <a:r>
                        <a:rPr sz="1700" b="1">
                          <a:solidFill>
                            <a:srgbClr val="1A1A1A"/>
                          </a:solidFill>
                          <a:latin typeface="Arial"/>
                        </a:rPr>
                        <a:t>Hosting</a:t>
                      </a:r>
                    </a:p>
                    <a:p>
                      <a:r>
                        <a:rPr sz="1600" b="1">
                          <a:solidFill>
                            <a:srgbClr val="00883A"/>
                          </a:solidFill>
                          <a:latin typeface="Arial"/>
                        </a:rPr>
                        <a:t>■ </a:t>
                      </a:r>
                      <a:r>
                        <a:rPr sz="1600" b="1">
                          <a:solidFill>
                            <a:srgbClr val="5F6368"/>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needs indefinite, large, free hosting; GitHub, Drive, Dropbox aren’t archives</a:t>
                      </a:r>
                    </a:p>
                    <a:p>
                      <a:pPr>
                        <a:spcAft>
                          <a:spcPts val="300"/>
                        </a:spcAft>
                      </a:pPr>
                      <a:r>
                        <a:rPr sz="1600" b="1">
                          <a:solidFill>
                            <a:srgbClr val="5F6368"/>
                          </a:solidFill>
                          <a:latin typeface="Arial"/>
                        </a:rPr>
                        <a:t>▲ </a:t>
                      </a:r>
                      <a:r>
                        <a:rPr sz="1600" b="0">
                          <a:solidFill>
                            <a:srgbClr val="1A1A1A"/>
                          </a:solidFill>
                          <a:latin typeface="Arial"/>
                        </a:rPr>
                        <a:t>inaccessible artifacts = 2nd most common user problem; dead links rise with age</a:t>
                      </a:r>
                    </a:p>
                  </a:txBody>
                  <a:tcPr marT="36576" marB="36576">
                    <a:solidFill>
                      <a:srgbClr val="F1F3F2"/>
                    </a:solidFill>
                  </a:tcPr>
                </a:tc>
              </a:tr>
              <a:tr h="411480">
                <a:tc>
                  <a:txBody>
                    <a:bodyPr/>
                    <a:lstStyle/>
                    <a:p>
                      <a:r>
                        <a:rPr sz="1700" b="1">
                          <a:solidFill>
                            <a:srgbClr val="00883A"/>
                          </a:solidFill>
                          <a:latin typeface="Arial"/>
                        </a:rPr>
                        <a:t>C8 </a:t>
                      </a:r>
                      <a:r>
                        <a:rPr sz="1700" b="1">
                          <a:solidFill>
                            <a:srgbClr val="1A1A1A"/>
                          </a:solidFill>
                          <a:latin typeface="Arial"/>
                        </a:rPr>
                        <a:t>Double-blind review</a:t>
                      </a:r>
                    </a:p>
                    <a:p>
                      <a:r>
                        <a:rPr sz="1600" b="1">
                          <a:solidFill>
                            <a:srgbClr val="00883A"/>
                          </a:solidFill>
                          <a:latin typeface="Arial"/>
                        </a:rPr>
                        <a:t>■ </a:t>
                      </a:r>
                    </a:p>
                  </a:txBody>
                  <a:tcPr marT="36576" marB="36576">
                    <a:solidFill>
                      <a:srgbClr val="FFFFFF"/>
                    </a:solidFill>
                  </a:tcPr>
                </a:tc>
                <a:tc>
                  <a:txBody>
                    <a:bodyPr/>
                    <a:lstStyle/>
                    <a:p>
                      <a:pPr>
                        <a:spcAft>
                          <a:spcPts val="300"/>
                        </a:spcAft>
                      </a:pPr>
                      <a:r>
                        <a:rPr sz="1600" b="1">
                          <a:solidFill>
                            <a:srgbClr val="00883A"/>
                          </a:solidFill>
                          <a:latin typeface="Arial"/>
                        </a:rPr>
                        <a:t>■ </a:t>
                      </a:r>
                      <a:r>
                        <a:rPr sz="1600" b="0">
                          <a:solidFill>
                            <a:srgbClr val="1A1A1A"/>
                          </a:solidFill>
                          <a:latin typeface="Arial"/>
                        </a:rPr>
                        <a:t>artifact must be anonymised; anonymous hosting hard to find</a:t>
                      </a:r>
                    </a:p>
                  </a:txBody>
                  <a:tcPr marT="36576" marB="36576">
                    <a:solidFill>
                      <a:srgbClr val="FFFFFF"/>
                    </a:solidFill>
                  </a:tcPr>
                </a:tc>
              </a:tr>
              <a:tr h="411480">
                <a:tc>
                  <a:txBody>
                    <a:bodyPr/>
                    <a:lstStyle/>
                    <a:p>
                      <a:r>
                        <a:rPr sz="1700" b="1">
                          <a:solidFill>
                            <a:srgbClr val="00883A"/>
                          </a:solidFill>
                          <a:latin typeface="Arial"/>
                        </a:rPr>
                        <a:t>C9 </a:t>
                      </a:r>
                      <a:r>
                        <a:rPr sz="1700" b="1">
                          <a:solidFill>
                            <a:srgbClr val="1A1A1A"/>
                          </a:solidFill>
                          <a:latin typeface="Arial"/>
                        </a:rPr>
                        <a:t>External constraints</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IP and contracts, liability fears, privacy (re-identifiable qualitative data), larger ecosystems</a:t>
                      </a:r>
                    </a:p>
                    <a:p>
                      <a:pPr>
                        <a:spcAft>
                          <a:spcPts val="300"/>
                        </a:spcAft>
                      </a:pPr>
                      <a:r>
                        <a:rPr sz="1600" b="1">
                          <a:solidFill>
                            <a:srgbClr val="00883A"/>
                          </a:solidFill>
                          <a:latin typeface="Arial"/>
                        </a:rPr>
                        <a:t>■ </a:t>
                      </a:r>
                      <a:r>
                        <a:rPr sz="1600" b="0">
                          <a:solidFill>
                            <a:srgbClr val="1A1A1A"/>
                          </a:solidFill>
                          <a:latin typeface="Arial"/>
                        </a:rPr>
                        <a:t>criticised for unshared industry data: "ritualistic blanket argument" (P22)</a:t>
                      </a:r>
                    </a:p>
                    <a:p>
                      <a:pPr>
                        <a:spcAft>
                          <a:spcPts val="300"/>
                        </a:spcAft>
                      </a:pPr>
                      <a:r>
                        <a:rPr sz="1600" b="1">
                          <a:solidFill>
                            <a:srgbClr val="5F6368"/>
                          </a:solidFill>
                          <a:latin typeface="Arial"/>
                        </a:rPr>
                        <a:t>▲ </a:t>
                      </a:r>
                      <a:r>
                        <a:rPr sz="1600" b="0">
                          <a:solidFill>
                            <a:srgbClr val="1A1A1A"/>
                          </a:solidFill>
                          <a:latin typeface="Arial"/>
                        </a:rPr>
                        <a:t>licences block extension; decompiling; paid licences for tools</a:t>
                      </a:r>
                    </a:p>
                    <a:p>
                      <a:pPr>
                        <a:spcAft>
                          <a:spcPts val="300"/>
                        </a:spcAft>
                      </a:pPr>
                      <a:r>
                        <a:rPr sz="1600" b="1">
                          <a:solidFill>
                            <a:srgbClr val="1A1A1A"/>
                          </a:solidFill>
                          <a:latin typeface="Arial"/>
                        </a:rPr>
                        <a:t>★ </a:t>
                      </a:r>
                      <a:r>
                        <a:rPr sz="1600" b="0">
                          <a:solidFill>
                            <a:srgbClr val="1A1A1A"/>
                          </a:solidFill>
                          <a:latin typeface="Arial"/>
                        </a:rPr>
                        <a:t>reviewers lack licences; no pathway for proprietary components</a:t>
                      </a:r>
                    </a:p>
                  </a:txBody>
                  <a:tcPr marT="36576" marB="36576">
                    <a:solidFill>
                      <a:srgbClr val="F1F3F2"/>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C10-C12</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C10 </a:t>
                      </a:r>
                      <a:r>
                        <a:rPr sz="1700" b="1">
                          <a:solidFill>
                            <a:srgbClr val="1A1A1A"/>
                          </a:solidFill>
                          <a:latin typeface="Arial"/>
                        </a:rPr>
                        <a:t>No reviewer incentives</a:t>
                      </a:r>
                    </a:p>
                    <a:p>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1A1A1A"/>
                          </a:solidFill>
                          <a:latin typeface="Arial"/>
                        </a:rPr>
                        <a:t>★ </a:t>
                      </a:r>
                      <a:r>
                        <a:rPr sz="1600" b="0">
                          <a:solidFill>
                            <a:srgbClr val="1A1A1A"/>
                          </a:solidFill>
                          <a:latin typeface="Arial"/>
                        </a:rPr>
                        <a:t>time-consuming, not rewarded like paper review</a:t>
                      </a:r>
                    </a:p>
                    <a:p>
                      <a:pPr>
                        <a:spcAft>
                          <a:spcPts val="300"/>
                        </a:spcAft>
                      </a:pPr>
                      <a:r>
                        <a:rPr sz="1600" b="1">
                          <a:solidFill>
                            <a:srgbClr val="1A1A1A"/>
                          </a:solidFill>
                          <a:latin typeface="Arial"/>
                        </a:rPr>
                        <a:t>★ </a:t>
                      </a:r>
                      <a:r>
                        <a:rPr sz="1600" b="0">
                          <a:solidFill>
                            <a:srgbClr val="1A1A1A"/>
                          </a:solidFill>
                          <a:latin typeface="Arial"/>
                        </a:rPr>
                        <a:t>"we usually just make students do AEC": training, but signals artifacts are secondary</a:t>
                      </a:r>
                    </a:p>
                    <a:p>
                      <a:pPr>
                        <a:spcAft>
                          <a:spcPts val="300"/>
                        </a:spcAft>
                      </a:pPr>
                      <a:r>
                        <a:rPr sz="1600" b="1">
                          <a:solidFill>
                            <a:srgbClr val="1A1A1A"/>
                          </a:solidFill>
                          <a:latin typeface="Arial"/>
                        </a:rPr>
                        <a:t>★ </a:t>
                      </a:r>
                      <a:r>
                        <a:rPr sz="1600" b="0">
                          <a:solidFill>
                            <a:srgbClr val="1A1A1A"/>
                          </a:solidFill>
                          <a:latin typeface="Arial"/>
                        </a:rPr>
                        <a:t>→ inconsistent, low-quality reviews</a:t>
                      </a:r>
                    </a:p>
                  </a:txBody>
                  <a:tcPr marT="36576" marB="36576">
                    <a:solidFill>
                      <a:srgbClr val="F1F3F2"/>
                    </a:solidFill>
                  </a:tcPr>
                </a:tc>
              </a:tr>
              <a:tr h="411480">
                <a:tc>
                  <a:txBody>
                    <a:bodyPr/>
                    <a:lstStyle/>
                    <a:p>
                      <a:r>
                        <a:rPr sz="1700" b="1">
                          <a:solidFill>
                            <a:srgbClr val="00883A"/>
                          </a:solidFill>
                          <a:latin typeface="Arial"/>
                        </a:rPr>
                        <a:t>C11 </a:t>
                      </a:r>
                      <a:r>
                        <a:rPr sz="1700" b="1">
                          <a:solidFill>
                            <a:srgbClr val="1A1A1A"/>
                          </a:solidFill>
                          <a:latin typeface="Arial"/>
                        </a:rPr>
                        <a:t>Technical obstacles</a:t>
                      </a:r>
                    </a:p>
                    <a:p>
                      <a:r>
                        <a:rPr sz="1600" b="1">
                          <a:solidFill>
                            <a:srgbClr val="1A1A1A"/>
                          </a:solidFill>
                          <a:latin typeface="Arial"/>
                        </a:rPr>
                        <a:t>★ </a:t>
                      </a:r>
                    </a:p>
                  </a:txBody>
                  <a:tcPr marT="36576" marB="36576">
                    <a:solidFill>
                      <a:srgbClr val="FFFFFF"/>
                    </a:solidFill>
                  </a:tcPr>
                </a:tc>
                <a:tc>
                  <a:txBody>
                    <a:bodyPr/>
                    <a:lstStyle/>
                    <a:p>
                      <a:pPr>
                        <a:spcAft>
                          <a:spcPts val="300"/>
                        </a:spcAft>
                      </a:pPr>
                      <a:r>
                        <a:rPr sz="1600" b="1">
                          <a:solidFill>
                            <a:srgbClr val="1A1A1A"/>
                          </a:solidFill>
                          <a:latin typeface="Arial"/>
                        </a:rPr>
                        <a:t>★ </a:t>
                      </a:r>
                      <a:r>
                        <a:rPr sz="1600" b="0">
                          <a:solidFill>
                            <a:srgbClr val="1A1A1A"/>
                          </a:solidFill>
                          <a:latin typeface="Arial"/>
                        </a:rPr>
                        <a:t>long runtimes, little compute; what if &gt; 1 day per artifact?</a:t>
                      </a:r>
                    </a:p>
                    <a:p>
                      <a:pPr>
                        <a:spcAft>
                          <a:spcPts val="300"/>
                        </a:spcAft>
                      </a:pPr>
                      <a:r>
                        <a:rPr sz="1600" b="1">
                          <a:solidFill>
                            <a:srgbClr val="1A1A1A"/>
                          </a:solidFill>
                          <a:latin typeface="Arial"/>
                        </a:rPr>
                        <a:t>★ </a:t>
                      </a:r>
                      <a:r>
                        <a:rPr sz="1600" b="0">
                          <a:solidFill>
                            <a:srgbClr val="1A1A1A"/>
                          </a:solidFill>
                          <a:latin typeface="Arial"/>
                        </a:rPr>
                        <a:t>huge VM images vs. disk space and slow downloads</a:t>
                      </a:r>
                    </a:p>
                    <a:p>
                      <a:pPr>
                        <a:spcAft>
                          <a:spcPts val="300"/>
                        </a:spcAft>
                      </a:pPr>
                      <a:r>
                        <a:rPr sz="1600" b="1">
                          <a:solidFill>
                            <a:srgbClr val="1A1A1A"/>
                          </a:solidFill>
                          <a:latin typeface="Arial"/>
                        </a:rPr>
                        <a:t>★ </a:t>
                      </a:r>
                      <a:r>
                        <a:rPr sz="1600" b="0">
                          <a:solidFill>
                            <a:srgbClr val="1A1A1A"/>
                          </a:solidFill>
                          <a:latin typeface="Arial"/>
                        </a:rPr>
                        <a:t>some experiments infeasible to re-run: cloud, fuzzing, program repair</a:t>
                      </a:r>
                    </a:p>
                  </a:txBody>
                  <a:tcPr marT="36576" marB="36576">
                    <a:solidFill>
                      <a:srgbClr val="FFFFFF"/>
                    </a:solidFill>
                  </a:tcPr>
                </a:tc>
              </a:tr>
              <a:tr h="411480">
                <a:tc>
                  <a:txBody>
                    <a:bodyPr/>
                    <a:lstStyle/>
                    <a:p>
                      <a:r>
                        <a:rPr sz="1700" b="1">
                          <a:solidFill>
                            <a:srgbClr val="00883A"/>
                          </a:solidFill>
                          <a:latin typeface="Arial"/>
                        </a:rPr>
                        <a:t>C12 </a:t>
                      </a:r>
                      <a:r>
                        <a:rPr sz="1700" b="1">
                          <a:solidFill>
                            <a:srgbClr val="1A1A1A"/>
                          </a:solidFill>
                          <a:latin typeface="Arial"/>
                        </a:rPr>
                        <a:t>Limited communication</a:t>
                      </a:r>
                    </a:p>
                    <a:p>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1A1A1A"/>
                          </a:solidFill>
                          <a:latin typeface="Arial"/>
                        </a:rPr>
                        <a:t>★ </a:t>
                      </a:r>
                      <a:r>
                        <a:rPr sz="1600" b="0">
                          <a:solidFill>
                            <a:srgbClr val="1A1A1A"/>
                          </a:solidFill>
                          <a:latin typeface="Arial"/>
                        </a:rPr>
                        <a:t>single-round reviews: minor install glitch shouldn’t mean rejection</a:t>
                      </a:r>
                    </a:p>
                    <a:p>
                      <a:pPr>
                        <a:spcAft>
                          <a:spcPts val="300"/>
                        </a:spcAft>
                      </a:pPr>
                      <a:r>
                        <a:rPr sz="1600" b="1">
                          <a:solidFill>
                            <a:srgbClr val="1A1A1A"/>
                          </a:solidFill>
                          <a:latin typeface="Arial"/>
                        </a:rPr>
                        <a:t>★ </a:t>
                      </a:r>
                      <a:r>
                        <a:rPr sz="1600" b="0">
                          <a:solidFill>
                            <a:srgbClr val="1A1A1A"/>
                          </a:solidFill>
                          <a:latin typeface="Arial"/>
                        </a:rPr>
                        <a:t>authors willing to help matter most; unresponsive authors leave reviewers waiting days</a:t>
                      </a:r>
                    </a:p>
                  </a:txBody>
                  <a:tcPr marT="36576" marB="36576">
                    <a:solidFill>
                      <a:srgbClr val="F1F3F2"/>
                    </a:solidFill>
                  </a:tcPr>
                </a:tc>
              </a:tr>
            </a:tbl>
          </a:graphicData>
        </a:graphic>
      </p:graphicFrame>
      <p:sp>
        <p:nvSpPr>
          <p:cNvPr id="137" name="TextBox 136"/>
          <p:cNvSpPr txBox="1"/>
          <p:nvPr/>
        </p:nvSpPr>
        <p:spPr>
          <a:xfrm>
            <a:off x="640080" y="5989320"/>
            <a:ext cx="10908792" cy="411480"/>
          </a:xfrm>
          <a:prstGeom prst="rect">
            <a:avLst/>
          </a:prstGeom>
          <a:noFill/>
        </p:spPr>
        <p:txBody>
          <a:bodyPr wrap="square">
            <a:spAutoFit/>
          </a:bodyPr>
          <a:lstStyle/>
          <a:p>
            <a:pPr>
              <a:spcAft>
                <a:spcPts val="600"/>
              </a:spcAft>
            </a:pPr>
            <a:r>
              <a:rPr sz="1400" b="0" i="0">
                <a:solidFill>
                  <a:srgbClr val="5F6368"/>
                </a:solidFill>
                <a:latin typeface="Arial"/>
              </a:rPr>
              <a:t>Context: few artifact papers are submitted to AE (FSE 2015-18: 74 of 196), and most of those pass (86 %); some reviewers are happy with the process.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463040"/>
            <a:ext cx="10908792" cy="4114800"/>
          </a:xfrm>
          <a:prstGeom prst="rect">
            <a:avLst/>
          </a:prstGeom>
          <a:noFill/>
        </p:spPr>
        <p:txBody>
          <a:bodyPr wrap="square">
            <a:spAutoFit/>
          </a:bodyPr>
          <a:lstStyle/>
          <a:p>
            <a:pPr>
              <a:spcAft>
                <a:spcPts val="1400"/>
              </a:spcAft>
            </a:pPr>
            <a:r>
              <a:rPr sz="1800" b="1" i="0">
                <a:solidFill>
                  <a:srgbClr val="1A1A1A"/>
                </a:solidFill>
                <a:latin typeface="Arial"/>
              </a:rPr>
              <a:t>[1] </a:t>
            </a:r>
            <a:r>
              <a:rPr sz="1800" b="0" i="0">
                <a:solidFill>
                  <a:srgbClr val="1A1A1A"/>
                </a:solidFill>
                <a:latin typeface="Arial"/>
              </a:rPr>
              <a:t>ACM: Artifact Review and Badging, Version 1.1 (2020). acm.org/publications/policies/artifact-review-and-badging-current</a:t>
            </a:r>
          </a:p>
          <a:p>
            <a:pPr>
              <a:spcAft>
                <a:spcPts val="1400"/>
              </a:spcAft>
            </a:pPr>
            <a:r>
              <a:rPr sz="1800" b="1" i="0">
                <a:solidFill>
                  <a:srgbClr val="1A1A1A"/>
                </a:solidFill>
                <a:latin typeface="Arial"/>
              </a:rPr>
              <a:t>[2] </a:t>
            </a:r>
            <a:r>
              <a:rPr sz="1800" b="0" i="0">
                <a:solidFill>
                  <a:srgbClr val="1A1A1A"/>
                </a:solidFill>
                <a:latin typeface="Arial"/>
              </a:rPr>
              <a:t>Winter &amp; Beyer: Introductory Lecture, Reproducibility of Scientific Results in SE Research, LMU (slide 9)</a:t>
            </a:r>
          </a:p>
          <a:p>
            <a:pPr>
              <a:spcAft>
                <a:spcPts val="1400"/>
              </a:spcAft>
            </a:pPr>
            <a:r>
              <a:rPr sz="1800" b="1" i="0">
                <a:solidFill>
                  <a:srgbClr val="1A1A1A"/>
                </a:solidFill>
                <a:latin typeface="Arial"/>
              </a:rPr>
              <a:t>[3] </a:t>
            </a:r>
            <a:r>
              <a:rPr sz="1800" b="0" i="0">
                <a:solidFill>
                  <a:srgbClr val="1A1A1A"/>
                </a:solidFill>
                <a:latin typeface="Arial"/>
              </a:rPr>
              <a:t>ICSE 2026 Artifact Evaluation track, call for submissions. conf.researchr.org/track/icse-2026/icse-2026-artifact-evaluation</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