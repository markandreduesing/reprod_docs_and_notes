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334" r:id="rId97"/>
    <p:sldId id="335" r:id="rId98"/>
    <p:sldId id="336" r:id="rId99"/>
    <p:sldId id="337" r:id="rId100"/>
    <p:sldId id="338" r:id="rId101"/>
    <p:sldId id="339" r:id="rId102"/>
    <p:sldId id="340" r:id="rId103"/>
    <p:sldId id="341" r:id="rId104"/>
    <p:sldId id="342" r:id="rId105"/>
    <p:sldId id="343" r:id="rId106"/>
    <p:sldId id="344" r:id="rId107"/>
    <p:sldId id="345" r:id="rId108"/>
    <p:sldId id="346" r:id="rId109"/>
    <p:sldId id="347" r:id="rId110"/>
    <p:sldId id="348" r:id="rId111"/>
    <p:sldId id="349" r:id="rId112"/>
    <p:sldId id="350" r:id="rId113"/>
    <p:sldId id="351" r:id="rId114"/>
    <p:sldId id="352" r:id="rId115"/>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Lst>
  <p:sldSz cy="6858000" cx="12192000"/>
  <p:notesSz cx="6858000" cy="12192000"/>
  <p:embeddedFontLst>
    <p:embeddedFont>
      <p:font typeface="Roboto"/>
      <p:regular r:id="rId85"/>
      <p:bold r:id="rId86"/>
      <p:italic r:id="rId87"/>
      <p:boldItalic r:id="rId88"/>
    </p:embeddedFont>
    <p:embeddedFont>
      <p:font typeface="Playfair Display"/>
      <p:regular r:id="rId89"/>
      <p:bold r:id="rId90"/>
      <p:italic r:id="rId91"/>
      <p:boldItalic r:id="rId92"/>
    </p:embeddedFont>
    <p:embeddedFont>
      <p:font typeface="DM Sans"/>
      <p:regular r:id="rId93"/>
      <p:bold r:id="rId94"/>
      <p:italic r:id="rId95"/>
      <p:boldItalic r:id="rId9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Mark-André Duesing"/>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45C218A-C812-41D7-858A-F7E590C31D0C}">
  <a:tblStyle styleId="{945C218A-C812-41D7-858A-F7E590C31D0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A0399A1-FE9B-46BE-AC09-F5867CF7C7D4}"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DE7"/>
          </a:solidFill>
        </a:fill>
      </a:tcStyle>
    </a:wholeTbl>
    <a:band1H>
      <a:tcTxStyle/>
      <a:tcStyle>
        <a:fill>
          <a:solidFill>
            <a:srgbClr val="CAD9CD"/>
          </a:solidFill>
        </a:fill>
      </a:tcStyle>
    </a:band1H>
    <a:band2H>
      <a:tcTxStyle/>
    </a:band2H>
    <a:band1V>
      <a:tcTxStyle/>
      <a:tcStyle>
        <a:fill>
          <a:solidFill>
            <a:srgbClr val="CAD9CD"/>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font" Target="fonts/Roboto-regular.fntdata"/><Relationship Id="rId86" Type="http://schemas.openxmlformats.org/officeDocument/2006/relationships/font" Target="fonts/Roboto-bold.fntdata"/><Relationship Id="rId87" Type="http://schemas.openxmlformats.org/officeDocument/2006/relationships/font" Target="fonts/Roboto-italic.fntdata"/><Relationship Id="rId88" Type="http://schemas.openxmlformats.org/officeDocument/2006/relationships/font" Target="fonts/Roboto-boldItalic.fntdata"/><Relationship Id="rId89" Type="http://schemas.openxmlformats.org/officeDocument/2006/relationships/font" Target="fonts/PlayfairDisplay-regular.fntdata"/><Relationship Id="rId90" Type="http://schemas.openxmlformats.org/officeDocument/2006/relationships/font" Target="fonts/PlayfairDisplay-bold.fntdata"/><Relationship Id="rId91" Type="http://schemas.openxmlformats.org/officeDocument/2006/relationships/font" Target="fonts/PlayfairDisplay-italic.fntdata"/><Relationship Id="rId92" Type="http://schemas.openxmlformats.org/officeDocument/2006/relationships/font" Target="fonts/PlayfairDisplay-boldItalic.fntdata"/><Relationship Id="rId93" Type="http://schemas.openxmlformats.org/officeDocument/2006/relationships/font" Target="fonts/DMSans-regular.fntdata"/><Relationship Id="rId94" Type="http://schemas.openxmlformats.org/officeDocument/2006/relationships/font" Target="fonts/DMSans-bold.fntdata"/><Relationship Id="rId95" Type="http://schemas.openxmlformats.org/officeDocument/2006/relationships/font" Target="fonts/DMSans-italic.fntdata"/><Relationship Id="rId96" Type="http://schemas.openxmlformats.org/officeDocument/2006/relationships/font" Target="fonts/DMSans-boldItalic.fntdata"/><Relationship Id="rId97" Type="http://schemas.openxmlformats.org/officeDocument/2006/relationships/slide" Target="slides/slide79.xml"/><Relationship Id="rId98" Type="http://schemas.openxmlformats.org/officeDocument/2006/relationships/slide" Target="slides/slide80.xml"/><Relationship Id="rId99" Type="http://schemas.openxmlformats.org/officeDocument/2006/relationships/slide" Target="slides/slide81.xml"/><Relationship Id="rId100" Type="http://schemas.openxmlformats.org/officeDocument/2006/relationships/slide" Target="slides/slide82.xml"/><Relationship Id="rId101" Type="http://schemas.openxmlformats.org/officeDocument/2006/relationships/slide" Target="slides/slide83.xml"/><Relationship Id="rId102" Type="http://schemas.openxmlformats.org/officeDocument/2006/relationships/slide" Target="slides/slide84.xml"/><Relationship Id="rId103" Type="http://schemas.openxmlformats.org/officeDocument/2006/relationships/slide" Target="slides/slide85.xml"/><Relationship Id="rId104" Type="http://schemas.openxmlformats.org/officeDocument/2006/relationships/slide" Target="slides/slide86.xml"/><Relationship Id="rId105" Type="http://schemas.openxmlformats.org/officeDocument/2006/relationships/slide" Target="slides/slide87.xml"/><Relationship Id="rId106" Type="http://schemas.openxmlformats.org/officeDocument/2006/relationships/slide" Target="slides/slide88.xml"/><Relationship Id="rId107" Type="http://schemas.openxmlformats.org/officeDocument/2006/relationships/slide" Target="slides/slide89.xml"/><Relationship Id="rId108" Type="http://schemas.openxmlformats.org/officeDocument/2006/relationships/slide" Target="slides/slide90.xml"/><Relationship Id="rId109" Type="http://schemas.openxmlformats.org/officeDocument/2006/relationships/slide" Target="slides/slide91.xml"/><Relationship Id="rId110" Type="http://schemas.openxmlformats.org/officeDocument/2006/relationships/slide" Target="slides/slide92.xml"/><Relationship Id="rId111" Type="http://schemas.openxmlformats.org/officeDocument/2006/relationships/slide" Target="slides/slide93.xml"/><Relationship Id="rId112" Type="http://schemas.openxmlformats.org/officeDocument/2006/relationships/slide" Target="slides/slide94.xml"/><Relationship Id="rId113" Type="http://schemas.openxmlformats.org/officeDocument/2006/relationships/slide" Target="slides/slide95.xml"/><Relationship Id="rId114" Type="http://schemas.openxmlformats.org/officeDocument/2006/relationships/slide" Target="slides/slide96.xml"/><Relationship Id="rId115" Type="http://schemas.openxmlformats.org/officeDocument/2006/relationships/slide" Target="slides/slide97.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25T13:05:55.373">
    <p:pos x="403" y="921"/>
    <p:text>Wolltest du diesen Teil noch bei dir einbringen, oder er als Fragen-Vorschlag für meinen Abschnitt?
Wenn ich diese übernehmen würde, müsste ich noch etwas recherchieren um schonmal Antwortfortschläge zu haben. Muss schaunen ob ich die Zeit finde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h14a77dcaeeb36948_1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h14a77dcaeeb36948_1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Two papers on artifact evaluation, one asking reviewers, one asking authors. Stefan Winter, our lecturer, co-wrote the first.</a:t>
            </a:r>
            <a:endParaRPr/>
          </a:p>
        </p:txBody>
      </p:sp>
      <p:sp>
        <p:nvSpPr>
          <p:cNvPr id="18" name="Google Shape;18;h14a77dcaeeb36948_1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h14a77dcaeeb36948_1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h14a77dcaeeb36948_1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h14a77dcaeeb36948_1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h14a77dcaeeb36948_1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h14a77dcaeeb36948_1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h14a77dcaeeb36948_1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h14a77dcaeeb36948_1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h14a77dcaeeb36948_1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Core message: AE grew from the FSE 2011 pilot, but there is no evidence yet that it leads to better artifacts (p. 469).</a:t>
            </a:r>
            <a:endParaRPr/>
          </a:p>
        </p:txBody>
      </p:sp>
      <p:sp>
        <p:nvSpPr>
          <p:cNvPr id="54" name="Google Shape;54;h14a77dcaeeb36948_1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h14a77dcaeeb36948_1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h14a77dcaeeb36948_1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when respondents said 'reproducibility', under the 2020 definitions they were right; the paper reads it as replicability (p. 473).</a:t>
            </a:r>
            <a:endParaRPr/>
          </a:p>
        </p:txBody>
      </p:sp>
      <p:sp>
        <p:nvSpPr>
          <p:cNvPr id="63" name="Google Shape;63;h14a77dcaeeb36948_1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h14a77dcaeeb36948_1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h14a77dcaeeb36948_1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RQs on p. 470.</a:t>
            </a:r>
            <a:endParaRPr/>
          </a:p>
        </p:txBody>
      </p:sp>
      <p:sp>
        <p:nvSpPr>
          <p:cNvPr id="72" name="Google Shape;72;h14a77dcaeeb36948_1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h14a77dcaeeb36948_1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h14a77dcaeeb36948_1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p. 471, §4.1 pp. 472–473. No artifact was opened.</a:t>
            </a:r>
            <a:endParaRPr/>
          </a:p>
        </p:txBody>
      </p:sp>
      <p:sp>
        <p:nvSpPr>
          <p:cNvPr id="80" name="Google Shape;80;h14a77dcaeeb36948_1_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h14a77dcaeeb36948_1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h14a77dcaeeb36948_1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reviewer caught a fraudulent artifact with hard-coded outputs (p. 477). 13 respondents want AE coupled to paper acceptance, unprompted (p. 478).</a:t>
            </a:r>
            <a:endParaRPr/>
          </a:p>
        </p:txBody>
      </p:sp>
      <p:sp>
        <p:nvSpPr>
          <p:cNvPr id="97" name="Google Shape;97;h14a77dcaeeb36948_1_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h14a77dcaeeb36948_1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h14a77dcaeeb36948_1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 threats pp. 478–479; §7 implications p. 479.</a:t>
            </a:r>
            <a:endParaRPr/>
          </a:p>
        </p:txBody>
      </p:sp>
      <p:sp>
        <p:nvSpPr>
          <p:cNvPr id="106" name="Google Shape;106;h14a77dcaeeb36948_1_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h14a77dcaeeb36948_1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h14a77dcaeeb36948_1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34 users saw no difference between evaluated and unevaluated artifacts (p. 477).</a:t>
            </a:r>
            <a:endParaRPr/>
          </a:p>
        </p:txBody>
      </p:sp>
      <p:sp>
        <p:nvSpPr>
          <p:cNvPr id="116" name="Google Shape;116;h14a77dcaeeb36948_1_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h14a77dcaeeb36948_1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h14a77dcaeeb36948_1_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h14a77dcaeeb36948_1_1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h20eab59c8bb0d465_5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h20eab59c8bb0d465_5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Abstract p. 1; intro pp. 2-3. Issues stem from four areas: communication, social system (reward), time (bitrot), technical aspects (p. 3). Collberg et al.'s earlier work and its controversy show there are no clear community standards (p. 2). Secondary analysis (§5) and recommendations (§6) are presented by a teammate.</a:t>
            </a:r>
            <a:endParaRPr/>
          </a:p>
        </p:txBody>
      </p:sp>
      <p:sp>
        <p:nvSpPr>
          <p:cNvPr id="131" name="Google Shape;131;h20eab59c8bb0d465_5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h20eab59c8bb0d465_5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h20eab59c8bb0d465_5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Motivations for sharing: let others replicate, reproduce or build upon work (p. 4). First AEC at FSE 2011, ICSE from 2019 (p. 4). Badge processes assess claims, uncover usability issues, signal quality; met with praise and criticism (p. 2).</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can cut Artifact!</a:t>
            </a:r>
            <a:endParaRPr/>
          </a:p>
          <a:p>
            <a:pPr indent="-228600" lvl="0" marL="457200" marR="0" rtl="0" algn="l">
              <a:lnSpc>
                <a:spcPct val="100000"/>
              </a:lnSpc>
              <a:spcBef>
                <a:spcPts val="0"/>
              </a:spcBef>
              <a:spcAft>
                <a:spcPts val="0"/>
              </a:spcAft>
              <a:buSzPts val="1400"/>
              <a:buNone/>
            </a:pPr>
            <a:r>
              <a:rPr lang="en-US"/>
              <a:t>and the others if my questions arent based around that</a:t>
            </a:r>
            <a:endParaRPr/>
          </a:p>
        </p:txBody>
      </p:sp>
      <p:sp>
        <p:nvSpPr>
          <p:cNvPr id="140" name="Google Shape;140;h20eab59c8bb0d465_5_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h20eab59c8bb0d465_5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h20eab59c8bb0d465_5_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Added from research (timperley-research.md item 1). Badges are independent; only one Evaluated level. FSE and ICSE use ACM badges since July 2020; badges shown on front page and in ACM DL (p. 4). 2020 revision swapped Reproduced/Replicated to match NISO RP-31-2021. Example of concrete rules: ICSE 2026 30-min install limit, README structure, accepted archives.</a:t>
            </a:r>
            <a:endParaRPr/>
          </a:p>
        </p:txBody>
      </p:sp>
      <p:sp>
        <p:nvSpPr>
          <p:cNvPr id="159" name="Google Shape;159;h20eab59c8bb0d465_5_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h20eab59c8bb0d465_5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h20eab59c8bb0d465_5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DoI p. 5-6; IS p. 6. Coding terms (p. 8-9): descriptive coding = label each answer segment; axial coding = organise codes, find dominant themes and improvement opportunities; thematic analysis shows the range of themes, not how common they are.</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Cut out!</a:t>
            </a:r>
            <a:endParaRPr/>
          </a:p>
        </p:txBody>
      </p:sp>
      <p:sp>
        <p:nvSpPr>
          <p:cNvPr id="169" name="Google Shape;169;h20eab59c8bb0d465_5_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h20eab59c8bb0d465_5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h20eab59c8bb0d465_5_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 6.</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RQ1 establishes a baseline for RQ2</a:t>
            </a:r>
            <a:endParaRPr/>
          </a:p>
        </p:txBody>
      </p:sp>
      <p:sp>
        <p:nvSpPr>
          <p:cNvPr id="188" name="Google Shape;188;h20eab59c8bb0d465_5_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h20eab59c8bb0d465_5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h20eab59c8bb0d465_5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Fig. 1 p. 7; §3.1 p. 7; §3.2 pp. 7-9; design p. 10. 899 artifacts in 1434 papers; availability checked 29 Jan - 6 Feb 2019. 744 authors emailed, 153 of 698 delivered completed (22%); 91% academic; creators 137, users 129, reviewers 32. Coding: descriptive then axial, 3 domain experts + 1 methodologist. Secondary analysis and recommendations covered by a teammate.</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could </a:t>
            </a:r>
            <a:r>
              <a:rPr lang="en-US"/>
              <a:t>probably</a:t>
            </a:r>
            <a:r>
              <a:rPr lang="en-US"/>
              <a:t> be cut, just say they did a publication and author survey, unless they </a:t>
            </a:r>
            <a:endParaRPr/>
          </a:p>
        </p:txBody>
      </p:sp>
      <p:sp>
        <p:nvSpPr>
          <p:cNvPr id="196" name="Google Shape;196;h20eab59c8bb0d465_5_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h20eab59c8bb0d465_5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h20eab59c8bb0d465_5_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62.69% of papers at ASE, EMSE, FSE, ICSE 2014-2018 contain an artifact, rising from 50.56% (2014) to 69.47% (2018) (Fig. 2, pp. 11-12). Quotes: "a big fan of sharing" (P89), "sharing is essential" (P20).</a:t>
            </a:r>
            <a:endParaRPr/>
          </a:p>
        </p:txBody>
      </p:sp>
      <p:sp>
        <p:nvSpPr>
          <p:cNvPr id="209" name="Google Shape;209;h20eab59c8bb0d465_5_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h20eab59c8bb0d465_5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h20eab59c8bb0d465_5_1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Themes from thematic analysis: they show which challenges exist, not how common each is (p. 9). Overall: issues stem from communication, social system, time and technical aspects.</a:t>
            </a:r>
            <a:endParaRPr/>
          </a:p>
        </p:txBody>
      </p:sp>
      <p:sp>
        <p:nvSpPr>
          <p:cNvPr id="228" name="Google Shape;228;h20eab59c8bb0d465_5_1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h20eab59c8bb0d465_5_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h20eab59c8bb0d465_5_1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C1: opportunity cost highest when submitting to an AEC (P1, P23, p. 13). P87: no time, scared the analysis is wrong, wanted to save it for the next paper. C2 Table 5: no build instructions 79, unavailable dependency 69, missing dependency 66, modified source 60, run-time error 55, reimplemented 28. C3: users sympathetic; P20: only well-funded groups maintain artifacts well (p. 19).</a:t>
            </a:r>
            <a:endParaRPr/>
          </a:p>
        </p:txBody>
      </p:sp>
      <p:sp>
        <p:nvSpPr>
          <p:cNvPr id="261" name="Google Shape;261;h20eab59c8bb0d465_5_1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h20eab59c8bb0d465_5_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h20eab59c8bb0d465_5_1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C4 Table 5: no usage instructions 103 (most common), no build instructions 79 (third). P25: AECs asking for replicable scripts are likely to replicate the authors’ mistakes. P52: easy to reproduce, hard to know where to add case studies. C6: P6 deep dives take days, "if the AEC doesn’t do it, will anybody ever?"; P11 evaluate as part of paper; P124/P146 mandatory; P143 rubber stamp.</a:t>
            </a:r>
            <a:endParaRPr/>
          </a:p>
        </p:txBody>
      </p:sp>
      <p:sp>
        <p:nvSpPr>
          <p:cNvPr id="271" name="Google Shape;271;h20eab59c8bb0d465_5_1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h20eab59c8bb0d465_5_1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h20eab59c8bb0d465_5_1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C7: ~14% of artifact links dead in early 2019: 26.47% for 2014 papers, 5.43% for 2018 (Fig. 3). Research: Zenodo free, DOI, 50-200 GB, GitHub release integration; ICSE now requires an archive for Available. C8: research: Anonymous GitHub hides names but links expire. C9: ACM "Complete" allows proxies for proprietary data.</a:t>
            </a:r>
            <a:endParaRPr/>
          </a:p>
        </p:txBody>
      </p:sp>
      <p:sp>
        <p:nvSpPr>
          <p:cNvPr id="281" name="Google Shape;281;h20eab59c8bb0d465_5_1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h20eab59c8bb0d465_5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h20eab59c8bb0d465_5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Reviewers face the same issues as users (portability, docs) and as creators (guidelines, incentives) (p. 21). Research: MobiSys allows reduced representative experiments; IISWC has authors provide remote access; no SE venue provides compute.</a:t>
            </a:r>
            <a:endParaRPr/>
          </a:p>
        </p:txBody>
      </p:sp>
      <p:sp>
        <p:nvSpPr>
          <p:cNvPr id="291" name="Google Shape;291;h20eab59c8bb0d465_5_1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h20eab59c8bb0d465_5_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h20eab59c8bb0d465_5_1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§3.5 pp. 10-11. External mitigation: authors sampled from several top conferences and a leading journal. Design mitigation: parallel-convergent mixed methods.</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can be cut? consider if actually needed</a:t>
            </a:r>
            <a:endParaRPr/>
          </a:p>
          <a:p>
            <a:pPr indent="-228600" lvl="0" marL="457200" marR="0" rtl="0" algn="l">
              <a:lnSpc>
                <a:spcPct val="100000"/>
              </a:lnSpc>
              <a:spcBef>
                <a:spcPts val="0"/>
              </a:spcBef>
              <a:spcAft>
                <a:spcPts val="0"/>
              </a:spcAft>
              <a:buSzPts val="1400"/>
              <a:buNone/>
            </a:pPr>
            <a:r>
              <a:rPr lang="en-US"/>
              <a:t>-&gt; will I keep methodology questions</a:t>
            </a:r>
            <a:endParaRPr/>
          </a:p>
        </p:txBody>
      </p:sp>
      <p:sp>
        <p:nvSpPr>
          <p:cNvPr id="302" name="Google Shape;302;h20eab59c8bb0d465_5_1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h14a77dcaeeb36948_1_1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h14a77dcaeeb36948_1_1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p:txBody>
      </p:sp>
      <p:sp>
        <p:nvSpPr>
          <p:cNvPr id="324" name="Google Shape;324;h14a77dcaeeb36948_1_1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h20eab59c8bb0d465_5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h20eab59c8bb0d465_5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150">
                <a:solidFill>
                  <a:srgbClr val="000000"/>
                </a:solidFill>
                <a:highlight>
                  <a:srgbClr val="FFFFFF"/>
                </a:highlight>
                <a:latin typeface="Roboto"/>
                <a:ea typeface="Roboto"/>
                <a:cs typeface="Roboto"/>
                <a:sym typeface="Roboto"/>
              </a:rPr>
              <a:t>62.69 % is far above Heumüller's 47.8 % linked. Which number better describes the state of SE?</a:t>
            </a:r>
            <a:r>
              <a:rPr lang="en-US" sz="1100">
                <a:solidFill>
                  <a:srgbClr val="000000"/>
                </a:solidFill>
              </a:rPr>
              <a:t> </a:t>
            </a:r>
            <a:endParaRPr sz="1100">
              <a:solidFill>
                <a:srgbClr val="000000"/>
              </a:solidFill>
            </a:endParaRPr>
          </a:p>
          <a:p>
            <a:pPr indent="-301625" lvl="0" marL="457200" rtl="0" algn="l">
              <a:lnSpc>
                <a:spcPct val="115000"/>
              </a:lnSpc>
              <a:spcBef>
                <a:spcPts val="400"/>
              </a:spcBef>
              <a:spcAft>
                <a:spcPts val="0"/>
              </a:spcAft>
              <a:buSzPts val="1150"/>
              <a:buFont typeface="Roboto"/>
              <a:buChar char="●"/>
            </a:pPr>
            <a:r>
              <a:rPr lang="en-US" sz="1150">
                <a:solidFill>
                  <a:srgbClr val="000000"/>
                </a:solidFill>
                <a:highlight>
                  <a:srgbClr val="FFFFFF"/>
                </a:highlight>
                <a:latin typeface="Roboto"/>
                <a:ea typeface="Roboto"/>
                <a:cs typeface="Roboto"/>
                <a:sym typeface="Roboto"/>
              </a:rPr>
              <a:t>A: Heumüller, because runnable code is what matters.</a:t>
            </a:r>
            <a:endParaRPr sz="1150">
              <a:solidFill>
                <a:srgbClr val="000000"/>
              </a:solidFill>
              <a:highlight>
                <a:srgbClr val="FFFFFF"/>
              </a:highlight>
              <a:latin typeface="Roboto"/>
              <a:ea typeface="Roboto"/>
              <a:cs typeface="Roboto"/>
              <a:sym typeface="Roboto"/>
            </a:endParaRPr>
          </a:p>
          <a:p>
            <a:pPr indent="-301625" lvl="0" marL="457200" rtl="0" algn="l">
              <a:lnSpc>
                <a:spcPct val="115000"/>
              </a:lnSpc>
              <a:spcBef>
                <a:spcPts val="0"/>
              </a:spcBef>
              <a:spcAft>
                <a:spcPts val="0"/>
              </a:spcAft>
              <a:buSzPts val="1150"/>
              <a:buFont typeface="Roboto"/>
              <a:buChar char="●"/>
            </a:pPr>
            <a:r>
              <a:rPr lang="en-US" sz="1150">
                <a:solidFill>
                  <a:srgbClr val="000000"/>
                </a:solidFill>
                <a:highlight>
                  <a:srgbClr val="FFFFFF"/>
                </a:highlight>
                <a:latin typeface="Roboto"/>
                <a:ea typeface="Roboto"/>
                <a:cs typeface="Roboto"/>
                <a:sym typeface="Roboto"/>
              </a:rPr>
              <a:t>B: Timperley, because data and survey material are artifacts too.</a:t>
            </a:r>
            <a:endParaRPr sz="1150">
              <a:solidFill>
                <a:srgbClr val="000000"/>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100">
              <a:solidFill>
                <a:srgbClr val="000000"/>
              </a:solidFill>
            </a:endParaRPr>
          </a:p>
        </p:txBody>
      </p:sp>
      <p:sp>
        <p:nvSpPr>
          <p:cNvPr id="332" name="Google Shape;332;h20eab59c8bb0d465_5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h20eab59c8bb0d465_5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h20eab59c8bb0d465_5_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sz="1150">
              <a:solidFill>
                <a:srgbClr val="000000"/>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Should probably try to have one question per challenge, at least in the back pocket</a:t>
            </a:r>
            <a:endParaRPr sz="1100">
              <a:solidFill>
                <a:srgbClr val="000000"/>
              </a:solidFill>
            </a:endParaRPr>
          </a:p>
        </p:txBody>
      </p:sp>
      <p:sp>
        <p:nvSpPr>
          <p:cNvPr id="340" name="Google Shape;340;h20eab59c8bb0d465_5_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h20eab59c8bb0d465_5_2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h20eab59c8bb0d465_5_2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sz="1150">
              <a:solidFill>
                <a:srgbClr val="000000"/>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100">
              <a:solidFill>
                <a:srgbClr val="000000"/>
              </a:solidFill>
            </a:endParaRPr>
          </a:p>
        </p:txBody>
      </p:sp>
      <p:sp>
        <p:nvSpPr>
          <p:cNvPr id="348" name="Google Shape;348;h20eab59c8bb0d465_5_2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h456e3c7019817545_1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h456e3c7019817545_1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p:txBody>
      </p:sp>
      <p:sp>
        <p:nvSpPr>
          <p:cNvPr id="356" name="Google Shape;356;h456e3c7019817545_1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h76656c63b9505f1e_2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h76656c63b9505f1e_2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Why do these challenges persist? In a second analysis the authors </a:t>
            </a:r>
            <a:r>
              <a:rPr lang="en-US"/>
              <a:t>explore how the challenges connect and why they remain unresolved.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a:t>
            </a:r>
            <a:r>
              <a:rPr lang="en-US"/>
              <a:t>based on Diffusion of Innovation Theory (so how well something spreads), the authors show that artifacts are hard to adopt because they often lack familiar conventions, clear documentation, easy setup, and benefits beyond the paper itself.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Then communication between creators, reviewers, and users is limited, documentation is often missing, and badge standards vary across conferences, leading to misunderstandings and confusion.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Artifacts, as we know, deteriorate over time but consistent maintenance costs too much effort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because artifact creation is not well rewarded and review is less valued, it leads to low-quality artifacts and inconsistent evaluations.</a:t>
            </a:r>
            <a:endParaRPr/>
          </a:p>
        </p:txBody>
      </p:sp>
      <p:sp>
        <p:nvSpPr>
          <p:cNvPr id="364" name="Google Shape;364;h76656c63b9505f1e_2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h76656c63b9505f1e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h76656c63b9505f1e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72" name="Google Shape;372;h76656c63b9505f1e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h76656c63b9505f1e_2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h76656c63b9505f1e_2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Take Recommendation 2: Should researchers be expected to share the entire implementation of their work to get the badges? The article recommends providing proof-of-concept artifacts, so smaller self-contained artifacts with useful documentation, if full systems are too expensive. Do you agree with this? Do you think scientific confidence is hurt by doing this, since you’re only submitting a fraction of your whole code or system? </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6: The current standard is double blind review (so the reviewers don’t know who the authors are and authors dk who the reviewers are), which makes artifact sharing harder, as the authors have to scrub the artifact clean as well as find an anonymous place to host it. This also limits communication as some people mentioned that they have a harder time asking authors for help. </a:t>
            </a:r>
            <a:endParaRPr/>
          </a:p>
          <a:p>
            <a:pPr indent="-317500" lvl="1" marL="914400" rtl="0" algn="l">
              <a:spcBef>
                <a:spcPts val="0"/>
              </a:spcBef>
              <a:spcAft>
                <a:spcPts val="0"/>
              </a:spcAft>
              <a:buSzPts val="1400"/>
              <a:buAutoNum type="alphaLcPeriod"/>
            </a:pPr>
            <a:r>
              <a:rPr lang="en-US"/>
              <a:t>How important do you feel anonymity is?</a:t>
            </a:r>
            <a:endParaRPr/>
          </a:p>
          <a:p>
            <a:pPr indent="-317500" lvl="1" marL="914400" rtl="0" algn="l">
              <a:spcBef>
                <a:spcPts val="0"/>
              </a:spcBef>
              <a:spcAft>
                <a:spcPts val="0"/>
              </a:spcAft>
              <a:buSzPts val="1400"/>
              <a:buAutoNum type="alphaLcPeriod"/>
            </a:pPr>
            <a:r>
              <a:rPr lang="en-US"/>
              <a:t>Another practice could be single blind review (so the reviewer knows the authors’ names). So the challenged about scrubbing the artifact and finding an anonymous place to host would be resolved. Do you feel like that would suffice or might still introduce other issues (like bias)? Or do you feel like it’s worth it since the challenge is a bigger issue?</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So for example, if we look at Recommendation 7: Should the hiring, promotion and funding process consider artifacts? Don’t you feel like there could be some issues? How would you assess that, maybe with how widely reused the artifact is? How much can we trust the badges?</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8: </a:t>
            </a:r>
            <a:r>
              <a:rPr lang="en-US"/>
              <a:t>The article recommended periodic review of the artifact evaluation itself. Do you feel like the artifacts themselves should also go through some sort of periodic evaluation? Since availability (because of unusably libraries, compilers, operating systems, bit rot!!) is an issue, should there be a system in place where artifacts are evaluated regularly (e.g. every ten years)? Because if it doesn’t work anymore, shouldn’t the evaluation status change? Or is it even worth the effort?</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Another issue or reason that they mentioned was a part of why these challenges persist is because artifact review is not only time-consuming, but also seen as the more  “annoying” task that is given to students. Do you think this sentiment is justified? Why do you think the community feels this way?</a:t>
            </a:r>
            <a:endParaRPr/>
          </a:p>
          <a:p>
            <a:pPr indent="-317500" lvl="1" marL="914400" rtl="0" algn="l">
              <a:spcBef>
                <a:spcPts val="0"/>
              </a:spcBef>
              <a:spcAft>
                <a:spcPts val="0"/>
              </a:spcAft>
              <a:buSzPts val="1400"/>
              <a:buAutoNum type="alphaLcPeriod"/>
            </a:pPr>
            <a:r>
              <a:rPr lang="en-US"/>
              <a:t>e.g. could it be justified as paper reviews do require broader knowledge?</a:t>
            </a:r>
            <a:endParaRPr/>
          </a:p>
          <a:p>
            <a:pPr indent="-317500" lvl="1" marL="914400" rtl="0" algn="l">
              <a:spcBef>
                <a:spcPts val="0"/>
              </a:spcBef>
              <a:spcAft>
                <a:spcPts val="0"/>
              </a:spcAft>
              <a:buSzPts val="1400"/>
              <a:buAutoNum type="alphaLcPeriod"/>
            </a:pPr>
            <a:r>
              <a:rPr lang="en-US"/>
              <a:t>So do you think more experienced researchers shouldn’t participate in artifact evaluation and always focus on the more important part, the paper itself?</a:t>
            </a:r>
            <a:endParaRPr/>
          </a:p>
          <a:p>
            <a:pPr indent="-317500" lvl="1" marL="914400" rtl="0" algn="l">
              <a:spcBef>
                <a:spcPts val="0"/>
              </a:spcBef>
              <a:spcAft>
                <a:spcPts val="0"/>
              </a:spcAft>
              <a:buSzPts val="1400"/>
              <a:buAutoNum type="alphaLcPeriod"/>
            </a:pPr>
            <a:r>
              <a:rPr lang="en-US"/>
              <a:t>Can you think of any way to change this sentiment?</a:t>
            </a:r>
            <a:endParaRPr/>
          </a:p>
          <a:p>
            <a:pPr indent="0" lvl="0" marL="0" rtl="0" algn="l">
              <a:spcBef>
                <a:spcPts val="0"/>
              </a:spcBef>
              <a:spcAft>
                <a:spcPts val="0"/>
              </a:spcAft>
              <a:buNone/>
            </a:pPr>
            <a:r>
              <a:t/>
            </a:r>
            <a:endParaRPr sz="22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000">
                <a:solidFill>
                  <a:srgbClr val="000000"/>
                </a:solidFill>
                <a:highlight>
                  <a:srgbClr val="FF00FF"/>
                </a:highlight>
                <a:latin typeface="Roboto"/>
                <a:ea typeface="Roboto"/>
                <a:cs typeface="Roboto"/>
                <a:sym typeface="Roboto"/>
              </a:rPr>
              <a:t>Recommendations:</a:t>
            </a:r>
            <a:endParaRPr sz="1000">
              <a:solidFill>
                <a:srgbClr val="000000"/>
              </a:solidFill>
              <a:highlight>
                <a:srgbClr val="FF00FF"/>
              </a:highlight>
              <a:latin typeface="Roboto"/>
              <a:ea typeface="Roboto"/>
              <a:cs typeface="Roboto"/>
              <a:sym typeface="Roboto"/>
            </a:endParaRPr>
          </a:p>
          <a:p>
            <a:pPr indent="-292100" lvl="0" marL="457200" rtl="0" algn="l">
              <a:spcBef>
                <a:spcPts val="0"/>
              </a:spcBef>
              <a:spcAft>
                <a:spcPts val="0"/>
              </a:spcAft>
              <a:buSzPts val="1000"/>
              <a:buFont typeface="Roboto"/>
              <a:buChar char="●"/>
            </a:pPr>
            <a:r>
              <a:rPr lang="en-US" sz="1000">
                <a:solidFill>
                  <a:srgbClr val="000000"/>
                </a:solidFill>
                <a:highlight>
                  <a:srgbClr val="FF00FF"/>
                </a:highlight>
                <a:latin typeface="Roboto"/>
                <a:ea typeface="Roboto"/>
                <a:cs typeface="Roboto"/>
                <a:sym typeface="Roboto"/>
              </a:rPr>
              <a:t>"Does not exacerbate any known challenges": do Rec 1–Rec 3 (more documentation, self-contained artifacts, planning) add work for creators, worsening C1 "not worth it"? </a:t>
            </a:r>
            <a:endParaRPr sz="1000">
              <a:solidFill>
                <a:srgbClr val="000000"/>
              </a:solidFill>
              <a:highlight>
                <a:srgbClr val="FF00FF"/>
              </a:highlight>
              <a:latin typeface="Roboto"/>
              <a:ea typeface="Roboto"/>
              <a:cs typeface="Roboto"/>
              <a:sym typeface="Roboto"/>
            </a:endParaRPr>
          </a:p>
          <a:p>
            <a:pPr indent="-292100" lvl="0" marL="457200" rtl="0" algn="l">
              <a:spcBef>
                <a:spcPts val="0"/>
              </a:spcBef>
              <a:spcAft>
                <a:spcPts val="0"/>
              </a:spcAft>
              <a:buSzPts val="1000"/>
              <a:buFont typeface="Roboto"/>
              <a:buChar char="●"/>
            </a:pPr>
            <a:r>
              <a:rPr lang="en-US" sz="1000">
                <a:solidFill>
                  <a:srgbClr val="000000"/>
                </a:solidFill>
                <a:highlight>
                  <a:srgbClr val="FF00FF"/>
                </a:highlight>
                <a:latin typeface="Roboto"/>
                <a:ea typeface="Roboto"/>
                <a:cs typeface="Roboto"/>
                <a:sym typeface="Roboto"/>
              </a:rPr>
              <a:t>Which target group would change the most if it acted: creators, advisors, reviewers, organisers or community leaders? </a:t>
            </a:r>
            <a:endParaRPr sz="1000">
              <a:solidFill>
                <a:srgbClr val="000000"/>
              </a:solidFill>
              <a:highlight>
                <a:srgbClr val="FF00FF"/>
              </a:highlight>
              <a:latin typeface="Roboto"/>
              <a:ea typeface="Roboto"/>
              <a:cs typeface="Roboto"/>
              <a:sym typeface="Roboto"/>
            </a:endParaRPr>
          </a:p>
          <a:p>
            <a:pPr indent="-292100" lvl="0" marL="457200" rtl="0" algn="l">
              <a:spcBef>
                <a:spcPts val="0"/>
              </a:spcBef>
              <a:spcAft>
                <a:spcPts val="0"/>
              </a:spcAft>
              <a:buSzPts val="1000"/>
              <a:buFont typeface="Roboto"/>
              <a:buChar char="●"/>
            </a:pPr>
            <a:r>
              <a:rPr lang="en-US" sz="1000">
                <a:solidFill>
                  <a:srgbClr val="000000"/>
                </a:solidFill>
                <a:highlight>
                  <a:srgbClr val="FF00FF"/>
                </a:highlight>
                <a:latin typeface="Roboto"/>
                <a:ea typeface="Roboto"/>
                <a:cs typeface="Roboto"/>
                <a:sym typeface="Roboto"/>
              </a:rPr>
              <a:t>Which DoI element do you think explains most of the problems: communication channels, time or the social system? </a:t>
            </a:r>
            <a:endParaRPr sz="1000">
              <a:solidFill>
                <a:srgbClr val="000000"/>
              </a:solidFill>
              <a:highlight>
                <a:srgbClr val="FF00FF"/>
              </a:highlight>
              <a:latin typeface="Roboto"/>
              <a:ea typeface="Roboto"/>
              <a:cs typeface="Roboto"/>
              <a:sym typeface="Roboto"/>
            </a:endParaRPr>
          </a:p>
        </p:txBody>
      </p:sp>
      <p:sp>
        <p:nvSpPr>
          <p:cNvPr id="388" name="Google Shape;388;h76656c63b9505f1e_2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h2e5b15fafcf2453c_6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h2e5b15fafcf2453c_6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Do you agree or disagree with any other recommendation?</a:t>
            </a:r>
            <a:endParaRPr/>
          </a:p>
          <a:p>
            <a:pPr indent="-317500" lvl="0" marL="457200" rtl="0" algn="l">
              <a:spcBef>
                <a:spcPts val="0"/>
              </a:spcBef>
              <a:spcAft>
                <a:spcPts val="0"/>
              </a:spcAft>
              <a:buSzPts val="1400"/>
              <a:buAutoNum type="arabicPeriod"/>
            </a:pPr>
            <a:r>
              <a:rPr lang="en-US"/>
              <a:t>So after discussing all recommendations: Which one do you think would you prioritise when it comes to implementation? Which one do you feel solves the most important and biggest problem and is also easy to implement?</a:t>
            </a:r>
            <a:endParaRPr/>
          </a:p>
        </p:txBody>
      </p:sp>
      <p:sp>
        <p:nvSpPr>
          <p:cNvPr id="396" name="Google Shape;396;h2e5b15fafcf2453c_6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h14a77dcaeeb36948_1_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h14a77dcaeeb36948_1_2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h14a77dcaeeb36948_1_2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h14a77dcaeeb36948_1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h14a77dcaeeb36948_1_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h14a77dcaeeb36948_1_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h14a77dcaeeb36948_1_2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h14a77dcaeeb36948_1_2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h14a77dcaeeb36948_1_2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h14a77dcaeeb36948_1_2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h14a77dcaeeb36948_1_2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P31 stopped submitting because of 'wildly different reviewer expectations' (p. 26). Standards or incentive problem?</a:t>
            </a:r>
            <a:endParaRPr/>
          </a:p>
        </p:txBody>
      </p:sp>
      <p:sp>
        <p:nvSpPr>
          <p:cNvPr id="437" name="Google Shape;437;h14a77dcaeeb36948_1_2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h14a77dcaeeb36948_1_2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h14a77dcaeeb36948_1_2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h14a77dcaeeb36948_1_2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h14a77dcaeeb36948_1_3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h14a77dcaeeb36948_1_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explicitly qualitative, a 'first step', data published.</a:t>
            </a:r>
            <a:endParaRPr/>
          </a:p>
        </p:txBody>
      </p:sp>
      <p:sp>
        <p:nvSpPr>
          <p:cNvPr id="452" name="Google Shape;452;h14a77dcaeeb36948_1_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h14a77dcaeeb36948_1_3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h14a77dcaeeb36948_1_3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careful about what thematic analysis shows, data on Zenodo, concrete recommendations.</a:t>
            </a:r>
            <a:endParaRPr/>
          </a:p>
        </p:txBody>
      </p:sp>
      <p:sp>
        <p:nvSpPr>
          <p:cNvPr id="460" name="Google Shape;460;h14a77dcaeeb36948_1_3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h14a77dcaeeb36948_1_3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h14a77dcaeeb36948_1_3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the audience room for points they prepared in advance. If nobody starts, ask who noted a criticism we did not cover.</a:t>
            </a:r>
            <a:endParaRPr/>
          </a:p>
        </p:txBody>
      </p:sp>
      <p:sp>
        <p:nvSpPr>
          <p:cNvPr id="468" name="Google Shape;468;h14a77dcaeeb36948_1_3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h14a77dcaeeb36948_1_3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h14a77dcaeeb36948_1_3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h14a77dcaeeb36948_1_3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h20eab59c8bb0d465_5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1" name="Google Shape;481;h20eab59c8bb0d465_5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h14a77dcaeeb36948_1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8" name="Google Shape;488;h14a77dcaeeb36948_1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9" name="Google Shape;489;h14a77dcaeeb36948_1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h14a77dcaeeb36948_11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3" name="Google Shape;493;h14a77dcaeeb36948_11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h14a77dcaeeb36948_11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h14a77dcaeeb36948_1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8" name="Google Shape;498;h14a77dcaeeb36948_11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h14a77dcaeeb36948_11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Two papers on artifact evaluation, one asking reviewers, one asking authors. Stefan Winter, our lecturer, co-wrote the first.</a:t>
            </a:r>
            <a:endParaRPr/>
          </a:p>
        </p:txBody>
      </p:sp>
      <p:sp>
        <p:nvSpPr>
          <p:cNvPr id="504" name="Google Shape;50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9" name="Google Shape;53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Core message: AE grew from the FSE 2011 pilot, but there is no evidence yet that it leads to better artifacts (p. 469).</a:t>
            </a:r>
            <a:endParaRPr/>
          </a:p>
        </p:txBody>
      </p:sp>
      <p:sp>
        <p:nvSpPr>
          <p:cNvPr id="540" name="Google Shape;54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7" name="Google Shape;54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when respondents said 'reproducibility', under the 2020 definitions they were right; the paper reads it as replicability (p. 473).</a:t>
            </a:r>
            <a:endParaRPr/>
          </a:p>
        </p:txBody>
      </p:sp>
      <p:sp>
        <p:nvSpPr>
          <p:cNvPr id="548" name="Google Shape;54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6" name="Google Shape;55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RQs on p. 470.</a:t>
            </a:r>
            <a:endParaRPr/>
          </a:p>
        </p:txBody>
      </p:sp>
      <p:sp>
        <p:nvSpPr>
          <p:cNvPr id="557" name="Google Shape;55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p. 471, §4.1 pp. 472–473. No artifact was opened.</a:t>
            </a:r>
            <a:endParaRPr/>
          </a:p>
        </p:txBody>
      </p:sp>
      <p:sp>
        <p:nvSpPr>
          <p:cNvPr id="565" name="Google Shape;56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reviewer caught a fraudulent artifact with hard-coded outputs (p. 477). 13 respondents want AE coupled to paper acceptance, unprompted (p. 478).</a:t>
            </a:r>
            <a:endParaRPr/>
          </a:p>
        </p:txBody>
      </p:sp>
      <p:sp>
        <p:nvSpPr>
          <p:cNvPr id="582" name="Google Shape;58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9" name="Google Shape;58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 threats pp. 478–479; §7 implications p. 479.</a:t>
            </a:r>
            <a:endParaRPr/>
          </a:p>
        </p:txBody>
      </p:sp>
      <p:sp>
        <p:nvSpPr>
          <p:cNvPr id="590" name="Google Shape;59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34 users saw no difference between evaluated and unevaluated artifacts (p. 477).</a:t>
            </a:r>
            <a:endParaRPr/>
          </a:p>
        </p:txBody>
      </p:sp>
      <p:sp>
        <p:nvSpPr>
          <p:cNvPr id="598" name="Google Shape;59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3" name="Google Shape;61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Would you sign up for an AEC next year? Why or why not?</a:t>
            </a:r>
            <a:endParaRPr/>
          </a:p>
        </p:txBody>
      </p:sp>
      <p:sp>
        <p:nvSpPr>
          <p:cNvPr id="614" name="Google Shape;61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What would a second, meaningful threshold look like?</a:t>
            </a:r>
            <a:endParaRPr/>
          </a:p>
        </p:txBody>
      </p:sp>
      <p:sp>
        <p:nvSpPr>
          <p:cNvPr id="630" name="Google Shape;63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Mixed methods, then a Diffusion of Innovations secondary analysis (pp. 2–3).</a:t>
            </a:r>
            <a:endParaRPr/>
          </a:p>
        </p:txBody>
      </p:sp>
      <p:sp>
        <p:nvSpPr>
          <p:cNvPr id="653" name="Google Shape;65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Implementation Science: evidence-based, iterative change from medicine (p. 6).</a:t>
            </a:r>
            <a:endParaRPr/>
          </a:p>
        </p:txBody>
      </p:sp>
      <p:sp>
        <p:nvSpPr>
          <p:cNvPr id="661" name="Google Shape;66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 name="Google Shape;66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 6.</a:t>
            </a:r>
            <a:endParaRPr/>
          </a:p>
        </p:txBody>
      </p:sp>
      <p:sp>
        <p:nvSpPr>
          <p:cNvPr id="669" name="Google Shape;66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 name="Google Shape;67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pp. 6–9. FSE AEC chairs supplied submission numbers.</a:t>
            </a:r>
            <a:endParaRPr/>
          </a:p>
        </p:txBody>
      </p:sp>
      <p:sp>
        <p:nvSpPr>
          <p:cNvPr id="677" name="Google Shape;67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3" name="Google Shape;69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Twelve challenges, Table 4 pp. 14–15: not worth it, portability, maintenance, tacit knowledge, doesn't fit purpose, no standards, hosting, double-blind review, external constraints, no reviewer incentives, technical obstacles, limited communication.</a:t>
            </a:r>
            <a:endParaRPr/>
          </a:p>
        </p:txBody>
      </p:sp>
      <p:sp>
        <p:nvSpPr>
          <p:cNvPr id="694" name="Google Shape;69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Authors believe artifacts should be reviewed as part of paper review (p. 28).</a:t>
            </a:r>
            <a:endParaRPr/>
          </a:p>
        </p:txBody>
      </p:sp>
      <p:sp>
        <p:nvSpPr>
          <p:cNvPr id="702" name="Google Shape;70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9" name="Google Shape;70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p:txBody>
      </p:sp>
      <p:sp>
        <p:nvSpPr>
          <p:cNvPr id="710" name="Google Shape;71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5" name="Google Shape;72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Week 1 link: Docker may not exist in 40 years.</a:t>
            </a:r>
            <a:endParaRPr/>
          </a:p>
        </p:txBody>
      </p:sp>
      <p:sp>
        <p:nvSpPr>
          <p:cNvPr id="726" name="Google Shape;72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1" name="Google Shape;74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Connects to Hermann's one-time reviewers.</a:t>
            </a:r>
            <a:endParaRPr/>
          </a:p>
        </p:txBody>
      </p:sp>
      <p:sp>
        <p:nvSpPr>
          <p:cNvPr id="742" name="Google Shape;74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7" name="Google Shape;75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8" name="Google Shape;75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4" name="Google Shape;76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5" name="Google Shape;765;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 name="Google Shape;77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4" name="Google Shape;774;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1" name="Google Shape;78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P31 stopped submitting because of 'wildly different reviewer expectations' (p. 26). Standards or incentive problem?</a:t>
            </a:r>
            <a:endParaRPr/>
          </a:p>
        </p:txBody>
      </p:sp>
      <p:sp>
        <p:nvSpPr>
          <p:cNvPr id="782" name="Google Shape;782;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7" name="Google Shape;79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Outside the box: what if an AI agent ran every artifact automatically? What would it miss?</a:t>
            </a:r>
            <a:endParaRPr/>
          </a:p>
        </p:txBody>
      </p:sp>
      <p:sp>
        <p:nvSpPr>
          <p:cNvPr id="798" name="Google Shape;798;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3" name="Google Shape;81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4" name="Google Shape;814;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0" name="Google Shape;82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explicitly qualitative, a 'first step', data published.</a:t>
            </a:r>
            <a:endParaRPr/>
          </a:p>
        </p:txBody>
      </p:sp>
      <p:sp>
        <p:nvSpPr>
          <p:cNvPr id="821" name="Google Shape;82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8" name="Google Shape;828;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careful about what thematic analysis shows, data on Zenodo, concrete recommendations.</a:t>
            </a:r>
            <a:endParaRPr/>
          </a:p>
        </p:txBody>
      </p:sp>
      <p:sp>
        <p:nvSpPr>
          <p:cNvPr id="829" name="Google Shape;829;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6" name="Google Shape;83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the audience room for points they prepared in advance. If nobody starts, ask who noted a criticism we did not cover.</a:t>
            </a:r>
            <a:endParaRPr/>
          </a:p>
        </p:txBody>
      </p:sp>
      <p:sp>
        <p:nvSpPr>
          <p:cNvPr id="837" name="Google Shape;837;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4" name="Google Shape;844;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5" name="Google Shape;845;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PAPER CONTEXT</a:t>
            </a:r>
          </a:p>
          <a:p>
            <a:r>
              <a:t>Creators fear that sharing exposes mistakes in their analysis and that poor code quality harms their reputation.</a:t>
            </a:r>
          </a:p>
          <a:p/>
          <a:p>
            <a:r>
              <a:t>EXAMPLE ANSWERS</a:t>
            </a:r>
          </a:p>
          <a:p>
            <a:r>
              <a:t>- More willing: if consequences for honest errors are proportionate (correction, erratum) and messy code is normal.</a:t>
            </a:r>
          </a:p>
          <a:p>
            <a:r>
              <a:t>- Less willing: as long as any visible mistake can cost a paper or a reputation, keeping code private is the safer choice.</a:t>
            </a:r>
          </a:p>
          <a:p>
            <a:r>
              <a:t>- Releasing as is: something checkable beats nothing vs. it wastes users' time and signals sloppiness.</a:t>
            </a:r>
          </a:p>
          <a:p/>
          <a:p>
            <a:r>
              <a:t>MY NOTES (background, not on slide)</a:t>
            </a:r>
          </a:p>
          <a:p>
            <a:r>
              <a:t>- Chang 2006: inherited script flipped two columns, 5 retractions, treated as an honest error.</a:t>
            </a:r>
          </a:p>
          <a:p>
            <a:r>
              <a:t>- Reinhart &amp; Rogoff 2013: a spreadsheet range error found after the data was shared.</a:t>
            </a:r>
          </a:p>
          <a:p>
            <a:r>
              <a:t>- Hermann et al.: some reviewers prefer availability over quality; an AEC found hard-coded outputs (misconduct, not error).</a:t>
            </a:r>
          </a:p>
        </p:txBody>
      </p:sp>
      <p:sp>
        <p:nvSpPr>
          <p:cNvPr id="4" name="Slide Number Placeholder 3"/>
          <p:cNvSpPr>
            <a:spLocks noGrp="1"/>
          </p:cNvSpPr>
          <p:nvPr>
            <p:ph type="sldNum" idx="12"/>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PAPER CONTEXT</a:t>
            </a:r>
          </a:p>
          <a:p>
            <a:r>
              <a:t>Creators hold back artifacts with untapped publication value or fear of being scooped; a limited audience is another reason.</a:t>
            </a:r>
          </a:p>
          <a:p/>
          <a:p>
            <a:r>
              <a:t>EXAMPLE ANSWERS</a:t>
            </a:r>
          </a:p>
          <a:p>
            <a:r>
              <a:t>- Full result: peer review judged the paper; the tool is the authors' property.</a:t>
            </a:r>
          </a:p>
          <a:p>
            <a:r>
              <a:t>- Preliminary: claims that nobody can check are weaker evidence.</a:t>
            </a:r>
          </a:p>
          <a:p/>
          <a:p>
            <a:r>
              <a:t>MY NOTES (background, not on slide)</a:t>
            </a:r>
          </a:p>
          <a:p>
            <a:r>
              <a:t>- Embargoes exist in data-heavy fields (telescope data 12-18 months); no measured scooping rate.</a:t>
            </a:r>
          </a:p>
        </p:txBody>
      </p:sp>
      <p:sp>
        <p:nvSpPr>
          <p:cNvPr id="4" name="Slide Number Placeholder 3"/>
          <p:cNvSpPr>
            <a:spLocks noGrp="1"/>
          </p:cNvSpPr>
          <p:nvPr>
            <p:ph type="sldNum" idx="12"/>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PAPER CONTEXT</a:t>
            </a:r>
          </a:p>
          <a:p>
            <a:r>
              <a:t>Artifacts often fail on other machines (missing information, outdated dependencies); VMs and containers are the usual fix.</a:t>
            </a:r>
          </a:p>
          <a:p/>
          <a:p>
            <a:r>
              <a:t>EXAMPLE ANSWERS</a:t>
            </a:r>
          </a:p>
          <a:p>
            <a:r>
              <a:t>- Yes: it runs anywhere Docker runs.</a:t>
            </a:r>
          </a:p>
          <a:p>
            <a:r>
              <a:t>- No: the image hides how the environment was set up and decays too.</a:t>
            </a:r>
          </a:p>
          <a:p/>
          <a:p>
            <a:r>
              <a:t>MY NOTES (background, not on slide)</a:t>
            </a:r>
          </a:p>
          <a:p>
            <a:r>
              <a:t>- Rebuilding from an unpinned Dockerfile can silently change the result; archive the built image.</a:t>
            </a:r>
          </a:p>
        </p:txBody>
      </p:sp>
      <p:sp>
        <p:nvSpPr>
          <p:cNvPr id="4" name="Slide Number Placeholder 3"/>
          <p:cNvSpPr>
            <a:spLocks noGrp="1"/>
          </p:cNvSpPr>
          <p:nvPr>
            <p:ph type="sldNum" idx="12"/>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PAPER CONTEXT</a:t>
            </a:r>
          </a:p>
          <a:p>
            <a:r>
              <a:t>Artifacts need ongoing maintenance (bugs, changing use cases, bit rot), usually by students who later leave; only well-funded groups manage it.</a:t>
            </a:r>
          </a:p>
          <a:p/>
          <a:p>
            <a:r>
              <a:t>EXAMPLE ANSWERS</a:t>
            </a:r>
          </a:p>
          <a:p>
            <a:r>
              <a:t>- Unavoidable: you can slow decay (archived images, pinned versions, few dependencies), not stop it.</a:t>
            </a:r>
          </a:p>
          <a:p>
            <a:r>
              <a:t>- Cost: the group or university, since it is research infrastructure, vs. nobody (archive and mark unmaintained).</a:t>
            </a:r>
          </a:p>
          <a:p>
            <a:r>
              <a:t>- Expected lifetime: only at publication and review, or a stated period?</a:t>
            </a:r>
          </a:p>
          <a:p/>
          <a:p>
            <a:r>
              <a:t>MY NOTES (background, not on slide)</a:t>
            </a:r>
          </a:p>
          <a:p>
            <a:r>
              <a:t>- DFG: code and data behind a publication archived for at least 10 years; archived is not runnable.</a:t>
            </a:r>
          </a:p>
          <a:p>
            <a:r>
              <a:t>- Research software engineers keep code alive inside institutions (Princeton, Aalto).</a:t>
            </a:r>
          </a:p>
          <a:p>
            <a:r>
              <a:t>- Maintenance funding runs in short cycles (CZI, DFG calls).</a:t>
            </a:r>
          </a:p>
          <a:p>
            <a:r>
              <a:t>- Week 1: costly constant maintenance; Docker may not exist in 40 years; source code most stable.</a:t>
            </a:r>
          </a:p>
        </p:txBody>
      </p:sp>
      <p:sp>
        <p:nvSpPr>
          <p:cNvPr id="4" name="Slide Number Placeholder 3"/>
          <p:cNvSpPr>
            <a:spLocks noGrp="1"/>
          </p:cNvSpPr>
          <p:nvPr>
            <p:ph type="sldNum" idx="12"/>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PAPER CONTEXT</a:t>
            </a:r>
          </a:p>
          <a:p>
            <a:r>
              <a:t>Reviewers suggest scripts against tacit knowledge, but warn they act as a black box that can re-run the authors' mistakes.</a:t>
            </a:r>
          </a:p>
          <a:p/>
          <a:p>
            <a:r>
              <a:t>EXAMPLE ANSWERS</a:t>
            </a:r>
          </a:p>
          <a:p>
            <a:r>
              <a:t>- Good: anyone can re-run it; without scripts many artifacts would not run at all.</a:t>
            </a:r>
          </a:p>
          <a:p>
            <a:r>
              <a:t>- Bad: checks that numbers come out, not that the method is sound; false confidence.</a:t>
            </a:r>
          </a:p>
          <a:p>
            <a:r>
              <a:t>- Understanding why results come out needs documentation of the steps, not just the button.</a:t>
            </a:r>
          </a:p>
          <a:p/>
          <a:p>
            <a:r>
              <a:t>MY NOTES (background, not on slide)</a:t>
            </a:r>
          </a:p>
          <a:p>
            <a:r>
              <a:t>- Python file-order case (2019): scripts correct on one OS, wrong on another; ~150 studies possibly affected.</a:t>
            </a:r>
          </a:p>
          <a:p>
            <a:r>
              <a:t>- Push-button replication is an established first step before independent re-implementation.</a:t>
            </a:r>
          </a:p>
        </p:txBody>
      </p:sp>
      <p:sp>
        <p:nvSpPr>
          <p:cNvPr id="4" name="Slide Number Placeholder 3"/>
          <p:cNvSpPr>
            <a:spLocks noGrp="1"/>
          </p:cNvSpPr>
          <p:nvPr>
            <p:ph type="sldNum" idx="12"/>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PAPER CONTEXT</a:t>
            </a:r>
          </a:p>
          <a:p>
            <a:r>
              <a:t>Tacit knowledge, buried in developers' heads, makes artifacts hard to understand, extend and reuse.</a:t>
            </a:r>
          </a:p>
          <a:p/>
          <a:p>
            <a:r>
              <a:t>EXAMPLE ANSWERS</a:t>
            </a:r>
          </a:p>
          <a:p>
            <a:r>
              <a:t>- Mostly capturable: checklists, a run-everything script, a short walkthrough video.</a:t>
            </a:r>
          </a:p>
          <a:p>
            <a:r>
              <a:t>- Not fully: some know-how only transfers by talking to the author.</a:t>
            </a:r>
          </a:p>
          <a:p/>
          <a:p>
            <a:r>
              <a:t>MY NOTES (background, not on slide)</a:t>
            </a:r>
          </a:p>
          <a:p>
            <a:r>
              <a:t>-</a:t>
            </a:r>
          </a:p>
        </p:txBody>
      </p:sp>
      <p:sp>
        <p:nvSpPr>
          <p:cNvPr id="4" name="Slide Number Placeholder 3"/>
          <p:cNvSpPr>
            <a:spLocks noGrp="1"/>
          </p:cNvSpPr>
          <p:nvPr>
            <p:ph type="sldNum" idx="12"/>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PAPER CONTEXT</a:t>
            </a:r>
          </a:p>
          <a:p>
            <a:r>
              <a:t>Reviewers report missing instructions and needing the paper to fill gaps; deep dives can take days.</a:t>
            </a:r>
          </a:p>
          <a:p/>
          <a:p>
            <a:r>
              <a:t>EXAMPLE ANSWERS</a:t>
            </a:r>
          </a:p>
          <a:p>
            <a:r>
              <a:t>- Little: the artifact should work for a stranger.</a:t>
            </a:r>
          </a:p>
          <a:p>
            <a:r>
              <a:t>- More: reviewers are the only ones who will ever try; one fix helps everyone after.</a:t>
            </a:r>
          </a:p>
          <a:p/>
          <a:p>
            <a:r>
              <a:t>MY NOTES (background, not on slide)</a:t>
            </a:r>
          </a:p>
          <a:p>
            <a:r>
              <a:t>- Overlaps with the C11 time-limit question; use as its follow-up if needed.</a:t>
            </a:r>
          </a:p>
        </p:txBody>
      </p:sp>
      <p:sp>
        <p:nvSpPr>
          <p:cNvPr id="4" name="Slide Number Placeholder 3"/>
          <p:cNvSpPr>
            <a:spLocks noGrp="1"/>
          </p:cNvSpPr>
          <p:nvPr>
            <p:ph type="sldNum" idx="12"/>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PAPER CONTEXT</a:t>
            </a:r>
          </a:p>
          <a:p>
            <a:r>
              <a:t>Creators struggle to find hosting for large datasets; GitHub, Dropbox and Google Drive are not long-term archives.</a:t>
            </a:r>
          </a:p>
          <a:p/>
          <a:p>
            <a:r>
              <a:t>EXAMPLE ANSWERS</a:t>
            </a:r>
          </a:p>
          <a:p>
            <a:r>
              <a:t>- A representative subset plus scripts to regenerate the rest.</a:t>
            </a:r>
          </a:p>
          <a:p>
            <a:r>
              <a:t>- Institutional repositories; share the generator, not the data.</a:t>
            </a:r>
          </a:p>
          <a:p/>
          <a:p>
            <a:r>
              <a:t>MY NOTES (background, not on slide)</a:t>
            </a:r>
          </a:p>
          <a:p>
            <a:r>
              <a:t>- Zenodo: 50 GB per record, up to 200 GB on request.</a:t>
            </a:r>
          </a:p>
          <a:p>
            <a:r>
              <a:t>- Overlaps with the paper's recommendation on proof-of-concept artifacts (teammate's section).</a:t>
            </a:r>
          </a:p>
        </p:txBody>
      </p:sp>
      <p:sp>
        <p:nvSpPr>
          <p:cNvPr id="4" name="Slide Number Placeholder 3"/>
          <p:cNvSpPr>
            <a:spLocks noGrp="1"/>
          </p:cNvSpPr>
          <p:nvPr>
            <p:ph type="sldNum" idx="12"/>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PAPER CONTEXT</a:t>
            </a:r>
          </a:p>
          <a:p>
            <a:r>
              <a:t>Many artifacts are no longer accessible, older ones more often.</a:t>
            </a:r>
          </a:p>
          <a:p/>
          <a:p>
            <a:r>
              <a:t>EXAMPLE ANSWERS</a:t>
            </a:r>
          </a:p>
          <a:p>
            <a:r>
              <a:t>- Yes: a badge should describe the current state.</a:t>
            </a:r>
          </a:p>
          <a:p>
            <a:r>
              <a:t>- No: it certifies what was checked at review time.</a:t>
            </a:r>
          </a:p>
          <a:p/>
          <a:p>
            <a:r>
              <a:t>MY NOTES (background, not on slide)</a:t>
            </a:r>
          </a:p>
          <a:p>
            <a:r>
              <a:t>- Klein et al. 2014: 13-22 % of web references in articles suffer link rot.</a:t>
            </a:r>
          </a:p>
        </p:txBody>
      </p:sp>
      <p:sp>
        <p:nvSpPr>
          <p:cNvPr id="4" name="Slide Number Placeholder 3"/>
          <p:cNvSpPr>
            <a:spLocks noGrp="1"/>
          </p:cNvSpPr>
          <p:nvPr>
            <p:ph type="sldNum" idx="12"/>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PAPER CONTEXT</a:t>
            </a:r>
          </a:p>
          <a:p>
            <a:r>
              <a:t>IP, contracts, privacy and liability fears prevent sharing; authors feel reviewers use missing artifacts as a blanket argument.</a:t>
            </a:r>
          </a:p>
          <a:p/>
          <a:p>
            <a:r>
              <a:t>EXAMPLE ANSWERS</a:t>
            </a:r>
          </a:p>
          <a:p>
            <a:r>
              <a:t>- Yes: readers cannot check the claims, whatever the reason.</a:t>
            </a:r>
          </a:p>
          <a:p>
            <a:r>
              <a:t>- No: it punishes valuable industry collaboration for something authors cannot control.</a:t>
            </a:r>
          </a:p>
          <a:p>
            <a:r>
              <a:t>- Middle: state the reason, offer proxy data or reviewer-only access.</a:t>
            </a:r>
          </a:p>
          <a:p/>
          <a:p>
            <a:r>
              <a:t>MY NOTES (background, not on slide)</a:t>
            </a:r>
          </a:p>
          <a:p>
            <a:r>
              <a:t>- ICSE: data sharing not required for acceptance, only a statement of why not.</a:t>
            </a:r>
          </a:p>
          <a:p>
            <a:r>
              <a:t>- ACM 'Complete' allows proxies for proprietary data.</a:t>
            </a:r>
          </a:p>
        </p:txBody>
      </p:sp>
      <p:sp>
        <p:nvSpPr>
          <p:cNvPr id="4" name="Slide Number Placeholder 3"/>
          <p:cNvSpPr>
            <a:spLocks noGrp="1"/>
          </p:cNvSpPr>
          <p:nvPr>
            <p:ph type="sldNum" idx="12"/>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PAPER CONTEXT</a:t>
            </a:r>
          </a:p>
          <a:p>
            <a:r>
              <a:t>Some artifacts cannot be shared for legal or privacy reasons; reviewers lack guidance for such cases.</a:t>
            </a:r>
          </a:p>
          <a:p/>
          <a:p>
            <a:r>
              <a:t>EXAMPLE ANSWERS</a:t>
            </a:r>
          </a:p>
          <a:p>
            <a:r>
              <a:t>- Yes: at least someone independent has checked it.</a:t>
            </a:r>
          </a:p>
          <a:p>
            <a:r>
              <a:t>- No: a check that nobody else can repeat adds little.</a:t>
            </a:r>
          </a:p>
          <a:p/>
          <a:p>
            <a:r>
              <a:t>MY NOTES (background, not on slide)</a:t>
            </a:r>
          </a:p>
          <a:p>
            <a:r>
              <a:t>- ACM already separates Evaluated (reviewer access suffices) from Available (public archive).</a:t>
            </a:r>
          </a:p>
        </p:txBody>
      </p:sp>
      <p:sp>
        <p:nvSpPr>
          <p:cNvPr id="4" name="Slide Number Placeholder 3"/>
          <p:cNvSpPr>
            <a:spLocks noGrp="1"/>
          </p:cNvSpPr>
          <p:nvPr>
            <p:ph type="sldNum" idx="12"/>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PAPER CONTEXT</a:t>
            </a:r>
          </a:p>
          <a:p>
            <a:r>
              <a:t>IP restrictions, licences and privacy concerns keep some artifacts closed.</a:t>
            </a:r>
          </a:p>
          <a:p/>
          <a:p>
            <a:r>
              <a:t>EXAMPLE ANSWERS</a:t>
            </a:r>
          </a:p>
          <a:p>
            <a:r>
              <a:t>- Yes: publicly funded research should be open.</a:t>
            </a:r>
          </a:p>
          <a:p>
            <a:r>
              <a:t>- No: it drives industry collaboration away from research.</a:t>
            </a:r>
          </a:p>
          <a:p/>
          <a:p>
            <a:r>
              <a:t>MY NOTES (background, not on slide)</a:t>
            </a:r>
          </a:p>
          <a:p>
            <a:r>
              <a:t>- Horizon Europe: open research data mandatory, 'as open as possible, as closed as necessary', exceptions justified in a data management plan.</a:t>
            </a:r>
          </a:p>
        </p:txBody>
      </p:sp>
      <p:sp>
        <p:nvSpPr>
          <p:cNvPr id="4" name="Slide Number Placeholder 3"/>
          <p:cNvSpPr>
            <a:spLocks noGrp="1"/>
          </p:cNvSpPr>
          <p:nvPr>
            <p:ph type="sldNum" idx="12"/>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PAPER CONTEXT</a:t>
            </a:r>
          </a:p>
          <a:p>
            <a:r>
              <a:t>Users and reviewers report artifacts needing paid licences or proprietary components (Windows, a commercial IDE); reviewers see no clear pathway.</a:t>
            </a:r>
          </a:p>
          <a:p/>
          <a:p>
            <a:r>
              <a:t>EXAMPLE ANSWERS</a:t>
            </a:r>
          </a:p>
          <a:p>
            <a:r>
              <a:t>- Accept: much real-world SE runs on commercial platforms; excluding them biases research to open tools.</a:t>
            </a:r>
          </a:p>
          <a:p>
            <a:r>
              <a:t>- Restrict: if others cannot run or check it, the artifact misses its purpose.</a:t>
            </a:r>
          </a:p>
          <a:p>
            <a:r>
              <a:t>- Depends whether the commercial tool is the subject of the research or a replaceable helper.</a:t>
            </a:r>
          </a:p>
          <a:p/>
          <a:p>
            <a:r>
              <a:t>MY NOTES (background, not on slide)</a:t>
            </a:r>
          </a:p>
          <a:p>
            <a:r>
              <a:t>- CAV, FORMATS, QEST: case by case via the chairs; FORMATS 2022 accepted MATLAB Online.</a:t>
            </a:r>
          </a:p>
          <a:p>
            <a:r>
              <a:t>- ACM policy is silent on reviewer licences; each AEC decides. Reviewers are not expected to pay.</a:t>
            </a:r>
          </a:p>
        </p:txBody>
      </p:sp>
      <p:sp>
        <p:nvSpPr>
          <p:cNvPr id="4" name="Slide Number Placeholder 3"/>
          <p:cNvSpPr>
            <a:spLocks noGrp="1"/>
          </p:cNvSpPr>
          <p:nvPr>
            <p:ph type="sldNum" idx="12"/>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PAPER CONTEXT</a:t>
            </a:r>
          </a:p>
          <a:p>
            <a:r>
              <a:t>Artifact review is time-consuming and less rewarded than paper review, so it is often left to students; this may lead to inconsistent, low-quality reviews.</a:t>
            </a:r>
          </a:p>
          <a:p/>
          <a:p>
            <a:r>
              <a:t>EXAMPLE ANSWERS</a:t>
            </a:r>
          </a:p>
          <a:p>
            <a:r>
              <a:t>- Meaningful: checking that an artifact runs and matches the paper needs no seniority; students are typical future users.</a:t>
            </a:r>
          </a:p>
          <a:p>
            <a:r>
              <a:t>- Weak: students may not judge methodology or dare to reject.</a:t>
            </a:r>
          </a:p>
          <a:p/>
          <a:p>
            <a:r>
              <a:t>MY NOTES (background, not on slide)</a:t>
            </a:r>
          </a:p>
          <a:p>
            <a:r>
              <a:t>- Students chosen deliberately from ECOOP/OOPSLA 2013 (current tools, training).</a:t>
            </a:r>
          </a:p>
          <a:p>
            <a:r>
              <a:t>- Time budget about 8-20 h per artifact; Hermann et al.: most AEC members serve once.</a:t>
            </a:r>
          </a:p>
        </p:txBody>
      </p:sp>
      <p:sp>
        <p:nvSpPr>
          <p:cNvPr id="4" name="Slide Number Placeholder 3"/>
          <p:cNvSpPr>
            <a:spLocks noGrp="1"/>
          </p:cNvSpPr>
          <p:nvPr>
            <p:ph type="sldNum" idx="12"/>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PAPER CONTEXT</a:t>
            </a:r>
          </a:p>
          <a:p>
            <a:r>
              <a:t>Reviewers report long execution times and artifacts that need more than the roughly one day they can give each.</a:t>
            </a:r>
          </a:p>
          <a:p/>
          <a:p>
            <a:r>
              <a:t>EXAMPLE ANSWERS</a:t>
            </a:r>
          </a:p>
          <a:p>
            <a:r>
              <a:t>- Fair: forces authors to make artifacts usable; future users won't invest more either.</a:t>
            </a:r>
          </a:p>
          <a:p>
            <a:r>
              <a:t>- Unfair: penalises inherently heavy research; a reduced representative run could replace the full one.</a:t>
            </a:r>
          </a:p>
          <a:p/>
          <a:p>
            <a:r>
              <a:t>MY NOTES (background, not on slide)</a:t>
            </a:r>
          </a:p>
          <a:p>
            <a:r>
              <a:t>- ICSE 2026: setup over 30 min makes acceptance unlikely; whole review ~8-20 h.</a:t>
            </a:r>
          </a:p>
          <a:p>
            <a:r>
              <a:t>- MobiSys: reviewers and authors agree a reduced but representative scope.</a:t>
            </a:r>
          </a:p>
        </p:txBody>
      </p:sp>
      <p:sp>
        <p:nvSpPr>
          <p:cNvPr id="4" name="Slide Number Placeholder 3"/>
          <p:cNvSpPr>
            <a:spLocks noGrp="1"/>
          </p:cNvSpPr>
          <p:nvPr>
            <p:ph type="sldNum" idx="12"/>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PAPER CONTEXT</a:t>
            </a:r>
          </a:p>
          <a:p>
            <a:r>
              <a:t>Some experiments (cloud systems, fuzzers, program repair) are practically infeasible to re-run for reviewers.</a:t>
            </a:r>
          </a:p>
          <a:p/>
          <a:p>
            <a:r>
              <a:t>EXAMPLE ANSWERS</a:t>
            </a:r>
          </a:p>
          <a:p>
            <a:r>
              <a:t>- Yes, with a badge that states what was checked.</a:t>
            </a:r>
          </a:p>
          <a:p>
            <a:r>
              <a:t>- No: an unrepeatable check certifies little.</a:t>
            </a:r>
          </a:p>
          <a:p/>
          <a:p>
            <a:r>
              <a:t>MY NOTES (background, not on slide)</a:t>
            </a:r>
          </a:p>
          <a:p>
            <a:r>
              <a:t>- Avoid 'who provides compute' (paper's recommendation, teammate's section).</a:t>
            </a:r>
          </a:p>
          <a:p>
            <a:r>
              <a:t>- SOSP 2019 Azure credits proved hard to use; IISWC has authors provide remote access.</a:t>
            </a:r>
          </a:p>
        </p:txBody>
      </p:sp>
      <p:sp>
        <p:nvSpPr>
          <p:cNvPr id="4" name="Slide Number Placeholder 3"/>
          <p:cNvSpPr>
            <a:spLocks noGrp="1"/>
          </p:cNvSpPr>
          <p:nvPr>
            <p:ph type="sldNum" idx="12"/>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PAPER CONTEXT</a:t>
            </a:r>
          </a:p>
          <a:p>
            <a:r>
              <a:t>Reviewers find single-round reviews frustrating and value authors willing to help, but unresponsive authors leave them waiting.</a:t>
            </a:r>
          </a:p>
          <a:p/>
          <a:p>
            <a:r>
              <a:t>EXAMPLE ANSWERS</a:t>
            </a:r>
          </a:p>
          <a:p>
            <a:r>
              <a:t>- Iterative: glitches are inevitable; the fixes help every later user.</a:t>
            </a:r>
          </a:p>
          <a:p>
            <a:r>
              <a:t>- One-shot: the badge should certify that it works without the authors.</a:t>
            </a:r>
          </a:p>
          <a:p>
            <a:r>
              <a:t>- Hybrid: a short check-in phase for setup, then a final test without help.</a:t>
            </a:r>
          </a:p>
          <a:p/>
          <a:p>
            <a:r>
              <a:t>MY NOTES (background, not on slide)</a:t>
            </a:r>
          </a:p>
          <a:p>
            <a:r>
              <a:t>- Most venues have a 'kick the tires' phase (SLE: 5-day response); ICSE 2026: answers within 72 h.</a:t>
            </a:r>
          </a:p>
        </p:txBody>
      </p:sp>
      <p:sp>
        <p:nvSpPr>
          <p:cNvPr id="4" name="Slide Number Placeholder 3"/>
          <p:cNvSpPr>
            <a:spLocks noGrp="1"/>
          </p:cNvSpPr>
          <p:nvPr>
            <p:ph type="sldNum" idx="12"/>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PAPER CONTEXT</a:t>
            </a:r>
          </a:p>
          <a:p>
            <a:r>
              <a:t>Users value authors who help fix problems, but creators move on and support stops.</a:t>
            </a:r>
          </a:p>
          <a:p/>
          <a:p>
            <a:r>
              <a:t>EXAMPLE ANSWERS</a:t>
            </a:r>
          </a:p>
          <a:p>
            <a:r>
              <a:t>- Yes, for a stated period.</a:t>
            </a:r>
          </a:p>
          <a:p>
            <a:r>
              <a:t>- No: archive it and say it is unsupported.</a:t>
            </a:r>
          </a:p>
          <a:p/>
          <a:p>
            <a:r>
              <a:t>MY NOTES (background, not on slide)</a:t>
            </a:r>
          </a:p>
          <a:p>
            <a:r>
              <a:t>- Overlaps with C3; use as its follow-up if needed.</a:t>
            </a:r>
          </a:p>
        </p:txBody>
      </p:sp>
      <p:sp>
        <p:nvSpPr>
          <p:cNvPr id="4" name="Slide Number Placeholder 3"/>
          <p:cNvSpPr>
            <a:spLocks noGrp="1"/>
          </p:cNvSpPr>
          <p:nvPr>
            <p:ph type="sldNum" idx="12"/>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PAPER CONTEXT</a:t>
            </a:r>
          </a:p>
          <a:p>
            <a:r>
              <a:t>Respondents want sharing encouraged and rewarded.</a:t>
            </a:r>
          </a:p>
          <a:p/>
          <a:p>
            <a:r>
              <a:t>EXAMPLE ANSWERS</a:t>
            </a:r>
          </a:p>
          <a:p>
            <a:r>
              <a:t>- Career credit (hiring, citations).</a:t>
            </a:r>
          </a:p>
          <a:p>
            <a:r>
              <a:t>- Direct benefit (users, collaborations).</a:t>
            </a:r>
          </a:p>
          <a:p/>
          <a:p>
            <a:r>
              <a:t>MY NOTES (background, not on slide)</a:t>
            </a:r>
          </a:p>
          <a:p>
            <a:r>
              <a:t>- JOSS: citable software papers. Possible overlap with the teammate's recommendations.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00883A"/>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E">
  <p:cSld name="BASE">
    <p:bg>
      <p:bgPr>
        <a:solidFill>
          <a:srgbClr val="FFFFFF"/>
        </a:solidFill>
      </p:bgPr>
    </p:bg>
    <p:spTree>
      <p:nvGrpSpPr>
        <p:cNvPr id="12" name="Shape 12"/>
        <p:cNvGrpSpPr/>
        <p:nvPr/>
      </p:nvGrpSpPr>
      <p:grpSpPr>
        <a:xfrm>
          <a:off x="0" y="0"/>
          <a:ext cx="0" cy="0"/>
          <a:chOff x="0" y="0"/>
          <a:chExt cx="0" cy="0"/>
        </a:xfrm>
      </p:grpSpPr>
      <p:sp>
        <p:nvSpPr>
          <p:cNvPr id="13" name="Google Shape;13;p3"/>
          <p:cNvSpPr txBox="1"/>
          <p:nvPr>
            <p:ph idx="12"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1100" u="none" cap="none" strike="noStrike">
                <a:solidFill>
                  <a:srgbClr val="5F6368"/>
                </a:solidFill>
                <a:latin typeface="Arial"/>
                <a:ea typeface="Arial"/>
                <a:cs typeface="Arial"/>
                <a:sym typeface="Arial"/>
              </a:defRPr>
            </a:lvl1pPr>
            <a:lvl2pPr indent="0" lvl="1" marL="0" marR="0" algn="l">
              <a:spcBef>
                <a:spcPts val="0"/>
              </a:spcBef>
              <a:buNone/>
              <a:defRPr b="0" i="0" sz="1100" u="none" cap="none" strike="noStrike">
                <a:solidFill>
                  <a:srgbClr val="5F6368"/>
                </a:solidFill>
                <a:latin typeface="Arial"/>
                <a:ea typeface="Arial"/>
                <a:cs typeface="Arial"/>
                <a:sym typeface="Arial"/>
              </a:defRPr>
            </a:lvl2pPr>
            <a:lvl3pPr indent="0" lvl="2" marL="0" marR="0" algn="l">
              <a:spcBef>
                <a:spcPts val="0"/>
              </a:spcBef>
              <a:buNone/>
              <a:defRPr b="0" i="0" sz="1100" u="none" cap="none" strike="noStrike">
                <a:solidFill>
                  <a:srgbClr val="5F6368"/>
                </a:solidFill>
                <a:latin typeface="Arial"/>
                <a:ea typeface="Arial"/>
                <a:cs typeface="Arial"/>
                <a:sym typeface="Arial"/>
              </a:defRPr>
            </a:lvl3pPr>
            <a:lvl4pPr indent="0" lvl="3" marL="0" marR="0" algn="l">
              <a:spcBef>
                <a:spcPts val="0"/>
              </a:spcBef>
              <a:buNone/>
              <a:defRPr b="0" i="0" sz="1100" u="none" cap="none" strike="noStrike">
                <a:solidFill>
                  <a:srgbClr val="5F6368"/>
                </a:solidFill>
                <a:latin typeface="Arial"/>
                <a:ea typeface="Arial"/>
                <a:cs typeface="Arial"/>
                <a:sym typeface="Arial"/>
              </a:defRPr>
            </a:lvl4pPr>
            <a:lvl5pPr indent="0" lvl="4" marL="0" marR="0" algn="l">
              <a:spcBef>
                <a:spcPts val="0"/>
              </a:spcBef>
              <a:buNone/>
              <a:defRPr b="0" i="0" sz="1100" u="none" cap="none" strike="noStrike">
                <a:solidFill>
                  <a:srgbClr val="5F6368"/>
                </a:solidFill>
                <a:latin typeface="Arial"/>
                <a:ea typeface="Arial"/>
                <a:cs typeface="Arial"/>
                <a:sym typeface="Arial"/>
              </a:defRPr>
            </a:lvl5pPr>
            <a:lvl6pPr indent="0" lvl="5" marL="0" marR="0" algn="l">
              <a:spcBef>
                <a:spcPts val="0"/>
              </a:spcBef>
              <a:buNone/>
              <a:defRPr b="0" i="0" sz="1100" u="none" cap="none" strike="noStrike">
                <a:solidFill>
                  <a:srgbClr val="5F6368"/>
                </a:solidFill>
                <a:latin typeface="Arial"/>
                <a:ea typeface="Arial"/>
                <a:cs typeface="Arial"/>
                <a:sym typeface="Arial"/>
              </a:defRPr>
            </a:lvl6pPr>
            <a:lvl7pPr indent="0" lvl="6" marL="0" marR="0" algn="l">
              <a:spcBef>
                <a:spcPts val="0"/>
              </a:spcBef>
              <a:buNone/>
              <a:defRPr b="0" i="0" sz="1100" u="none" cap="none" strike="noStrike">
                <a:solidFill>
                  <a:srgbClr val="5F6368"/>
                </a:solidFill>
                <a:latin typeface="Arial"/>
                <a:ea typeface="Arial"/>
                <a:cs typeface="Arial"/>
                <a:sym typeface="Arial"/>
              </a:defRPr>
            </a:lvl7pPr>
            <a:lvl8pPr indent="0" lvl="7" marL="0" marR="0" algn="l">
              <a:spcBef>
                <a:spcPts val="0"/>
              </a:spcBef>
              <a:buNone/>
              <a:defRPr b="0" i="0" sz="1100" u="none" cap="none" strike="noStrike">
                <a:solidFill>
                  <a:srgbClr val="5F6368"/>
                </a:solidFill>
                <a:latin typeface="Arial"/>
                <a:ea typeface="Arial"/>
                <a:cs typeface="Arial"/>
                <a:sym typeface="Arial"/>
              </a:defRPr>
            </a:lvl8pPr>
            <a:lvl9pPr indent="0" lvl="8" marL="0" marR="0" algn="l">
              <a:spcBef>
                <a:spcPts val="0"/>
              </a:spcBef>
              <a:buNone/>
              <a:defRPr b="0" i="0" sz="1100" u="none" cap="none" strike="noStrike">
                <a:solidFill>
                  <a:srgbClr val="5F636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100" u="none" cap="none" strike="noStrike">
                <a:solidFill>
                  <a:srgbClr val="5F6368"/>
                </a:solidFill>
                <a:latin typeface="Arial"/>
                <a:ea typeface="Arial"/>
                <a:cs typeface="Arial"/>
                <a:sym typeface="Arial"/>
              </a:defRPr>
            </a:lvl1pPr>
            <a:lvl2pPr indent="0" lvl="1" marL="0" marR="0" rtl="0" algn="l">
              <a:spcBef>
                <a:spcPts val="0"/>
              </a:spcBef>
              <a:buNone/>
              <a:defRPr b="0" i="0" sz="1100" u="none" cap="none" strike="noStrike">
                <a:solidFill>
                  <a:srgbClr val="5F6368"/>
                </a:solidFill>
                <a:latin typeface="Arial"/>
                <a:ea typeface="Arial"/>
                <a:cs typeface="Arial"/>
                <a:sym typeface="Arial"/>
              </a:defRPr>
            </a:lvl2pPr>
            <a:lvl3pPr indent="0" lvl="2" marL="0" marR="0" rtl="0" algn="l">
              <a:spcBef>
                <a:spcPts val="0"/>
              </a:spcBef>
              <a:buNone/>
              <a:defRPr b="0" i="0" sz="1100" u="none" cap="none" strike="noStrike">
                <a:solidFill>
                  <a:srgbClr val="5F6368"/>
                </a:solidFill>
                <a:latin typeface="Arial"/>
                <a:ea typeface="Arial"/>
                <a:cs typeface="Arial"/>
                <a:sym typeface="Arial"/>
              </a:defRPr>
            </a:lvl3pPr>
            <a:lvl4pPr indent="0" lvl="3" marL="0" marR="0" rtl="0" algn="l">
              <a:spcBef>
                <a:spcPts val="0"/>
              </a:spcBef>
              <a:buNone/>
              <a:defRPr b="0" i="0" sz="1100" u="none" cap="none" strike="noStrike">
                <a:solidFill>
                  <a:srgbClr val="5F6368"/>
                </a:solidFill>
                <a:latin typeface="Arial"/>
                <a:ea typeface="Arial"/>
                <a:cs typeface="Arial"/>
                <a:sym typeface="Arial"/>
              </a:defRPr>
            </a:lvl4pPr>
            <a:lvl5pPr indent="0" lvl="4" marL="0" marR="0" rtl="0" algn="l">
              <a:spcBef>
                <a:spcPts val="0"/>
              </a:spcBef>
              <a:buNone/>
              <a:defRPr b="0" i="0" sz="1100" u="none" cap="none" strike="noStrike">
                <a:solidFill>
                  <a:srgbClr val="5F6368"/>
                </a:solidFill>
                <a:latin typeface="Arial"/>
                <a:ea typeface="Arial"/>
                <a:cs typeface="Arial"/>
                <a:sym typeface="Arial"/>
              </a:defRPr>
            </a:lvl5pPr>
            <a:lvl6pPr indent="0" lvl="5" marL="0" marR="0" rtl="0" algn="l">
              <a:spcBef>
                <a:spcPts val="0"/>
              </a:spcBef>
              <a:buNone/>
              <a:defRPr b="0" i="0" sz="1100" u="none" cap="none" strike="noStrike">
                <a:solidFill>
                  <a:srgbClr val="5F6368"/>
                </a:solidFill>
                <a:latin typeface="Arial"/>
                <a:ea typeface="Arial"/>
                <a:cs typeface="Arial"/>
                <a:sym typeface="Arial"/>
              </a:defRPr>
            </a:lvl6pPr>
            <a:lvl7pPr indent="0" lvl="6" marL="0" marR="0" rtl="0" algn="l">
              <a:spcBef>
                <a:spcPts val="0"/>
              </a:spcBef>
              <a:buNone/>
              <a:defRPr b="0" i="0" sz="1100" u="none" cap="none" strike="noStrike">
                <a:solidFill>
                  <a:srgbClr val="5F6368"/>
                </a:solidFill>
                <a:latin typeface="Arial"/>
                <a:ea typeface="Arial"/>
                <a:cs typeface="Arial"/>
                <a:sym typeface="Arial"/>
              </a:defRPr>
            </a:lvl7pPr>
            <a:lvl8pPr indent="0" lvl="7" marL="0" marR="0" rtl="0" algn="l">
              <a:spcBef>
                <a:spcPts val="0"/>
              </a:spcBef>
              <a:buNone/>
              <a:defRPr b="0" i="0" sz="1100" u="none" cap="none" strike="noStrike">
                <a:solidFill>
                  <a:srgbClr val="5F6368"/>
                </a:solidFill>
                <a:latin typeface="Arial"/>
                <a:ea typeface="Arial"/>
                <a:cs typeface="Arial"/>
                <a:sym typeface="Arial"/>
              </a:defRPr>
            </a:lvl8pPr>
            <a:lvl9pPr indent="0" lvl="8" marL="0" marR="0" rtl="0" algn="l">
              <a:spcBef>
                <a:spcPts val="0"/>
              </a:spcBef>
              <a:buNone/>
              <a:defRPr b="0" i="0" sz="1100" u="none" cap="none" strike="noStrike">
                <a:solidFill>
                  <a:srgbClr val="5F636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comments" Target="../comments/commen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 name="Shape 19"/>
        <p:cNvGrpSpPr/>
        <p:nvPr/>
      </p:nvGrpSpPr>
      <p:grpSpPr>
        <a:xfrm>
          <a:off x="0" y="0"/>
          <a:ext cx="0" cy="0"/>
          <a:chOff x="0" y="0"/>
          <a:chExt cx="0" cy="0"/>
        </a:xfrm>
      </p:grpSpPr>
      <p:sp>
        <p:nvSpPr>
          <p:cNvPr id="20" name="Google Shape;20;p5"/>
          <p:cNvSpPr txBox="1"/>
          <p:nvPr/>
        </p:nvSpPr>
        <p:spPr>
          <a:xfrm>
            <a:off x="640080" y="2011680"/>
            <a:ext cx="10911600" cy="14631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Lecture 2: Paper Discussion</a:t>
            </a:r>
            <a:endParaRPr b="0" i="0" sz="4400" u="none" cap="none" strike="noStrike">
              <a:solidFill>
                <a:schemeClr val="dk1"/>
              </a:solidFill>
              <a:latin typeface="Arial"/>
              <a:ea typeface="Arial"/>
              <a:cs typeface="Arial"/>
              <a:sym typeface="Arial"/>
            </a:endParaRPr>
          </a:p>
        </p:txBody>
      </p:sp>
      <p:sp>
        <p:nvSpPr>
          <p:cNvPr id="21" name="Google Shape;21;p5"/>
          <p:cNvSpPr txBox="1"/>
          <p:nvPr/>
        </p:nvSpPr>
        <p:spPr>
          <a:xfrm>
            <a:off x="640080" y="3657600"/>
            <a:ext cx="10911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Arial"/>
              <a:buNone/>
            </a:pPr>
            <a:r>
              <a:rPr b="0" i="0" lang="en-US" sz="2200" u="none" cap="none" strike="noStrike">
                <a:solidFill>
                  <a:srgbClr val="FFFFFF"/>
                </a:solidFill>
                <a:latin typeface="Arial"/>
                <a:ea typeface="Arial"/>
                <a:cs typeface="Arial"/>
                <a:sym typeface="Arial"/>
              </a:rPr>
              <a:t>Hermann, Winter &amp; Siegmund (FSE 2020) · Timperley, Herckis, Le Goues &amp; Hilton (EMSE 2021)</a:t>
            </a:r>
            <a:endParaRPr b="0" i="0" sz="2200" u="none" cap="none" strike="noStrike">
              <a:solidFill>
                <a:schemeClr val="dk1"/>
              </a:solidFill>
              <a:latin typeface="Arial"/>
              <a:ea typeface="Arial"/>
              <a:cs typeface="Arial"/>
              <a:sym typeface="Arial"/>
            </a:endParaRPr>
          </a:p>
        </p:txBody>
      </p:sp>
      <p:sp>
        <p:nvSpPr>
          <p:cNvPr id="22" name="Google Shape;22;p5"/>
          <p:cNvSpPr txBox="1"/>
          <p:nvPr/>
        </p:nvSpPr>
        <p:spPr>
          <a:xfrm>
            <a:off x="640080" y="4754880"/>
            <a:ext cx="10911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1600"/>
              <a:buFont typeface="Arial"/>
              <a:buNone/>
            </a:pPr>
            <a:r>
              <a:rPr b="0" i="0" lang="en-US" sz="1600" u="none" cap="none" strike="noStrike">
                <a:solidFill>
                  <a:srgbClr val="E3F1E8"/>
                </a:solidFill>
                <a:latin typeface="Arial"/>
                <a:ea typeface="Arial"/>
                <a:cs typeface="Arial"/>
                <a:sym typeface="Arial"/>
              </a:rPr>
              <a:t>Seminar: Reproducibility of Scientific Results in Software Engineering Research · 27 October</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sp>
        <p:nvSpPr>
          <p:cNvPr id="28" name="Google Shape;28;p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Index</a:t>
            </a:r>
            <a:endParaRPr b="0" i="0" sz="4000" u="none" cap="none" strike="noStrike">
              <a:solidFill>
                <a:schemeClr val="dk1"/>
              </a:solidFill>
              <a:latin typeface="Arial"/>
              <a:ea typeface="Arial"/>
              <a:cs typeface="Arial"/>
              <a:sym typeface="Arial"/>
            </a:endParaRPr>
          </a:p>
        </p:txBody>
      </p:sp>
      <p:sp>
        <p:nvSpPr>
          <p:cNvPr id="29" name="Google Shape;29;p6"/>
          <p:cNvSpPr txBox="1"/>
          <p:nvPr/>
        </p:nvSpPr>
        <p:spPr>
          <a:xfrm>
            <a:off x="640080" y="155448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01</a:t>
            </a:r>
            <a:endParaRPr b="0" i="0" sz="2200" u="none" cap="none" strike="noStrike">
              <a:solidFill>
                <a:schemeClr val="dk1"/>
              </a:solidFill>
              <a:latin typeface="Arial"/>
              <a:ea typeface="Arial"/>
              <a:cs typeface="Arial"/>
              <a:sym typeface="Arial"/>
            </a:endParaRPr>
          </a:p>
        </p:txBody>
      </p:sp>
      <p:sp>
        <p:nvSpPr>
          <p:cNvPr id="30" name="Google Shape;30;p6"/>
          <p:cNvSpPr txBox="1"/>
          <p:nvPr/>
        </p:nvSpPr>
        <p:spPr>
          <a:xfrm>
            <a:off x="1463040" y="155448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Hermann et al. 2020 · summary</a:t>
            </a:r>
            <a:endParaRPr b="0" i="0" sz="2200" u="none" cap="none" strike="noStrike">
              <a:solidFill>
                <a:schemeClr val="dk1"/>
              </a:solidFill>
              <a:latin typeface="Arial"/>
              <a:ea typeface="Arial"/>
              <a:cs typeface="Arial"/>
              <a:sym typeface="Arial"/>
            </a:endParaRPr>
          </a:p>
        </p:txBody>
      </p:sp>
      <p:sp>
        <p:nvSpPr>
          <p:cNvPr id="31" name="Google Shape;31;p6"/>
          <p:cNvSpPr txBox="1"/>
          <p:nvPr/>
        </p:nvSpPr>
        <p:spPr>
          <a:xfrm>
            <a:off x="640080" y="219456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02</a:t>
            </a:r>
            <a:endParaRPr b="0" i="0" sz="2200" u="none" cap="none" strike="noStrike">
              <a:solidFill>
                <a:schemeClr val="dk1"/>
              </a:solidFill>
              <a:latin typeface="Arial"/>
              <a:ea typeface="Arial"/>
              <a:cs typeface="Arial"/>
              <a:sym typeface="Arial"/>
            </a:endParaRPr>
          </a:p>
        </p:txBody>
      </p:sp>
      <p:sp>
        <p:nvSpPr>
          <p:cNvPr id="32" name="Google Shape;32;p6"/>
          <p:cNvSpPr txBox="1"/>
          <p:nvPr/>
        </p:nvSpPr>
        <p:spPr>
          <a:xfrm>
            <a:off x="1463040" y="219456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 discussion</a:t>
            </a:r>
            <a:endParaRPr b="0" i="0" sz="2200" u="none" cap="none" strike="noStrike">
              <a:solidFill>
                <a:schemeClr val="dk1"/>
              </a:solidFill>
              <a:latin typeface="Arial"/>
              <a:ea typeface="Arial"/>
              <a:cs typeface="Arial"/>
              <a:sym typeface="Arial"/>
            </a:endParaRPr>
          </a:p>
        </p:txBody>
      </p:sp>
      <p:sp>
        <p:nvSpPr>
          <p:cNvPr id="33" name="Google Shape;33;p6"/>
          <p:cNvSpPr txBox="1"/>
          <p:nvPr/>
        </p:nvSpPr>
        <p:spPr>
          <a:xfrm>
            <a:off x="640080" y="283464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03</a:t>
            </a:r>
            <a:endParaRPr b="0" i="0" sz="2200" u="none" cap="none" strike="noStrike">
              <a:solidFill>
                <a:schemeClr val="dk1"/>
              </a:solidFill>
              <a:latin typeface="Arial"/>
              <a:ea typeface="Arial"/>
              <a:cs typeface="Arial"/>
              <a:sym typeface="Arial"/>
            </a:endParaRPr>
          </a:p>
        </p:txBody>
      </p:sp>
      <p:sp>
        <p:nvSpPr>
          <p:cNvPr id="34" name="Google Shape;34;p6"/>
          <p:cNvSpPr txBox="1"/>
          <p:nvPr/>
        </p:nvSpPr>
        <p:spPr>
          <a:xfrm>
            <a:off x="1463040" y="283464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Timperley et al. 2021 · summary</a:t>
            </a:r>
            <a:endParaRPr b="0" i="0" sz="2200" u="none" cap="none" strike="noStrike">
              <a:solidFill>
                <a:schemeClr val="dk1"/>
              </a:solidFill>
              <a:latin typeface="Arial"/>
              <a:ea typeface="Arial"/>
              <a:cs typeface="Arial"/>
              <a:sym typeface="Arial"/>
            </a:endParaRPr>
          </a:p>
        </p:txBody>
      </p:sp>
      <p:sp>
        <p:nvSpPr>
          <p:cNvPr id="35" name="Google Shape;35;p6"/>
          <p:cNvSpPr txBox="1"/>
          <p:nvPr/>
        </p:nvSpPr>
        <p:spPr>
          <a:xfrm>
            <a:off x="640080" y="347472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04</a:t>
            </a:r>
            <a:endParaRPr b="0" i="0" sz="2200" u="none" cap="none" strike="noStrike">
              <a:solidFill>
                <a:schemeClr val="dk1"/>
              </a:solidFill>
              <a:latin typeface="Arial"/>
              <a:ea typeface="Arial"/>
              <a:cs typeface="Arial"/>
              <a:sym typeface="Arial"/>
            </a:endParaRPr>
          </a:p>
        </p:txBody>
      </p:sp>
      <p:sp>
        <p:nvSpPr>
          <p:cNvPr id="36" name="Google Shape;36;p6"/>
          <p:cNvSpPr txBox="1"/>
          <p:nvPr/>
        </p:nvSpPr>
        <p:spPr>
          <a:xfrm>
            <a:off x="1463040" y="347472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 discussion</a:t>
            </a:r>
            <a:endParaRPr b="0" i="0" sz="2200" u="none" cap="none" strike="noStrike">
              <a:solidFill>
                <a:schemeClr val="dk1"/>
              </a:solidFill>
              <a:latin typeface="Arial"/>
              <a:ea typeface="Arial"/>
              <a:cs typeface="Arial"/>
              <a:sym typeface="Arial"/>
            </a:endParaRPr>
          </a:p>
        </p:txBody>
      </p:sp>
      <p:sp>
        <p:nvSpPr>
          <p:cNvPr id="37" name="Google Shape;37;p6"/>
          <p:cNvSpPr txBox="1"/>
          <p:nvPr/>
        </p:nvSpPr>
        <p:spPr>
          <a:xfrm>
            <a:off x="640080" y="411480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05</a:t>
            </a:r>
            <a:endParaRPr b="0" i="0" sz="2200" u="none" cap="none" strike="noStrike">
              <a:solidFill>
                <a:schemeClr val="dk1"/>
              </a:solidFill>
              <a:latin typeface="Arial"/>
              <a:ea typeface="Arial"/>
              <a:cs typeface="Arial"/>
              <a:sym typeface="Arial"/>
            </a:endParaRPr>
          </a:p>
        </p:txBody>
      </p:sp>
      <p:sp>
        <p:nvSpPr>
          <p:cNvPr id="38" name="Google Shape;38;p6"/>
          <p:cNvSpPr txBox="1"/>
          <p:nvPr/>
        </p:nvSpPr>
        <p:spPr>
          <a:xfrm>
            <a:off x="1463040" y="411480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Cross comparison: similarities and differences</a:t>
            </a:r>
            <a:endParaRPr b="0" i="0" sz="2200" u="none" cap="none" strike="noStrike">
              <a:solidFill>
                <a:schemeClr val="dk1"/>
              </a:solidFill>
              <a:latin typeface="Arial"/>
              <a:ea typeface="Arial"/>
              <a:cs typeface="Arial"/>
              <a:sym typeface="Arial"/>
            </a:endParaRPr>
          </a:p>
        </p:txBody>
      </p:sp>
      <p:sp>
        <p:nvSpPr>
          <p:cNvPr id="39" name="Google Shape;39;p6"/>
          <p:cNvSpPr txBox="1"/>
          <p:nvPr/>
        </p:nvSpPr>
        <p:spPr>
          <a:xfrm>
            <a:off x="640080" y="475488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06</a:t>
            </a:r>
            <a:endParaRPr b="0" i="0" sz="2200" u="none" cap="none" strike="noStrike">
              <a:solidFill>
                <a:schemeClr val="dk1"/>
              </a:solidFill>
              <a:latin typeface="Arial"/>
              <a:ea typeface="Arial"/>
              <a:cs typeface="Arial"/>
              <a:sym typeface="Arial"/>
            </a:endParaRPr>
          </a:p>
        </p:txBody>
      </p:sp>
      <p:sp>
        <p:nvSpPr>
          <p:cNvPr id="40" name="Google Shape;40;p6"/>
          <p:cNvSpPr txBox="1"/>
          <p:nvPr/>
        </p:nvSpPr>
        <p:spPr>
          <a:xfrm>
            <a:off x="1463040" y="475488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Discussion: what do you agree with?</a:t>
            </a:r>
            <a:endParaRPr b="0" i="0" sz="2200" u="none" cap="none" strike="noStrike">
              <a:solidFill>
                <a:schemeClr val="dk1"/>
              </a:solidFill>
              <a:latin typeface="Arial"/>
              <a:ea typeface="Arial"/>
              <a:cs typeface="Arial"/>
              <a:sym typeface="Arial"/>
            </a:endParaRPr>
          </a:p>
        </p:txBody>
      </p:sp>
      <p:sp>
        <p:nvSpPr>
          <p:cNvPr id="41" name="Google Shape;41;p6"/>
          <p:cNvSpPr txBox="1"/>
          <p:nvPr/>
        </p:nvSpPr>
        <p:spPr>
          <a:xfrm>
            <a:off x="640080" y="539496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07</a:t>
            </a:r>
            <a:endParaRPr b="0" i="0" sz="2200" u="none" cap="none" strike="noStrike">
              <a:solidFill>
                <a:schemeClr val="dk1"/>
              </a:solidFill>
              <a:latin typeface="Arial"/>
              <a:ea typeface="Arial"/>
              <a:cs typeface="Arial"/>
              <a:sym typeface="Arial"/>
            </a:endParaRPr>
          </a:p>
        </p:txBody>
      </p:sp>
      <p:sp>
        <p:nvSpPr>
          <p:cNvPr id="42" name="Google Shape;42;p6"/>
          <p:cNvSpPr txBox="1"/>
          <p:nvPr/>
        </p:nvSpPr>
        <p:spPr>
          <a:xfrm>
            <a:off x="1463040" y="539496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Criticism of the papers</a:t>
            </a:r>
            <a:endParaRPr b="0" i="0" sz="2200" u="none" cap="none" strike="noStrike">
              <a:solidFill>
                <a:schemeClr val="dk1"/>
              </a:solidFill>
              <a:latin typeface="Arial"/>
              <a:ea typeface="Arial"/>
              <a:cs typeface="Arial"/>
              <a:sym typeface="Arial"/>
            </a:endParaRPr>
          </a:p>
        </p:txBody>
      </p:sp>
      <p:sp>
        <p:nvSpPr>
          <p:cNvPr id="43" name="Google Shape;43;p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7"/>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1</a:t>
            </a:r>
            <a:endParaRPr b="0" i="0" sz="4800" u="none" cap="none" strike="noStrike">
              <a:solidFill>
                <a:schemeClr val="dk1"/>
              </a:solidFill>
              <a:latin typeface="Arial"/>
              <a:ea typeface="Arial"/>
              <a:cs typeface="Arial"/>
              <a:sym typeface="Arial"/>
            </a:endParaRPr>
          </a:p>
        </p:txBody>
      </p:sp>
      <p:sp>
        <p:nvSpPr>
          <p:cNvPr id="50" name="Google Shape;50;p7"/>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Hermann, Winter &amp; Siegmund (2020): Community Expectations for Research Artifacts and Evaluation Processes · ESEC/FSE, pp. 469–480</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57" name="Google Shape;57;p8"/>
          <p:cNvSpPr txBox="1"/>
          <p:nvPr/>
        </p:nvSpPr>
        <p:spPr>
          <a:xfrm>
            <a:off x="3968325" y="1811175"/>
            <a:ext cx="7583400" cy="4407000"/>
          </a:xfrm>
          <a:prstGeom prst="rect">
            <a:avLst/>
          </a:prstGeom>
          <a:noFill/>
          <a:ln>
            <a:noFill/>
          </a:ln>
        </p:spPr>
        <p:txBody>
          <a:bodyPr anchorCtr="0" anchor="t" bIns="0" lIns="0" spcFirstLastPara="1" rIns="0" wrap="square" tIns="0">
            <a:noAutofit/>
          </a:bodyPr>
          <a:lstStyle/>
          <a:p>
            <a:pPr indent="0" lvl="0" marL="0" rtl="0" algn="l">
              <a:spcBef>
                <a:spcPts val="1000"/>
              </a:spcBef>
              <a:spcAft>
                <a:spcPts val="0"/>
              </a:spcAft>
              <a:buNone/>
            </a:pPr>
            <a:r>
              <a:rPr b="1" lang="en-US" sz="2200">
                <a:solidFill>
                  <a:schemeClr val="dk1"/>
                </a:solidFill>
              </a:rPr>
              <a:t>Replicability Crisis:</a:t>
            </a:r>
            <a:r>
              <a:rPr lang="en-US" sz="2200">
                <a:solidFill>
                  <a:schemeClr val="dk1"/>
                </a:solidFill>
              </a:rPr>
              <a:t> Researchers struggle to obtain usable experimental artifacts. </a:t>
            </a:r>
            <a:endParaRPr sz="2200">
              <a:solidFill>
                <a:schemeClr val="dk1"/>
              </a:solidFill>
            </a:endParaRPr>
          </a:p>
          <a:p>
            <a:pPr indent="0" lvl="0" marL="0" rtl="0" algn="l">
              <a:spcBef>
                <a:spcPts val="1000"/>
              </a:spcBef>
              <a:spcAft>
                <a:spcPts val="0"/>
              </a:spcAft>
              <a:buNone/>
            </a:pPr>
            <a:r>
              <a:rPr b="1" lang="en-US" sz="2200">
                <a:solidFill>
                  <a:schemeClr val="dk1"/>
                </a:solidFill>
              </a:rPr>
              <a:t>Adoption Since 2011</a:t>
            </a:r>
            <a:r>
              <a:rPr lang="en-US" sz="2200">
                <a:solidFill>
                  <a:schemeClr val="dk1"/>
                </a:solidFill>
              </a:rPr>
              <a:t>: Conferences award badges via voluntary peer audits. </a:t>
            </a:r>
            <a:endParaRPr sz="2200">
              <a:solidFill>
                <a:schemeClr val="dk1"/>
              </a:solidFill>
            </a:endParaRPr>
          </a:p>
          <a:p>
            <a:pPr indent="0" lvl="0" marL="0" rtl="0" algn="l">
              <a:spcBef>
                <a:spcPts val="1000"/>
              </a:spcBef>
              <a:spcAft>
                <a:spcPts val="0"/>
              </a:spcAft>
              <a:buNone/>
            </a:pPr>
            <a:r>
              <a:rPr b="1" lang="en-US" sz="2200">
                <a:solidFill>
                  <a:schemeClr val="dk1"/>
                </a:solidFill>
              </a:rPr>
              <a:t>Core Problem</a:t>
            </a:r>
            <a:r>
              <a:rPr lang="en-US" sz="2200">
                <a:solidFill>
                  <a:schemeClr val="dk1"/>
                </a:solidFill>
              </a:rPr>
              <a:t>: Guidelines lack uniform thresholds for artifact quality.</a:t>
            </a:r>
            <a:endParaRPr sz="2200">
              <a:solidFill>
                <a:schemeClr val="dk1"/>
              </a:solidFill>
            </a:endParaRPr>
          </a:p>
          <a:p>
            <a:pPr indent="0" lvl="0" marL="0" rtl="0" algn="l">
              <a:spcBef>
                <a:spcPts val="1000"/>
              </a:spcBef>
              <a:spcAft>
                <a:spcPts val="0"/>
              </a:spcAft>
              <a:buNone/>
            </a:pPr>
            <a:r>
              <a:rPr b="1" lang="en-US" sz="2200">
                <a:solidFill>
                  <a:schemeClr val="dk1"/>
                </a:solidFill>
              </a:rPr>
              <a:t>Main Contribution</a:t>
            </a:r>
            <a:r>
              <a:rPr lang="en-US" sz="2200">
                <a:solidFill>
                  <a:schemeClr val="dk1"/>
                </a:solidFill>
              </a:rPr>
              <a:t>: Empirical survey of 255 committee reviewers.</a:t>
            </a:r>
            <a:endParaRPr sz="2200">
              <a:solidFill>
                <a:schemeClr val="dk1"/>
              </a:solidFill>
            </a:endParaRPr>
          </a:p>
        </p:txBody>
      </p:sp>
      <p:sp>
        <p:nvSpPr>
          <p:cNvPr id="58" name="Google Shape;58;p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9" name="Google Shape;59;p8"/>
          <p:cNvSpPr txBox="1"/>
          <p:nvPr/>
        </p:nvSpPr>
        <p:spPr>
          <a:xfrm>
            <a:off x="518925" y="1811175"/>
            <a:ext cx="34494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solidFill>
                  <a:schemeClr val="dk2"/>
                </a:solidFill>
                <a:highlight>
                  <a:schemeClr val="lt1"/>
                </a:highlight>
                <a:latin typeface="Playfair Display"/>
                <a:ea typeface="Playfair Display"/>
                <a:cs typeface="Playfair Display"/>
                <a:sym typeface="Playfair Display"/>
              </a:rPr>
              <a:t>Evaluating the efficacy of Artifact Evaluation across </a:t>
            </a:r>
            <a:endParaRPr b="1" sz="2500">
              <a:solidFill>
                <a:schemeClr val="dk2"/>
              </a:solidFill>
              <a:highlight>
                <a:schemeClr val="lt1"/>
              </a:highlight>
              <a:latin typeface="Playfair Display"/>
              <a:ea typeface="Playfair Display"/>
              <a:cs typeface="Playfair Display"/>
              <a:sym typeface="Playfair Display"/>
            </a:endParaRPr>
          </a:p>
          <a:p>
            <a:pPr indent="0" lvl="0" marL="0" rtl="0" algn="l">
              <a:spcBef>
                <a:spcPts val="0"/>
              </a:spcBef>
              <a:spcAft>
                <a:spcPts val="0"/>
              </a:spcAft>
              <a:buNone/>
            </a:pPr>
            <a:r>
              <a:rPr b="1" lang="en-US" sz="2500">
                <a:solidFill>
                  <a:schemeClr val="dk2"/>
                </a:solidFill>
                <a:highlight>
                  <a:schemeClr val="lt1"/>
                </a:highlight>
                <a:latin typeface="Playfair Display"/>
                <a:ea typeface="Playfair Display"/>
                <a:cs typeface="Playfair Display"/>
                <a:sym typeface="Playfair Display"/>
              </a:rPr>
              <a:t>Software Engineering and Programming Languages.</a:t>
            </a:r>
            <a:r>
              <a:rPr b="1" lang="en-US" sz="2500">
                <a:solidFill>
                  <a:schemeClr val="dk2"/>
                </a:solidFill>
              </a:rPr>
              <a:t> </a:t>
            </a:r>
            <a:endParaRPr b="1" sz="25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66" name="Google Shape;66;p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7" name="Google Shape;67;p9"/>
          <p:cNvSpPr txBox="1"/>
          <p:nvPr/>
        </p:nvSpPr>
        <p:spPr>
          <a:xfrm>
            <a:off x="640075" y="5267300"/>
            <a:ext cx="9547200" cy="745200"/>
          </a:xfrm>
          <a:prstGeom prst="rect">
            <a:avLst/>
          </a:prstGeom>
          <a:noFill/>
          <a:ln>
            <a:noFill/>
          </a:ln>
        </p:spPr>
        <p:txBody>
          <a:bodyPr anchorCtr="0" anchor="t" bIns="0" lIns="0" spcFirstLastPara="1" rIns="0" wrap="square" tIns="0">
            <a:noAutofit/>
          </a:bodyPr>
          <a:lstStyle/>
          <a:p>
            <a:pPr indent="0" lvl="0" marL="0" rtl="0" algn="l">
              <a:spcBef>
                <a:spcPts val="1000"/>
              </a:spcBef>
              <a:spcAft>
                <a:spcPts val="0"/>
              </a:spcAft>
              <a:buNone/>
            </a:pPr>
            <a:r>
              <a:rPr b="1" lang="en-US" sz="1800">
                <a:solidFill>
                  <a:schemeClr val="dk2"/>
                </a:solidFill>
              </a:rPr>
              <a:t>Question:</a:t>
            </a:r>
            <a:r>
              <a:rPr lang="en-US" sz="1800">
                <a:solidFill>
                  <a:srgbClr val="1A1A1A"/>
                </a:solidFill>
              </a:rPr>
              <a:t> Since computer science, data science, and empirical software engineering overlap so heavily with statistics, how can a reviewer or author know what a Call for Artifacts actually expects when these words are used without a glossary? </a:t>
            </a:r>
            <a:endParaRPr sz="1800">
              <a:solidFill>
                <a:srgbClr val="1A1A1A"/>
              </a:solidFill>
            </a:endParaRPr>
          </a:p>
        </p:txBody>
      </p:sp>
      <p:graphicFrame>
        <p:nvGraphicFramePr>
          <p:cNvPr id="68" name="Google Shape;68;p9"/>
          <p:cNvGraphicFramePr/>
          <p:nvPr/>
        </p:nvGraphicFramePr>
        <p:xfrm>
          <a:off x="606867" y="1214192"/>
          <a:ext cx="3000000" cy="3000000"/>
        </p:xfrm>
        <a:graphic>
          <a:graphicData uri="http://schemas.openxmlformats.org/drawingml/2006/table">
            <a:tbl>
              <a:tblPr>
                <a:noFill/>
                <a:tableStyleId>{945C218A-C812-41D7-858A-F7E590C31D0C}</a:tableStyleId>
              </a:tblPr>
              <a:tblGrid>
                <a:gridCol w="2195600"/>
                <a:gridCol w="2195600"/>
                <a:gridCol w="2195600"/>
                <a:gridCol w="2195600"/>
                <a:gridCol w="2195600"/>
              </a:tblGrid>
              <a:tr h="734400">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Term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Who Performs it?</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Experimental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None/>
                      </a:pPr>
                      <a:r>
                        <a:rPr b="1" lang="en-US" sz="2000">
                          <a:solidFill>
                            <a:srgbClr val="FFFFFF"/>
                          </a:solidFill>
                        </a:rPr>
                        <a:t>ACM Guideline Role </a:t>
                      </a:r>
                      <a:endParaRPr b="1" sz="2000">
                        <a:solidFill>
                          <a:srgbClr val="FFFFFF"/>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None/>
                      </a:pPr>
                      <a:r>
                        <a:rPr b="1" lang="en-US" sz="2000">
                          <a:solidFill>
                            <a:srgbClr val="FFFFFF"/>
                          </a:solidFill>
                        </a:rPr>
                        <a:t>ASA Definition Clash </a:t>
                      </a:r>
                      <a:endParaRPr b="1" sz="2000">
                        <a:solidFill>
                          <a:srgbClr val="FFFFFF"/>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810400">
                <a:tc>
                  <a:txBody>
                    <a:bodyPr/>
                    <a:lstStyle/>
                    <a:p>
                      <a:pPr indent="0" lvl="0" marL="0" rtl="0" algn="l">
                        <a:spcBef>
                          <a:spcPts val="0"/>
                        </a:spcBef>
                        <a:spcAft>
                          <a:spcPts val="0"/>
                        </a:spcAft>
                        <a:buClr>
                          <a:schemeClr val="dk1"/>
                        </a:buClr>
                        <a:buSzPts val="2000"/>
                        <a:buFont typeface="Arial"/>
                        <a:buNone/>
                      </a:pPr>
                      <a:r>
                        <a:rPr b="1" lang="en-US" sz="2000">
                          <a:solidFill>
                            <a:schemeClr val="dk1"/>
                          </a:solidFill>
                        </a:rPr>
                        <a:t>Repeatability</a:t>
                      </a:r>
                      <a:endParaRPr b="1" sz="2000" u="none" cap="none" strike="noStrike"/>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Same Team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Same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Baseline requirement</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Same as ACM</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1122100">
                <a:tc>
                  <a:txBody>
                    <a:bodyPr/>
                    <a:lstStyle/>
                    <a:p>
                      <a:pPr indent="0" lvl="0" marL="0" rtl="0" algn="l">
                        <a:spcBef>
                          <a:spcPts val="0"/>
                        </a:spcBef>
                        <a:spcAft>
                          <a:spcPts val="0"/>
                        </a:spcAft>
                        <a:buClr>
                          <a:schemeClr val="dk1"/>
                        </a:buClr>
                        <a:buSzPts val="2000"/>
                        <a:buFont typeface="Arial"/>
                        <a:buNone/>
                      </a:pPr>
                      <a:r>
                        <a:rPr b="1" lang="en-US" sz="2000">
                          <a:solidFill>
                            <a:schemeClr val="dk1"/>
                          </a:solidFill>
                        </a:rPr>
                        <a:t>Replicability </a:t>
                      </a:r>
                      <a:endParaRPr b="1"/>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Different </a:t>
                      </a:r>
                      <a:r>
                        <a:rPr lang="en-US" sz="2000">
                          <a:solidFill>
                            <a:schemeClr val="dk1"/>
                          </a:solidFill>
                        </a:rPr>
                        <a:t>Team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Same Setup(authors Artifact)</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2000">
                          <a:solidFill>
                            <a:srgbClr val="1A1A1A"/>
                          </a:solidFill>
                        </a:rPr>
                        <a:t>Direct goal of Artifact Evaluation</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2000">
                          <a:solidFill>
                            <a:schemeClr val="dk1"/>
                          </a:solidFill>
                        </a:rPr>
                        <a:t>Called Reproducibility by ASA</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1122100">
                <a:tc>
                  <a:txBody>
                    <a:bodyPr/>
                    <a:lstStyle/>
                    <a:p>
                      <a:pPr indent="0" lvl="0" marL="0" marR="0" rtl="0" algn="l">
                        <a:spcBef>
                          <a:spcPts val="0"/>
                        </a:spcBef>
                        <a:spcAft>
                          <a:spcPts val="0"/>
                        </a:spcAft>
                        <a:buClr>
                          <a:srgbClr val="1A1A1A"/>
                        </a:buClr>
                        <a:buSzPts val="2000"/>
                        <a:buFont typeface="Arial"/>
                        <a:buNone/>
                      </a:pPr>
                      <a:r>
                        <a:rPr b="1" lang="en-US" sz="2000">
                          <a:solidFill>
                            <a:schemeClr val="dk1"/>
                          </a:solidFil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Different Team</a:t>
                      </a:r>
                      <a:endParaRPr sz="2000"/>
                    </a:p>
                    <a:p>
                      <a:pPr indent="0" lvl="0" marL="0" rtl="0" algn="l">
                        <a:spcBef>
                          <a:spcPts val="0"/>
                        </a:spcBef>
                        <a:spcAft>
                          <a:spcPts val="0"/>
                        </a:spcAft>
                        <a:buClr>
                          <a:schemeClr val="dk1"/>
                        </a:buClr>
                        <a:buSzPts val="2000"/>
                        <a:buFont typeface="Arial"/>
                        <a:buNone/>
                      </a:pPr>
                      <a:r>
                        <a:t/>
                      </a:r>
                      <a:endParaRPr sz="2000">
                        <a:solidFill>
                          <a:schemeClr val="dk1"/>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Different </a:t>
                      </a:r>
                      <a:r>
                        <a:rPr lang="en-US" sz="2000">
                          <a:solidFill>
                            <a:schemeClr val="dk1"/>
                          </a:solidFill>
                        </a:rPr>
                        <a:t>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long-term Goal</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Called Replication by ASA</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0"/>
          <p:cNvSpPr txBox="1"/>
          <p:nvPr/>
        </p:nvSpPr>
        <p:spPr>
          <a:xfrm>
            <a:off x="640080" y="396285"/>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75" name="Google Shape;75;p10"/>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RQ1 (Purpose):</a:t>
            </a:r>
            <a:r>
              <a:rPr lang="en-US" sz="2200">
                <a:solidFill>
                  <a:srgbClr val="1A1A1A"/>
                </a:solidFill>
              </a:rPr>
              <a:t> What is the perceived purpose of artifact evaluation in the software engineering and programming languages communities? </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RQ2 (Quality Criteria &amp; Expectations):</a:t>
            </a:r>
            <a:r>
              <a:rPr lang="en-US" sz="2200">
                <a:solidFill>
                  <a:srgbClr val="1A1A1A"/>
                </a:solidFill>
              </a:rPr>
              <a:t> What quality criteria and expectations do researchers have toward research artifacts (both as reviewers on an AEC and as users reusing artifacts across code, data, and proofs)? </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RQ3 (Community Differences):</a:t>
            </a:r>
            <a:r>
              <a:rPr lang="en-US" sz="2200">
                <a:solidFill>
                  <a:srgbClr val="1A1A1A"/>
                </a:solidFill>
              </a:rPr>
              <a:t> What is the magnitude of difference in the perception of purpose and expectations between the </a:t>
            </a:r>
            <a:r>
              <a:rPr lang="en-US" sz="2200">
                <a:solidFill>
                  <a:schemeClr val="dk1"/>
                </a:solidFill>
              </a:rPr>
              <a:t>software engineering and programming languages</a:t>
            </a:r>
            <a:r>
              <a:rPr lang="en-US" sz="2200">
                <a:solidFill>
                  <a:srgbClr val="1A1A1A"/>
                </a:solidFill>
              </a:rPr>
              <a:t> communities?</a:t>
            </a:r>
            <a:endParaRPr b="0" i="0" sz="2200" u="none" cap="none" strike="noStrike">
              <a:solidFill>
                <a:schemeClr val="dk1"/>
              </a:solidFill>
              <a:latin typeface="Arial"/>
              <a:ea typeface="Arial"/>
              <a:cs typeface="Arial"/>
              <a:sym typeface="Arial"/>
            </a:endParaRPr>
          </a:p>
          <a:p>
            <a:pPr indent="0" lvl="0" marL="457200" marR="0" rtl="0" algn="l">
              <a:spcBef>
                <a:spcPts val="1000"/>
              </a:spcBef>
              <a:spcAft>
                <a:spcPts val="0"/>
              </a:spcAft>
              <a:buNone/>
            </a:pPr>
            <a:r>
              <a:t/>
            </a:r>
            <a:endParaRPr b="1" sz="2200">
              <a:solidFill>
                <a:srgbClr val="1A1A1A"/>
              </a:solidFill>
            </a:endParaRPr>
          </a:p>
          <a:p>
            <a:pPr indent="0" lvl="0" marL="0" marR="0" rtl="0" algn="l">
              <a:spcBef>
                <a:spcPts val="1000"/>
              </a:spcBef>
              <a:spcAft>
                <a:spcPts val="0"/>
              </a:spcAft>
              <a:buNone/>
            </a:pPr>
            <a:r>
              <a:rPr b="1" lang="en-US" sz="1800">
                <a:solidFill>
                  <a:schemeClr val="dk2"/>
                </a:solidFill>
              </a:rPr>
              <a:t>Question:</a:t>
            </a:r>
            <a:r>
              <a:rPr b="1" lang="en-US" sz="1800">
                <a:solidFill>
                  <a:srgbClr val="1A1A1A"/>
                </a:solidFill>
              </a:rPr>
              <a:t> </a:t>
            </a:r>
            <a:r>
              <a:rPr lang="en-US" sz="1800">
                <a:solidFill>
                  <a:srgbClr val="1A1A1A"/>
                </a:solidFill>
              </a:rPr>
              <a:t>Do you think RQ1–RQ3 actually tackle the root problem of Artifact Evaluation, or is there a missing RQ4 that the authors should have added?</a:t>
            </a:r>
            <a:endParaRPr sz="1800">
              <a:solidFill>
                <a:srgbClr val="1A1A1A"/>
              </a:solidFill>
            </a:endParaRPr>
          </a:p>
        </p:txBody>
      </p:sp>
      <p:sp>
        <p:nvSpPr>
          <p:cNvPr id="76" name="Google Shape;76;p1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83" name="Google Shape;83;p1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84" name="Google Shape;84;p11"/>
          <p:cNvSpPr txBox="1"/>
          <p:nvPr/>
        </p:nvSpPr>
        <p:spPr>
          <a:xfrm>
            <a:off x="609600" y="4184779"/>
            <a:ext cx="8721600" cy="2297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US" sz="2000">
                <a:solidFill>
                  <a:schemeClr val="dk2"/>
                </a:solidFill>
              </a:rPr>
              <a:t>Questions: </a:t>
            </a:r>
            <a:endParaRPr b="1" sz="2000">
              <a:solidFill>
                <a:schemeClr val="dk2"/>
              </a:solidFill>
            </a:endParaRPr>
          </a:p>
          <a:p>
            <a:pPr indent="-355600" lvl="0" marL="457200" rtl="0" algn="l">
              <a:lnSpc>
                <a:spcPct val="115000"/>
              </a:lnSpc>
              <a:spcBef>
                <a:spcPts val="1200"/>
              </a:spcBef>
              <a:spcAft>
                <a:spcPts val="0"/>
              </a:spcAft>
              <a:buClr>
                <a:srgbClr val="1A1A1A"/>
              </a:buClr>
              <a:buSzPts val="2000"/>
              <a:buChar char="-"/>
            </a:pPr>
            <a:r>
              <a:rPr lang="en-US" sz="2000">
                <a:solidFill>
                  <a:srgbClr val="1A1A1A"/>
                </a:solidFill>
              </a:rPr>
              <a:t>Why was it so important for the authors to separate the 'Reviewer' role from the 'User' role when questioning the exact same researchers?</a:t>
            </a:r>
            <a:endParaRPr sz="2000">
              <a:solidFill>
                <a:srgbClr val="1A1A1A"/>
              </a:solidFill>
            </a:endParaRPr>
          </a:p>
          <a:p>
            <a:pPr indent="-355600" lvl="0" marL="457200" rtl="0" algn="l">
              <a:lnSpc>
                <a:spcPct val="115000"/>
              </a:lnSpc>
              <a:spcBef>
                <a:spcPts val="0"/>
              </a:spcBef>
              <a:spcAft>
                <a:spcPts val="0"/>
              </a:spcAft>
              <a:buClr>
                <a:srgbClr val="1A1A1A"/>
              </a:buClr>
              <a:buSzPts val="2000"/>
              <a:buChar char="-"/>
            </a:pPr>
            <a:r>
              <a:rPr lang="en-US" sz="2000">
                <a:solidFill>
                  <a:srgbClr val="1A1A1A"/>
                </a:solidFill>
              </a:rPr>
              <a:t>Why might a researcher hold completely different standards when grading an artifact for a badge versus trying to reuse it in their own work? </a:t>
            </a:r>
            <a:endParaRPr sz="2000">
              <a:solidFill>
                <a:srgbClr val="1A1A1A"/>
              </a:solidFill>
            </a:endParaRPr>
          </a:p>
        </p:txBody>
      </p:sp>
      <p:sp>
        <p:nvSpPr>
          <p:cNvPr id="85" name="Google Shape;85;p11"/>
          <p:cNvSpPr txBox="1"/>
          <p:nvPr/>
        </p:nvSpPr>
        <p:spPr>
          <a:xfrm>
            <a:off x="609600" y="2066925"/>
            <a:ext cx="4191000" cy="831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5400" u="none" cap="none" strike="noStrike">
                <a:solidFill>
                  <a:schemeClr val="dk2"/>
                </a:solidFill>
                <a:latin typeface="Playfair Display"/>
                <a:ea typeface="Playfair Display"/>
                <a:cs typeface="Playfair Display"/>
                <a:sym typeface="Playfair Display"/>
              </a:rPr>
              <a:t>79</a:t>
            </a:r>
            <a:endParaRPr>
              <a:solidFill>
                <a:schemeClr val="dk2"/>
              </a:solidFill>
            </a:endParaRPr>
          </a:p>
        </p:txBody>
      </p:sp>
      <p:sp>
        <p:nvSpPr>
          <p:cNvPr id="86" name="Google Shape;86;p11"/>
          <p:cNvSpPr txBox="1"/>
          <p:nvPr/>
        </p:nvSpPr>
        <p:spPr>
          <a:xfrm>
            <a:off x="609600" y="3057525"/>
            <a:ext cx="4191000" cy="21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25" u="none" cap="none" strike="noStrike">
                <a:solidFill>
                  <a:srgbClr val="18181B"/>
                </a:solidFill>
                <a:latin typeface="DM Sans"/>
                <a:ea typeface="DM Sans"/>
                <a:cs typeface="DM Sans"/>
                <a:sym typeface="DM Sans"/>
              </a:rPr>
              <a:t>Calls for Artifacts Analyzed</a:t>
            </a:r>
            <a:endParaRPr/>
          </a:p>
        </p:txBody>
      </p:sp>
      <p:sp>
        <p:nvSpPr>
          <p:cNvPr id="87" name="Google Shape;87;p11"/>
          <p:cNvSpPr txBox="1"/>
          <p:nvPr/>
        </p:nvSpPr>
        <p:spPr>
          <a:xfrm>
            <a:off x="609600" y="3333750"/>
            <a:ext cx="34482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52525B"/>
                </a:solidFill>
                <a:latin typeface="DM Sans"/>
                <a:ea typeface="DM Sans"/>
                <a:cs typeface="DM Sans"/>
                <a:sym typeface="DM Sans"/>
              </a:rPr>
              <a:t>Pre-study across SE and PL venues (2011–2019).</a:t>
            </a:r>
            <a:endParaRPr/>
          </a:p>
        </p:txBody>
      </p:sp>
      <p:sp>
        <p:nvSpPr>
          <p:cNvPr id="88" name="Google Shape;88;p11"/>
          <p:cNvSpPr txBox="1"/>
          <p:nvPr/>
        </p:nvSpPr>
        <p:spPr>
          <a:xfrm>
            <a:off x="4419600" y="2066925"/>
            <a:ext cx="4191000" cy="831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5400" u="none" cap="none" strike="noStrike">
                <a:solidFill>
                  <a:schemeClr val="dk2"/>
                </a:solidFill>
                <a:latin typeface="Playfair Display"/>
                <a:ea typeface="Playfair Display"/>
                <a:cs typeface="Playfair Display"/>
                <a:sym typeface="Playfair Display"/>
              </a:rPr>
              <a:t>255</a:t>
            </a:r>
            <a:endParaRPr>
              <a:solidFill>
                <a:schemeClr val="dk2"/>
              </a:solidFill>
            </a:endParaRPr>
          </a:p>
        </p:txBody>
      </p:sp>
      <p:sp>
        <p:nvSpPr>
          <p:cNvPr id="89" name="Google Shape;89;p11"/>
          <p:cNvSpPr txBox="1"/>
          <p:nvPr/>
        </p:nvSpPr>
        <p:spPr>
          <a:xfrm>
            <a:off x="4419600" y="3057525"/>
            <a:ext cx="4191000" cy="21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25" u="none" cap="none" strike="noStrike">
                <a:solidFill>
                  <a:srgbClr val="18181B"/>
                </a:solidFill>
                <a:latin typeface="DM Sans"/>
                <a:ea typeface="DM Sans"/>
                <a:cs typeface="DM Sans"/>
                <a:sym typeface="DM Sans"/>
              </a:rPr>
              <a:t>Valid AEC Survey Responses</a:t>
            </a:r>
            <a:endParaRPr/>
          </a:p>
        </p:txBody>
      </p:sp>
      <p:sp>
        <p:nvSpPr>
          <p:cNvPr id="90" name="Google Shape;90;p11"/>
          <p:cNvSpPr txBox="1"/>
          <p:nvPr/>
        </p:nvSpPr>
        <p:spPr>
          <a:xfrm>
            <a:off x="4419600" y="3333750"/>
            <a:ext cx="41910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52525B"/>
                </a:solidFill>
                <a:latin typeface="DM Sans"/>
                <a:ea typeface="DM Sans"/>
                <a:cs typeface="DM Sans"/>
                <a:sym typeface="DM Sans"/>
              </a:rPr>
              <a:t>1,034 invited; coded via open card sorting.</a:t>
            </a:r>
            <a:endParaRPr/>
          </a:p>
        </p:txBody>
      </p:sp>
      <p:sp>
        <p:nvSpPr>
          <p:cNvPr id="91" name="Google Shape;91;p11"/>
          <p:cNvSpPr txBox="1"/>
          <p:nvPr/>
        </p:nvSpPr>
        <p:spPr>
          <a:xfrm>
            <a:off x="8229600" y="2066925"/>
            <a:ext cx="3962400" cy="831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5400" u="none" cap="none" strike="noStrike">
                <a:solidFill>
                  <a:schemeClr val="dk2"/>
                </a:solidFill>
                <a:latin typeface="Playfair Display"/>
                <a:ea typeface="Playfair Display"/>
                <a:cs typeface="Playfair Display"/>
                <a:sym typeface="Playfair Display"/>
              </a:rPr>
              <a:t>30mi</a:t>
            </a:r>
            <a:r>
              <a:rPr b="1" lang="en-US" sz="5400">
                <a:solidFill>
                  <a:schemeClr val="dk2"/>
                </a:solidFill>
                <a:latin typeface="Playfair Display"/>
                <a:ea typeface="Playfair Display"/>
                <a:cs typeface="Playfair Display"/>
                <a:sym typeface="Playfair Display"/>
              </a:rPr>
              <a:t>n</a:t>
            </a:r>
            <a:endParaRPr>
              <a:solidFill>
                <a:schemeClr val="dk2"/>
              </a:solidFill>
            </a:endParaRPr>
          </a:p>
        </p:txBody>
      </p:sp>
      <p:sp>
        <p:nvSpPr>
          <p:cNvPr id="92" name="Google Shape;92;p11"/>
          <p:cNvSpPr txBox="1"/>
          <p:nvPr/>
        </p:nvSpPr>
        <p:spPr>
          <a:xfrm>
            <a:off x="8229600" y="3057525"/>
            <a:ext cx="3962400" cy="21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25" u="none" cap="none" strike="noStrike">
                <a:solidFill>
                  <a:srgbClr val="18181B"/>
                </a:solidFill>
                <a:latin typeface="DM Sans"/>
                <a:ea typeface="DM Sans"/>
                <a:cs typeface="DM Sans"/>
                <a:sym typeface="DM Sans"/>
              </a:rPr>
              <a:t>Only Explicit CfA Threshold</a:t>
            </a:r>
            <a:endParaRPr/>
          </a:p>
        </p:txBody>
      </p:sp>
      <p:sp>
        <p:nvSpPr>
          <p:cNvPr id="93" name="Google Shape;93;p11"/>
          <p:cNvSpPr txBox="1"/>
          <p:nvPr/>
        </p:nvSpPr>
        <p:spPr>
          <a:xfrm>
            <a:off x="8229600" y="3333750"/>
            <a:ext cx="39624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52525B"/>
                </a:solidFill>
                <a:latin typeface="DM Sans"/>
                <a:ea typeface="DM Sans"/>
                <a:cs typeface="DM Sans"/>
                <a:sym typeface="DM Sans"/>
              </a:rPr>
              <a:t>Maximum setup time stated in 10 calls.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100" name="Google Shape;100;p12"/>
          <p:cNvSpPr txBox="1"/>
          <p:nvPr/>
        </p:nvSpPr>
        <p:spPr>
          <a:xfrm>
            <a:off x="539055" y="4284790"/>
            <a:ext cx="10911600" cy="4755000"/>
          </a:xfrm>
          <a:prstGeom prst="rect">
            <a:avLst/>
          </a:prstGeom>
          <a:noFill/>
          <a:ln>
            <a:noFill/>
          </a:ln>
        </p:spPr>
        <p:txBody>
          <a:bodyPr anchorCtr="0" anchor="t" bIns="0" lIns="0" spcFirstLastPara="1" rIns="0" wrap="square" tIns="0">
            <a:noAutofit/>
          </a:bodyPr>
          <a:lstStyle/>
          <a:p>
            <a:pPr indent="0" lvl="0" marL="457200" marR="0" rtl="0" algn="l">
              <a:spcBef>
                <a:spcPts val="1000"/>
              </a:spcBef>
              <a:spcAft>
                <a:spcPts val="0"/>
              </a:spcAft>
              <a:buNone/>
            </a:pPr>
            <a:r>
              <a:rPr b="1" lang="en-US" sz="2200">
                <a:solidFill>
                  <a:schemeClr val="dk2"/>
                </a:solidFill>
              </a:rPr>
              <a:t>Question:</a:t>
            </a:r>
            <a:r>
              <a:rPr b="1" lang="en-US" sz="2200">
                <a:solidFill>
                  <a:srgbClr val="1A1A1A"/>
                </a:solidFill>
              </a:rPr>
              <a:t> </a:t>
            </a:r>
            <a:endParaRPr b="1" sz="2200">
              <a:solidFill>
                <a:srgbClr val="1A1A1A"/>
              </a:solidFill>
            </a:endParaRPr>
          </a:p>
          <a:p>
            <a:pPr indent="-368300" lvl="0" marL="457200" marR="0" rtl="0" algn="l">
              <a:spcBef>
                <a:spcPts val="1000"/>
              </a:spcBef>
              <a:spcAft>
                <a:spcPts val="0"/>
              </a:spcAft>
              <a:buClr>
                <a:srgbClr val="1A1A1A"/>
              </a:buClr>
              <a:buSzPts val="2200"/>
              <a:buChar char="-"/>
            </a:pPr>
            <a:r>
              <a:rPr lang="en-US" sz="2200">
                <a:solidFill>
                  <a:srgbClr val="1A1A1A"/>
                </a:solidFill>
              </a:rPr>
              <a:t>If real-world reuse is so low and badges aren't noticeably improving quality, is the massive amount of volunteer time spent on AECs actually worth it? </a:t>
            </a:r>
            <a:endParaRPr sz="2200">
              <a:solidFill>
                <a:srgbClr val="1A1A1A"/>
              </a:solidFill>
            </a:endParaRPr>
          </a:p>
          <a:p>
            <a:pPr indent="-368300" lvl="0" marL="457200" marR="0" rtl="0" algn="l">
              <a:spcBef>
                <a:spcPts val="0"/>
              </a:spcBef>
              <a:spcAft>
                <a:spcPts val="0"/>
              </a:spcAft>
              <a:buClr>
                <a:srgbClr val="1A1A1A"/>
              </a:buClr>
              <a:buSzPts val="2200"/>
              <a:buChar char="-"/>
            </a:pPr>
            <a:r>
              <a:rPr lang="en-US" sz="2200">
                <a:solidFill>
                  <a:srgbClr val="1A1A1A"/>
                </a:solidFill>
              </a:rPr>
              <a:t>How should we redefine 'success' for an artifact if the end-goal isn't just to prove it ran once for a reviewer, but to help someone else build on it? </a:t>
            </a:r>
            <a:endParaRPr b="0" i="0" sz="2200" u="none" cap="none" strike="noStrike">
              <a:solidFill>
                <a:schemeClr val="dk1"/>
              </a:solidFill>
              <a:latin typeface="Arial"/>
              <a:ea typeface="Arial"/>
              <a:cs typeface="Arial"/>
              <a:sym typeface="Arial"/>
            </a:endParaRPr>
          </a:p>
        </p:txBody>
      </p:sp>
      <p:sp>
        <p:nvSpPr>
          <p:cNvPr id="101" name="Google Shape;101;p1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pic>
        <p:nvPicPr>
          <p:cNvPr id="102" name="Google Shape;102;p12"/>
          <p:cNvPicPr preferRelativeResize="0"/>
          <p:nvPr/>
        </p:nvPicPr>
        <p:blipFill>
          <a:blip r:embed="rId3">
            <a:alphaModFix/>
          </a:blip>
          <a:stretch>
            <a:fillRect/>
          </a:stretch>
        </p:blipFill>
        <p:spPr>
          <a:xfrm>
            <a:off x="539050" y="1236274"/>
            <a:ext cx="9988784" cy="30485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109" name="Google Shape;109;p13"/>
          <p:cNvSpPr txBox="1"/>
          <p:nvPr/>
        </p:nvSpPr>
        <p:spPr>
          <a:xfrm>
            <a:off x="690953" y="1609725"/>
            <a:ext cx="5215500" cy="475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250">
                <a:solidFill>
                  <a:schemeClr val="dk2"/>
                </a:solidFill>
              </a:rPr>
              <a:t>Validity Threats &amp; Implications:</a:t>
            </a:r>
            <a:endParaRPr b="1" sz="2250">
              <a:solidFill>
                <a:schemeClr val="dk2"/>
              </a:solidFill>
            </a:endParaRPr>
          </a:p>
          <a:p>
            <a:pPr indent="0" lvl="0" marL="0" rtl="0" algn="l">
              <a:spcBef>
                <a:spcPts val="0"/>
              </a:spcBef>
              <a:spcAft>
                <a:spcPts val="0"/>
              </a:spcAft>
              <a:buNone/>
            </a:pPr>
            <a:r>
              <a:t/>
            </a:r>
            <a:endParaRPr b="1" sz="2250">
              <a:solidFill>
                <a:schemeClr val="dk2"/>
              </a:solidFill>
            </a:endParaRPr>
          </a:p>
          <a:p>
            <a:pPr indent="0" lvl="0" marL="0" rtl="0" algn="l">
              <a:spcBef>
                <a:spcPts val="0"/>
              </a:spcBef>
              <a:spcAft>
                <a:spcPts val="0"/>
              </a:spcAft>
              <a:buNone/>
            </a:pPr>
            <a:r>
              <a:rPr b="1" lang="en-US" sz="1800">
                <a:solidFill>
                  <a:schemeClr val="dk1"/>
                </a:solidFill>
              </a:rPr>
              <a:t>Selection Bias: </a:t>
            </a:r>
            <a:r>
              <a:rPr lang="en-US" sz="1800">
                <a:solidFill>
                  <a:schemeClr val="dk1"/>
                </a:solidFill>
              </a:rPr>
              <a:t>Surveyed AEC insiders rather than external readers.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US" sz="1800">
                <a:solidFill>
                  <a:schemeClr val="dk1"/>
                </a:solidFill>
              </a:rPr>
              <a:t>Experience Gap:</a:t>
            </a:r>
            <a:r>
              <a:rPr lang="en-US" sz="1800">
                <a:solidFill>
                  <a:schemeClr val="dk1"/>
                </a:solidFill>
              </a:rPr>
              <a:t> 34% of reviewers never submitted an artifact.</a:t>
            </a:r>
            <a:endParaRPr sz="1800">
              <a:solidFill>
                <a:schemeClr val="dk1"/>
              </a:solidFill>
            </a:endParaRPr>
          </a:p>
          <a:p>
            <a:pPr indent="0" lvl="0" marL="0" rtl="0" algn="l">
              <a:spcBef>
                <a:spcPts val="0"/>
              </a:spcBef>
              <a:spcAft>
                <a:spcPts val="0"/>
              </a:spcAft>
              <a:buClr>
                <a:srgbClr val="000000"/>
              </a:buClr>
              <a:buFont typeface="Arial"/>
              <a:buNone/>
            </a:pPr>
            <a:r>
              <a:t/>
            </a:r>
            <a:endParaRPr b="1" sz="2250">
              <a:solidFill>
                <a:schemeClr val="dk2"/>
              </a:solidFill>
              <a:latin typeface="DM Sans"/>
              <a:ea typeface="DM Sans"/>
              <a:cs typeface="DM Sans"/>
              <a:sym typeface="DM Sans"/>
            </a:endParaRPr>
          </a:p>
          <a:p>
            <a:pPr indent="0" lvl="0" marL="457200" marR="0" rtl="0" algn="l">
              <a:spcBef>
                <a:spcPts val="1000"/>
              </a:spcBef>
              <a:spcAft>
                <a:spcPts val="0"/>
              </a:spcAft>
              <a:buNone/>
            </a:pPr>
            <a:r>
              <a:t/>
            </a:r>
            <a:endParaRPr sz="2200">
              <a:solidFill>
                <a:srgbClr val="1A1A1A"/>
              </a:solidFill>
            </a:endParaRPr>
          </a:p>
        </p:txBody>
      </p:sp>
      <p:sp>
        <p:nvSpPr>
          <p:cNvPr id="110" name="Google Shape;110;p1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11" name="Google Shape;111;p13"/>
          <p:cNvSpPr/>
          <p:nvPr/>
        </p:nvSpPr>
        <p:spPr>
          <a:xfrm>
            <a:off x="5855642" y="1609725"/>
            <a:ext cx="9600" cy="3619500"/>
          </a:xfrm>
          <a:prstGeom prst="rect">
            <a:avLst/>
          </a:prstGeom>
          <a:solidFill>
            <a:srgbClr val="3F3F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2"/>
              </a:solidFill>
              <a:latin typeface="Calibri"/>
              <a:ea typeface="Calibri"/>
              <a:cs typeface="Calibri"/>
              <a:sym typeface="Calibri"/>
            </a:endParaRPr>
          </a:p>
        </p:txBody>
      </p:sp>
      <p:sp>
        <p:nvSpPr>
          <p:cNvPr id="112" name="Google Shape;112;p13"/>
          <p:cNvSpPr txBox="1"/>
          <p:nvPr/>
        </p:nvSpPr>
        <p:spPr>
          <a:xfrm>
            <a:off x="6196625" y="1508413"/>
            <a:ext cx="5738700" cy="46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chemeClr val="dk2"/>
                </a:solidFill>
              </a:rPr>
              <a:t>Question:</a:t>
            </a:r>
            <a:endParaRPr b="1" sz="2200">
              <a:solidFill>
                <a:schemeClr val="dk2"/>
              </a:solidFill>
            </a:endParaRPr>
          </a:p>
          <a:p>
            <a:pPr indent="0" lvl="0" marL="0" rtl="0" algn="l">
              <a:spcBef>
                <a:spcPts val="0"/>
              </a:spcBef>
              <a:spcAft>
                <a:spcPts val="0"/>
              </a:spcAft>
              <a:buNone/>
            </a:pPr>
            <a:r>
              <a:t/>
            </a:r>
            <a:endParaRPr b="1" sz="2200">
              <a:solidFill>
                <a:schemeClr val="dk2"/>
              </a:solidFill>
            </a:endParaRPr>
          </a:p>
          <a:p>
            <a:pPr indent="0" lvl="0" marL="0" rtl="0" algn="l">
              <a:spcBef>
                <a:spcPts val="0"/>
              </a:spcBef>
              <a:spcAft>
                <a:spcPts val="0"/>
              </a:spcAft>
              <a:buNone/>
            </a:pPr>
            <a:r>
              <a:rPr b="1" lang="en-US" sz="1800">
                <a:solidFill>
                  <a:schemeClr val="dk1"/>
                </a:solidFill>
              </a:rPr>
              <a:t>Selection Bias Trade-off:</a:t>
            </a:r>
            <a:r>
              <a:rPr lang="en-US" sz="1800">
                <a:solidFill>
                  <a:schemeClr val="dk1"/>
                </a:solidFill>
              </a:rPr>
              <a:t> The authors chose surveying only AEC insiders over the risk of outsiders misunderstanding questions, does excluding non-submitters invalidate their claim of capturing "community expectations"?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US" sz="1800">
                <a:solidFill>
                  <a:schemeClr val="dk1"/>
                </a:solidFill>
              </a:rPr>
              <a:t>The "Expert" Problem:</a:t>
            </a:r>
            <a:r>
              <a:rPr lang="en-US" sz="1800">
                <a:solidFill>
                  <a:schemeClr val="dk1"/>
                </a:solidFill>
              </a:rPr>
              <a:t> Since 34% of surveyed AEC members have never submitted an artifact and ~70% have never reused one, does relying on theoretical rather than practical views undermine the survey's validity?</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119" name="Google Shape;119;p1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20" name="Google Shape;120;p14"/>
          <p:cNvSpPr txBox="1"/>
          <p:nvPr/>
        </p:nvSpPr>
        <p:spPr>
          <a:xfrm>
            <a:off x="640075" y="1475375"/>
            <a:ext cx="10769100" cy="4722300"/>
          </a:xfrm>
          <a:prstGeom prst="rect">
            <a:avLst/>
          </a:prstGeom>
          <a:noFill/>
          <a:ln>
            <a:noFill/>
          </a:ln>
        </p:spPr>
        <p:txBody>
          <a:bodyPr anchorCtr="0" anchor="t" bIns="0" lIns="0" spcFirstLastPara="1" rIns="0" wrap="square" tIns="0">
            <a:noAutofit/>
          </a:bodyPr>
          <a:lstStyle/>
          <a:p>
            <a:pPr indent="0" lvl="0" marL="0" marR="0" rtl="0" algn="l">
              <a:spcBef>
                <a:spcPts val="1000"/>
              </a:spcBef>
              <a:spcAft>
                <a:spcPts val="0"/>
              </a:spcAft>
              <a:buNone/>
            </a:pPr>
            <a:r>
              <a:t/>
            </a:r>
            <a:endParaRPr sz="2200">
              <a:solidFill>
                <a:srgbClr val="1A1A1A"/>
              </a:solidFill>
            </a:endParaRPr>
          </a:p>
          <a:p>
            <a:pPr indent="0" lvl="0" marL="0" marR="0" rtl="0" algn="l">
              <a:spcBef>
                <a:spcPts val="1000"/>
              </a:spcBef>
              <a:spcAft>
                <a:spcPts val="0"/>
              </a:spcAft>
              <a:buNone/>
            </a:pPr>
            <a:r>
              <a:rPr lang="en-US" sz="2200">
                <a:solidFill>
                  <a:srgbClr val="1A1A1A"/>
                </a:solidFill>
              </a:rPr>
              <a:t>The Paper shows that evaluators expect artifacts to be functional, well-documented, and reusable, and suggest clearer conference guidelines will help achieve this. Put yourself in the shoes of a </a:t>
            </a:r>
            <a:r>
              <a:rPr b="1" lang="en-US" sz="2200">
                <a:solidFill>
                  <a:schemeClr val="dk2"/>
                </a:solidFill>
              </a:rPr>
              <a:t>stressed PhD(Master) student</a:t>
            </a:r>
            <a:r>
              <a:rPr lang="en-US" sz="2200">
                <a:solidFill>
                  <a:srgbClr val="1A1A1A"/>
                </a:solidFill>
              </a:rPr>
              <a:t> a week before a deadline:</a:t>
            </a:r>
            <a:endParaRPr sz="2200">
              <a:solidFill>
                <a:srgbClr val="1A1A1A"/>
              </a:solidFill>
            </a:endParaRPr>
          </a:p>
          <a:p>
            <a:pPr indent="0" lvl="0" marL="0" marR="0" rtl="0" algn="l">
              <a:spcBef>
                <a:spcPts val="1000"/>
              </a:spcBef>
              <a:spcAft>
                <a:spcPts val="0"/>
              </a:spcAft>
              <a:buNone/>
            </a:pPr>
            <a:r>
              <a:rPr lang="en-US" sz="2200">
                <a:solidFill>
                  <a:srgbClr val="1A1A1A"/>
                </a:solidFill>
              </a:rPr>
              <a:t>If a conference writes the most perfectly standardized Call-for-Artifacts in history, will that actually result in you submitting better code? </a:t>
            </a:r>
            <a:r>
              <a:rPr b="1" lang="en-US" sz="2200">
                <a:solidFill>
                  <a:schemeClr val="dk2"/>
                </a:solidFill>
              </a:rPr>
              <a:t>Why or why not?</a:t>
            </a:r>
            <a:endParaRPr b="1" i="0" sz="2200" u="none" cap="none" strike="noStrike">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5"/>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2</a:t>
            </a:r>
            <a:endParaRPr b="0" i="0" sz="4800" u="none" cap="none" strike="noStrike">
              <a:solidFill>
                <a:schemeClr val="dk1"/>
              </a:solidFill>
              <a:latin typeface="Arial"/>
              <a:ea typeface="Arial"/>
              <a:cs typeface="Arial"/>
              <a:sym typeface="Arial"/>
            </a:endParaRPr>
          </a:p>
        </p:txBody>
      </p:sp>
      <p:sp>
        <p:nvSpPr>
          <p:cNvPr id="127" name="Google Shape;127;p15"/>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Timperley, Herckis, Le Goues &amp; Hilton (2021): Understanding and improving artifact sharing in software engineering research · EMSE 26:67</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134" name="Google Shape;134;p1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5" name="Google Shape;135;p16"/>
          <p:cNvSpPr txBox="1"/>
          <p:nvPr/>
        </p:nvSpPr>
        <p:spPr>
          <a:xfrm>
            <a:off x="640080" y="1600200"/>
            <a:ext cx="3017400" cy="217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883A"/>
                </a:solidFill>
                <a:latin typeface="Arial"/>
                <a:ea typeface="Arial"/>
                <a:cs typeface="Arial"/>
                <a:sym typeface="Arial"/>
              </a:rPr>
              <a:t>Why is making good artifacts hard?</a:t>
            </a:r>
            <a:endParaRPr/>
          </a:p>
          <a:p>
            <a:pPr indent="0" lvl="0" marL="0" marR="0" rtl="0" algn="l">
              <a:lnSpc>
                <a:spcPct val="100000"/>
              </a:lnSpc>
              <a:spcBef>
                <a:spcPts val="1800"/>
              </a:spcBef>
              <a:spcAft>
                <a:spcPts val="0"/>
              </a:spcAft>
              <a:buNone/>
            </a:pPr>
            <a:r>
              <a:rPr b="1" i="0" lang="en-US" sz="2400" u="none" cap="none" strike="noStrike">
                <a:solidFill>
                  <a:srgbClr val="00883A"/>
                </a:solidFill>
                <a:latin typeface="Arial"/>
                <a:ea typeface="Arial"/>
                <a:cs typeface="Arial"/>
                <a:sym typeface="Arial"/>
              </a:rPr>
              <a:t>Potential solutions to this?</a:t>
            </a:r>
            <a:endParaRPr/>
          </a:p>
        </p:txBody>
      </p:sp>
      <p:sp>
        <p:nvSpPr>
          <p:cNvPr id="136" name="Google Shape;136;p16"/>
          <p:cNvSpPr txBox="1"/>
          <p:nvPr/>
        </p:nvSpPr>
        <p:spPr>
          <a:xfrm>
            <a:off x="3968496" y="1463040"/>
            <a:ext cx="7589400" cy="392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900" u="none" cap="none" strike="noStrike">
                <a:solidFill>
                  <a:srgbClr val="1A1A1A"/>
                </a:solidFill>
                <a:latin typeface="Arial"/>
                <a:ea typeface="Arial"/>
                <a:cs typeface="Arial"/>
                <a:sym typeface="Arial"/>
              </a:rPr>
              <a:t>Problem: </a:t>
            </a:r>
            <a:r>
              <a:rPr b="0" i="0" lang="en-US" sz="1900" u="none" cap="none" strike="noStrike">
                <a:solidFill>
                  <a:srgbClr val="1A1A1A"/>
                </a:solidFill>
                <a:latin typeface="Arial"/>
                <a:ea typeface="Arial"/>
                <a:cs typeface="Arial"/>
                <a:sym typeface="Arial"/>
              </a:rPr>
              <a:t>artifacts (tools, benchmarks, data) should back claims and enable future research, but in practice fall short</a:t>
            </a:r>
            <a:endParaRPr/>
          </a:p>
          <a:p>
            <a:pPr indent="0" lvl="0" marL="0" marR="0" rtl="0" algn="l">
              <a:lnSpc>
                <a:spcPct val="100000"/>
              </a:lnSpc>
              <a:spcBef>
                <a:spcPts val="1200"/>
              </a:spcBef>
              <a:spcAft>
                <a:spcPts val="0"/>
              </a:spcAft>
              <a:buNone/>
            </a:pPr>
            <a:r>
              <a:rPr b="1" i="0" lang="en-US" sz="1900" u="none" cap="none" strike="noStrike">
                <a:solidFill>
                  <a:srgbClr val="1A1A1A"/>
                </a:solidFill>
                <a:latin typeface="Arial"/>
                <a:ea typeface="Arial"/>
                <a:cs typeface="Arial"/>
                <a:sym typeface="Arial"/>
              </a:rPr>
              <a:t>Approach: </a:t>
            </a:r>
            <a:r>
              <a:rPr b="0" i="0" lang="en-US" sz="1900" u="none" cap="none" strike="noStrike">
                <a:solidFill>
                  <a:srgbClr val="1A1A1A"/>
                </a:solidFill>
                <a:latin typeface="Arial"/>
                <a:ea typeface="Arial"/>
                <a:cs typeface="Arial"/>
                <a:sym typeface="Arial"/>
              </a:rPr>
              <a:t>mixed methods: survey of artifacts in top SE publications + online survey of SE researchers; creator, user and reviewer views</a:t>
            </a:r>
            <a:endParaRPr/>
          </a:p>
          <a:p>
            <a:pPr indent="0" lvl="0" marL="0" marR="0" rtl="0" algn="l">
              <a:lnSpc>
                <a:spcPct val="100000"/>
              </a:lnSpc>
              <a:spcBef>
                <a:spcPts val="1200"/>
              </a:spcBef>
              <a:spcAft>
                <a:spcPts val="0"/>
              </a:spcAft>
              <a:buNone/>
            </a:pPr>
            <a:r>
              <a:rPr b="1" i="0" lang="en-US" sz="1900" u="none" cap="none" strike="noStrike">
                <a:solidFill>
                  <a:srgbClr val="1A1A1A"/>
                </a:solidFill>
                <a:latin typeface="Arial"/>
                <a:ea typeface="Arial"/>
                <a:cs typeface="Arial"/>
                <a:sym typeface="Arial"/>
              </a:rPr>
              <a:t>Findings: </a:t>
            </a:r>
            <a:r>
              <a:rPr b="0" i="0" lang="en-US" sz="1900" u="none" cap="none" strike="noStrike">
                <a:solidFill>
                  <a:srgbClr val="1A1A1A"/>
                </a:solidFill>
                <a:latin typeface="Arial"/>
                <a:ea typeface="Arial"/>
                <a:cs typeface="Arial"/>
                <a:sym typeface="Arial"/>
              </a:rPr>
              <a:t>sharing is valued and widespread, but 12 challenges stand in the way; key issues are mismatched expectations and too little reward for creators and reviewers</a:t>
            </a:r>
            <a:endParaRPr/>
          </a:p>
          <a:p>
            <a:pPr indent="0" lvl="0" marL="0" marR="0" rtl="0" algn="l">
              <a:lnSpc>
                <a:spcPct val="100000"/>
              </a:lnSpc>
              <a:spcBef>
                <a:spcPts val="1200"/>
              </a:spcBef>
              <a:spcAft>
                <a:spcPts val="0"/>
              </a:spcAft>
              <a:buNone/>
            </a:pPr>
            <a:r>
              <a:rPr b="1" i="0" lang="en-US" sz="1900" u="none" cap="none" strike="noStrike">
                <a:solidFill>
                  <a:srgbClr val="1A1A1A"/>
                </a:solidFill>
                <a:latin typeface="Arial"/>
                <a:ea typeface="Arial"/>
                <a:cs typeface="Arial"/>
                <a:sym typeface="Arial"/>
              </a:rPr>
              <a:t>Analysis: </a:t>
            </a:r>
            <a:r>
              <a:rPr b="0" i="0" lang="en-US" sz="1900" u="none" cap="none" strike="noStrike">
                <a:solidFill>
                  <a:srgbClr val="1A1A1A"/>
                </a:solidFill>
                <a:latin typeface="Arial"/>
                <a:ea typeface="Arial"/>
                <a:cs typeface="Arial"/>
                <a:sym typeface="Arial"/>
              </a:rPr>
              <a:t>Diffusion of Innovations links the challenges via communication, time and the social system</a:t>
            </a:r>
            <a:endParaRPr/>
          </a:p>
          <a:p>
            <a:pPr indent="0" lvl="0" marL="0" marR="0" rtl="0" algn="l">
              <a:lnSpc>
                <a:spcPct val="100000"/>
              </a:lnSpc>
              <a:spcBef>
                <a:spcPts val="1200"/>
              </a:spcBef>
              <a:spcAft>
                <a:spcPts val="0"/>
              </a:spcAft>
              <a:buNone/>
            </a:pPr>
            <a:r>
              <a:rPr b="1" i="0" lang="en-US" sz="1900" u="none" cap="none" strike="noStrike">
                <a:solidFill>
                  <a:srgbClr val="1A1A1A"/>
                </a:solidFill>
                <a:latin typeface="Arial"/>
                <a:ea typeface="Arial"/>
                <a:cs typeface="Arial"/>
                <a:sym typeface="Arial"/>
              </a:rPr>
              <a:t>Solutions: </a:t>
            </a:r>
            <a:r>
              <a:rPr b="0" i="0" lang="en-US" sz="1900" u="none" cap="none" strike="noStrike">
                <a:solidFill>
                  <a:srgbClr val="1A1A1A"/>
                </a:solidFill>
                <a:latin typeface="Arial"/>
                <a:ea typeface="Arial"/>
                <a:cs typeface="Arial"/>
                <a:sym typeface="Arial"/>
              </a:rPr>
              <a:t>8 recommendations for creators, reviewers, organisers and community leaders; AECs are well placed to raise artifact quality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143" name="Google Shape;143;p1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44" name="Google Shape;144;p17"/>
          <p:cNvSpPr/>
          <p:nvPr/>
        </p:nvSpPr>
        <p:spPr>
          <a:xfrm>
            <a:off x="640080" y="1463040"/>
            <a:ext cx="10908900" cy="1051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5" name="Google Shape;145;p17"/>
          <p:cNvSpPr txBox="1"/>
          <p:nvPr/>
        </p:nvSpPr>
        <p:spPr>
          <a:xfrm>
            <a:off x="822960" y="1554480"/>
            <a:ext cx="27432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Artifact (this paper)</a:t>
            </a:r>
            <a:endParaRPr/>
          </a:p>
        </p:txBody>
      </p:sp>
      <p:sp>
        <p:nvSpPr>
          <p:cNvPr id="146" name="Google Shape;146;p17"/>
          <p:cNvSpPr txBox="1"/>
          <p:nvPr/>
        </p:nvSpPr>
        <p:spPr>
          <a:xfrm>
            <a:off x="3566160" y="1554480"/>
            <a:ext cx="78639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any external material linked from a paper: tools, code, data, replication packages, companion sites, survey instruments, proofs</a:t>
            </a:r>
            <a:endParaRPr/>
          </a:p>
        </p:txBody>
      </p:sp>
      <p:sp>
        <p:nvSpPr>
          <p:cNvPr id="147" name="Google Shape;147;p17"/>
          <p:cNvSpPr/>
          <p:nvPr/>
        </p:nvSpPr>
        <p:spPr>
          <a:xfrm>
            <a:off x="640080" y="2651760"/>
            <a:ext cx="10908900" cy="1051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8" name="Google Shape;148;p17"/>
          <p:cNvSpPr txBox="1"/>
          <p:nvPr/>
        </p:nvSpPr>
        <p:spPr>
          <a:xfrm>
            <a:off x="822960" y="2743200"/>
            <a:ext cx="27432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Artifact (ACM)</a:t>
            </a:r>
            <a:endParaRPr/>
          </a:p>
        </p:txBody>
      </p:sp>
      <p:sp>
        <p:nvSpPr>
          <p:cNvPr id="149" name="Google Shape;149;p17"/>
          <p:cNvSpPr txBox="1"/>
          <p:nvPr/>
        </p:nvSpPr>
        <p:spPr>
          <a:xfrm>
            <a:off x="3566160" y="2743200"/>
            <a:ext cx="7863900" cy="369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digital object created for the study or generated by it</a:t>
            </a:r>
            <a:endParaRPr/>
          </a:p>
        </p:txBody>
      </p:sp>
      <p:sp>
        <p:nvSpPr>
          <p:cNvPr id="150" name="Google Shape;150;p17"/>
          <p:cNvSpPr/>
          <p:nvPr/>
        </p:nvSpPr>
        <p:spPr>
          <a:xfrm>
            <a:off x="640080" y="3840480"/>
            <a:ext cx="10908900" cy="1051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1" name="Google Shape;151;p17"/>
          <p:cNvSpPr txBox="1"/>
          <p:nvPr/>
        </p:nvSpPr>
        <p:spPr>
          <a:xfrm>
            <a:off x="822960" y="3931920"/>
            <a:ext cx="27432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AEC</a:t>
            </a:r>
            <a:endParaRPr/>
          </a:p>
        </p:txBody>
      </p:sp>
      <p:sp>
        <p:nvSpPr>
          <p:cNvPr id="152" name="Google Shape;152;p17"/>
          <p:cNvSpPr txBox="1"/>
          <p:nvPr/>
        </p:nvSpPr>
        <p:spPr>
          <a:xfrm>
            <a:off x="3566160" y="3931920"/>
            <a:ext cx="78639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Artifact Evaluation Committee: reviews artifacts of accepted papers; opt-in, after acceptance, cannot reject a paper</a:t>
            </a:r>
            <a:endParaRPr/>
          </a:p>
        </p:txBody>
      </p:sp>
      <p:sp>
        <p:nvSpPr>
          <p:cNvPr id="153" name="Google Shape;153;p17"/>
          <p:cNvSpPr/>
          <p:nvPr/>
        </p:nvSpPr>
        <p:spPr>
          <a:xfrm>
            <a:off x="640080" y="5029200"/>
            <a:ext cx="10908900" cy="1051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4" name="Google Shape;154;p17"/>
          <p:cNvSpPr txBox="1"/>
          <p:nvPr/>
        </p:nvSpPr>
        <p:spPr>
          <a:xfrm>
            <a:off x="822960" y="5120640"/>
            <a:ext cx="27432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ACM quality criteria</a:t>
            </a:r>
            <a:endParaRPr/>
          </a:p>
        </p:txBody>
      </p:sp>
      <p:sp>
        <p:nvSpPr>
          <p:cNvPr id="155" name="Google Shape;155;p17"/>
          <p:cNvSpPr txBox="1"/>
          <p:nvPr/>
        </p:nvSpPr>
        <p:spPr>
          <a:xfrm>
            <a:off x="3566160" y="5120640"/>
            <a:ext cx="78639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documented · consistent (supports main results) · complete (proprietary parts may be replaced by proxies) · exercisable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162" name="Google Shape;162;p1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63" name="Google Shape;163;p18"/>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ACM badges [1, 2]</a:t>
            </a:r>
            <a:endParaRPr/>
          </a:p>
        </p:txBody>
      </p:sp>
      <p:graphicFrame>
        <p:nvGraphicFramePr>
          <p:cNvPr id="164" name="Google Shape;164;p18"/>
          <p:cNvGraphicFramePr/>
          <p:nvPr/>
        </p:nvGraphicFramePr>
        <p:xfrm>
          <a:off x="640080" y="1554480"/>
          <a:ext cx="3000000" cy="3000000"/>
        </p:xfrm>
        <a:graphic>
          <a:graphicData uri="http://schemas.openxmlformats.org/drawingml/2006/table">
            <a:tbl>
              <a:tblPr bandRow="1" firstRow="1">
                <a:noFill/>
                <a:tableStyleId>{BA0399A1-FE9B-46BE-AC09-F5867CF7C7D4}</a:tableStyleId>
              </a:tblPr>
              <a:tblGrid>
                <a:gridCol w="2651750"/>
                <a:gridCol w="2926075"/>
                <a:gridCol w="5330950"/>
              </a:tblGrid>
              <a:tr h="457200">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Question</a:t>
                      </a:r>
                      <a:endParaRPr/>
                    </a:p>
                  </a:txBody>
                  <a:tcPr marT="45725" marB="45725" marR="91450" marL="91450">
                    <a:solidFill>
                      <a:srgbClr val="00883A"/>
                    </a:solidFill>
                  </a:tcPr>
                </a:tc>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Badge</a:t>
                      </a:r>
                      <a:endParaRPr/>
                    </a:p>
                  </a:txBody>
                  <a:tcPr marT="45725" marB="45725" marR="91450" marL="91450">
                    <a:solidFill>
                      <a:srgbClr val="00883A"/>
                    </a:solidFill>
                  </a:tcPr>
                </a:tc>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Required</a:t>
                      </a:r>
                      <a:endParaRPr/>
                    </a:p>
                  </a:txBody>
                  <a:tcPr marT="45725" marB="45725" marR="91450" marL="91450">
                    <a:solidFill>
                      <a:srgbClr val="00883A"/>
                    </a:solidFill>
                  </a:tcPr>
                </a:tc>
              </a:tr>
              <a:tr h="457200">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Does it work?</a:t>
                      </a:r>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1" lang="en-US" sz="1700" u="none" cap="none" strike="noStrike">
                          <a:solidFill>
                            <a:srgbClr val="1A1A1A"/>
                          </a:solidFill>
                          <a:latin typeface="Arial"/>
                          <a:ea typeface="Arial"/>
                          <a:cs typeface="Arial"/>
                          <a:sym typeface="Arial"/>
                        </a:rPr>
                        <a:t>Evaluated – Functional</a:t>
                      </a:r>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documented, consistent, complete, exercisable</a:t>
                      </a:r>
                      <a:endParaRPr/>
                    </a:p>
                  </a:txBody>
                  <a:tcPr marT="45725" marB="45725" marR="91450" marL="91450">
                    <a:solidFill>
                      <a:srgbClr val="F1F3F2"/>
                    </a:solidFill>
                  </a:tcPr>
                </a:tc>
              </a:tr>
              <a:tr h="457200">
                <a:tc>
                  <a:txBody>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None/>
                      </a:pPr>
                      <a:r>
                        <a:rPr b="1" lang="en-US" sz="1700" u="none" cap="none" strike="noStrike">
                          <a:solidFill>
                            <a:srgbClr val="1A1A1A"/>
                          </a:solidFill>
                          <a:latin typeface="Arial"/>
                          <a:ea typeface="Arial"/>
                          <a:cs typeface="Arial"/>
                          <a:sym typeface="Arial"/>
                        </a:rPr>
                        <a:t>Evaluated – Reusable</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Functional + well structured and documented for reuse</a:t>
                      </a:r>
                      <a:endParaRPr/>
                    </a:p>
                  </a:txBody>
                  <a:tcPr marT="45725" marB="45725" marR="91450" marL="91450">
                    <a:solidFill>
                      <a:srgbClr val="FFFFFF"/>
                    </a:solidFill>
                  </a:tcPr>
                </a:tc>
              </a:tr>
              <a:tr h="457200">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Permanently available?</a:t>
                      </a:r>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1" lang="en-US" sz="1700" u="none" cap="none" strike="noStrike">
                          <a:solidFill>
                            <a:srgbClr val="1A1A1A"/>
                          </a:solidFill>
                          <a:latin typeface="Arial"/>
                          <a:ea typeface="Arial"/>
                          <a:cs typeface="Arial"/>
                          <a:sym typeface="Arial"/>
                        </a:rPr>
                        <a:t>Available</a:t>
                      </a:r>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public archival repository with DOI (Zenodo, Software Heritage …); GitHub alone not enough; no evaluation</a:t>
                      </a:r>
                      <a:endParaRPr/>
                    </a:p>
                  </a:txBody>
                  <a:tcPr marT="45725" marB="45725" marR="91450" marL="91450">
                    <a:solidFill>
                      <a:srgbClr val="F1F3F2"/>
                    </a:solidFill>
                  </a:tcPr>
                </a:tc>
              </a:tr>
              <a:tr h="457200">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Results confirmed?</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None/>
                      </a:pPr>
                      <a:r>
                        <a:rPr b="1" lang="en-US" sz="1700" u="none" cap="none" strike="noStrike">
                          <a:solidFill>
                            <a:srgbClr val="1A1A1A"/>
                          </a:solidFill>
                          <a:latin typeface="Arial"/>
                          <a:ea typeface="Arial"/>
                          <a:cs typeface="Arial"/>
                          <a:sym typeface="Arial"/>
                        </a:rPr>
                        <a:t>Results Reproduced</a:t>
                      </a:r>
                      <a:endParaRPr/>
                    </a:p>
                  </a:txBody>
                  <a:tcPr marT="45725" marB="45725" marR="91450" marL="91450">
                    <a:solidFill>
                      <a:srgbClr val="FFFFFF"/>
                    </a:solidFill>
                  </a:tcPr>
                </a:tc>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other team gets main results with the authors’ artifacts</a:t>
                      </a:r>
                      <a:endParaRPr/>
                    </a:p>
                  </a:txBody>
                  <a:tcPr marT="45725" marB="45725" marR="91450" marL="91450">
                    <a:solidFill>
                      <a:srgbClr val="FFFFFF"/>
                    </a:solidFill>
                  </a:tcPr>
                </a:tc>
              </a:tr>
              <a:tr h="457200">
                <a:tc>
                  <a:txBody>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1" lang="en-US" sz="1700" u="none" cap="none" strike="noStrike">
                          <a:solidFill>
                            <a:srgbClr val="1A1A1A"/>
                          </a:solidFill>
                          <a:latin typeface="Arial"/>
                          <a:ea typeface="Arial"/>
                          <a:cs typeface="Arial"/>
                          <a:sym typeface="Arial"/>
                        </a:rPr>
                        <a:t>Results Replicated</a:t>
                      </a:r>
                      <a:endParaRPr/>
                    </a:p>
                  </a:txBody>
                  <a:tcPr marT="45725" marB="45725" marR="91450" marL="91450">
                    <a:solidFill>
                      <a:srgbClr val="F1F3F2"/>
                    </a:solidFill>
                  </a:tcPr>
                </a:tc>
                <a:tc>
                  <a:txBody>
                    <a:bodyPr/>
                    <a:lstStyle/>
                    <a:p>
                      <a:pPr indent="0" lvl="0" marL="0" marR="0" rtl="0" algn="l">
                        <a:lnSpc>
                          <a:spcPct val="100000"/>
                        </a:lnSpc>
                        <a:spcBef>
                          <a:spcPts val="0"/>
                        </a:spcBef>
                        <a:spcAft>
                          <a:spcPts val="0"/>
                        </a:spcAft>
                        <a:buNone/>
                      </a:pPr>
                      <a:r>
                        <a:rPr b="0" lang="en-US" sz="1700" u="none" cap="none" strike="noStrike">
                          <a:solidFill>
                            <a:srgbClr val="1A1A1A"/>
                          </a:solidFill>
                          <a:latin typeface="Arial"/>
                          <a:ea typeface="Arial"/>
                          <a:cs typeface="Arial"/>
                          <a:sym typeface="Arial"/>
                        </a:rPr>
                        <a:t>other team gets main results without them</a:t>
                      </a:r>
                      <a:endParaRPr/>
                    </a:p>
                  </a:txBody>
                  <a:tcPr marT="45725" marB="45725" marR="91450" marL="91450">
                    <a:solidFill>
                      <a:srgbClr val="F1F3F2"/>
                    </a:solidFill>
                  </a:tcPr>
                </a:tc>
              </a:tr>
            </a:tbl>
          </a:graphicData>
        </a:graphic>
      </p:graphicFrame>
      <p:sp>
        <p:nvSpPr>
          <p:cNvPr id="165" name="Google Shape;165;p18"/>
          <p:cNvSpPr txBox="1"/>
          <p:nvPr/>
        </p:nvSpPr>
        <p:spPr>
          <a:xfrm>
            <a:off x="640080" y="5029200"/>
            <a:ext cx="109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5F6368"/>
                </a:solidFill>
                <a:latin typeface="Arial"/>
                <a:ea typeface="Arial"/>
                <a:cs typeface="Arial"/>
                <a:sym typeface="Arial"/>
              </a:rPr>
              <a:t>ACM only defines the badges; each conference’s AEC sets its own concrete rules [1, 3].</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172" name="Google Shape;172;p1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73" name="Google Shape;173;p19"/>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Diffusion of Innovations (DoI): how new ideas and practices spread</a:t>
            </a:r>
            <a:endParaRPr/>
          </a:p>
        </p:txBody>
      </p:sp>
      <p:sp>
        <p:nvSpPr>
          <p:cNvPr id="174" name="Google Shape;174;p19"/>
          <p:cNvSpPr/>
          <p:nvPr/>
        </p:nvSpPr>
        <p:spPr>
          <a:xfrm>
            <a:off x="640080" y="1645920"/>
            <a:ext cx="2587800" cy="21945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5" name="Google Shape;175;p19"/>
          <p:cNvSpPr txBox="1"/>
          <p:nvPr/>
        </p:nvSpPr>
        <p:spPr>
          <a:xfrm>
            <a:off x="777240" y="1783080"/>
            <a:ext cx="2313300" cy="79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Innovation</a:t>
            </a:r>
            <a:endParaRPr/>
          </a:p>
          <a:p>
            <a:pPr indent="0" lvl="0" marL="0" marR="0" rtl="0" algn="l">
              <a:lnSpc>
                <a:spcPct val="100000"/>
              </a:lnSpc>
              <a:spcBef>
                <a:spcPts val="1000"/>
              </a:spcBef>
              <a:spcAft>
                <a:spcPts val="0"/>
              </a:spcAft>
              <a:buNone/>
            </a:pPr>
            <a:r>
              <a:rPr b="0" i="0" lang="en-US" sz="1700" u="none" cap="none" strike="noStrike">
                <a:solidFill>
                  <a:srgbClr val="1A1A1A"/>
                </a:solidFill>
                <a:latin typeface="Arial"/>
                <a:ea typeface="Arial"/>
                <a:cs typeface="Arial"/>
                <a:sym typeface="Arial"/>
              </a:rPr>
              <a:t>each artifact</a:t>
            </a:r>
            <a:endParaRPr/>
          </a:p>
        </p:txBody>
      </p:sp>
      <p:sp>
        <p:nvSpPr>
          <p:cNvPr id="176" name="Google Shape;176;p19"/>
          <p:cNvSpPr/>
          <p:nvPr/>
        </p:nvSpPr>
        <p:spPr>
          <a:xfrm>
            <a:off x="3410711" y="1645920"/>
            <a:ext cx="2587800" cy="21945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7" name="Google Shape;177;p19"/>
          <p:cNvSpPr txBox="1"/>
          <p:nvPr/>
        </p:nvSpPr>
        <p:spPr>
          <a:xfrm>
            <a:off x="3547871" y="1783080"/>
            <a:ext cx="2313300" cy="109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Communication channels</a:t>
            </a:r>
            <a:endParaRPr/>
          </a:p>
          <a:p>
            <a:pPr indent="0" lvl="0" marL="0" marR="0" rtl="0" algn="l">
              <a:lnSpc>
                <a:spcPct val="100000"/>
              </a:lnSpc>
              <a:spcBef>
                <a:spcPts val="1000"/>
              </a:spcBef>
              <a:spcAft>
                <a:spcPts val="0"/>
              </a:spcAft>
              <a:buNone/>
            </a:pPr>
            <a:r>
              <a:rPr b="0" i="0" lang="en-US" sz="1700" u="none" cap="none" strike="noStrike">
                <a:solidFill>
                  <a:srgbClr val="1A1A1A"/>
                </a:solidFill>
                <a:latin typeface="Arial"/>
                <a:ea typeface="Arial"/>
                <a:cs typeface="Arial"/>
                <a:sym typeface="Arial"/>
              </a:rPr>
              <a:t>links, AECs, badges</a:t>
            </a:r>
            <a:endParaRPr/>
          </a:p>
        </p:txBody>
      </p:sp>
      <p:sp>
        <p:nvSpPr>
          <p:cNvPr id="178" name="Google Shape;178;p19"/>
          <p:cNvSpPr/>
          <p:nvPr/>
        </p:nvSpPr>
        <p:spPr>
          <a:xfrm>
            <a:off x="6181344" y="1645920"/>
            <a:ext cx="2587800" cy="21945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9" name="Google Shape;179;p19"/>
          <p:cNvSpPr txBox="1"/>
          <p:nvPr/>
        </p:nvSpPr>
        <p:spPr>
          <a:xfrm>
            <a:off x="6318504" y="1783080"/>
            <a:ext cx="2313300" cy="105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Time</a:t>
            </a:r>
            <a:endParaRPr/>
          </a:p>
          <a:p>
            <a:pPr indent="0" lvl="0" marL="0" marR="0" rtl="0" algn="l">
              <a:lnSpc>
                <a:spcPct val="100000"/>
              </a:lnSpc>
              <a:spcBef>
                <a:spcPts val="1000"/>
              </a:spcBef>
              <a:spcAft>
                <a:spcPts val="0"/>
              </a:spcAft>
              <a:buNone/>
            </a:pPr>
            <a:r>
              <a:rPr b="0" i="0" lang="en-US" sz="1700" u="none" cap="none" strike="noStrike">
                <a:solidFill>
                  <a:srgbClr val="1A1A1A"/>
                </a:solidFill>
                <a:latin typeface="Arial"/>
                <a:ea typeface="Arial"/>
                <a:cs typeface="Arial"/>
                <a:sym typeface="Arial"/>
              </a:rPr>
              <a:t>availability and usability over time</a:t>
            </a:r>
            <a:endParaRPr/>
          </a:p>
        </p:txBody>
      </p:sp>
      <p:sp>
        <p:nvSpPr>
          <p:cNvPr id="180" name="Google Shape;180;p19"/>
          <p:cNvSpPr/>
          <p:nvPr/>
        </p:nvSpPr>
        <p:spPr>
          <a:xfrm>
            <a:off x="8951976" y="1645920"/>
            <a:ext cx="2587800" cy="21945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1" name="Google Shape;181;p19"/>
          <p:cNvSpPr txBox="1"/>
          <p:nvPr/>
        </p:nvSpPr>
        <p:spPr>
          <a:xfrm>
            <a:off x="9089136" y="1783080"/>
            <a:ext cx="2313300" cy="131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Social system</a:t>
            </a:r>
            <a:endParaRPr/>
          </a:p>
          <a:p>
            <a:pPr indent="0" lvl="0" marL="0" marR="0" rtl="0" algn="l">
              <a:lnSpc>
                <a:spcPct val="100000"/>
              </a:lnSpc>
              <a:spcBef>
                <a:spcPts val="1000"/>
              </a:spcBef>
              <a:spcAft>
                <a:spcPts val="0"/>
              </a:spcAft>
              <a:buNone/>
            </a:pPr>
            <a:r>
              <a:rPr b="0" i="0" lang="en-US" sz="1700" u="none" cap="none" strike="noStrike">
                <a:solidFill>
                  <a:srgbClr val="1A1A1A"/>
                </a:solidFill>
                <a:latin typeface="Arial"/>
                <a:ea typeface="Arial"/>
                <a:cs typeface="Arial"/>
                <a:sym typeface="Arial"/>
              </a:rPr>
              <a:t>SE research community, its norms and values</a:t>
            </a:r>
            <a:endParaRPr/>
          </a:p>
        </p:txBody>
      </p:sp>
      <p:sp>
        <p:nvSpPr>
          <p:cNvPr id="182" name="Google Shape;182;p19"/>
          <p:cNvSpPr txBox="1"/>
          <p:nvPr/>
        </p:nvSpPr>
        <p:spPr>
          <a:xfrm>
            <a:off x="640080" y="4114800"/>
            <a:ext cx="10908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Used here: </a:t>
            </a:r>
            <a:r>
              <a:rPr b="0" i="0" lang="en-US" sz="1800" u="none" cap="none" strike="noStrike">
                <a:solidFill>
                  <a:srgbClr val="1A1A1A"/>
                </a:solidFill>
                <a:latin typeface="Arial"/>
                <a:ea typeface="Arial"/>
                <a:cs typeface="Arial"/>
                <a:sym typeface="Arial"/>
              </a:rPr>
              <a:t>analytical lens to link the findings of the two studies (§5)</a:t>
            </a:r>
            <a:endParaRPr/>
          </a:p>
        </p:txBody>
      </p:sp>
      <p:sp>
        <p:nvSpPr>
          <p:cNvPr id="183" name="Google Shape;183;p19"/>
          <p:cNvSpPr/>
          <p:nvPr/>
        </p:nvSpPr>
        <p:spPr>
          <a:xfrm>
            <a:off x="640080" y="4846320"/>
            <a:ext cx="109089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4" name="Google Shape;184;p19"/>
          <p:cNvSpPr txBox="1"/>
          <p:nvPr/>
        </p:nvSpPr>
        <p:spPr>
          <a:xfrm>
            <a:off x="822960" y="4937760"/>
            <a:ext cx="105156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Implementation Science (IS): </a:t>
            </a:r>
            <a:r>
              <a:rPr b="0" i="0" lang="en-US" sz="1800" u="none" cap="none" strike="noStrike">
                <a:solidFill>
                  <a:srgbClr val="1A1A1A"/>
                </a:solidFill>
                <a:latin typeface="Arial"/>
                <a:ea typeface="Arial"/>
                <a:cs typeface="Arial"/>
                <a:sym typeface="Arial"/>
              </a:rPr>
              <a:t>iterative, evidence-based way of moving research into practice (from medicine): practices identified, trialled, observed, improved. Used to shape the recommendations.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191" name="Google Shape;191;p20"/>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lnSpc>
                <a:spcPct val="100000"/>
              </a:lnSpc>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Does the SE community perceive inherent value in artifacts?</a:t>
            </a:r>
            <a:endParaRPr b="0" i="0" sz="2200" u="none" cap="none" strike="noStrike">
              <a:solidFill>
                <a:schemeClr val="dk1"/>
              </a:solidFill>
              <a:latin typeface="Arial"/>
              <a:ea typeface="Arial"/>
              <a:cs typeface="Arial"/>
              <a:sym typeface="Arial"/>
            </a:endParaRPr>
          </a:p>
          <a:p>
            <a:pPr indent="-279400" lvl="0" marL="279400" marR="0" rtl="0" algn="l">
              <a:lnSpc>
                <a:spcPct val="100000"/>
              </a:lnSpc>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RQ2.1: What challenges do artifact creators face?</a:t>
            </a:r>
            <a:endParaRPr b="0" i="0" sz="2200" u="none" cap="none" strike="noStrike">
              <a:solidFill>
                <a:schemeClr val="dk1"/>
              </a:solidFill>
              <a:latin typeface="Arial"/>
              <a:ea typeface="Arial"/>
              <a:cs typeface="Arial"/>
              <a:sym typeface="Arial"/>
            </a:endParaRPr>
          </a:p>
          <a:p>
            <a:pPr indent="-279400" lvl="0" marL="279400" marR="0" rtl="0" algn="l">
              <a:lnSpc>
                <a:spcPct val="100000"/>
              </a:lnSpc>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RQ2.2: What challenges do artifact users face?</a:t>
            </a:r>
            <a:endParaRPr b="0" i="0" sz="2200" u="none" cap="none" strike="noStrike">
              <a:solidFill>
                <a:schemeClr val="dk1"/>
              </a:solidFill>
              <a:latin typeface="Arial"/>
              <a:ea typeface="Arial"/>
              <a:cs typeface="Arial"/>
              <a:sym typeface="Arial"/>
            </a:endParaRPr>
          </a:p>
          <a:p>
            <a:pPr indent="-279400" lvl="0" marL="279400" marR="0" rtl="0" algn="l">
              <a:lnSpc>
                <a:spcPct val="100000"/>
              </a:lnSpc>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RQ2.3: What challenges do artifact reviewers face?</a:t>
            </a:r>
            <a:endParaRPr b="0" i="0" sz="2200" u="none" cap="none" strike="noStrike">
              <a:solidFill>
                <a:schemeClr val="dk1"/>
              </a:solidFill>
              <a:latin typeface="Arial"/>
              <a:ea typeface="Arial"/>
              <a:cs typeface="Arial"/>
              <a:sym typeface="Arial"/>
            </a:endParaRPr>
          </a:p>
        </p:txBody>
      </p:sp>
      <p:sp>
        <p:nvSpPr>
          <p:cNvPr id="192" name="Google Shape;192;p2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199" name="Google Shape;199;p2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00" name="Google Shape;200;p21"/>
          <p:cNvSpPr txBox="1"/>
          <p:nvPr/>
        </p:nvSpPr>
        <p:spPr>
          <a:xfrm>
            <a:off x="640080" y="1234440"/>
            <a:ext cx="109089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900" u="none" cap="none" strike="noStrike">
                <a:solidFill>
                  <a:srgbClr val="00883A"/>
                </a:solidFill>
                <a:latin typeface="Arial"/>
                <a:ea typeface="Arial"/>
                <a:cs typeface="Arial"/>
                <a:sym typeface="Arial"/>
              </a:rPr>
              <a:t>Mixed methods, parallel-convergent: </a:t>
            </a:r>
            <a:r>
              <a:rPr b="0" i="0" lang="en-US" sz="1900" u="none" cap="none" strike="noStrike">
                <a:solidFill>
                  <a:srgbClr val="1A1A1A"/>
                </a:solidFill>
                <a:latin typeface="Arial"/>
                <a:ea typeface="Arial"/>
                <a:cs typeface="Arial"/>
                <a:sym typeface="Arial"/>
              </a:rPr>
              <a:t>two studies at the same time, analysed separately, then merged</a:t>
            </a:r>
            <a:endParaRPr/>
          </a:p>
        </p:txBody>
      </p:sp>
      <p:sp>
        <p:nvSpPr>
          <p:cNvPr id="201" name="Google Shape;201;p21"/>
          <p:cNvSpPr/>
          <p:nvPr/>
        </p:nvSpPr>
        <p:spPr>
          <a:xfrm>
            <a:off x="640080" y="1965960"/>
            <a:ext cx="5212200" cy="36576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2" name="Google Shape;202;p21"/>
          <p:cNvSpPr txBox="1"/>
          <p:nvPr/>
        </p:nvSpPr>
        <p:spPr>
          <a:xfrm>
            <a:off x="822959" y="2057400"/>
            <a:ext cx="4846200" cy="286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100" u="none" cap="none" strike="noStrike">
                <a:solidFill>
                  <a:srgbClr val="00883A"/>
                </a:solidFill>
                <a:latin typeface="Arial"/>
                <a:ea typeface="Arial"/>
                <a:cs typeface="Arial"/>
                <a:sym typeface="Arial"/>
              </a:rPr>
              <a:t>§3.1 Publication survey</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all technical-track papers, ICSE · FSE · ASE · EMSE, 2014-2018</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links found in the papers, checked by hand</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artifact = any linked material; available = link still works</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AEC chairs asked for submission and acceptance data</a:t>
            </a:r>
            <a:endParaRPr/>
          </a:p>
        </p:txBody>
      </p:sp>
      <p:sp>
        <p:nvSpPr>
          <p:cNvPr id="203" name="Google Shape;203;p21"/>
          <p:cNvSpPr/>
          <p:nvPr/>
        </p:nvSpPr>
        <p:spPr>
          <a:xfrm>
            <a:off x="6336792" y="1965960"/>
            <a:ext cx="5212200" cy="36576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4" name="Google Shape;204;p21"/>
          <p:cNvSpPr txBox="1"/>
          <p:nvPr/>
        </p:nvSpPr>
        <p:spPr>
          <a:xfrm>
            <a:off x="6519672" y="2057400"/>
            <a:ext cx="4846200" cy="286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100" u="none" cap="none" strike="noStrike">
                <a:solidFill>
                  <a:srgbClr val="00883A"/>
                </a:solidFill>
                <a:latin typeface="Arial"/>
                <a:ea typeface="Arial"/>
                <a:cs typeface="Arial"/>
                <a:sym typeface="Arial"/>
              </a:rPr>
              <a:t>§3.2 Author survey</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online questionnaire for authors of 2018 papers</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branching by role: creator, user, reviewer</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open answers coded into themes (range, not frequency)</a:t>
            </a:r>
            <a:endParaRPr/>
          </a:p>
          <a:p>
            <a:pPr indent="0" lvl="0" marL="0" marR="0" rtl="0" algn="l">
              <a:lnSpc>
                <a:spcPct val="100000"/>
              </a:lnSpc>
              <a:spcBef>
                <a:spcPts val="1000"/>
              </a:spcBef>
              <a:spcAft>
                <a:spcPts val="0"/>
              </a:spcAft>
              <a:buNone/>
            </a:pPr>
            <a:r>
              <a:rPr b="0" i="0" lang="en-US" sz="1800" u="none" cap="none" strike="noStrike">
                <a:solidFill>
                  <a:srgbClr val="1A1A1A"/>
                </a:solidFill>
                <a:latin typeface="Arial"/>
                <a:ea typeface="Arial"/>
                <a:cs typeface="Arial"/>
                <a:sym typeface="Arial"/>
              </a:rPr>
              <a:t>• questions mapped to RQ1 (value) and RQ2 (challenges)</a:t>
            </a:r>
            <a:endParaRPr/>
          </a:p>
        </p:txBody>
      </p:sp>
      <p:sp>
        <p:nvSpPr>
          <p:cNvPr id="205" name="Google Shape;205;p21"/>
          <p:cNvSpPr txBox="1"/>
          <p:nvPr/>
        </p:nvSpPr>
        <p:spPr>
          <a:xfrm>
            <a:off x="640080" y="5760720"/>
            <a:ext cx="10908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 </a:t>
            </a:r>
            <a:r>
              <a:rPr b="0" i="0" lang="en-US" sz="1800" u="none" cap="none" strike="noStrike">
                <a:solidFill>
                  <a:srgbClr val="1A1A1A"/>
                </a:solidFill>
                <a:latin typeface="Arial"/>
                <a:ea typeface="Arial"/>
                <a:cs typeface="Arial"/>
                <a:sym typeface="Arial"/>
              </a:rPr>
              <a:t>merged into the results: RQ1 value · RQ2 challenges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12" name="Google Shape;212;p2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13" name="Google Shape;213;p22"/>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RQ1 · Does the community value artifacts?</a:t>
            </a:r>
            <a:endParaRPr/>
          </a:p>
        </p:txBody>
      </p:sp>
      <p:sp>
        <p:nvSpPr>
          <p:cNvPr id="214" name="Google Shape;214;p22"/>
          <p:cNvSpPr/>
          <p:nvPr/>
        </p:nvSpPr>
        <p:spPr>
          <a:xfrm>
            <a:off x="640080" y="1554480"/>
            <a:ext cx="10908900" cy="14631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5" name="Google Shape;215;p22"/>
          <p:cNvSpPr txBox="1"/>
          <p:nvPr/>
        </p:nvSpPr>
        <p:spPr>
          <a:xfrm>
            <a:off x="822960" y="1600200"/>
            <a:ext cx="10515600" cy="1339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1900" u="none" cap="none" strike="noStrike">
                <a:solidFill>
                  <a:srgbClr val="00883A"/>
                </a:solidFill>
                <a:latin typeface="Arial"/>
                <a:ea typeface="Arial"/>
                <a:cs typeface="Arial"/>
                <a:sym typeface="Arial"/>
              </a:rPr>
              <a:t>Yes: </a:t>
            </a:r>
            <a:r>
              <a:rPr b="0" i="0" lang="en-US" sz="1900" u="none" cap="none" strike="noStrike">
                <a:solidFill>
                  <a:srgbClr val="1A1A1A"/>
                </a:solidFill>
                <a:latin typeface="Arial"/>
                <a:ea typeface="Arial"/>
                <a:cs typeface="Arial"/>
                <a:sym typeface="Arial"/>
              </a:rPr>
              <a:t>artifacts are seen as inherently valuable; sharing is an established and growing norm (most papers now link one)</a:t>
            </a:r>
            <a:endParaRPr/>
          </a:p>
          <a:p>
            <a:pPr indent="0" lvl="0" marL="0" marR="0" rtl="0" algn="l">
              <a:lnSpc>
                <a:spcPct val="100000"/>
              </a:lnSpc>
              <a:spcBef>
                <a:spcPts val="600"/>
              </a:spcBef>
              <a:spcAft>
                <a:spcPts val="0"/>
              </a:spcAft>
              <a:buNone/>
            </a:pPr>
            <a:r>
              <a:rPr b="0" i="0" lang="en-US" sz="1900" u="none" cap="none" strike="noStrike">
                <a:solidFill>
                  <a:srgbClr val="1A1A1A"/>
                </a:solidFill>
                <a:latin typeface="Arial"/>
                <a:ea typeface="Arial"/>
                <a:cs typeface="Arial"/>
                <a:sym typeface="Arial"/>
              </a:rPr>
              <a:t>Not every paper needs one, but sharing should be encouraged and rewarded; replication is hard and unreliable without artifacts</a:t>
            </a:r>
            <a:endParaRPr/>
          </a:p>
        </p:txBody>
      </p:sp>
      <p:sp>
        <p:nvSpPr>
          <p:cNvPr id="216" name="Google Shape;216;p22"/>
          <p:cNvSpPr txBox="1"/>
          <p:nvPr/>
        </p:nvSpPr>
        <p:spPr>
          <a:xfrm>
            <a:off x="640080" y="3200400"/>
            <a:ext cx="10908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Why authors share</a:t>
            </a:r>
            <a:endParaRPr/>
          </a:p>
        </p:txBody>
      </p:sp>
      <p:sp>
        <p:nvSpPr>
          <p:cNvPr id="217" name="Google Shape;217;p22"/>
          <p:cNvSpPr/>
          <p:nvPr/>
        </p:nvSpPr>
        <p:spPr>
          <a:xfrm>
            <a:off x="640080" y="3657600"/>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8" name="Google Shape;218;p22"/>
          <p:cNvSpPr txBox="1"/>
          <p:nvPr/>
        </p:nvSpPr>
        <p:spPr>
          <a:xfrm>
            <a:off x="777240" y="3794760"/>
            <a:ext cx="2313300" cy="1359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Supporting evidence</a:t>
            </a:r>
            <a:endParaRPr/>
          </a:p>
          <a:p>
            <a:pPr indent="0" lvl="0" marL="0" marR="0" rtl="0" algn="l">
              <a:lnSpc>
                <a:spcPct val="100000"/>
              </a:lnSpc>
              <a:spcBef>
                <a:spcPts val="1000"/>
              </a:spcBef>
              <a:spcAft>
                <a:spcPts val="0"/>
              </a:spcAft>
              <a:buNone/>
            </a:pPr>
            <a:r>
              <a:rPr b="0" i="0" lang="en-US" sz="1700" u="none" cap="none" strike="noStrike">
                <a:solidFill>
                  <a:srgbClr val="1A1A1A"/>
                </a:solidFill>
                <a:latin typeface="Arial"/>
                <a:ea typeface="Arial"/>
                <a:cs typeface="Arial"/>
                <a:sym typeface="Arial"/>
              </a:rPr>
              <a:t>backs the paper’s claims, builds trust</a:t>
            </a:r>
            <a:endParaRPr/>
          </a:p>
        </p:txBody>
      </p:sp>
      <p:sp>
        <p:nvSpPr>
          <p:cNvPr id="219" name="Google Shape;219;p22"/>
          <p:cNvSpPr/>
          <p:nvPr/>
        </p:nvSpPr>
        <p:spPr>
          <a:xfrm>
            <a:off x="3410711" y="3657600"/>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0" name="Google Shape;220;p22"/>
          <p:cNvSpPr txBox="1"/>
          <p:nvPr/>
        </p:nvSpPr>
        <p:spPr>
          <a:xfrm>
            <a:off x="3547871" y="3794760"/>
            <a:ext cx="2313300" cy="105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Community norm</a:t>
            </a:r>
            <a:endParaRPr/>
          </a:p>
          <a:p>
            <a:pPr indent="0" lvl="0" marL="0" marR="0" rtl="0" algn="l">
              <a:lnSpc>
                <a:spcPct val="100000"/>
              </a:lnSpc>
              <a:spcBef>
                <a:spcPts val="1000"/>
              </a:spcBef>
              <a:spcAft>
                <a:spcPts val="0"/>
              </a:spcAft>
              <a:buNone/>
            </a:pPr>
            <a:r>
              <a:rPr b="0" i="0" lang="en-US" sz="1700" u="none" cap="none" strike="noStrike">
                <a:solidFill>
                  <a:srgbClr val="1A1A1A"/>
                </a:solidFill>
                <a:latin typeface="Arial"/>
                <a:ea typeface="Arial"/>
                <a:cs typeface="Arial"/>
                <a:sym typeface="Arial"/>
              </a:rPr>
              <a:t>"good practice" that benefits all</a:t>
            </a:r>
            <a:endParaRPr/>
          </a:p>
        </p:txBody>
      </p:sp>
      <p:sp>
        <p:nvSpPr>
          <p:cNvPr id="221" name="Google Shape;221;p22"/>
          <p:cNvSpPr/>
          <p:nvPr/>
        </p:nvSpPr>
        <p:spPr>
          <a:xfrm>
            <a:off x="6181344" y="3657600"/>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2" name="Google Shape;222;p22"/>
          <p:cNvSpPr txBox="1"/>
          <p:nvPr/>
        </p:nvSpPr>
        <p:spPr>
          <a:xfrm>
            <a:off x="6318504" y="3794760"/>
            <a:ext cx="2313300" cy="105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Reuse</a:t>
            </a:r>
            <a:endParaRPr/>
          </a:p>
          <a:p>
            <a:pPr indent="0" lvl="0" marL="0" marR="0" rtl="0" algn="l">
              <a:lnSpc>
                <a:spcPct val="100000"/>
              </a:lnSpc>
              <a:spcBef>
                <a:spcPts val="1000"/>
              </a:spcBef>
              <a:spcAft>
                <a:spcPts val="0"/>
              </a:spcAft>
              <a:buNone/>
            </a:pPr>
            <a:r>
              <a:rPr b="0" i="0" lang="en-US" sz="1700" u="none" cap="none" strike="noStrike">
                <a:solidFill>
                  <a:srgbClr val="1A1A1A"/>
                </a:solidFill>
                <a:latin typeface="Arial"/>
                <a:ea typeface="Arial"/>
                <a:cs typeface="Arial"/>
                <a:sym typeface="Arial"/>
              </a:rPr>
              <a:t>tools and data others can extend</a:t>
            </a:r>
            <a:endParaRPr/>
          </a:p>
        </p:txBody>
      </p:sp>
      <p:sp>
        <p:nvSpPr>
          <p:cNvPr id="223" name="Google Shape;223;p22"/>
          <p:cNvSpPr/>
          <p:nvPr/>
        </p:nvSpPr>
        <p:spPr>
          <a:xfrm>
            <a:off x="8951976" y="3657600"/>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 name="Google Shape;224;p22"/>
          <p:cNvSpPr txBox="1"/>
          <p:nvPr/>
        </p:nvSpPr>
        <p:spPr>
          <a:xfrm>
            <a:off x="9089136" y="3794760"/>
            <a:ext cx="2313300" cy="105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Understanding</a:t>
            </a:r>
            <a:endParaRPr/>
          </a:p>
          <a:p>
            <a:pPr indent="0" lvl="0" marL="0" marR="0" rtl="0" algn="l">
              <a:lnSpc>
                <a:spcPct val="100000"/>
              </a:lnSpc>
              <a:spcBef>
                <a:spcPts val="1000"/>
              </a:spcBef>
              <a:spcAft>
                <a:spcPts val="0"/>
              </a:spcAft>
              <a:buNone/>
            </a:pPr>
            <a:r>
              <a:rPr b="0" i="0" lang="en-US" sz="1700" u="none" cap="none" strike="noStrike">
                <a:solidFill>
                  <a:srgbClr val="1A1A1A"/>
                </a:solidFill>
                <a:latin typeface="Arial"/>
                <a:ea typeface="Arial"/>
                <a:cs typeface="Arial"/>
                <a:sym typeface="Arial"/>
              </a:rPr>
              <a:t>details that don’t fit in a paper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31" name="Google Shape;231;p2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32" name="Google Shape;232;p23"/>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RQ2 · Challenges of creating, sharing, using and reviewing</a:t>
            </a:r>
            <a:endParaRPr/>
          </a:p>
        </p:txBody>
      </p:sp>
      <p:sp>
        <p:nvSpPr>
          <p:cNvPr id="233" name="Google Shape;233;p23"/>
          <p:cNvSpPr/>
          <p:nvPr/>
        </p:nvSpPr>
        <p:spPr>
          <a:xfrm>
            <a:off x="640080" y="1600200"/>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4" name="Google Shape;234;p23"/>
          <p:cNvSpPr txBox="1"/>
          <p:nvPr/>
        </p:nvSpPr>
        <p:spPr>
          <a:xfrm>
            <a:off x="749808" y="1673352"/>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C1 </a:t>
            </a:r>
            <a:r>
              <a:rPr b="0" i="0" lang="en-US" sz="1700" u="none" cap="none" strike="noStrike">
                <a:solidFill>
                  <a:srgbClr val="1A1A1A"/>
                </a:solidFill>
                <a:latin typeface="Arial"/>
                <a:ea typeface="Arial"/>
                <a:cs typeface="Arial"/>
                <a:sym typeface="Arial"/>
              </a:rPr>
              <a:t>Not worth it</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endParaRPr/>
          </a:p>
        </p:txBody>
      </p:sp>
      <p:sp>
        <p:nvSpPr>
          <p:cNvPr id="235" name="Google Shape;235;p23"/>
          <p:cNvSpPr/>
          <p:nvPr/>
        </p:nvSpPr>
        <p:spPr>
          <a:xfrm>
            <a:off x="3410711" y="1600200"/>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6" name="Google Shape;236;p23"/>
          <p:cNvSpPr txBox="1"/>
          <p:nvPr/>
        </p:nvSpPr>
        <p:spPr>
          <a:xfrm>
            <a:off x="3520439" y="1673352"/>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C2 </a:t>
            </a:r>
            <a:r>
              <a:rPr b="0" i="0" lang="en-US" sz="1700" u="none" cap="none" strike="noStrike">
                <a:solidFill>
                  <a:srgbClr val="1A1A1A"/>
                </a:solidFill>
                <a:latin typeface="Arial"/>
                <a:ea typeface="Arial"/>
                <a:cs typeface="Arial"/>
                <a:sym typeface="Arial"/>
              </a:rPr>
              <a:t>Portability</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a:p>
        </p:txBody>
      </p:sp>
      <p:sp>
        <p:nvSpPr>
          <p:cNvPr id="237" name="Google Shape;237;p23"/>
          <p:cNvSpPr/>
          <p:nvPr/>
        </p:nvSpPr>
        <p:spPr>
          <a:xfrm>
            <a:off x="6181344" y="1600200"/>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8" name="Google Shape;238;p23"/>
          <p:cNvSpPr txBox="1"/>
          <p:nvPr/>
        </p:nvSpPr>
        <p:spPr>
          <a:xfrm>
            <a:off x="6291072" y="1673352"/>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C3 </a:t>
            </a:r>
            <a:r>
              <a:rPr b="0" i="0" lang="en-US" sz="1700" u="none" cap="none" strike="noStrike">
                <a:solidFill>
                  <a:srgbClr val="1A1A1A"/>
                </a:solidFill>
                <a:latin typeface="Arial"/>
                <a:ea typeface="Arial"/>
                <a:cs typeface="Arial"/>
                <a:sym typeface="Arial"/>
              </a:rPr>
              <a:t>Maintenance</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endParaRPr/>
          </a:p>
        </p:txBody>
      </p:sp>
      <p:sp>
        <p:nvSpPr>
          <p:cNvPr id="239" name="Google Shape;239;p23"/>
          <p:cNvSpPr/>
          <p:nvPr/>
        </p:nvSpPr>
        <p:spPr>
          <a:xfrm>
            <a:off x="8951976" y="1600200"/>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0" name="Google Shape;240;p23"/>
          <p:cNvSpPr txBox="1"/>
          <p:nvPr/>
        </p:nvSpPr>
        <p:spPr>
          <a:xfrm>
            <a:off x="9061703" y="1673352"/>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C4 </a:t>
            </a:r>
            <a:r>
              <a:rPr b="0" i="0" lang="en-US" sz="1700" u="none" cap="none" strike="noStrike">
                <a:solidFill>
                  <a:srgbClr val="1A1A1A"/>
                </a:solidFill>
                <a:latin typeface="Arial"/>
                <a:ea typeface="Arial"/>
                <a:cs typeface="Arial"/>
                <a:sym typeface="Arial"/>
              </a:rPr>
              <a:t>Tacit knowledge</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a:p>
        </p:txBody>
      </p:sp>
      <p:sp>
        <p:nvSpPr>
          <p:cNvPr id="241" name="Google Shape;241;p23"/>
          <p:cNvSpPr/>
          <p:nvPr/>
        </p:nvSpPr>
        <p:spPr>
          <a:xfrm>
            <a:off x="640080" y="2971800"/>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2" name="Google Shape;242;p23"/>
          <p:cNvSpPr txBox="1"/>
          <p:nvPr/>
        </p:nvSpPr>
        <p:spPr>
          <a:xfrm>
            <a:off x="749808" y="3044952"/>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C5 </a:t>
            </a:r>
            <a:r>
              <a:rPr b="0" i="0" lang="en-US" sz="1700" u="none" cap="none" strike="noStrike">
                <a:solidFill>
                  <a:srgbClr val="1A1A1A"/>
                </a:solidFill>
                <a:latin typeface="Arial"/>
                <a:ea typeface="Arial"/>
                <a:cs typeface="Arial"/>
                <a:sym typeface="Arial"/>
              </a:rPr>
              <a:t>Doesn’t fit purpose</a:t>
            </a:r>
            <a:endParaRPr/>
          </a:p>
          <a:p>
            <a:pPr indent="0" lvl="0" marL="0" marR="0" rtl="0" algn="l">
              <a:lnSpc>
                <a:spcPct val="100000"/>
              </a:lnSpc>
              <a:spcBef>
                <a:spcPts val="400"/>
              </a:spcBef>
              <a:spcAft>
                <a:spcPts val="0"/>
              </a:spcAft>
              <a:buNone/>
            </a:pPr>
            <a:r>
              <a:rPr b="1" i="0" lang="en-US" sz="1800" u="none" cap="none" strike="noStrike">
                <a:solidFill>
                  <a:srgbClr val="5F6368"/>
                </a:solidFill>
                <a:latin typeface="Arial"/>
                <a:ea typeface="Arial"/>
                <a:cs typeface="Arial"/>
                <a:sym typeface="Arial"/>
              </a:rPr>
              <a:t>▲ </a:t>
            </a:r>
            <a:endParaRPr/>
          </a:p>
        </p:txBody>
      </p:sp>
      <p:sp>
        <p:nvSpPr>
          <p:cNvPr id="243" name="Google Shape;243;p23"/>
          <p:cNvSpPr/>
          <p:nvPr/>
        </p:nvSpPr>
        <p:spPr>
          <a:xfrm>
            <a:off x="3410711" y="2971800"/>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4" name="Google Shape;244;p23"/>
          <p:cNvSpPr txBox="1"/>
          <p:nvPr/>
        </p:nvSpPr>
        <p:spPr>
          <a:xfrm>
            <a:off x="3520439" y="3044952"/>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C6 </a:t>
            </a:r>
            <a:r>
              <a:rPr b="0" i="0" lang="en-US" sz="1700" u="none" cap="none" strike="noStrike">
                <a:solidFill>
                  <a:srgbClr val="1A1A1A"/>
                </a:solidFill>
                <a:latin typeface="Arial"/>
                <a:ea typeface="Arial"/>
                <a:cs typeface="Arial"/>
                <a:sym typeface="Arial"/>
              </a:rPr>
              <a:t>No standards / guidelines</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a:p>
        </p:txBody>
      </p:sp>
      <p:sp>
        <p:nvSpPr>
          <p:cNvPr id="245" name="Google Shape;245;p23"/>
          <p:cNvSpPr/>
          <p:nvPr/>
        </p:nvSpPr>
        <p:spPr>
          <a:xfrm>
            <a:off x="6181344" y="2971800"/>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6" name="Google Shape;246;p23"/>
          <p:cNvSpPr txBox="1"/>
          <p:nvPr/>
        </p:nvSpPr>
        <p:spPr>
          <a:xfrm>
            <a:off x="6291072" y="3044952"/>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C7 </a:t>
            </a:r>
            <a:r>
              <a:rPr b="0" i="0" lang="en-US" sz="1700" u="none" cap="none" strike="noStrike">
                <a:solidFill>
                  <a:srgbClr val="1A1A1A"/>
                </a:solidFill>
                <a:latin typeface="Arial"/>
                <a:ea typeface="Arial"/>
                <a:cs typeface="Arial"/>
                <a:sym typeface="Arial"/>
              </a:rPr>
              <a:t>Hosting</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endParaRPr/>
          </a:p>
        </p:txBody>
      </p:sp>
      <p:sp>
        <p:nvSpPr>
          <p:cNvPr id="247" name="Google Shape;247;p23"/>
          <p:cNvSpPr/>
          <p:nvPr/>
        </p:nvSpPr>
        <p:spPr>
          <a:xfrm>
            <a:off x="8951976" y="2971800"/>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8" name="Google Shape;248;p23"/>
          <p:cNvSpPr txBox="1"/>
          <p:nvPr/>
        </p:nvSpPr>
        <p:spPr>
          <a:xfrm>
            <a:off x="9061703" y="3044952"/>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C8 </a:t>
            </a:r>
            <a:r>
              <a:rPr b="0" i="0" lang="en-US" sz="1700" u="none" cap="none" strike="noStrike">
                <a:solidFill>
                  <a:srgbClr val="1A1A1A"/>
                </a:solidFill>
                <a:latin typeface="Arial"/>
                <a:ea typeface="Arial"/>
                <a:cs typeface="Arial"/>
                <a:sym typeface="Arial"/>
              </a:rPr>
              <a:t>Double-blind review</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endParaRPr/>
          </a:p>
        </p:txBody>
      </p:sp>
      <p:sp>
        <p:nvSpPr>
          <p:cNvPr id="249" name="Google Shape;249;p23"/>
          <p:cNvSpPr/>
          <p:nvPr/>
        </p:nvSpPr>
        <p:spPr>
          <a:xfrm>
            <a:off x="640080" y="4343400"/>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0" name="Google Shape;250;p23"/>
          <p:cNvSpPr txBox="1"/>
          <p:nvPr/>
        </p:nvSpPr>
        <p:spPr>
          <a:xfrm>
            <a:off x="749808" y="4416552"/>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C9 </a:t>
            </a:r>
            <a:r>
              <a:rPr b="0" i="0" lang="en-US" sz="1700" u="none" cap="none" strike="noStrike">
                <a:solidFill>
                  <a:srgbClr val="1A1A1A"/>
                </a:solidFill>
                <a:latin typeface="Arial"/>
                <a:ea typeface="Arial"/>
                <a:cs typeface="Arial"/>
                <a:sym typeface="Arial"/>
              </a:rPr>
              <a:t>External constraints</a:t>
            </a:r>
            <a:endParaRPr/>
          </a:p>
          <a:p>
            <a:pPr indent="0" lvl="0" marL="0" marR="0" rtl="0" algn="l">
              <a:lnSpc>
                <a:spcPct val="100000"/>
              </a:lnSpc>
              <a:spcBef>
                <a:spcPts val="400"/>
              </a:spcBef>
              <a:spcAft>
                <a:spcPts val="0"/>
              </a:spcAft>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a:p>
        </p:txBody>
      </p:sp>
      <p:sp>
        <p:nvSpPr>
          <p:cNvPr id="251" name="Google Shape;251;p23"/>
          <p:cNvSpPr/>
          <p:nvPr/>
        </p:nvSpPr>
        <p:spPr>
          <a:xfrm>
            <a:off x="3410711" y="4343400"/>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2" name="Google Shape;252;p23"/>
          <p:cNvSpPr txBox="1"/>
          <p:nvPr/>
        </p:nvSpPr>
        <p:spPr>
          <a:xfrm>
            <a:off x="3520439" y="4416552"/>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C10 </a:t>
            </a:r>
            <a:r>
              <a:rPr b="0" i="0" lang="en-US" sz="1700" u="none" cap="none" strike="noStrike">
                <a:solidFill>
                  <a:srgbClr val="1A1A1A"/>
                </a:solidFill>
                <a:latin typeface="Arial"/>
                <a:ea typeface="Arial"/>
                <a:cs typeface="Arial"/>
                <a:sym typeface="Arial"/>
              </a:rPr>
              <a:t>No reviewer incentives</a:t>
            </a:r>
            <a:endParaRPr/>
          </a:p>
          <a:p>
            <a:pPr indent="0" lvl="0" marL="0" marR="0" rtl="0" algn="l">
              <a:lnSpc>
                <a:spcPct val="100000"/>
              </a:lnSpc>
              <a:spcBef>
                <a:spcPts val="400"/>
              </a:spcBef>
              <a:spcAft>
                <a:spcPts val="0"/>
              </a:spcAft>
              <a:buNone/>
            </a:pPr>
            <a:r>
              <a:rPr b="1" i="0" lang="en-US" sz="1800" u="none" cap="none" strike="noStrike">
                <a:solidFill>
                  <a:srgbClr val="1A1A1A"/>
                </a:solidFill>
                <a:latin typeface="Arial"/>
                <a:ea typeface="Arial"/>
                <a:cs typeface="Arial"/>
                <a:sym typeface="Arial"/>
              </a:rPr>
              <a:t>★ </a:t>
            </a:r>
            <a:endParaRPr/>
          </a:p>
        </p:txBody>
      </p:sp>
      <p:sp>
        <p:nvSpPr>
          <p:cNvPr id="253" name="Google Shape;253;p23"/>
          <p:cNvSpPr/>
          <p:nvPr/>
        </p:nvSpPr>
        <p:spPr>
          <a:xfrm>
            <a:off x="6181344" y="4343400"/>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4" name="Google Shape;254;p23"/>
          <p:cNvSpPr txBox="1"/>
          <p:nvPr/>
        </p:nvSpPr>
        <p:spPr>
          <a:xfrm>
            <a:off x="6291072" y="4416552"/>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C11 </a:t>
            </a:r>
            <a:r>
              <a:rPr b="0" i="0" lang="en-US" sz="1700" u="none" cap="none" strike="noStrike">
                <a:solidFill>
                  <a:srgbClr val="1A1A1A"/>
                </a:solidFill>
                <a:latin typeface="Arial"/>
                <a:ea typeface="Arial"/>
                <a:cs typeface="Arial"/>
                <a:sym typeface="Arial"/>
              </a:rPr>
              <a:t>Technical obstacles</a:t>
            </a:r>
            <a:endParaRPr/>
          </a:p>
          <a:p>
            <a:pPr indent="0" lvl="0" marL="0" marR="0" rtl="0" algn="l">
              <a:lnSpc>
                <a:spcPct val="100000"/>
              </a:lnSpc>
              <a:spcBef>
                <a:spcPts val="400"/>
              </a:spcBef>
              <a:spcAft>
                <a:spcPts val="0"/>
              </a:spcAft>
              <a:buNone/>
            </a:pPr>
            <a:r>
              <a:rPr b="1" i="0" lang="en-US" sz="1800" u="none" cap="none" strike="noStrike">
                <a:solidFill>
                  <a:srgbClr val="1A1A1A"/>
                </a:solidFill>
                <a:latin typeface="Arial"/>
                <a:ea typeface="Arial"/>
                <a:cs typeface="Arial"/>
                <a:sym typeface="Arial"/>
              </a:rPr>
              <a:t>★ </a:t>
            </a:r>
            <a:endParaRPr/>
          </a:p>
        </p:txBody>
      </p:sp>
      <p:sp>
        <p:nvSpPr>
          <p:cNvPr id="255" name="Google Shape;255;p23"/>
          <p:cNvSpPr/>
          <p:nvPr/>
        </p:nvSpPr>
        <p:spPr>
          <a:xfrm>
            <a:off x="8951976" y="4343400"/>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6" name="Google Shape;256;p23"/>
          <p:cNvSpPr txBox="1"/>
          <p:nvPr/>
        </p:nvSpPr>
        <p:spPr>
          <a:xfrm>
            <a:off x="9061703" y="4416552"/>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883A"/>
                </a:solidFill>
                <a:latin typeface="Arial"/>
                <a:ea typeface="Arial"/>
                <a:cs typeface="Arial"/>
                <a:sym typeface="Arial"/>
              </a:rPr>
              <a:t>C12 </a:t>
            </a:r>
            <a:r>
              <a:rPr b="0" i="0" lang="en-US" sz="1700" u="none" cap="none" strike="noStrike">
                <a:solidFill>
                  <a:srgbClr val="1A1A1A"/>
                </a:solidFill>
                <a:latin typeface="Arial"/>
                <a:ea typeface="Arial"/>
                <a:cs typeface="Arial"/>
                <a:sym typeface="Arial"/>
              </a:rPr>
              <a:t>Limited communication</a:t>
            </a:r>
            <a:endParaRPr/>
          </a:p>
          <a:p>
            <a:pPr indent="0" lvl="0" marL="0" marR="0" rtl="0" algn="l">
              <a:lnSpc>
                <a:spcPct val="100000"/>
              </a:lnSpc>
              <a:spcBef>
                <a:spcPts val="400"/>
              </a:spcBef>
              <a:spcAft>
                <a:spcPts val="0"/>
              </a:spcAft>
              <a:buNone/>
            </a:pPr>
            <a:r>
              <a:rPr b="1" i="0" lang="en-US" sz="1800" u="none" cap="none" strike="noStrike">
                <a:solidFill>
                  <a:srgbClr val="1A1A1A"/>
                </a:solidFill>
                <a:latin typeface="Arial"/>
                <a:ea typeface="Arial"/>
                <a:cs typeface="Arial"/>
                <a:sym typeface="Arial"/>
              </a:rPr>
              <a:t>★ </a:t>
            </a:r>
            <a:endParaRPr/>
          </a:p>
        </p:txBody>
      </p:sp>
      <p:sp>
        <p:nvSpPr>
          <p:cNvPr id="257" name="Google Shape;257;p23"/>
          <p:cNvSpPr txBox="1"/>
          <p:nvPr/>
        </p:nvSpPr>
        <p:spPr>
          <a:xfrm>
            <a:off x="640080" y="5806440"/>
            <a:ext cx="10908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00883A"/>
                </a:solidFill>
                <a:latin typeface="Arial"/>
                <a:ea typeface="Arial"/>
                <a:cs typeface="Arial"/>
                <a:sym typeface="Arial"/>
              </a:rPr>
              <a:t>■ </a:t>
            </a:r>
            <a:r>
              <a:rPr b="0" i="0" lang="en-US" sz="1600" u="none" cap="none" strike="noStrike">
                <a:solidFill>
                  <a:srgbClr val="5F6368"/>
                </a:solidFill>
                <a:latin typeface="Arial"/>
                <a:ea typeface="Arial"/>
                <a:cs typeface="Arial"/>
                <a:sym typeface="Arial"/>
              </a:rPr>
              <a:t>creator   </a:t>
            </a:r>
            <a:r>
              <a:rPr b="1" i="0" lang="en-US" sz="1600" u="none" cap="none" strike="noStrike">
                <a:solidFill>
                  <a:srgbClr val="5F6368"/>
                </a:solidFill>
                <a:latin typeface="Arial"/>
                <a:ea typeface="Arial"/>
                <a:cs typeface="Arial"/>
                <a:sym typeface="Arial"/>
              </a:rPr>
              <a:t>▲ </a:t>
            </a:r>
            <a:r>
              <a:rPr b="0" i="0" lang="en-US" sz="1600" u="none" cap="none" strike="noStrike">
                <a:solidFill>
                  <a:srgbClr val="5F6368"/>
                </a:solidFill>
                <a:latin typeface="Arial"/>
                <a:ea typeface="Arial"/>
                <a:cs typeface="Arial"/>
                <a:sym typeface="Arial"/>
              </a:rPr>
              <a:t>user   </a:t>
            </a:r>
            <a:r>
              <a:rPr b="1" i="0" lang="en-US" sz="1600" u="none" cap="none" strike="noStrike">
                <a:solidFill>
                  <a:srgbClr val="1A1A1A"/>
                </a:solidFill>
                <a:latin typeface="Arial"/>
                <a:ea typeface="Arial"/>
                <a:cs typeface="Arial"/>
                <a:sym typeface="Arial"/>
              </a:rPr>
              <a:t>★ </a:t>
            </a:r>
            <a:r>
              <a:rPr b="0" i="0" lang="en-US" sz="1600" u="none" cap="none" strike="noStrike">
                <a:solidFill>
                  <a:srgbClr val="5F6368"/>
                </a:solidFill>
                <a:latin typeface="Arial"/>
                <a:ea typeface="Arial"/>
                <a:cs typeface="Arial"/>
                <a:sym typeface="Arial"/>
              </a:rPr>
              <a:t>reviewer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64" name="Google Shape;264;p2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65" name="Google Shape;265;p24"/>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RQ2 · C1-C3</a:t>
            </a:r>
            <a:endParaRPr/>
          </a:p>
        </p:txBody>
      </p:sp>
      <p:sp>
        <p:nvSpPr>
          <p:cNvPr id="266" name="Google Shape;266;p24"/>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a:p>
        </p:txBody>
      </p:sp>
      <p:graphicFrame>
        <p:nvGraphicFramePr>
          <p:cNvPr id="267" name="Google Shape;267;p24"/>
          <p:cNvGraphicFramePr/>
          <p:nvPr/>
        </p:nvGraphicFramePr>
        <p:xfrm>
          <a:off x="640080" y="1554480"/>
          <a:ext cx="3000000" cy="3000000"/>
        </p:xfrm>
        <a:graphic>
          <a:graphicData uri="http://schemas.openxmlformats.org/drawingml/2006/table">
            <a:tbl>
              <a:tblPr bandRow="1" firstRow="1">
                <a:noFill/>
                <a:tableStyleId>{BA0399A1-FE9B-46BE-AC09-F5867CF7C7D4}</a:tableStyleId>
              </a:tblPr>
              <a:tblGrid>
                <a:gridCol w="2468875"/>
                <a:gridCol w="8439900"/>
              </a:tblGrid>
              <a:tr h="411475">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Challenge</a:t>
                      </a:r>
                      <a:endParaRPr/>
                    </a:p>
                  </a:txBody>
                  <a:tcPr marT="45725" marB="45725" marR="91450" marL="91450">
                    <a:solidFill>
                      <a:srgbClr val="00883A"/>
                    </a:solidFill>
                  </a:tcPr>
                </a:tc>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Points raised</a:t>
                      </a:r>
                      <a:endParaRPr/>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C1 </a:t>
                      </a:r>
                      <a:r>
                        <a:rPr b="1" lang="en-US" sz="1700" u="none" cap="none" strike="noStrike">
                          <a:solidFill>
                            <a:srgbClr val="1A1A1A"/>
                          </a:solidFill>
                          <a:latin typeface="Arial"/>
                          <a:ea typeface="Arial"/>
                          <a:cs typeface="Arial"/>
                          <a:sym typeface="Arial"/>
                        </a:rPr>
                        <a:t>Not worth it</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costly; time better spent on papers; little career benefit</a:t>
                      </a:r>
                      <a:endParaRPr/>
                    </a:p>
                    <a:p>
                      <a:pPr indent="0" lvl="0" marL="0" marR="0" rtl="0" algn="l">
                        <a:lnSpc>
                          <a:spcPct val="100000"/>
                        </a:lnSpc>
                        <a:spcBef>
                          <a:spcPts val="30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risks: reputation (code quality), scooping, mistakes found, maintenance burden, no users</a:t>
                      </a:r>
                      <a:endParaRPr/>
                    </a:p>
                    <a:p>
                      <a:pPr indent="0" lvl="0" marL="0" marR="0" rtl="0" algn="l">
                        <a:lnSpc>
                          <a:spcPct val="100000"/>
                        </a:lnSpc>
                        <a:spcBef>
                          <a:spcPts val="30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held back for untapped publication value ("protect a PhD student"); limited audience</a:t>
                      </a:r>
                      <a:endParaRPr/>
                    </a:p>
                    <a:p>
                      <a:pPr indent="0" lvl="0" marL="0" marR="0" rtl="0" algn="l">
                        <a:lnSpc>
                          <a:spcPct val="100000"/>
                        </a:lnSpc>
                        <a:spcBef>
                          <a:spcPts val="30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counterpoint: whole research areas died for lack of artifacts</a:t>
                      </a:r>
                      <a:endParaRPr/>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C2 </a:t>
                      </a:r>
                      <a:r>
                        <a:rPr b="1" lang="en-US" sz="1700" u="none" cap="none" strike="noStrike">
                          <a:solidFill>
                            <a:srgbClr val="1A1A1A"/>
                          </a:solidFill>
                          <a:latin typeface="Arial"/>
                          <a:ea typeface="Arial"/>
                          <a:cs typeface="Arial"/>
                          <a:sym typeface="Arial"/>
                        </a:rPr>
                        <a:t>Portability</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a:p>
                  </a:txBody>
                  <a:tcPr marT="36575" marB="36575" marR="91450" marL="91450">
                    <a:solidFill>
                      <a:srgbClr val="FFFFFF"/>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hard to anticipate environments; retrofit = refactor or VM/container, test elsewhere</a:t>
                      </a:r>
                      <a:endParaRPr/>
                    </a:p>
                    <a:p>
                      <a:pPr indent="0" lvl="0" marL="0" marR="0" rtl="0" algn="l">
                        <a:lnSpc>
                          <a:spcPct val="100000"/>
                        </a:lnSpc>
                        <a:spcBef>
                          <a:spcPts val="300"/>
                        </a:spcBef>
                        <a:spcAft>
                          <a:spcPts val="0"/>
                        </a:spcAft>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hard-wired paths, root needed; build and run failures</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installing dependencies = main review hurdle; invasive libraries</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VMs: safe but huge, cross-OS issues, no performance check; containers don’t stop decay</a:t>
                      </a:r>
                      <a:endParaRPr/>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C3 </a:t>
                      </a:r>
                      <a:r>
                        <a:rPr b="1" lang="en-US" sz="1700" u="none" cap="none" strike="noStrike">
                          <a:solidFill>
                            <a:srgbClr val="1A1A1A"/>
                          </a:solidFill>
                          <a:latin typeface="Arial"/>
                          <a:ea typeface="Arial"/>
                          <a:cs typeface="Arial"/>
                          <a:sym typeface="Arial"/>
                        </a:rPr>
                        <a:t>Maintenance</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ongoing cost: bugs, changing use cases, bitrot</a:t>
                      </a:r>
                      <a:endParaRPr/>
                    </a:p>
                    <a:p>
                      <a:pPr indent="0" lvl="0" marL="0" marR="0" rtl="0" algn="l">
                        <a:lnSpc>
                          <a:spcPct val="100000"/>
                        </a:lnSpc>
                        <a:spcBef>
                          <a:spcPts val="30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students maintain artifacts, then graduate</a:t>
                      </a:r>
                      <a:endParaRPr/>
                    </a:p>
                    <a:p>
                      <a:pPr indent="0" lvl="0" marL="0" marR="0" rtl="0" algn="l">
                        <a:lnSpc>
                          <a:spcPct val="100000"/>
                        </a:lnSpc>
                        <a:spcBef>
                          <a:spcPts val="300"/>
                        </a:spcBef>
                        <a:spcAft>
                          <a:spcPts val="0"/>
                        </a:spcAft>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unmaintained artifacts need old libraries that are ever harder to get</a:t>
                      </a:r>
                      <a:endParaRPr/>
                    </a:p>
                  </a:txBody>
                  <a:tcPr marT="36575" marB="36575" marR="91450" marL="91450">
                    <a:solidFill>
                      <a:srgbClr val="F1F3F2"/>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74" name="Google Shape;274;p2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75" name="Google Shape;275;p25"/>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RQ2 · C4-C6</a:t>
            </a:r>
            <a:endParaRPr/>
          </a:p>
        </p:txBody>
      </p:sp>
      <p:sp>
        <p:nvSpPr>
          <p:cNvPr id="276" name="Google Shape;276;p25"/>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a:p>
        </p:txBody>
      </p:sp>
      <p:graphicFrame>
        <p:nvGraphicFramePr>
          <p:cNvPr id="277" name="Google Shape;277;p25"/>
          <p:cNvGraphicFramePr/>
          <p:nvPr/>
        </p:nvGraphicFramePr>
        <p:xfrm>
          <a:off x="640080" y="1554480"/>
          <a:ext cx="3000000" cy="3000000"/>
        </p:xfrm>
        <a:graphic>
          <a:graphicData uri="http://schemas.openxmlformats.org/drawingml/2006/table">
            <a:tbl>
              <a:tblPr bandRow="1" firstRow="1">
                <a:noFill/>
                <a:tableStyleId>{BA0399A1-FE9B-46BE-AC09-F5867CF7C7D4}</a:tableStyleId>
              </a:tblPr>
              <a:tblGrid>
                <a:gridCol w="2468875"/>
                <a:gridCol w="8439900"/>
              </a:tblGrid>
              <a:tr h="411475">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Challenge</a:t>
                      </a:r>
                      <a:endParaRPr/>
                    </a:p>
                  </a:txBody>
                  <a:tcPr marT="45725" marB="45725" marR="91450" marL="91450">
                    <a:solidFill>
                      <a:srgbClr val="00883A"/>
                    </a:solidFill>
                  </a:tcPr>
                </a:tc>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Points raised</a:t>
                      </a:r>
                      <a:endParaRPr/>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C4 </a:t>
                      </a:r>
                      <a:r>
                        <a:rPr b="1" lang="en-US" sz="1700" u="none" cap="none" strike="noStrike">
                          <a:solidFill>
                            <a:srgbClr val="1A1A1A"/>
                          </a:solidFill>
                          <a:latin typeface="Arial"/>
                          <a:ea typeface="Arial"/>
                          <a:cs typeface="Arial"/>
                          <a:sym typeface="Arial"/>
                        </a:rPr>
                        <a:t>Tacit knowledge</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documentation and refactoring burdensome; know-how "in developers’ heads"; prototypes change fast</a:t>
                      </a:r>
                      <a:endParaRPr/>
                    </a:p>
                    <a:p>
                      <a:pPr indent="0" lvl="0" marL="0" marR="0" rtl="0" algn="l">
                        <a:lnSpc>
                          <a:spcPct val="100000"/>
                        </a:lnSpc>
                        <a:spcBef>
                          <a:spcPts val="300"/>
                        </a:spcBef>
                        <a:spcAft>
                          <a:spcPts val="0"/>
                        </a:spcAft>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missing usage and build instructions = most common user problems</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instructions incomplete, had to read the paper to fill gaps</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scripts no panacea: black box, may repeat authors’ mistakes; docs still needed</a:t>
                      </a:r>
                      <a:endParaRPr/>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C5 </a:t>
                      </a:r>
                      <a:r>
                        <a:rPr b="1" lang="en-US" sz="1700" u="none" cap="none" strike="noStrike">
                          <a:solidFill>
                            <a:srgbClr val="1A1A1A"/>
                          </a:solidFill>
                          <a:latin typeface="Arial"/>
                          <a:ea typeface="Arial"/>
                          <a:cs typeface="Arial"/>
                          <a:sym typeface="Arial"/>
                        </a:rPr>
                        <a:t>Doesn’t fit purpose</a:t>
                      </a:r>
                      <a:endParaRPr/>
                    </a:p>
                    <a:p>
                      <a:pPr indent="0" lvl="0" marL="0" marR="0" rtl="0" algn="l">
                        <a:lnSpc>
                          <a:spcPct val="100000"/>
                        </a:lnSpc>
                        <a:spcBef>
                          <a:spcPts val="0"/>
                        </a:spcBef>
                        <a:spcAft>
                          <a:spcPts val="0"/>
                        </a:spcAft>
                        <a:buNone/>
                      </a:pPr>
                      <a:r>
                        <a:rPr b="1" lang="en-US" sz="1600" u="none" cap="none" strike="noStrike">
                          <a:solidFill>
                            <a:srgbClr val="5F6368"/>
                          </a:solidFill>
                          <a:latin typeface="Arial"/>
                          <a:ea typeface="Arial"/>
                          <a:cs typeface="Arial"/>
                          <a:sym typeface="Arial"/>
                        </a:rPr>
                        <a:t>▲ </a:t>
                      </a:r>
                      <a:endParaRPr/>
                    </a:p>
                  </a:txBody>
                  <a:tcPr marT="36575" marB="36575" marR="91450" marL="91450">
                    <a:solidFill>
                      <a:srgbClr val="FFFFFF"/>
                    </a:solidFill>
                  </a:tcPr>
                </a:tc>
                <a:tc>
                  <a:txBody>
                    <a:bodyPr/>
                    <a:lstStyle/>
                    <a:p>
                      <a:pPr indent="0" lvl="0" marL="0" marR="0" rtl="0" algn="l">
                        <a:lnSpc>
                          <a:spcPct val="100000"/>
                        </a:lnSpc>
                        <a:spcBef>
                          <a:spcPts val="0"/>
                        </a:spcBef>
                        <a:spcAft>
                          <a:spcPts val="0"/>
                        </a:spcAft>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doesn’t serve the purpose stated in the paper; very narrow use cases</a:t>
                      </a:r>
                      <a:endParaRPr/>
                    </a:p>
                    <a:p>
                      <a:pPr indent="0" lvl="0" marL="0" marR="0" rtl="0" algn="l">
                        <a:lnSpc>
                          <a:spcPct val="100000"/>
                        </a:lnSpc>
                        <a:spcBef>
                          <a:spcPts val="300"/>
                        </a:spcBef>
                        <a:spcAft>
                          <a:spcPts val="0"/>
                        </a:spcAft>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users end up modifying or reimplementing</a:t>
                      </a:r>
                      <a:endParaRPr/>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C6 </a:t>
                      </a:r>
                      <a:r>
                        <a:rPr b="1" lang="en-US" sz="1700" u="none" cap="none" strike="noStrike">
                          <a:solidFill>
                            <a:srgbClr val="1A1A1A"/>
                          </a:solidFill>
                          <a:latin typeface="Arial"/>
                          <a:ea typeface="Arial"/>
                          <a:cs typeface="Arial"/>
                          <a:sym typeface="Arial"/>
                        </a:rPr>
                        <a:t>No standards / guidelines</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unclear packaging, contents, quality; how to handle existing datasets</a:t>
                      </a:r>
                      <a:endParaRPr/>
                    </a:p>
                    <a:p>
                      <a:pPr indent="0" lvl="0" marL="0" marR="0" rtl="0" algn="l">
                        <a:lnSpc>
                          <a:spcPct val="100000"/>
                        </a:lnSpc>
                        <a:spcBef>
                          <a:spcPts val="30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no guidance on setup instructions, contribution guides, docs</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review criteria and ACM badge text vague, "too general"</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unclear purpose (run scripts vs. deep dive) and link to paper acceptance: reject or "rubber stamp"?</a:t>
                      </a:r>
                      <a:endParaRPr/>
                    </a:p>
                  </a:txBody>
                  <a:tcPr marT="36575" marB="36575" marR="91450" marL="91450">
                    <a:solidFill>
                      <a:srgbClr val="F1F3F2"/>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84" name="Google Shape;284;p2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85" name="Google Shape;285;p26"/>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RQ2 · C7-C9</a:t>
            </a:r>
            <a:endParaRPr/>
          </a:p>
        </p:txBody>
      </p:sp>
      <p:sp>
        <p:nvSpPr>
          <p:cNvPr id="286" name="Google Shape;286;p26"/>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a:p>
        </p:txBody>
      </p:sp>
      <p:graphicFrame>
        <p:nvGraphicFramePr>
          <p:cNvPr id="287" name="Google Shape;287;p26"/>
          <p:cNvGraphicFramePr/>
          <p:nvPr/>
        </p:nvGraphicFramePr>
        <p:xfrm>
          <a:off x="640080" y="1554480"/>
          <a:ext cx="3000000" cy="3000000"/>
        </p:xfrm>
        <a:graphic>
          <a:graphicData uri="http://schemas.openxmlformats.org/drawingml/2006/table">
            <a:tbl>
              <a:tblPr bandRow="1" firstRow="1">
                <a:noFill/>
                <a:tableStyleId>{BA0399A1-FE9B-46BE-AC09-F5867CF7C7D4}</a:tableStyleId>
              </a:tblPr>
              <a:tblGrid>
                <a:gridCol w="2468875"/>
                <a:gridCol w="8439900"/>
              </a:tblGrid>
              <a:tr h="411475">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Challenge</a:t>
                      </a:r>
                      <a:endParaRPr/>
                    </a:p>
                  </a:txBody>
                  <a:tcPr marT="45725" marB="45725" marR="91450" marL="91450">
                    <a:solidFill>
                      <a:srgbClr val="00883A"/>
                    </a:solidFill>
                  </a:tcPr>
                </a:tc>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Points raised</a:t>
                      </a:r>
                      <a:endParaRPr/>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C7 </a:t>
                      </a:r>
                      <a:r>
                        <a:rPr b="1" lang="en-US" sz="1700" u="none" cap="none" strike="noStrike">
                          <a:solidFill>
                            <a:srgbClr val="1A1A1A"/>
                          </a:solidFill>
                          <a:latin typeface="Arial"/>
                          <a:ea typeface="Arial"/>
                          <a:cs typeface="Arial"/>
                          <a:sym typeface="Arial"/>
                        </a:rPr>
                        <a:t>Hosting</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needs indefinite, large, free hosting; GitHub, Drive, Dropbox aren’t archives</a:t>
                      </a:r>
                      <a:endParaRPr/>
                    </a:p>
                    <a:p>
                      <a:pPr indent="0" lvl="0" marL="0" marR="0" rtl="0" algn="l">
                        <a:lnSpc>
                          <a:spcPct val="100000"/>
                        </a:lnSpc>
                        <a:spcBef>
                          <a:spcPts val="300"/>
                        </a:spcBef>
                        <a:spcAft>
                          <a:spcPts val="0"/>
                        </a:spcAft>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inaccessible artifacts = 2nd most common user problem; dead links rise with age</a:t>
                      </a:r>
                      <a:endParaRPr/>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C8 </a:t>
                      </a:r>
                      <a:r>
                        <a:rPr b="1" lang="en-US" sz="1700" u="none" cap="none" strike="noStrike">
                          <a:solidFill>
                            <a:srgbClr val="1A1A1A"/>
                          </a:solidFill>
                          <a:latin typeface="Arial"/>
                          <a:ea typeface="Arial"/>
                          <a:cs typeface="Arial"/>
                          <a:sym typeface="Arial"/>
                        </a:rPr>
                        <a:t>Double-blind review</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endParaRPr/>
                    </a:p>
                  </a:txBody>
                  <a:tcPr marT="36575" marB="36575" marR="91450" marL="91450">
                    <a:solidFill>
                      <a:srgbClr val="FFFFFF"/>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artifact must be anonymised; anonymous hosting hard to find</a:t>
                      </a:r>
                      <a:endParaRPr/>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C9 </a:t>
                      </a:r>
                      <a:r>
                        <a:rPr b="1" lang="en-US" sz="1700" u="none" cap="none" strike="noStrike">
                          <a:solidFill>
                            <a:srgbClr val="1A1A1A"/>
                          </a:solidFill>
                          <a:latin typeface="Arial"/>
                          <a:ea typeface="Arial"/>
                          <a:cs typeface="Arial"/>
                          <a:sym typeface="Arial"/>
                        </a:rPr>
                        <a:t>External constraints</a:t>
                      </a:r>
                      <a:endParaRPr/>
                    </a:p>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IP and contracts, liability fears, privacy (re-identifiable qualitative data), larger ecosystems</a:t>
                      </a:r>
                      <a:endParaRPr/>
                    </a:p>
                    <a:p>
                      <a:pPr indent="0" lvl="0" marL="0" marR="0" rtl="0" algn="l">
                        <a:lnSpc>
                          <a:spcPct val="100000"/>
                        </a:lnSpc>
                        <a:spcBef>
                          <a:spcPts val="300"/>
                        </a:spcBef>
                        <a:spcAft>
                          <a:spcPts val="0"/>
                        </a:spcAft>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criticised for unshared industry data: "ritualistic blanket argument" (P22)</a:t>
                      </a:r>
                      <a:endParaRPr/>
                    </a:p>
                    <a:p>
                      <a:pPr indent="0" lvl="0" marL="0" marR="0" rtl="0" algn="l">
                        <a:lnSpc>
                          <a:spcPct val="100000"/>
                        </a:lnSpc>
                        <a:spcBef>
                          <a:spcPts val="300"/>
                        </a:spcBef>
                        <a:spcAft>
                          <a:spcPts val="0"/>
                        </a:spcAft>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licences block extension; decompiling; paid licences for tools</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reviewers lack licences; no pathway for proprietary components</a:t>
                      </a:r>
                      <a:endParaRPr/>
                    </a:p>
                  </a:txBody>
                  <a:tcPr marT="36575" marB="36575" marR="91450" marL="91450">
                    <a:solidFill>
                      <a:srgbClr val="F1F3F2"/>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94" name="Google Shape;294;p2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95" name="Google Shape;295;p27"/>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5F6368"/>
                </a:solidFill>
                <a:latin typeface="Arial"/>
                <a:ea typeface="Arial"/>
                <a:cs typeface="Arial"/>
                <a:sym typeface="Arial"/>
              </a:rPr>
              <a:t>RQ2 · C10-C12</a:t>
            </a:r>
            <a:endParaRPr/>
          </a:p>
        </p:txBody>
      </p:sp>
      <p:sp>
        <p:nvSpPr>
          <p:cNvPr id="296" name="Google Shape;296;p27"/>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a:p>
        </p:txBody>
      </p:sp>
      <p:graphicFrame>
        <p:nvGraphicFramePr>
          <p:cNvPr id="297" name="Google Shape;297;p27"/>
          <p:cNvGraphicFramePr/>
          <p:nvPr/>
        </p:nvGraphicFramePr>
        <p:xfrm>
          <a:off x="640080" y="1554480"/>
          <a:ext cx="3000000" cy="3000000"/>
        </p:xfrm>
        <a:graphic>
          <a:graphicData uri="http://schemas.openxmlformats.org/drawingml/2006/table">
            <a:tbl>
              <a:tblPr bandRow="1" firstRow="1">
                <a:noFill/>
                <a:tableStyleId>{BA0399A1-FE9B-46BE-AC09-F5867CF7C7D4}</a:tableStyleId>
              </a:tblPr>
              <a:tblGrid>
                <a:gridCol w="2468875"/>
                <a:gridCol w="8439900"/>
              </a:tblGrid>
              <a:tr h="411475">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Challenge</a:t>
                      </a:r>
                      <a:endParaRPr/>
                    </a:p>
                  </a:txBody>
                  <a:tcPr marT="45725" marB="45725" marR="91450" marL="91450">
                    <a:solidFill>
                      <a:srgbClr val="00883A"/>
                    </a:solidFill>
                  </a:tcPr>
                </a:tc>
                <a:tc>
                  <a:txBody>
                    <a:bodyPr/>
                    <a:lstStyle/>
                    <a:p>
                      <a:pPr indent="0" lvl="0" marL="0" marR="0" rtl="0" algn="l">
                        <a:lnSpc>
                          <a:spcPct val="100000"/>
                        </a:lnSpc>
                        <a:spcBef>
                          <a:spcPts val="0"/>
                        </a:spcBef>
                        <a:spcAft>
                          <a:spcPts val="0"/>
                        </a:spcAft>
                        <a:buNone/>
                      </a:pPr>
                      <a:r>
                        <a:rPr b="1" lang="en-US" sz="1700" u="none" cap="none" strike="noStrike">
                          <a:solidFill>
                            <a:srgbClr val="FFFFFF"/>
                          </a:solidFill>
                          <a:latin typeface="Arial"/>
                          <a:ea typeface="Arial"/>
                          <a:cs typeface="Arial"/>
                          <a:sym typeface="Arial"/>
                        </a:rPr>
                        <a:t>Points raised</a:t>
                      </a:r>
                      <a:endParaRPr/>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C10 </a:t>
                      </a:r>
                      <a:r>
                        <a:rPr b="1" lang="en-US" sz="1700" u="none" cap="none" strike="noStrike">
                          <a:solidFill>
                            <a:srgbClr val="1A1A1A"/>
                          </a:solidFill>
                          <a:latin typeface="Arial"/>
                          <a:ea typeface="Arial"/>
                          <a:cs typeface="Arial"/>
                          <a:sym typeface="Arial"/>
                        </a:rPr>
                        <a:t>No reviewer incentives</a:t>
                      </a:r>
                      <a:endParaRPr/>
                    </a:p>
                    <a:p>
                      <a:pPr indent="0" lvl="0" marL="0" marR="0" rtl="0" algn="l">
                        <a:lnSpc>
                          <a:spcPct val="100000"/>
                        </a:lnSpc>
                        <a:spcBef>
                          <a:spcPts val="0"/>
                        </a:spcBef>
                        <a:spcAft>
                          <a:spcPts val="0"/>
                        </a:spcAft>
                        <a:buNone/>
                      </a:pPr>
                      <a:r>
                        <a:rPr b="1" lang="en-US" sz="1600" u="none" cap="none" strike="noStrike">
                          <a:solidFill>
                            <a:srgbClr val="1A1A1A"/>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time-consuming, not rewarded like paper review</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"we usually just make students do AEC": training, but signals artifacts are secondary</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 inconsistent, low-quality reviews</a:t>
                      </a:r>
                      <a:endParaRPr/>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C11 </a:t>
                      </a:r>
                      <a:r>
                        <a:rPr b="1" lang="en-US" sz="1700" u="none" cap="none" strike="noStrike">
                          <a:solidFill>
                            <a:srgbClr val="1A1A1A"/>
                          </a:solidFill>
                          <a:latin typeface="Arial"/>
                          <a:ea typeface="Arial"/>
                          <a:cs typeface="Arial"/>
                          <a:sym typeface="Arial"/>
                        </a:rPr>
                        <a:t>Technical obstacles</a:t>
                      </a:r>
                      <a:endParaRPr/>
                    </a:p>
                    <a:p>
                      <a:pPr indent="0" lvl="0" marL="0" marR="0" rtl="0" algn="l">
                        <a:lnSpc>
                          <a:spcPct val="100000"/>
                        </a:lnSpc>
                        <a:spcBef>
                          <a:spcPts val="0"/>
                        </a:spcBef>
                        <a:spcAft>
                          <a:spcPts val="0"/>
                        </a:spcAft>
                        <a:buNone/>
                      </a:pPr>
                      <a:r>
                        <a:rPr b="1" lang="en-US" sz="1600" u="none" cap="none" strike="noStrike">
                          <a:solidFill>
                            <a:srgbClr val="1A1A1A"/>
                          </a:solidFill>
                          <a:latin typeface="Arial"/>
                          <a:ea typeface="Arial"/>
                          <a:cs typeface="Arial"/>
                          <a:sym typeface="Arial"/>
                        </a:rPr>
                        <a:t>★ </a:t>
                      </a:r>
                      <a:endParaRPr/>
                    </a:p>
                  </a:txBody>
                  <a:tcPr marT="36575" marB="36575" marR="91450" marL="91450">
                    <a:solidFill>
                      <a:srgbClr val="FFFFFF"/>
                    </a:solidFill>
                  </a:tcPr>
                </a:tc>
                <a:tc>
                  <a:txBody>
                    <a:bodyPr/>
                    <a:lstStyle/>
                    <a:p>
                      <a:pPr indent="0" lvl="0" marL="0" marR="0" rtl="0" algn="l">
                        <a:lnSpc>
                          <a:spcPct val="100000"/>
                        </a:lnSpc>
                        <a:spcBef>
                          <a:spcPts val="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long runtimes, little compute; what if &gt; 1 day per artifact?</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huge VM images vs. disk space and slow downloads</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some experiments infeasible to re-run: cloud, fuzzing, program repair</a:t>
                      </a:r>
                      <a:endParaRPr/>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None/>
                      </a:pPr>
                      <a:r>
                        <a:rPr b="1" lang="en-US" sz="1700" u="none" cap="none" strike="noStrike">
                          <a:solidFill>
                            <a:srgbClr val="00883A"/>
                          </a:solidFill>
                          <a:latin typeface="Arial"/>
                          <a:ea typeface="Arial"/>
                          <a:cs typeface="Arial"/>
                          <a:sym typeface="Arial"/>
                        </a:rPr>
                        <a:t>C12 </a:t>
                      </a:r>
                      <a:r>
                        <a:rPr b="1" lang="en-US" sz="1700" u="none" cap="none" strike="noStrike">
                          <a:solidFill>
                            <a:srgbClr val="1A1A1A"/>
                          </a:solidFill>
                          <a:latin typeface="Arial"/>
                          <a:ea typeface="Arial"/>
                          <a:cs typeface="Arial"/>
                          <a:sym typeface="Arial"/>
                        </a:rPr>
                        <a:t>Limited communication</a:t>
                      </a:r>
                      <a:endParaRPr/>
                    </a:p>
                    <a:p>
                      <a:pPr indent="0" lvl="0" marL="0" marR="0" rtl="0" algn="l">
                        <a:lnSpc>
                          <a:spcPct val="100000"/>
                        </a:lnSpc>
                        <a:spcBef>
                          <a:spcPts val="0"/>
                        </a:spcBef>
                        <a:spcAft>
                          <a:spcPts val="0"/>
                        </a:spcAft>
                        <a:buNone/>
                      </a:pPr>
                      <a:r>
                        <a:rPr b="1" lang="en-US" sz="1600" u="none" cap="none" strike="noStrike">
                          <a:solidFill>
                            <a:srgbClr val="1A1A1A"/>
                          </a:solidFill>
                          <a:latin typeface="Arial"/>
                          <a:ea typeface="Arial"/>
                          <a:cs typeface="Arial"/>
                          <a:sym typeface="Arial"/>
                        </a:rPr>
                        <a:t>★ </a:t>
                      </a:r>
                      <a:endParaRPr/>
                    </a:p>
                  </a:txBody>
                  <a:tcPr marT="36575" marB="36575" marR="91450" marL="91450">
                    <a:solidFill>
                      <a:srgbClr val="F1F3F2"/>
                    </a:solidFill>
                  </a:tcPr>
                </a:tc>
                <a:tc>
                  <a:txBody>
                    <a:bodyPr/>
                    <a:lstStyle/>
                    <a:p>
                      <a:pPr indent="0" lvl="0" marL="0" marR="0" rtl="0" algn="l">
                        <a:lnSpc>
                          <a:spcPct val="100000"/>
                        </a:lnSpc>
                        <a:spcBef>
                          <a:spcPts val="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single-round reviews: minor install glitch shouldn’t mean rejection</a:t>
                      </a:r>
                      <a:endParaRPr/>
                    </a:p>
                    <a:p>
                      <a:pPr indent="0" lvl="0" marL="0" marR="0" rtl="0" algn="l">
                        <a:lnSpc>
                          <a:spcPct val="100000"/>
                        </a:lnSpc>
                        <a:spcBef>
                          <a:spcPts val="300"/>
                        </a:spcBef>
                        <a:spcAft>
                          <a:spcPts val="0"/>
                        </a:spcAft>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authors willing to help matter most; unresponsive authors leave reviewers waiting days</a:t>
                      </a:r>
                      <a:endParaRPr/>
                    </a:p>
                  </a:txBody>
                  <a:tcPr marT="36575" marB="36575" marR="91450" marL="91450">
                    <a:solidFill>
                      <a:srgbClr val="F1F3F2"/>
                    </a:solidFill>
                  </a:tcPr>
                </a:tc>
              </a:tr>
            </a:tbl>
          </a:graphicData>
        </a:graphic>
      </p:graphicFrame>
      <p:sp>
        <p:nvSpPr>
          <p:cNvPr id="298" name="Google Shape;298;p27"/>
          <p:cNvSpPr txBox="1"/>
          <p:nvPr/>
        </p:nvSpPr>
        <p:spPr>
          <a:xfrm>
            <a:off x="640080" y="5989320"/>
            <a:ext cx="1090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5F6368"/>
                </a:solidFill>
                <a:latin typeface="Arial"/>
                <a:ea typeface="Arial"/>
                <a:cs typeface="Arial"/>
                <a:sym typeface="Arial"/>
              </a:rPr>
              <a:t>Context: few artifact papers are submitted to AE (FSE 2015-18: 74 of 196), and most of those pass (86 %); some reviewers are happy with the process.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305" name="Google Shape;305;p2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06" name="Google Shape;306;p28"/>
          <p:cNvSpPr/>
          <p:nvPr/>
        </p:nvSpPr>
        <p:spPr>
          <a:xfrm>
            <a:off x="640080" y="1417320"/>
            <a:ext cx="10908900" cy="8688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7" name="Google Shape;307;p28"/>
          <p:cNvSpPr txBox="1"/>
          <p:nvPr/>
        </p:nvSpPr>
        <p:spPr>
          <a:xfrm>
            <a:off x="822960" y="1463040"/>
            <a:ext cx="23775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Replicability</a:t>
            </a:r>
            <a:endParaRPr/>
          </a:p>
        </p:txBody>
      </p:sp>
      <p:sp>
        <p:nvSpPr>
          <p:cNvPr id="308" name="Google Shape;308;p28"/>
          <p:cNvSpPr txBox="1"/>
          <p:nvPr/>
        </p:nvSpPr>
        <p:spPr>
          <a:xfrm>
            <a:off x="3200400" y="1463040"/>
            <a:ext cx="8229600" cy="369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data and scripts shared; qualitative answers kept confidential</a:t>
            </a:r>
            <a:endParaRPr/>
          </a:p>
        </p:txBody>
      </p:sp>
      <p:sp>
        <p:nvSpPr>
          <p:cNvPr id="309" name="Google Shape;309;p28"/>
          <p:cNvSpPr/>
          <p:nvPr/>
        </p:nvSpPr>
        <p:spPr>
          <a:xfrm>
            <a:off x="640080" y="2395728"/>
            <a:ext cx="10908900" cy="8688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0" name="Google Shape;310;p28"/>
          <p:cNvSpPr txBox="1"/>
          <p:nvPr/>
        </p:nvSpPr>
        <p:spPr>
          <a:xfrm>
            <a:off x="822960" y="2441448"/>
            <a:ext cx="23775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Construct</a:t>
            </a:r>
            <a:endParaRPr/>
          </a:p>
        </p:txBody>
      </p:sp>
      <p:sp>
        <p:nvSpPr>
          <p:cNvPr id="311" name="Google Shape;311;p28"/>
          <p:cNvSpPr txBox="1"/>
          <p:nvPr/>
        </p:nvSpPr>
        <p:spPr>
          <a:xfrm>
            <a:off x="3200400" y="2441448"/>
            <a:ext cx="8229600" cy="369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artifact = any link; unlinked artifacts missed; authors not contacted</a:t>
            </a:r>
            <a:endParaRPr/>
          </a:p>
        </p:txBody>
      </p:sp>
      <p:sp>
        <p:nvSpPr>
          <p:cNvPr id="312" name="Google Shape;312;p28"/>
          <p:cNvSpPr/>
          <p:nvPr/>
        </p:nvSpPr>
        <p:spPr>
          <a:xfrm>
            <a:off x="640080" y="3374136"/>
            <a:ext cx="10908900" cy="8688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3" name="Google Shape;313;p28"/>
          <p:cNvSpPr txBox="1"/>
          <p:nvPr/>
        </p:nvSpPr>
        <p:spPr>
          <a:xfrm>
            <a:off x="822960" y="3419856"/>
            <a:ext cx="23775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Internal</a:t>
            </a:r>
            <a:endParaRPr/>
          </a:p>
        </p:txBody>
      </p:sp>
      <p:sp>
        <p:nvSpPr>
          <p:cNvPr id="314" name="Google Shape;314;p28"/>
          <p:cNvSpPr txBox="1"/>
          <p:nvPr/>
        </p:nvSpPr>
        <p:spPr>
          <a:xfrm>
            <a:off x="3200400" y="3419856"/>
            <a:ext cx="8229600" cy="646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survey bias from respondents and researchers; triangulation, documented coding</a:t>
            </a:r>
            <a:endParaRPr/>
          </a:p>
        </p:txBody>
      </p:sp>
      <p:sp>
        <p:nvSpPr>
          <p:cNvPr id="315" name="Google Shape;315;p28"/>
          <p:cNvSpPr/>
          <p:nvPr/>
        </p:nvSpPr>
        <p:spPr>
          <a:xfrm>
            <a:off x="640080" y="4352544"/>
            <a:ext cx="10908900" cy="8688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6" name="Google Shape;316;p28"/>
          <p:cNvSpPr txBox="1"/>
          <p:nvPr/>
        </p:nvSpPr>
        <p:spPr>
          <a:xfrm>
            <a:off x="822960" y="4398264"/>
            <a:ext cx="23775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"Available"</a:t>
            </a:r>
            <a:endParaRPr/>
          </a:p>
        </p:txBody>
      </p:sp>
      <p:sp>
        <p:nvSpPr>
          <p:cNvPr id="317" name="Google Shape;317;p28"/>
          <p:cNvSpPr txBox="1"/>
          <p:nvPr/>
        </p:nvSpPr>
        <p:spPr>
          <a:xfrm>
            <a:off x="3200400" y="4398264"/>
            <a:ext cx="8229600" cy="369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link still works; content and quality not checked</a:t>
            </a:r>
            <a:endParaRPr/>
          </a:p>
        </p:txBody>
      </p:sp>
      <p:sp>
        <p:nvSpPr>
          <p:cNvPr id="318" name="Google Shape;318;p28"/>
          <p:cNvSpPr/>
          <p:nvPr/>
        </p:nvSpPr>
        <p:spPr>
          <a:xfrm>
            <a:off x="640080" y="5330952"/>
            <a:ext cx="10908900" cy="8688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28"/>
          <p:cNvSpPr txBox="1"/>
          <p:nvPr/>
        </p:nvSpPr>
        <p:spPr>
          <a:xfrm>
            <a:off x="822960" y="5376672"/>
            <a:ext cx="2377500" cy="400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883A"/>
                </a:solidFill>
                <a:latin typeface="Arial"/>
                <a:ea typeface="Arial"/>
                <a:cs typeface="Arial"/>
                <a:sym typeface="Arial"/>
              </a:rPr>
              <a:t>External</a:t>
            </a:r>
            <a:endParaRPr/>
          </a:p>
        </p:txBody>
      </p:sp>
      <p:sp>
        <p:nvSpPr>
          <p:cNvPr id="320" name="Google Shape;320;p28"/>
          <p:cNvSpPr txBox="1"/>
          <p:nvPr/>
        </p:nvSpPr>
        <p:spPr>
          <a:xfrm>
            <a:off x="3200400" y="5376672"/>
            <a:ext cx="8229600" cy="369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1A1A1A"/>
                </a:solidFill>
                <a:latin typeface="Arial"/>
                <a:ea typeface="Arial"/>
                <a:cs typeface="Arial"/>
                <a:sym typeface="Arial"/>
              </a:rPr>
              <a:t>results describe only the SE research community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 (Kevin)</a:t>
            </a:r>
            <a:endParaRPr b="0" i="0" sz="4000" u="none" cap="none" strike="noStrike">
              <a:solidFill>
                <a:schemeClr val="dk1"/>
              </a:solidFill>
              <a:latin typeface="Arial"/>
              <a:ea typeface="Arial"/>
              <a:cs typeface="Arial"/>
              <a:sym typeface="Arial"/>
            </a:endParaRPr>
          </a:p>
        </p:txBody>
      </p:sp>
      <p:sp>
        <p:nvSpPr>
          <p:cNvPr id="327" name="Google Shape;327;p2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28" name="Google Shape;328;p29"/>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3" name="Shape 333"/>
        <p:cNvGrpSpPr/>
        <p:nvPr/>
      </p:nvGrpSpPr>
      <p:grpSpPr>
        <a:xfrm>
          <a:off x="0" y="0"/>
          <a:ext cx="0" cy="0"/>
          <a:chOff x="0" y="0"/>
          <a:chExt cx="0" cy="0"/>
        </a:xfrm>
      </p:grpSpPr>
      <p:sp>
        <p:nvSpPr>
          <p:cNvPr id="334" name="Google Shape;334;p3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35" name="Google Shape;335;p3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36" name="Google Shape;336;p30"/>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General Ideas Dump:</a:t>
            </a:r>
            <a:endParaRPr sz="1000">
              <a:solidFill>
                <a:srgbClr val="1A1A1A"/>
              </a:solidFill>
              <a:latin typeface="Roboto"/>
              <a:ea typeface="Roboto"/>
              <a:cs typeface="Roboto"/>
              <a:sym typeface="Roboto"/>
            </a:endParaRPr>
          </a:p>
          <a:p>
            <a:pPr indent="0" lvl="0" marL="0" rtl="0" algn="l">
              <a:lnSpc>
                <a:spcPct val="100000"/>
              </a:lnSpc>
              <a:spcBef>
                <a:spcPts val="0"/>
              </a:spcBef>
              <a:spcAft>
                <a:spcPts val="0"/>
              </a:spcAft>
              <a:buNone/>
            </a:pPr>
            <a:r>
              <a:t/>
            </a:r>
            <a:endParaRPr sz="1000">
              <a:highlight>
                <a:srgbClr val="FFFFFF"/>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Does every paper need an artifact?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Which motivation should artifact sharing serve first: letting others replicate, reproduce, or build upon the work? -&gt; which provides the most value?</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artifact evaluation stay optional and post-acceptance, or move into paper review, as TACAS does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Is it a problem that ACM leaves the evaluation process entirely to each conference?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FF"/>
                </a:highlight>
                <a:latin typeface="Roboto"/>
                <a:ea typeface="Roboto"/>
                <a:cs typeface="Roboto"/>
                <a:sym typeface="Roboto"/>
              </a:rPr>
              <a:t>Should artifact evaluation allow formal exceptions, for example for industry papers whose data can't legally be shared? The ACM scheme already separates "works" from "public", and lets proprietary parts be replaced by proxies. </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FF"/>
                </a:highlight>
                <a:latin typeface="Roboto"/>
                <a:ea typeface="Roboto"/>
                <a:cs typeface="Roboto"/>
                <a:sym typeface="Roboto"/>
              </a:rPr>
              <a:t>Which DoI element do you think explains most of the problems: communication channels, time or the social system? </a:t>
            </a:r>
            <a:endParaRPr sz="1000">
              <a:highlight>
                <a:srgbClr val="FF00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research-community policies be held to the same evidence standard as the research itself?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Results only describe the SE research community (p. 11). Do you expect the same challenges in other fields, e.g. HCI, ML or physics? -&gt; could differ for fields with central data infrastructures (e.g. physics with CERN) etc.</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Should an artifact be required whenever a paper makes empirical claims? -&gt; claims without evidence aren't checkable  OR peer review of the paper should be enough for many claims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00FFFF"/>
                </a:highlight>
                <a:latin typeface="Roboto"/>
                <a:ea typeface="Roboto"/>
                <a:cs typeface="Roboto"/>
                <a:sym typeface="Roboto"/>
              </a:rPr>
              <a:t>Respondents want sharing "encouraged and rewarded". What reward would actually change your behaviour? -&gt; what reward do you think would incentivise you most as a Researcher?</a:t>
            </a:r>
            <a:endParaRPr sz="1000">
              <a:highlight>
                <a:srgbClr val="FFFF00"/>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Methodology:</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Is "the URL can be accessed" a good enough test of availability? -&gt; A live page with a dead download, or an unusable artifact, still counts </a:t>
            </a:r>
            <a:endParaRPr sz="1000">
              <a:highlight>
                <a:srgbClr val="FF00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the authors have contacted paper authors for missing artifacts, as Collberg &amp; Proebsting did? -&gt; otherwise availability is underestimated </a:t>
            </a:r>
            <a:endParaRPr sz="1000">
              <a:highlight>
                <a:srgbClr val="FF00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How should we read a 26 % dead-link rate for 2014 vs. 5 % for 2018 ? -&gt; older links simply had more time to break</a:t>
            </a:r>
            <a:endParaRPr sz="1000">
              <a:highlight>
                <a:srgbClr val="FF00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FF"/>
                </a:highlight>
                <a:latin typeface="Roboto"/>
                <a:ea typeface="Roboto"/>
                <a:cs typeface="Roboto"/>
                <a:sym typeface="Roboto"/>
              </a:rPr>
              <a:t>Bias in the 22 % response rate? -&gt; 78 % didn't answer, and those who did probably care more about artifacts (self-selection) -&gt; refine? or maybe leave out methodology questions from discussion?</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the survey also have reached researchers who have never shared an artifact, or who left academia? -&gt; they hold the main reasons for </a:t>
            </a:r>
            <a:r>
              <a:rPr i="1" lang="en-US" sz="1000">
                <a:highlight>
                  <a:srgbClr val="FFFF00"/>
                </a:highlight>
                <a:latin typeface="Roboto"/>
                <a:ea typeface="Roboto"/>
                <a:cs typeface="Roboto"/>
                <a:sym typeface="Roboto"/>
              </a:rPr>
              <a:t>not</a:t>
            </a:r>
            <a:r>
              <a:rPr lang="en-US" sz="1000">
                <a:highlight>
                  <a:srgbClr val="FFFF00"/>
                </a:highlight>
                <a:latin typeface="Roboto"/>
                <a:ea typeface="Roboto"/>
                <a:cs typeface="Roboto"/>
                <a:sym typeface="Roboto"/>
              </a:rPr>
              <a:t> sharing. </a:t>
            </a:r>
            <a:endParaRPr sz="1000">
              <a:highlight>
                <a:srgbClr val="FF00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0000"/>
                </a:highlight>
                <a:latin typeface="Roboto"/>
                <a:ea typeface="Roboto"/>
                <a:cs typeface="Roboto"/>
                <a:sym typeface="Roboto"/>
              </a:rPr>
              <a:t>A study about artifact sharing can't share its qualitative data (confidentiality). Is that a contradiction, or the same legitimate constraint as C9? -&gt; it shows the field accepts "can't share" too easily. </a:t>
            </a:r>
            <a:endParaRPr sz="1000">
              <a:highlight>
                <a:srgbClr val="FF00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Internal validity: respondents and researchers can be biased. Which bias do you think matters most here? -&gt; respondents presenting themselves as good sharers. OR the authors (artifact advocates) reading the answers through their own views. </a:t>
            </a:r>
            <a:endParaRPr sz="1000">
              <a:highlight>
                <a:srgbClr val="FF0000"/>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rPr lang="en-US" sz="1000">
                <a:highlight>
                  <a:srgbClr val="FF00FF"/>
                </a:highlight>
                <a:latin typeface="Roboto"/>
                <a:ea typeface="Roboto"/>
                <a:cs typeface="Roboto"/>
                <a:sym typeface="Roboto"/>
              </a:rPr>
              <a:t>Recommendations</a:t>
            </a:r>
            <a:r>
              <a:rPr lang="en-US" sz="1000">
                <a:highlight>
                  <a:srgbClr val="FF00FF"/>
                </a:highlight>
                <a:latin typeface="Roboto"/>
                <a:ea typeface="Roboto"/>
                <a:cs typeface="Roboto"/>
                <a:sym typeface="Roboto"/>
              </a:rPr>
              <a:t>:</a:t>
            </a:r>
            <a:endParaRPr sz="1000">
              <a:highlight>
                <a:srgbClr val="FF00FF"/>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00FF"/>
                </a:highlight>
                <a:latin typeface="Roboto"/>
                <a:ea typeface="Roboto"/>
                <a:cs typeface="Roboto"/>
                <a:sym typeface="Roboto"/>
              </a:rPr>
              <a:t>"Does not exacerbate any known challenges": do Rec 1–Rec 3 (more documentation, self-contained artifacts, planning) add work for creators, worsening C1 "not worth it"? </a:t>
            </a:r>
            <a:endParaRPr sz="1000">
              <a:highlight>
                <a:srgbClr val="FF00FF"/>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00FF"/>
                </a:highlight>
                <a:latin typeface="Roboto"/>
                <a:ea typeface="Roboto"/>
                <a:cs typeface="Roboto"/>
                <a:sym typeface="Roboto"/>
              </a:rPr>
              <a:t>Which target group would change the most if it acted: creators, advisors, reviewers, organisers or community leaders?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00FFFF"/>
                </a:highlight>
                <a:latin typeface="Roboto"/>
                <a:ea typeface="Roboto"/>
                <a:cs typeface="Roboto"/>
                <a:sym typeface="Roboto"/>
              </a:rPr>
              <a:t>What would you do as a follow-up study to these papers? (e.g. tracking the same artifacts over time?, Attempts to implement the suggestions and seeing the results?, …) </a:t>
            </a:r>
            <a:endParaRPr sz="1000">
              <a:highlight>
                <a:srgbClr val="00FFFF"/>
              </a:highlight>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1" name="Shape 341"/>
        <p:cNvGrpSpPr/>
        <p:nvPr/>
      </p:nvGrpSpPr>
      <p:grpSpPr>
        <a:xfrm>
          <a:off x="0" y="0"/>
          <a:ext cx="0" cy="0"/>
          <a:chOff x="0" y="0"/>
          <a:chExt cx="0" cy="0"/>
        </a:xfrm>
      </p:grpSpPr>
      <p:sp>
        <p:nvSpPr>
          <p:cNvPr id="342" name="Google Shape;342;p3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43" name="Google Shape;343;p3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44" name="Google Shape;344;p31"/>
          <p:cNvSpPr txBox="1"/>
          <p:nvPr/>
        </p:nvSpPr>
        <p:spPr>
          <a:xfrm>
            <a:off x="640075" y="1463050"/>
            <a:ext cx="10911600" cy="531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On RQ2:</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Clr>
                <a:srgbClr val="1A1A1A"/>
              </a:buClr>
              <a:buSzPts val="1000"/>
              <a:buFont typeface="Roboto"/>
              <a:buChar char="●"/>
            </a:pPr>
            <a:r>
              <a:rPr lang="en-US" sz="1000">
                <a:solidFill>
                  <a:srgbClr val="1A1A1A"/>
                </a:solidFill>
                <a:highlight>
                  <a:srgbClr val="00FFFF"/>
                </a:highlight>
                <a:latin typeface="Roboto"/>
                <a:ea typeface="Roboto"/>
                <a:cs typeface="Roboto"/>
                <a:sym typeface="Roboto"/>
              </a:rPr>
              <a:t>Could go through all Challenges one by one, asking people which of these they think are actually legitimate concerns and why -&gt; probably a waste of ime compared to targetted questions</a:t>
            </a:r>
            <a:endParaRPr sz="1000">
              <a:solidFill>
                <a:srgbClr val="1A1A1A"/>
              </a:solidFill>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C1:</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Is fear of being "scooped" a legitimate reason to delay sharing? -&gt; Maybe priority is established by the paper, and an embargo would be the better compromise. ? -&gt; What are other ways to try to resolve this?</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"Nobody else will use it" (limited audience). Should artifacts be shared even if probably nobody uses them? </a:t>
            </a:r>
            <a:r>
              <a:rPr lang="en-US" sz="1000">
                <a:highlight>
                  <a:srgbClr val="FFFF00"/>
                </a:highlight>
                <a:latin typeface="Roboto"/>
                <a:ea typeface="Roboto"/>
                <a:cs typeface="Roboto"/>
                <a:sym typeface="Roboto"/>
              </a:rPr>
              <a:t>-&gt; What are other ways to try to resolve this? -&gt; Respondent P68 says whole research areas died because early work had no artifacts. </a:t>
            </a:r>
            <a:endParaRPr sz="1000">
              <a:highlight>
                <a:srgbClr val="FF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C2:</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Clr>
                <a:srgbClr val="1A1A1A"/>
              </a:buClr>
              <a:buSzPts val="1000"/>
              <a:buFont typeface="Roboto"/>
              <a:buChar char="●"/>
            </a:pPr>
            <a:r>
              <a:rPr lang="en-US" sz="1000">
                <a:highlight>
                  <a:srgbClr val="FFFF00"/>
                </a:highlight>
                <a:latin typeface="Roboto"/>
                <a:ea typeface="Roboto"/>
                <a:cs typeface="Roboto"/>
                <a:sym typeface="Roboto"/>
              </a:rPr>
              <a:t>If a VM can't show realistic performance, should performance claims be excluded from artifact evaluation? </a:t>
            </a:r>
            <a:r>
              <a:rPr lang="en-US" sz="1000">
                <a:highlight>
                  <a:srgbClr val="00FFFF"/>
                </a:highlight>
                <a:latin typeface="Roboto"/>
                <a:ea typeface="Roboto"/>
                <a:cs typeface="Roboto"/>
                <a:sym typeface="Roboto"/>
              </a:rPr>
              <a:t>-&gt; </a:t>
            </a:r>
            <a:r>
              <a:rPr lang="en-US" sz="1000">
                <a:highlight>
                  <a:srgbClr val="00FFFF"/>
                </a:highlight>
                <a:latin typeface="Roboto"/>
                <a:ea typeface="Roboto"/>
                <a:cs typeface="Roboto"/>
                <a:sym typeface="Roboto"/>
              </a:rPr>
              <a:t>research</a:t>
            </a:r>
            <a:r>
              <a:rPr lang="en-US" sz="1000">
                <a:highlight>
                  <a:srgbClr val="00FFFF"/>
                </a:highlight>
                <a:latin typeface="Roboto"/>
                <a:ea typeface="Roboto"/>
                <a:cs typeface="Roboto"/>
                <a:sym typeface="Roboto"/>
              </a:rPr>
              <a:t> further</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Running untrusted artifacts is a security risk for reviewers. Should reviewers be allowed to refuse artifacts that need root access or invasive libraries? </a:t>
            </a:r>
            <a:endParaRPr sz="1000">
              <a:highlight>
                <a:srgbClr val="00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C3:</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an artifact be expected to work only at publication time, or for a set period? -&gt; a stated period, e.g. 5 years (Rec 3 maintenance plans). </a:t>
            </a:r>
            <a:r>
              <a:rPr lang="en-US" sz="1000">
                <a:highlight>
                  <a:srgbClr val="00FFFF"/>
                </a:highlight>
                <a:latin typeface="Roboto"/>
                <a:ea typeface="Roboto"/>
                <a:cs typeface="Roboto"/>
                <a:sym typeface="Roboto"/>
              </a:rPr>
              <a:t>or just at publication and peer review time</a:t>
            </a:r>
            <a:r>
              <a:rPr lang="en-US" sz="1000">
                <a:highlight>
                  <a:srgbClr val="FF0000"/>
                </a:highlight>
                <a:latin typeface="Roboto"/>
                <a:ea typeface="Roboto"/>
                <a:cs typeface="Roboto"/>
                <a:sym typeface="Roboto"/>
              </a:rPr>
              <a:t> -&gt; what do you think would be a sensible timeframe?</a:t>
            </a:r>
            <a:endParaRPr sz="1000">
              <a:highlight>
                <a:srgbClr val="FF00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funders pay for artifact maintenance after a project ends? </a:t>
            </a:r>
            <a:r>
              <a:rPr lang="en-US" sz="1000">
                <a:highlight>
                  <a:srgbClr val="00FFFF"/>
                </a:highlight>
                <a:latin typeface="Roboto"/>
                <a:ea typeface="Roboto"/>
                <a:cs typeface="Roboto"/>
                <a:sym typeface="Roboto"/>
              </a:rPr>
              <a:t> -&gt; research more and try to find conclusion from last weeks discussion</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C4:</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Is a one-click reproduction script good or bad for scientific scrutiny? -&gt; hides the process and re-runs the same mistakes?</a:t>
            </a:r>
            <a:endParaRPr sz="1000">
              <a:highlight>
                <a:srgbClr val="00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highlight>
                  <a:srgbClr val="FFFFFF"/>
                </a:highlight>
                <a:latin typeface="Roboto"/>
                <a:ea typeface="Roboto"/>
                <a:cs typeface="Roboto"/>
                <a:sym typeface="Roboto"/>
              </a:rPr>
              <a:t>C5:</a:t>
            </a:r>
            <a:endParaRPr sz="1000">
              <a:highlight>
                <a:srgbClr val="FF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C6:</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artifacts be mandatory for paper acceptance ? </a:t>
            </a:r>
            <a:r>
              <a:rPr lang="en-US" sz="1000">
                <a:highlight>
                  <a:srgbClr val="00FFFF"/>
                </a:highlight>
                <a:latin typeface="Roboto"/>
                <a:ea typeface="Roboto"/>
                <a:cs typeface="Roboto"/>
                <a:sym typeface="Roboto"/>
              </a:rPr>
              <a:t>-&gt; yes, unless legal reasons prevent it.? -&gt; construct your own regulation scheme</a:t>
            </a:r>
            <a:endParaRPr sz="1000">
              <a:solidFill>
                <a:srgbClr val="1A1A1A"/>
              </a:solidFill>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C7:</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only archival repositories count for linking artifacts in papers, not GitHub or personal pages?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Who should pay for hosting large research data: authors, universities, publishers or public infrastructure?</a:t>
            </a:r>
            <a:r>
              <a:rPr lang="en-US" sz="1000">
                <a:highlight>
                  <a:srgbClr val="00FFFF"/>
                </a:highlight>
                <a:latin typeface="Roboto"/>
                <a:ea typeface="Roboto"/>
                <a:cs typeface="Roboto"/>
                <a:sym typeface="Roboto"/>
              </a:rPr>
              <a:t> -&gt; already covered in week 1 discussion?</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C8:</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Clr>
                <a:srgbClr val="1A1A1A"/>
              </a:buClr>
              <a:buSzPts val="1000"/>
              <a:buFont typeface="Roboto"/>
              <a:buChar char="●"/>
            </a:pPr>
            <a:r>
              <a:rPr lang="en-US" sz="1000">
                <a:highlight>
                  <a:srgbClr val="00FF00"/>
                </a:highlight>
                <a:latin typeface="Roboto"/>
                <a:ea typeface="Roboto"/>
                <a:cs typeface="Roboto"/>
                <a:sym typeface="Roboto"/>
              </a:rPr>
              <a:t>Should conferences re-check artifact links a few years after publication and mark dead ones?</a:t>
            </a:r>
            <a:r>
              <a:rPr lang="en-US" sz="1000">
                <a:highlight>
                  <a:srgbClr val="00FFFF"/>
                </a:highlight>
                <a:latin typeface="Roboto"/>
                <a:ea typeface="Roboto"/>
                <a:cs typeface="Roboto"/>
                <a:sym typeface="Roboto"/>
              </a:rPr>
              <a:t> -&gt; how would you organise/pay for this?</a:t>
            </a:r>
            <a:endParaRPr sz="1000">
              <a:solidFill>
                <a:srgbClr val="1A1A1A"/>
              </a:solidFill>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C9:</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paper reviewers be allowed to criticise a paper for not sharing data that its industry partner won't release? </a:t>
            </a:r>
            <a:endParaRPr sz="1000">
              <a:highlight>
                <a:srgbClr val="00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research tools that depend on paid commercial software be accepted as artifacts at all? </a:t>
            </a:r>
            <a:endParaRPr sz="1000">
              <a:highlight>
                <a:srgbClr val="00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De-identified qualitative data can still be re-identified (p. 18). Should qualitative data ever be shared? </a:t>
            </a:r>
            <a:endParaRPr sz="1000">
              <a:highlight>
                <a:srgbClr val="FF00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C10:</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Is letting students do artifact evaluation a good training opportunity or a sign that artifacts aren't taken seriously? </a:t>
            </a:r>
            <a:endParaRPr sz="1000">
              <a:highlight>
                <a:srgbClr val="00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C11:</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Is it fair to have a fixed time limit (e.g. one day, or ICSE's 30-minute setup) after which an artifact fails?</a:t>
            </a:r>
            <a:r>
              <a:rPr lang="en-US" sz="1000">
                <a:highlight>
                  <a:srgbClr val="00FFFF"/>
                </a:highlight>
                <a:latin typeface="Roboto"/>
                <a:ea typeface="Roboto"/>
                <a:cs typeface="Roboto"/>
                <a:sym typeface="Roboto"/>
              </a:rPr>
              <a:t> -&gt; do you think something like 30mins is really reasonable</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conferences or ACM/IEEE provide compute, storage and other necessary resources for artifact reviewers? </a:t>
            </a:r>
            <a:r>
              <a:rPr lang="en-US" sz="1000">
                <a:highlight>
                  <a:srgbClr val="00FFFF"/>
                </a:highlight>
                <a:latin typeface="Roboto"/>
                <a:ea typeface="Roboto"/>
                <a:cs typeface="Roboto"/>
                <a:sym typeface="Roboto"/>
              </a:rPr>
              <a:t>-&gt; leads into Rec, not covered by me, be careful to avoid crossover</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C12:</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artifact evaluation be a one-shot review or an iterative dialogue with authors? -&gt; one-shot, since later users won't have the author's help either?</a:t>
            </a:r>
            <a:endParaRPr sz="1000">
              <a:highlight>
                <a:srgbClr val="00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If an artifact only works with help from its authors, does it deserve a badge? </a:t>
            </a:r>
            <a:r>
              <a:rPr lang="en-US" sz="1000">
                <a:highlight>
                  <a:srgbClr val="00FFFF"/>
                </a:highlight>
                <a:latin typeface="Roboto"/>
                <a:ea typeface="Roboto"/>
                <a:cs typeface="Roboto"/>
                <a:sym typeface="Roboto"/>
              </a:rPr>
              <a:t>-&gt; maybe too obvious an answer, see how I could rephrase</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authors have a deadline to answer reviewer questions, e.g. ICSE 2026's 72 hours? -&gt; too strict?</a:t>
            </a:r>
            <a:endParaRPr sz="1000">
              <a:highlight>
                <a:srgbClr val="FF0000"/>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9" name="Shape 349"/>
        <p:cNvGrpSpPr/>
        <p:nvPr/>
      </p:nvGrpSpPr>
      <p:grpSpPr>
        <a:xfrm>
          <a:off x="0" y="0"/>
          <a:ext cx="0" cy="0"/>
          <a:chOff x="0" y="0"/>
          <a:chExt cx="0" cy="0"/>
        </a:xfrm>
      </p:grpSpPr>
      <p:sp>
        <p:nvSpPr>
          <p:cNvPr id="350" name="Google Shape;350;p3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51" name="Google Shape;351;p3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52" name="Google Shape;352;p32"/>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My questions/ideas to bounce off of to make more actually interesting ones to answer:</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C1:</a:t>
            </a:r>
            <a:endParaRPr sz="1000">
              <a:solidFill>
                <a:srgbClr val="1A1A1A"/>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Researchers fear sharing artifacts because mistakes in their analysis might be found. But isn't finding mistakes exactly the point of scientific review?</a:t>
            </a:r>
            <a:r>
              <a:rPr lang="en-US" sz="1000">
                <a:highlight>
                  <a:srgbClr val="FFFFFF"/>
                </a:highlight>
                <a:latin typeface="Roboto"/>
                <a:ea typeface="Roboto"/>
                <a:cs typeface="Roboto"/>
                <a:sym typeface="Roboto"/>
              </a:rPr>
              <a:t> </a:t>
            </a:r>
            <a:r>
              <a:rPr lang="en-US" sz="1000">
                <a:highlight>
                  <a:srgbClr val="00FFFF"/>
                </a:highlight>
                <a:latin typeface="Roboto"/>
                <a:ea typeface="Roboto"/>
                <a:cs typeface="Roboto"/>
                <a:sym typeface="Roboto"/>
              </a:rPr>
              <a:t>-&gt; core idea might be interesting but phrasing isnt great, could be expanded on</a:t>
            </a:r>
            <a:endParaRPr sz="1000">
              <a:highlight>
                <a:srgbClr val="00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How much personal accountability for one's code and analysis should a researcher expect to carry once it's public?</a:t>
            </a:r>
            <a:endParaRPr sz="1000">
              <a:highlight>
                <a:srgbClr val="FFFF00"/>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To what degree should researchers expect / be open to their work to be undercut in some way for the greater goal of scientific progress? </a:t>
            </a:r>
            <a:r>
              <a:rPr lang="en-US" sz="1000">
                <a:highlight>
                  <a:srgbClr val="00FF00"/>
                </a:highlight>
                <a:latin typeface="Roboto"/>
                <a:ea typeface="Roboto"/>
                <a:cs typeface="Roboto"/>
                <a:sym typeface="Roboto"/>
              </a:rPr>
              <a:t>Does holding back artifacts to protect future publications slow down the progress of research as a whole?</a:t>
            </a:r>
            <a:r>
              <a:rPr lang="en-US" sz="1000">
                <a:highlight>
                  <a:srgbClr val="FFFFFF"/>
                </a:highlight>
                <a:latin typeface="Roboto"/>
                <a:ea typeface="Roboto"/>
                <a:cs typeface="Roboto"/>
                <a:sym typeface="Roboto"/>
              </a:rPr>
              <a:t> </a:t>
            </a:r>
            <a:r>
              <a:rPr lang="en-US" sz="1000">
                <a:highlight>
                  <a:srgbClr val="00FF00"/>
                </a:highlight>
                <a:latin typeface="Roboto"/>
                <a:ea typeface="Roboto"/>
                <a:cs typeface="Roboto"/>
                <a:sym typeface="Roboto"/>
              </a:rPr>
              <a:t> </a:t>
            </a:r>
            <a:r>
              <a:rPr lang="en-US" sz="1000">
                <a:highlight>
                  <a:srgbClr val="00FFFF"/>
                </a:highlight>
                <a:latin typeface="Roboto"/>
                <a:ea typeface="Roboto"/>
                <a:cs typeface="Roboto"/>
                <a:sym typeface="Roboto"/>
              </a:rPr>
              <a:t>-&gt; also makybe a bit too abstract/open a question, but I think its interesting, could maybe be refined</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C2:</a:t>
            </a:r>
            <a:endParaRPr sz="1000">
              <a:solidFill>
                <a:srgbClr val="1A1A1A"/>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How can artifact reviewers accurately verify performance claims, if VMs distort timings and they rarely have the authors' hardware?</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5</a:t>
            </a:r>
            <a:r>
              <a:rPr lang="en-US" sz="1000">
                <a:highlight>
                  <a:srgbClr val="FFFFFF"/>
                </a:highlight>
                <a:latin typeface="Roboto"/>
                <a:ea typeface="Roboto"/>
                <a:cs typeface="Roboto"/>
                <a:sym typeface="Roboto"/>
              </a:rPr>
              <a:t> on VMs and Containers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One respondent complains that containers don't prevent software degradation. Is that really a container problem, or a problem of rebuilding from unpinned recipes instead of archiving the built image?</a:t>
            </a:r>
            <a:endParaRPr sz="1000">
              <a:highlight>
                <a:srgbClr val="FF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5 on VMs and Containers</a:t>
            </a:r>
            <a:r>
              <a:rPr lang="en-US" sz="1000">
                <a:highlight>
                  <a:srgbClr val="FFFFFF"/>
                </a:highlight>
                <a:latin typeface="Roboto"/>
                <a:ea typeface="Roboto"/>
                <a:cs typeface="Roboto"/>
                <a:sym typeface="Roboto"/>
              </a:rPr>
              <a:t> </a:t>
            </a:r>
            <a:r>
              <a:rPr lang="en-US" sz="1000">
                <a:highlight>
                  <a:srgbClr val="00FFFF"/>
                </a:highlight>
                <a:latin typeface="Roboto"/>
                <a:ea typeface="Roboto"/>
                <a:cs typeface="Roboto"/>
                <a:sym typeface="Roboto"/>
              </a:rPr>
              <a:t>-&gt; look into again</a:t>
            </a:r>
            <a:endParaRPr sz="1000">
              <a:solidFill>
                <a:srgbClr val="1A1A1A"/>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C3:</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Is software decay unavoidable as technology moves on? What practical ways are there to limit it (archived images, pinned dependencies, plain source code)?</a:t>
            </a:r>
            <a:endParaRPr sz="1000">
              <a:highlight>
                <a:srgbClr val="00FF00"/>
              </a:highlight>
              <a:latin typeface="Roboto"/>
              <a:ea typeface="Roboto"/>
              <a:cs typeface="Roboto"/>
              <a:sym typeface="Roboto"/>
            </a:endParaRPr>
          </a:p>
          <a:p>
            <a:pPr indent="0" lvl="0" marL="457200" rtl="0" algn="l">
              <a:lnSpc>
                <a:spcPct val="100000"/>
              </a:lnSpc>
              <a:spcBef>
                <a:spcPts val="0"/>
              </a:spcBef>
              <a:spcAft>
                <a:spcPts val="0"/>
              </a:spcAft>
              <a:buNone/>
            </a:pPr>
            <a:r>
              <a:rPr lang="en-US" sz="1000">
                <a:highlight>
                  <a:srgbClr val="00FFFF"/>
                </a:highlight>
                <a:latin typeface="Roboto"/>
                <a:ea typeface="Roboto"/>
                <a:cs typeface="Roboto"/>
                <a:sym typeface="Roboto"/>
              </a:rPr>
              <a:t>-&gt; Compare with Papers Suggestions</a:t>
            </a:r>
            <a:endParaRPr sz="1000">
              <a:highlight>
                <a:srgbClr val="00FFFF"/>
              </a:highlight>
              <a:latin typeface="Roboto"/>
              <a:ea typeface="Roboto"/>
              <a:cs typeface="Roboto"/>
              <a:sym typeface="Roboto"/>
            </a:endParaRPr>
          </a:p>
          <a:p>
            <a:pPr indent="-292100" lvl="0" marL="45720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What should be done when a researcher retires, etc.? Who should be responsible for maintenance? or should we archive it and mark it unmaintained. </a:t>
            </a:r>
            <a:r>
              <a:rPr lang="en-US" sz="1000">
                <a:highlight>
                  <a:srgbClr val="00FFFF"/>
                </a:highlight>
                <a:latin typeface="Roboto"/>
                <a:ea typeface="Roboto"/>
                <a:cs typeface="Roboto"/>
                <a:sym typeface="Roboto"/>
              </a:rPr>
              <a:t>-&gt; research further</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highlight>
                <a:srgbClr val="FFFFFF"/>
              </a:highlight>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C4:</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Tacit knowledge is an implicit human problem: knowledge stays in the developer's head. What are practical ways to tackle it (templates, screencasts, pair onboarding, automation)?</a:t>
            </a:r>
            <a:r>
              <a:rPr lang="en-US" sz="1000">
                <a:highlight>
                  <a:srgbClr val="00FFFF"/>
                </a:highlight>
                <a:latin typeface="Roboto"/>
                <a:ea typeface="Roboto"/>
                <a:cs typeface="Roboto"/>
                <a:sym typeface="Roboto"/>
              </a:rPr>
              <a:t> -&gt; again a bit broad a question difficult for people to answer of the top of their heads, see if I can refine</a:t>
            </a:r>
            <a:endParaRPr sz="1000">
              <a:highlight>
                <a:srgbClr val="00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How much effort, time and money should artifact reviewers be expected to invest before they may give up on an artifact?</a:t>
            </a:r>
            <a:endParaRPr sz="1000">
              <a:highlight>
                <a:srgbClr val="00FF00"/>
              </a:highlight>
              <a:latin typeface="Roboto"/>
              <a:ea typeface="Roboto"/>
              <a:cs typeface="Roboto"/>
              <a:sym typeface="Roboto"/>
            </a:endParaRPr>
          </a:p>
          <a:p>
            <a:pPr indent="0" lvl="0" marL="457200" rtl="0" algn="l">
              <a:lnSpc>
                <a:spcPct val="100000"/>
              </a:lnSpc>
              <a:spcBef>
                <a:spcPts val="0"/>
              </a:spcBef>
              <a:spcAft>
                <a:spcPts val="0"/>
              </a:spcAft>
              <a:buNone/>
            </a:pPr>
            <a:r>
              <a:rPr lang="en-US" sz="1000">
                <a:highlight>
                  <a:srgbClr val="00FFFF"/>
                </a:highlight>
                <a:latin typeface="Roboto"/>
                <a:ea typeface="Roboto"/>
                <a:cs typeface="Roboto"/>
                <a:sym typeface="Roboto"/>
              </a:rPr>
              <a:t>-&gt; Compare with Papers Suggestions (also a bit duplicate with a question from the previous slide)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FF"/>
                </a:highlight>
                <a:latin typeface="Roboto"/>
                <a:ea typeface="Roboto"/>
                <a:cs typeface="Roboto"/>
                <a:sym typeface="Roboto"/>
              </a:rPr>
              <a:t>Automated scripts reproduce results, but can they help a reviewer understand </a:t>
            </a:r>
            <a:r>
              <a:rPr i="1" lang="en-US" sz="1000">
                <a:highlight>
                  <a:srgbClr val="00FFFF"/>
                </a:highlight>
                <a:latin typeface="Roboto"/>
                <a:ea typeface="Roboto"/>
                <a:cs typeface="Roboto"/>
                <a:sym typeface="Roboto"/>
              </a:rPr>
              <a:t>why</a:t>
            </a:r>
            <a:r>
              <a:rPr lang="en-US" sz="1000">
                <a:highlight>
                  <a:srgbClr val="00FFFF"/>
                </a:highlight>
                <a:latin typeface="Roboto"/>
                <a:ea typeface="Roboto"/>
                <a:cs typeface="Roboto"/>
                <a:sym typeface="Roboto"/>
              </a:rPr>
              <a:t> the results come out? If not, what can?</a:t>
            </a:r>
            <a:endParaRPr sz="1000">
              <a:highlight>
                <a:srgbClr val="00FFFF"/>
              </a:highlight>
              <a:latin typeface="Roboto"/>
              <a:ea typeface="Roboto"/>
              <a:cs typeface="Roboto"/>
              <a:sym typeface="Roboto"/>
            </a:endParaRPr>
          </a:p>
          <a:p>
            <a:pPr indent="0" lvl="0" marL="457200" rtl="0" algn="l">
              <a:lnSpc>
                <a:spcPct val="100000"/>
              </a:lnSpc>
              <a:spcBef>
                <a:spcPts val="0"/>
              </a:spcBef>
              <a:spcAft>
                <a:spcPts val="0"/>
              </a:spcAft>
              <a:buNone/>
            </a:pPr>
            <a:r>
              <a:rPr lang="en-US" sz="1000">
                <a:highlight>
                  <a:srgbClr val="00FFFF"/>
                </a:highlight>
                <a:latin typeface="Roboto"/>
                <a:ea typeface="Roboto"/>
                <a:cs typeface="Roboto"/>
                <a:sym typeface="Roboto"/>
              </a:rPr>
              <a:t>-&gt; Compare with Papers Suggestions, and with Reviewer: C4 (also a bit duplicate with a question from the previous slide)</a:t>
            </a:r>
            <a:endParaRPr sz="1000">
              <a:solidFill>
                <a:srgbClr val="1A1A1A"/>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C5:</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C6:</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Isn't setting guidelines exactly what an AEC is supposed to do? If you could rewrite the ACM badge criteria or an AEC's call, what would you change? </a:t>
            </a:r>
            <a:r>
              <a:rPr lang="en-US" sz="1000">
                <a:highlight>
                  <a:srgbClr val="00FFFF"/>
                </a:highlight>
                <a:latin typeface="Roboto"/>
                <a:ea typeface="Roboto"/>
                <a:cs typeface="Roboto"/>
                <a:sym typeface="Roboto"/>
              </a:rPr>
              <a:t> -&gt; interesting, but way too broad a question for people to answer of the top of their heads, see if I can refine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What is the point of artifact review if it becomes a quick "rubber stamp" for any linked repository?</a:t>
            </a:r>
            <a:r>
              <a:rPr lang="en-US" sz="1000">
                <a:highlight>
                  <a:srgbClr val="00FFFF"/>
                </a:highlight>
                <a:latin typeface="Roboto"/>
                <a:ea typeface="Roboto"/>
                <a:cs typeface="Roboto"/>
                <a:sym typeface="Roboto"/>
              </a:rPr>
              <a:t> -&gt; answer too obvious, refine to make a more interestingly discussable question</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C7:</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0000"/>
                </a:highlight>
                <a:latin typeface="Roboto"/>
                <a:ea typeface="Roboto"/>
                <a:cs typeface="Roboto"/>
                <a:sym typeface="Roboto"/>
              </a:rPr>
              <a:t>Isn't hosting a solved problem with Zenodo? Free hosting, a DOI per version, 50–200 GB, automatic GitHub archiving. What remains unsolved?</a:t>
            </a:r>
            <a:endParaRPr sz="1000">
              <a:highlight>
                <a:srgbClr val="FF00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2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What would you do if your artifact were several terabytes, too big for Zenodo and for a reviewer's laptop?</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3 </a:t>
            </a:r>
            <a:r>
              <a:rPr lang="en-US" sz="1000">
                <a:highlight>
                  <a:srgbClr val="00FFFF"/>
                </a:highlight>
                <a:latin typeface="Roboto"/>
                <a:ea typeface="Roboto"/>
                <a:cs typeface="Roboto"/>
                <a:sym typeface="Roboto"/>
              </a:rPr>
              <a:t>-&gt; look into again . See if worth discussing further or already covered by recommendations etc</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C8:</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C9:</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Should there be formal exceptions to artifact evaluation for cases like industry data, following the ACM approach of separating "evaluated" from "publicly available"?</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1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How open source should research software be, and how feasible is full openness given IP, privacy and commercial tools? </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8, Horizon Europe "as open as possible, as closed as necessary" </a:t>
            </a:r>
            <a:r>
              <a:rPr lang="en-US" sz="1000">
                <a:highlight>
                  <a:srgbClr val="00FFFF"/>
                </a:highlight>
                <a:latin typeface="Roboto"/>
                <a:ea typeface="Roboto"/>
                <a:cs typeface="Roboto"/>
                <a:sym typeface="Roboto"/>
              </a:rPr>
              <a:t>-&gt; look into again. Currently too broad a question, requiring background research, but could be refined to be more interesting without the need for everyone having a lot of background knowledge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If a reviewer lacks a licence for a proprietary component, whose responsibility is it? Should reviewers be expected to pay, or is automatically rejecting such an artifact fair? (The ACM policy is silent on this; each AEC decides.)</a:t>
            </a:r>
            <a:endParaRPr sz="1000">
              <a:highlight>
                <a:srgbClr val="00FF00"/>
              </a:highlight>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C10:</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C11:</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Should compute resources be provided to reviewers? Would remote servers combined with containers solve the compute, disk-space and consistency problems, and is that realistic?</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4 </a:t>
            </a:r>
            <a:r>
              <a:rPr lang="en-US" sz="1000">
                <a:highlight>
                  <a:srgbClr val="00FFFF"/>
                </a:highlight>
                <a:latin typeface="Roboto"/>
                <a:ea typeface="Roboto"/>
                <a:cs typeface="Roboto"/>
                <a:sym typeface="Roboto"/>
              </a:rPr>
              <a:t>-&gt; look into again. Bit of a duplicate of previous questions. And again refine to a question that is answerable without large background knowledge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Reviewers struggle when a VM image doesn't fit on their disk. What happens to artifacts bigger than an ordinary PC's storage? Are they simply unreviewable under the current process?</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3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0000"/>
                </a:highlight>
                <a:latin typeface="Roboto"/>
                <a:ea typeface="Roboto"/>
                <a:cs typeface="Roboto"/>
                <a:sym typeface="Roboto"/>
              </a:rPr>
              <a:t>If whole classes of experiments can't be reproduced, how damaging is that to the scientific process?</a:t>
            </a:r>
            <a:r>
              <a:rPr lang="en-US" sz="1000">
                <a:highlight>
                  <a:srgbClr val="00FFFF"/>
                </a:highlight>
                <a:latin typeface="Roboto"/>
                <a:ea typeface="Roboto"/>
                <a:cs typeface="Roboto"/>
                <a:sym typeface="Roboto"/>
              </a:rPr>
              <a:t> -&gt; builds on the previous 2, but probably not worth asking independently</a:t>
            </a:r>
            <a:endParaRPr sz="1000">
              <a:highlight>
                <a:srgbClr val="00FFFF"/>
              </a:highlight>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C12:</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Respondents value authors who help users fix problems. Is that sustainable, given that support can't be offered forever?</a:t>
            </a:r>
            <a:r>
              <a:rPr lang="en-US" sz="1000">
                <a:highlight>
                  <a:srgbClr val="00FFFF"/>
                </a:highlight>
                <a:latin typeface="Roboto"/>
                <a:ea typeface="Roboto"/>
                <a:cs typeface="Roboto"/>
                <a:sym typeface="Roboto"/>
              </a:rPr>
              <a:t> -&gt; refine question. also a bit duplicate with previous ones</a:t>
            </a:r>
            <a:endParaRPr sz="1000">
              <a:highlight>
                <a:srgbClr val="00FFFF"/>
              </a:highlight>
              <a:latin typeface="Roboto"/>
              <a:ea typeface="Roboto"/>
              <a:cs typeface="Roboto"/>
              <a:sym typeface="Roboto"/>
            </a:endParaRPr>
          </a:p>
          <a:p>
            <a:pPr indent="0" lvl="0" marL="0" rtl="0" algn="l">
              <a:lnSpc>
                <a:spcPct val="100000"/>
              </a:lnSpc>
              <a:spcBef>
                <a:spcPts val="0"/>
              </a:spcBef>
              <a:spcAft>
                <a:spcPts val="0"/>
              </a:spcAft>
              <a:buNone/>
            </a:pPr>
            <a:r>
              <a:t/>
            </a:r>
            <a:endParaRPr sz="1000">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t/>
            </a:r>
            <a:endParaRPr sz="1000">
              <a:solidFill>
                <a:srgbClr val="1A1A1A"/>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59" name="Google Shape;359;p3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60" name="Google Shape;360;p33"/>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Frage die mir eingefallen sind, idk ob die iwo reinpasst?</a:t>
            </a:r>
            <a:r>
              <a:rPr lang="en-US" sz="2200">
                <a:solidFill>
                  <a:srgbClr val="1A1A1A"/>
                </a:solidFill>
              </a:rPr>
              <a:t>…</a:t>
            </a:r>
            <a:endParaRPr sz="2200">
              <a:solidFill>
                <a:srgbClr val="1A1A1A"/>
              </a:solidFill>
            </a:endParaRPr>
          </a:p>
          <a:p>
            <a:pPr indent="-368300" lvl="0" marL="457200" rtl="0" algn="l">
              <a:lnSpc>
                <a:spcPct val="115000"/>
              </a:lnSpc>
              <a:spcBef>
                <a:spcPts val="0"/>
              </a:spcBef>
              <a:spcAft>
                <a:spcPts val="0"/>
              </a:spcAft>
              <a:buClr>
                <a:srgbClr val="1A1A1A"/>
              </a:buClr>
              <a:buSzPts val="2200"/>
              <a:buChar char="•"/>
            </a:pPr>
            <a:r>
              <a:rPr lang="en-US" sz="1100"/>
              <a:t>1.</a:t>
            </a:r>
            <a:r>
              <a:rPr lang="en-US" sz="700">
                <a:latin typeface="Times New Roman"/>
                <a:ea typeface="Times New Roman"/>
                <a:cs typeface="Times New Roman"/>
                <a:sym typeface="Times New Roman"/>
              </a:rPr>
              <a:t>      </a:t>
            </a:r>
            <a:r>
              <a:rPr lang="en-US" sz="1100"/>
              <a:t>Do you think any of the ACM artifact badges are unnecessary?</a:t>
            </a:r>
            <a:br>
              <a:rPr lang="en-US" sz="1100"/>
            </a:br>
            <a:r>
              <a:rPr lang="en-US" sz="1100"/>
              <a:t> For example, the Artifact Available Badge does not guarantee its functionality or say anything else other than there is an artifact that can be accessed.</a:t>
            </a:r>
            <a:endParaRPr sz="1100"/>
          </a:p>
          <a:p>
            <a:pPr indent="0" lvl="0" marL="457200" rtl="0" algn="l">
              <a:lnSpc>
                <a:spcPct val="115000"/>
              </a:lnSpc>
              <a:spcBef>
                <a:spcPts val="800"/>
              </a:spcBef>
              <a:spcAft>
                <a:spcPts val="0"/>
              </a:spcAft>
              <a:buNone/>
            </a:pPr>
            <a:r>
              <a:rPr lang="en-US" sz="1000"/>
              <a:t>-</a:t>
            </a:r>
            <a:r>
              <a:rPr lang="en-US" sz="700">
                <a:latin typeface="Times New Roman"/>
                <a:ea typeface="Times New Roman"/>
                <a:cs typeface="Times New Roman"/>
                <a:sym typeface="Times New Roman"/>
              </a:rPr>
              <a:t>  </a:t>
            </a:r>
            <a:r>
              <a:rPr lang="en-US" sz="1100"/>
              <a:t>How useful do you deem them overall? Some participants in the article’s survey mention that they hesitate submitting their artifact because the guidelines are not clear of what will get accepted?</a:t>
            </a:r>
            <a:endParaRPr sz="1100"/>
          </a:p>
          <a:p>
            <a:pPr indent="-368300" lvl="0" marL="457200" rtl="0" algn="l">
              <a:lnSpc>
                <a:spcPct val="115000"/>
              </a:lnSpc>
              <a:spcBef>
                <a:spcPts val="800"/>
              </a:spcBef>
              <a:spcAft>
                <a:spcPts val="0"/>
              </a:spcAft>
              <a:buClr>
                <a:srgbClr val="1A1A1A"/>
              </a:buClr>
              <a:buSzPts val="2200"/>
              <a:buChar char="•"/>
            </a:pPr>
            <a:r>
              <a:t/>
            </a:r>
            <a:endParaRPr sz="2200">
              <a:solidFill>
                <a:srgbClr val="1A1A1A"/>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Secondary Analysis</a:t>
            </a:r>
            <a:endParaRPr b="0" i="0" sz="4000" u="none" cap="none" strike="noStrike">
              <a:solidFill>
                <a:schemeClr val="dk1"/>
              </a:solidFill>
              <a:latin typeface="Arial"/>
              <a:ea typeface="Arial"/>
              <a:cs typeface="Arial"/>
              <a:sym typeface="Arial"/>
            </a:endParaRPr>
          </a:p>
        </p:txBody>
      </p:sp>
      <p:sp>
        <p:nvSpPr>
          <p:cNvPr id="367" name="Google Shape;367;p34"/>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lang="en-US" sz="2200">
                <a:solidFill>
                  <a:srgbClr val="1A1A1A"/>
                </a:solidFill>
              </a:rPr>
              <a:t>Limited adoption (DoI): </a:t>
            </a:r>
            <a:endParaRPr sz="2200">
              <a:solidFill>
                <a:srgbClr val="1A1A1A"/>
              </a:solidFill>
            </a:endParaRPr>
          </a:p>
          <a:p>
            <a:pPr indent="457200" lvl="0" marL="0" marR="0" rtl="0" algn="l">
              <a:spcBef>
                <a:spcPts val="0"/>
              </a:spcBef>
              <a:spcAft>
                <a:spcPts val="0"/>
              </a:spcAft>
              <a:buNone/>
            </a:pPr>
            <a:r>
              <a:rPr lang="en-US" sz="2200">
                <a:solidFill>
                  <a:srgbClr val="1A1A1A"/>
                </a:solidFill>
              </a:rPr>
              <a:t>→ Artifacts are difficult to adopt and spread</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Communication breakdowns: </a:t>
            </a:r>
            <a:endParaRPr sz="2200">
              <a:solidFill>
                <a:srgbClr val="1A1A1A"/>
              </a:solidFill>
            </a:endParaRPr>
          </a:p>
          <a:p>
            <a:pPr indent="457200" lvl="0" marL="0" marR="0" rtl="0" algn="l">
              <a:spcBef>
                <a:spcPts val="0"/>
              </a:spcBef>
              <a:spcAft>
                <a:spcPts val="0"/>
              </a:spcAft>
              <a:buNone/>
            </a:pPr>
            <a:r>
              <a:rPr lang="en-US" sz="2200">
                <a:solidFill>
                  <a:srgbClr val="1A1A1A"/>
                </a:solidFill>
              </a:rPr>
              <a:t>→ Communication between creators, reviewers, and users is limited and </a:t>
            </a:r>
            <a:endParaRPr sz="2200">
              <a:solidFill>
                <a:srgbClr val="1A1A1A"/>
              </a:solidFill>
            </a:endParaRPr>
          </a:p>
          <a:p>
            <a:pPr indent="457200" lvl="0" marL="0" marR="0" rtl="0" algn="l">
              <a:spcBef>
                <a:spcPts val="0"/>
              </a:spcBef>
              <a:spcAft>
                <a:spcPts val="0"/>
              </a:spcAft>
              <a:buNone/>
            </a:pPr>
            <a:r>
              <a:rPr lang="en-US" sz="2200">
                <a:solidFill>
                  <a:srgbClr val="1A1A1A"/>
                </a:solidFill>
              </a:rPr>
              <a:t>     inconsistent</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Decay and maintenance: </a:t>
            </a:r>
            <a:endParaRPr sz="2200">
              <a:solidFill>
                <a:srgbClr val="1A1A1A"/>
              </a:solidFill>
            </a:endParaRPr>
          </a:p>
          <a:p>
            <a:pPr indent="457200" lvl="0" marL="0" marR="0" rtl="0" algn="l">
              <a:spcBef>
                <a:spcPts val="0"/>
              </a:spcBef>
              <a:spcAft>
                <a:spcPts val="0"/>
              </a:spcAft>
              <a:buNone/>
            </a:pPr>
            <a:r>
              <a:rPr lang="en-US" sz="2200">
                <a:solidFill>
                  <a:srgbClr val="1A1A1A"/>
                </a:solidFill>
              </a:rPr>
              <a:t>→ Artifacts deteriorate over time, while maintenance requires ongoing effort</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Lack of incentives and standards: </a:t>
            </a:r>
            <a:endParaRPr sz="2200">
              <a:solidFill>
                <a:srgbClr val="1A1A1A"/>
              </a:solidFill>
            </a:endParaRPr>
          </a:p>
          <a:p>
            <a:pPr indent="457200" lvl="0" marL="0" marR="0" rtl="0" algn="l">
              <a:spcBef>
                <a:spcPts val="0"/>
              </a:spcBef>
              <a:spcAft>
                <a:spcPts val="0"/>
              </a:spcAft>
              <a:buNone/>
            </a:pPr>
            <a:r>
              <a:rPr lang="en-US" sz="2200">
                <a:solidFill>
                  <a:srgbClr val="1A1A1A"/>
                </a:solidFill>
              </a:rPr>
              <a:t>→ Little reward for artifact creation and review leads to low-quality artifacts, </a:t>
            </a:r>
            <a:endParaRPr sz="2200">
              <a:solidFill>
                <a:srgbClr val="1A1A1A"/>
              </a:solidFill>
            </a:endParaRPr>
          </a:p>
          <a:p>
            <a:pPr indent="0" lvl="0" marL="457200" marR="0" rtl="0" algn="l">
              <a:spcBef>
                <a:spcPts val="0"/>
              </a:spcBef>
              <a:spcAft>
                <a:spcPts val="0"/>
              </a:spcAft>
              <a:buNone/>
            </a:pPr>
            <a:r>
              <a:rPr lang="en-US" sz="2200">
                <a:solidFill>
                  <a:srgbClr val="1A1A1A"/>
                </a:solidFill>
              </a:rPr>
              <a:t>     inexperienced reviewers, and inconsistent evaluation standards.</a:t>
            </a:r>
            <a:endParaRPr sz="2200">
              <a:solidFill>
                <a:srgbClr val="1A1A1A"/>
              </a:solidFill>
            </a:endParaRPr>
          </a:p>
        </p:txBody>
      </p:sp>
      <p:sp>
        <p:nvSpPr>
          <p:cNvPr id="368" name="Google Shape;368;p3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Recommendations</a:t>
            </a:r>
            <a:endParaRPr b="0" i="0" sz="4000" u="none" cap="none" strike="noStrike">
              <a:solidFill>
                <a:schemeClr val="dk1"/>
              </a:solidFill>
              <a:latin typeface="Arial"/>
              <a:ea typeface="Arial"/>
              <a:cs typeface="Arial"/>
              <a:sym typeface="Arial"/>
            </a:endParaRPr>
          </a:p>
        </p:txBody>
      </p:sp>
      <p:sp>
        <p:nvSpPr>
          <p:cNvPr id="375" name="Google Shape;375;p3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76" name="Google Shape;376;p35"/>
          <p:cNvSpPr/>
          <p:nvPr/>
        </p:nvSpPr>
        <p:spPr>
          <a:xfrm>
            <a:off x="452950"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7" name="Google Shape;377;p35"/>
          <p:cNvSpPr/>
          <p:nvPr/>
        </p:nvSpPr>
        <p:spPr>
          <a:xfrm>
            <a:off x="4494475"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8" name="Google Shape;378;p35"/>
          <p:cNvSpPr/>
          <p:nvPr/>
        </p:nvSpPr>
        <p:spPr>
          <a:xfrm>
            <a:off x="8536000"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9" name="Google Shape;379;p35"/>
          <p:cNvSpPr txBox="1"/>
          <p:nvPr/>
        </p:nvSpPr>
        <p:spPr>
          <a:xfrm>
            <a:off x="1230400" y="1652625"/>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Creators</a:t>
            </a:r>
            <a:endParaRPr b="1" sz="2000"/>
          </a:p>
        </p:txBody>
      </p:sp>
      <p:sp>
        <p:nvSpPr>
          <p:cNvPr id="380" name="Google Shape;380;p35"/>
          <p:cNvSpPr txBox="1"/>
          <p:nvPr/>
        </p:nvSpPr>
        <p:spPr>
          <a:xfrm>
            <a:off x="4494475" y="1423475"/>
            <a:ext cx="32028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Reviewers &amp; Committees</a:t>
            </a:r>
            <a:endParaRPr b="1" sz="2000"/>
          </a:p>
        </p:txBody>
      </p:sp>
      <p:sp>
        <p:nvSpPr>
          <p:cNvPr id="381" name="Google Shape;381;p35"/>
          <p:cNvSpPr txBox="1"/>
          <p:nvPr/>
        </p:nvSpPr>
        <p:spPr>
          <a:xfrm>
            <a:off x="9313450" y="1652625"/>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Institutions</a:t>
            </a:r>
            <a:endParaRPr b="1" sz="2000"/>
          </a:p>
        </p:txBody>
      </p:sp>
      <p:sp>
        <p:nvSpPr>
          <p:cNvPr id="382" name="Google Shape;382;p35"/>
          <p:cNvSpPr txBox="1"/>
          <p:nvPr/>
        </p:nvSpPr>
        <p:spPr>
          <a:xfrm>
            <a:off x="570250" y="2738950"/>
            <a:ext cx="3085500" cy="31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R1  </a:t>
            </a:r>
            <a:r>
              <a:rPr lang="en-US" sz="1700"/>
              <a:t>Describe contents, </a:t>
            </a:r>
            <a:endParaRPr sz="1700"/>
          </a:p>
          <a:p>
            <a:pPr indent="0" lvl="0" marL="0" rtl="0" algn="l">
              <a:spcBef>
                <a:spcPts val="0"/>
              </a:spcBef>
              <a:spcAft>
                <a:spcPts val="0"/>
              </a:spcAft>
              <a:buNone/>
            </a:pPr>
            <a:r>
              <a:rPr lang="en-US" sz="1700"/>
              <a:t>      </a:t>
            </a:r>
            <a:r>
              <a:rPr lang="en-US"/>
              <a:t> </a:t>
            </a:r>
            <a:r>
              <a:rPr lang="en-US" sz="1700"/>
              <a:t>structure and purpose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R2  </a:t>
            </a:r>
            <a:r>
              <a:rPr lang="en-US" sz="1700"/>
              <a:t>Make it self-contained or    </a:t>
            </a:r>
            <a:endParaRPr sz="1700"/>
          </a:p>
          <a:p>
            <a:pPr indent="0" lvl="0" marL="0" rtl="0" algn="l">
              <a:spcBef>
                <a:spcPts val="0"/>
              </a:spcBef>
              <a:spcAft>
                <a:spcPts val="0"/>
              </a:spcAft>
              <a:buNone/>
            </a:pPr>
            <a:r>
              <a:rPr lang="en-US" sz="1700"/>
              <a:t>     </a:t>
            </a:r>
            <a:r>
              <a:rPr lang="en-US" sz="1500"/>
              <a:t>  </a:t>
            </a:r>
            <a:r>
              <a:rPr lang="en-US" sz="1700"/>
              <a:t>proof-of-concept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R3</a:t>
            </a:r>
            <a:r>
              <a:rPr lang="en-US" sz="1700"/>
              <a:t>  Plan early or archive  </a:t>
            </a:r>
            <a:endParaRPr sz="1700"/>
          </a:p>
          <a:p>
            <a:pPr indent="0" lvl="0" marL="0" rtl="0" algn="l">
              <a:spcBef>
                <a:spcPts val="0"/>
              </a:spcBef>
              <a:spcAft>
                <a:spcPts val="0"/>
              </a:spcAft>
              <a:buNone/>
            </a:pPr>
            <a:r>
              <a:rPr lang="en-US" sz="1700"/>
              <a:t>      </a:t>
            </a:r>
            <a:r>
              <a:rPr lang="en-US" sz="1200"/>
              <a:t> </a:t>
            </a:r>
            <a:r>
              <a:rPr lang="en-US" sz="1700"/>
              <a:t>long-term (e.g. Zenodo)</a:t>
            </a:r>
            <a:endParaRPr sz="1700"/>
          </a:p>
        </p:txBody>
      </p:sp>
      <p:sp>
        <p:nvSpPr>
          <p:cNvPr id="383" name="Google Shape;383;p35"/>
          <p:cNvSpPr txBox="1"/>
          <p:nvPr/>
        </p:nvSpPr>
        <p:spPr>
          <a:xfrm>
            <a:off x="4638025" y="2738950"/>
            <a:ext cx="32028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R4  </a:t>
            </a:r>
            <a:r>
              <a:rPr lang="en-US" sz="1700"/>
              <a:t>Use a clear rubric</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R5  </a:t>
            </a:r>
            <a:r>
              <a:rPr lang="en-US" sz="1700"/>
              <a:t>Align author and reviewer     </a:t>
            </a:r>
            <a:endParaRPr sz="1700"/>
          </a:p>
          <a:p>
            <a:pPr indent="0" lvl="0" marL="0" rtl="0" algn="l">
              <a:spcBef>
                <a:spcPts val="0"/>
              </a:spcBef>
              <a:spcAft>
                <a:spcPts val="0"/>
              </a:spcAft>
              <a:buNone/>
            </a:pPr>
            <a:r>
              <a:rPr lang="en-US" sz="1700"/>
              <a:t>      </a:t>
            </a:r>
            <a:r>
              <a:rPr lang="en-US" sz="1500"/>
              <a:t> </a:t>
            </a:r>
            <a:r>
              <a:rPr lang="en-US" sz="1700"/>
              <a:t>expectations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R6</a:t>
            </a:r>
            <a:r>
              <a:rPr lang="en-US" sz="1700"/>
              <a:t>  </a:t>
            </a:r>
            <a:r>
              <a:rPr lang="en-US" sz="1700"/>
              <a:t>Reduce review cost:        </a:t>
            </a:r>
            <a:endParaRPr sz="1700"/>
          </a:p>
          <a:p>
            <a:pPr indent="0" lvl="0" marL="0" rtl="0" algn="l">
              <a:spcBef>
                <a:spcPts val="0"/>
              </a:spcBef>
              <a:spcAft>
                <a:spcPts val="0"/>
              </a:spcAft>
              <a:buNone/>
            </a:pPr>
            <a:r>
              <a:rPr lang="en-US" sz="1700"/>
              <a:t>     </a:t>
            </a:r>
            <a:r>
              <a:rPr lang="en-US" sz="1300"/>
              <a:t> </a:t>
            </a:r>
            <a:r>
              <a:rPr lang="en-US" sz="1600"/>
              <a:t> </a:t>
            </a:r>
            <a:r>
              <a:rPr lang="en-US" sz="1700"/>
              <a:t>two-way</a:t>
            </a:r>
            <a:r>
              <a:rPr lang="en-US" sz="1700"/>
              <a:t> </a:t>
            </a:r>
            <a:r>
              <a:rPr lang="en-US" sz="1700"/>
              <a:t>communication, </a:t>
            </a:r>
            <a:endParaRPr sz="1700"/>
          </a:p>
          <a:p>
            <a:pPr indent="0" lvl="0" marL="0" rtl="0" algn="l">
              <a:spcBef>
                <a:spcPts val="0"/>
              </a:spcBef>
              <a:spcAft>
                <a:spcPts val="0"/>
              </a:spcAft>
              <a:buNone/>
            </a:pPr>
            <a:r>
              <a:rPr lang="en-US" sz="1700"/>
              <a:t>      </a:t>
            </a:r>
            <a:r>
              <a:rPr lang="en-US"/>
              <a:t> </a:t>
            </a:r>
            <a:r>
              <a:rPr lang="en-US" sz="1700"/>
              <a:t>anonymizing mailbox, </a:t>
            </a:r>
            <a:endParaRPr sz="1700"/>
          </a:p>
          <a:p>
            <a:pPr indent="0" lvl="0" marL="0" rtl="0" algn="l">
              <a:spcBef>
                <a:spcPts val="0"/>
              </a:spcBef>
              <a:spcAft>
                <a:spcPts val="0"/>
              </a:spcAft>
              <a:buNone/>
            </a:pPr>
            <a:r>
              <a:rPr lang="en-US" sz="1700"/>
              <a:t>       "lazy second evaluation",</a:t>
            </a:r>
            <a:endParaRPr sz="1700"/>
          </a:p>
          <a:p>
            <a:pPr indent="0" lvl="0" marL="0" rtl="0" algn="l">
              <a:spcBef>
                <a:spcPts val="0"/>
              </a:spcBef>
              <a:spcAft>
                <a:spcPts val="0"/>
              </a:spcAft>
              <a:buNone/>
            </a:pPr>
            <a:r>
              <a:rPr lang="en-US" sz="1700"/>
              <a:t>       best-reviewer award</a:t>
            </a:r>
            <a:endParaRPr sz="1700"/>
          </a:p>
        </p:txBody>
      </p:sp>
      <p:sp>
        <p:nvSpPr>
          <p:cNvPr id="384" name="Google Shape;384;p35"/>
          <p:cNvSpPr txBox="1"/>
          <p:nvPr/>
        </p:nvSpPr>
        <p:spPr>
          <a:xfrm>
            <a:off x="8653300" y="2738950"/>
            <a:ext cx="30855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R7  </a:t>
            </a:r>
            <a:r>
              <a:rPr lang="en-US" sz="1700"/>
              <a:t>Recognize and fund   </a:t>
            </a:r>
            <a:endParaRPr sz="1700"/>
          </a:p>
          <a:p>
            <a:pPr indent="0" lvl="0" marL="0" rtl="0" algn="l">
              <a:spcBef>
                <a:spcPts val="0"/>
              </a:spcBef>
              <a:spcAft>
                <a:spcPts val="0"/>
              </a:spcAft>
              <a:buNone/>
            </a:pPr>
            <a:r>
              <a:rPr lang="en-US" sz="1700"/>
              <a:t>      </a:t>
            </a:r>
            <a:r>
              <a:rPr lang="en-US" sz="1600"/>
              <a:t> </a:t>
            </a:r>
            <a:r>
              <a:rPr lang="en-US" sz="1700"/>
              <a:t>artifact work (hiring, </a:t>
            </a:r>
            <a:endParaRPr sz="1700"/>
          </a:p>
          <a:p>
            <a:pPr indent="0" lvl="0" marL="0" rtl="0" algn="l">
              <a:spcBef>
                <a:spcPts val="0"/>
              </a:spcBef>
              <a:spcAft>
                <a:spcPts val="0"/>
              </a:spcAft>
              <a:buNone/>
            </a:pPr>
            <a:r>
              <a:rPr lang="en-US" sz="1700"/>
              <a:t>       promotion, grant)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R8  </a:t>
            </a:r>
            <a:r>
              <a:rPr lang="en-US" sz="1700"/>
              <a:t>Long-term strategy and a </a:t>
            </a:r>
            <a:endParaRPr sz="1700"/>
          </a:p>
          <a:p>
            <a:pPr indent="0" lvl="0" marL="0" rtl="0" algn="l">
              <a:spcBef>
                <a:spcPts val="0"/>
              </a:spcBef>
              <a:spcAft>
                <a:spcPts val="0"/>
              </a:spcAft>
              <a:buNone/>
            </a:pPr>
            <a:r>
              <a:rPr lang="en-US" sz="1700"/>
              <a:t>    </a:t>
            </a:r>
            <a:r>
              <a:rPr lang="en-US" sz="1600"/>
              <a:t>   </a:t>
            </a:r>
            <a:r>
              <a:rPr lang="en-US" sz="1700"/>
              <a:t>standard artifact </a:t>
            </a:r>
            <a:endParaRPr sz="1700"/>
          </a:p>
          <a:p>
            <a:pPr indent="0" lvl="0" marL="0" rtl="0" algn="l">
              <a:spcBef>
                <a:spcPts val="0"/>
              </a:spcBef>
              <a:spcAft>
                <a:spcPts val="0"/>
              </a:spcAft>
              <a:buNone/>
            </a:pPr>
            <a:r>
              <a:rPr lang="en-US" sz="1700"/>
              <a:t>       description format</a:t>
            </a:r>
            <a:endParaRPr sz="1700"/>
          </a:p>
          <a:p>
            <a:pPr indent="0" lvl="0" marL="0" rtl="0" algn="l">
              <a:spcBef>
                <a:spcPts val="0"/>
              </a:spcBef>
              <a:spcAft>
                <a:spcPts val="0"/>
              </a:spcAft>
              <a:buNone/>
            </a:pPr>
            <a:r>
              <a:t/>
            </a:r>
            <a:endParaRPr sz="17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6"/>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rgbClr val="1A1A1A"/>
              </a:buClr>
              <a:buSzPts val="2200"/>
              <a:buChar char="•"/>
            </a:pPr>
            <a:r>
              <a:rPr b="1" lang="en-US" sz="2200">
                <a:solidFill>
                  <a:srgbClr val="1A1A1A"/>
                </a:solidFill>
              </a:rPr>
              <a:t>R2 </a:t>
            </a:r>
            <a:r>
              <a:rPr lang="en-US" sz="2200">
                <a:solidFill>
                  <a:srgbClr val="1A1A1A"/>
                </a:solidFill>
              </a:rPr>
              <a:t> Make it self-contained or proof-of-concept</a:t>
            </a:r>
            <a:endParaRPr sz="2200">
              <a:solidFill>
                <a:srgbClr val="1A1A1A"/>
              </a:solidFill>
            </a:endParaRPr>
          </a:p>
          <a:p>
            <a:pPr indent="0" lvl="0" marL="457200" rtl="0" algn="l">
              <a:lnSpc>
                <a:spcPct val="115000"/>
              </a:lnSpc>
              <a:spcBef>
                <a:spcPts val="0"/>
              </a:spcBef>
              <a:spcAft>
                <a:spcPts val="0"/>
              </a:spcAft>
              <a:buNone/>
            </a:pPr>
            <a:r>
              <a:rPr lang="en-US" sz="2200">
                <a:solidFill>
                  <a:srgbClr val="1A1A1A"/>
                </a:solidFill>
              </a:rPr>
              <a:t>→ Should researchers share the entire implementation to get the badges?</a:t>
            </a:r>
            <a:endParaRPr sz="2200">
              <a:solidFill>
                <a:srgbClr val="1A1A1A"/>
              </a:solidFill>
            </a:endParaRPr>
          </a:p>
          <a:p>
            <a:pPr indent="-368300" lvl="0" marL="457200" rtl="0" algn="l">
              <a:spcBef>
                <a:spcPts val="1000"/>
              </a:spcBef>
              <a:spcAft>
                <a:spcPts val="0"/>
              </a:spcAft>
              <a:buClr>
                <a:srgbClr val="1A1A1A"/>
              </a:buClr>
              <a:buSzPts val="2200"/>
              <a:buChar char="•"/>
            </a:pPr>
            <a:r>
              <a:rPr b="1" lang="en-US" sz="2200">
                <a:solidFill>
                  <a:srgbClr val="1A1A1A"/>
                </a:solidFill>
              </a:rPr>
              <a:t>R6</a:t>
            </a:r>
            <a:r>
              <a:rPr lang="en-US" sz="2200">
                <a:solidFill>
                  <a:srgbClr val="1A1A1A"/>
                </a:solidFill>
              </a:rPr>
              <a:t>  Reduce review cost: two-way communication,  anonymizing mailbox,  "lazy second evaluation", best-reviewer award</a:t>
            </a:r>
            <a:endParaRPr sz="2200">
              <a:solidFill>
                <a:srgbClr val="1A1A1A"/>
              </a:solidFill>
            </a:endParaRPr>
          </a:p>
          <a:p>
            <a:pPr indent="0" lvl="0" marL="457200" rtl="0" algn="l">
              <a:lnSpc>
                <a:spcPct val="115000"/>
              </a:lnSpc>
              <a:spcBef>
                <a:spcPts val="0"/>
              </a:spcBef>
              <a:spcAft>
                <a:spcPts val="0"/>
              </a:spcAft>
              <a:buNone/>
            </a:pPr>
            <a:r>
              <a:rPr lang="en-US" sz="2200">
                <a:solidFill>
                  <a:schemeClr val="dk1"/>
                </a:solidFill>
              </a:rPr>
              <a:t>→ Should researchers share the entire implementation to get the badges?</a:t>
            </a:r>
            <a:endParaRPr sz="2200">
              <a:solidFill>
                <a:srgbClr val="1A1A1A"/>
              </a:solidFill>
            </a:endParaRPr>
          </a:p>
          <a:p>
            <a:pPr indent="-368300" lvl="0" marL="457200" rtl="0" algn="l">
              <a:spcBef>
                <a:spcPts val="1000"/>
              </a:spcBef>
              <a:spcAft>
                <a:spcPts val="0"/>
              </a:spcAft>
              <a:buClr>
                <a:srgbClr val="1A1A1A"/>
              </a:buClr>
              <a:buSzPts val="2200"/>
              <a:buChar char="•"/>
            </a:pPr>
            <a:r>
              <a:rPr b="1" lang="en-US" sz="2200">
                <a:solidFill>
                  <a:srgbClr val="1A1A1A"/>
                </a:solidFill>
              </a:rPr>
              <a:t>R7</a:t>
            </a:r>
            <a:r>
              <a:rPr lang="en-US" sz="2200">
                <a:solidFill>
                  <a:srgbClr val="1A1A1A"/>
                </a:solidFill>
              </a:rPr>
              <a:t>  Recognize and fund artifact work (hiring, promotion, grant)</a:t>
            </a:r>
            <a:endParaRPr sz="2200">
              <a:solidFill>
                <a:srgbClr val="1A1A1A"/>
              </a:solidFill>
            </a:endParaRPr>
          </a:p>
          <a:p>
            <a:pPr indent="0" lvl="0" marL="457200" rtl="0" algn="l">
              <a:lnSpc>
                <a:spcPct val="115000"/>
              </a:lnSpc>
              <a:spcBef>
                <a:spcPts val="0"/>
              </a:spcBef>
              <a:spcAft>
                <a:spcPts val="0"/>
              </a:spcAft>
              <a:buNone/>
            </a:pPr>
            <a:r>
              <a:rPr lang="en-US" sz="2200">
                <a:solidFill>
                  <a:srgbClr val="1A1A1A"/>
                </a:solidFill>
              </a:rPr>
              <a:t>→ Agree/Disgree? Issues?</a:t>
            </a:r>
            <a:endParaRPr sz="2200">
              <a:solidFill>
                <a:srgbClr val="1A1A1A"/>
              </a:solidFill>
            </a:endParaRPr>
          </a:p>
          <a:p>
            <a:pPr indent="-368300" lvl="0" marL="457200" rtl="0" algn="l">
              <a:spcBef>
                <a:spcPts val="1000"/>
              </a:spcBef>
              <a:spcAft>
                <a:spcPts val="0"/>
              </a:spcAft>
              <a:buClr>
                <a:srgbClr val="1A1A1A"/>
              </a:buClr>
              <a:buSzPts val="2200"/>
              <a:buChar char="•"/>
            </a:pPr>
            <a:r>
              <a:rPr b="1" lang="en-US" sz="2200">
                <a:solidFill>
                  <a:srgbClr val="1A1A1A"/>
                </a:solidFill>
              </a:rPr>
              <a:t>R8</a:t>
            </a:r>
            <a:r>
              <a:rPr lang="en-US" sz="2200">
                <a:solidFill>
                  <a:srgbClr val="1A1A1A"/>
                </a:solidFill>
              </a:rPr>
              <a:t>  Long-term strategy and a standard artifact description format</a:t>
            </a:r>
            <a:endParaRPr sz="2200">
              <a:solidFill>
                <a:srgbClr val="1A1A1A"/>
              </a:solidFill>
            </a:endParaRPr>
          </a:p>
          <a:p>
            <a:pPr indent="0" lvl="0" marL="457200" rtl="0" algn="l">
              <a:spcBef>
                <a:spcPts val="0"/>
              </a:spcBef>
              <a:spcAft>
                <a:spcPts val="0"/>
              </a:spcAft>
              <a:buNone/>
            </a:pPr>
            <a:r>
              <a:rPr lang="en-US" sz="2200">
                <a:solidFill>
                  <a:srgbClr val="1A1A1A"/>
                </a:solidFill>
              </a:rPr>
              <a:t>→ Should there be a system in place where artifacts are evaluated regularly?</a:t>
            </a:r>
            <a:endParaRPr sz="2200">
              <a:solidFill>
                <a:srgbClr val="1A1A1A"/>
              </a:solidFill>
            </a:endParaRPr>
          </a:p>
          <a:p>
            <a:pPr indent="0" lvl="0" marL="0" marR="0" rtl="0" algn="l">
              <a:spcBef>
                <a:spcPts val="1000"/>
              </a:spcBef>
              <a:spcAft>
                <a:spcPts val="0"/>
              </a:spcAft>
              <a:buNone/>
            </a:pPr>
            <a:r>
              <a:t/>
            </a:r>
            <a:endParaRPr sz="2200">
              <a:solidFill>
                <a:srgbClr val="1A1A1A"/>
              </a:solidFill>
            </a:endParaRPr>
          </a:p>
        </p:txBody>
      </p:sp>
      <p:sp>
        <p:nvSpPr>
          <p:cNvPr id="391" name="Google Shape;391;p3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4000"/>
              <a:buFont typeface="Arial"/>
              <a:buNone/>
            </a:pPr>
            <a:r>
              <a:rPr b="1" lang="en-US" sz="4000">
                <a:solidFill>
                  <a:schemeClr val="dk2"/>
                </a:solidFill>
              </a:rPr>
              <a:t>Paper 2 · Discussion</a:t>
            </a:r>
            <a:endParaRPr b="1" sz="4000">
              <a:solidFill>
                <a:srgbClr val="00883A"/>
              </a:solidFill>
            </a:endParaRPr>
          </a:p>
        </p:txBody>
      </p:sp>
      <p:sp>
        <p:nvSpPr>
          <p:cNvPr id="392" name="Google Shape;392;p3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Recommendations</a:t>
            </a:r>
            <a:endParaRPr b="0" i="0" sz="4000" u="none" cap="none" strike="noStrike">
              <a:solidFill>
                <a:schemeClr val="dk1"/>
              </a:solidFill>
              <a:latin typeface="Arial"/>
              <a:ea typeface="Arial"/>
              <a:cs typeface="Arial"/>
              <a:sym typeface="Arial"/>
            </a:endParaRPr>
          </a:p>
        </p:txBody>
      </p:sp>
      <p:sp>
        <p:nvSpPr>
          <p:cNvPr id="399" name="Google Shape;399;p3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00" name="Google Shape;400;p37"/>
          <p:cNvSpPr/>
          <p:nvPr/>
        </p:nvSpPr>
        <p:spPr>
          <a:xfrm>
            <a:off x="452950" y="1990525"/>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1" name="Google Shape;401;p37"/>
          <p:cNvSpPr/>
          <p:nvPr/>
        </p:nvSpPr>
        <p:spPr>
          <a:xfrm>
            <a:off x="4494475" y="1990525"/>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2" name="Google Shape;402;p37"/>
          <p:cNvSpPr/>
          <p:nvPr/>
        </p:nvSpPr>
        <p:spPr>
          <a:xfrm>
            <a:off x="8536000" y="1990525"/>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3" name="Google Shape;403;p37"/>
          <p:cNvSpPr txBox="1"/>
          <p:nvPr/>
        </p:nvSpPr>
        <p:spPr>
          <a:xfrm>
            <a:off x="1230400" y="1417800"/>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Creators</a:t>
            </a:r>
            <a:endParaRPr b="1" sz="2000"/>
          </a:p>
        </p:txBody>
      </p:sp>
      <p:sp>
        <p:nvSpPr>
          <p:cNvPr id="404" name="Google Shape;404;p37"/>
          <p:cNvSpPr txBox="1"/>
          <p:nvPr/>
        </p:nvSpPr>
        <p:spPr>
          <a:xfrm>
            <a:off x="4494475" y="1188650"/>
            <a:ext cx="32028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Reviewers &amp; Committees</a:t>
            </a:r>
            <a:endParaRPr b="1" sz="2000"/>
          </a:p>
        </p:txBody>
      </p:sp>
      <p:sp>
        <p:nvSpPr>
          <p:cNvPr id="405" name="Google Shape;405;p37"/>
          <p:cNvSpPr txBox="1"/>
          <p:nvPr/>
        </p:nvSpPr>
        <p:spPr>
          <a:xfrm>
            <a:off x="9313450" y="1417800"/>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Institutions</a:t>
            </a:r>
            <a:endParaRPr b="1" sz="2000"/>
          </a:p>
        </p:txBody>
      </p:sp>
      <p:sp>
        <p:nvSpPr>
          <p:cNvPr id="406" name="Google Shape;406;p37"/>
          <p:cNvSpPr txBox="1"/>
          <p:nvPr/>
        </p:nvSpPr>
        <p:spPr>
          <a:xfrm>
            <a:off x="570250" y="2504125"/>
            <a:ext cx="3085500" cy="31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R1  </a:t>
            </a:r>
            <a:r>
              <a:rPr lang="en-US" sz="1700"/>
              <a:t>Describe contents, </a:t>
            </a:r>
            <a:endParaRPr sz="1700"/>
          </a:p>
          <a:p>
            <a:pPr indent="0" lvl="0" marL="0" rtl="0" algn="l">
              <a:spcBef>
                <a:spcPts val="0"/>
              </a:spcBef>
              <a:spcAft>
                <a:spcPts val="0"/>
              </a:spcAft>
              <a:buNone/>
            </a:pPr>
            <a:r>
              <a:rPr lang="en-US" sz="1700"/>
              <a:t>      </a:t>
            </a:r>
            <a:r>
              <a:rPr lang="en-US"/>
              <a:t> </a:t>
            </a:r>
            <a:r>
              <a:rPr lang="en-US" sz="1700"/>
              <a:t>structure and purpose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R2  </a:t>
            </a:r>
            <a:r>
              <a:rPr lang="en-US" sz="1700"/>
              <a:t>Make it self-contained or    </a:t>
            </a:r>
            <a:endParaRPr sz="1700"/>
          </a:p>
          <a:p>
            <a:pPr indent="0" lvl="0" marL="0" rtl="0" algn="l">
              <a:spcBef>
                <a:spcPts val="0"/>
              </a:spcBef>
              <a:spcAft>
                <a:spcPts val="0"/>
              </a:spcAft>
              <a:buNone/>
            </a:pPr>
            <a:r>
              <a:rPr lang="en-US" sz="1700"/>
              <a:t>     </a:t>
            </a:r>
            <a:r>
              <a:rPr lang="en-US" sz="1500"/>
              <a:t>  </a:t>
            </a:r>
            <a:r>
              <a:rPr lang="en-US" sz="1700"/>
              <a:t>proof-of-concept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R3</a:t>
            </a:r>
            <a:r>
              <a:rPr lang="en-US" sz="1700"/>
              <a:t>  Plan early or archive  </a:t>
            </a:r>
            <a:endParaRPr sz="1700"/>
          </a:p>
          <a:p>
            <a:pPr indent="0" lvl="0" marL="0" rtl="0" algn="l">
              <a:spcBef>
                <a:spcPts val="0"/>
              </a:spcBef>
              <a:spcAft>
                <a:spcPts val="0"/>
              </a:spcAft>
              <a:buNone/>
            </a:pPr>
            <a:r>
              <a:rPr lang="en-US" sz="1700"/>
              <a:t>      </a:t>
            </a:r>
            <a:r>
              <a:rPr lang="en-US" sz="1200"/>
              <a:t> </a:t>
            </a:r>
            <a:r>
              <a:rPr lang="en-US" sz="1700"/>
              <a:t>long-term (e.g. Zenodo)</a:t>
            </a:r>
            <a:endParaRPr sz="1700"/>
          </a:p>
        </p:txBody>
      </p:sp>
      <p:sp>
        <p:nvSpPr>
          <p:cNvPr id="407" name="Google Shape;407;p37"/>
          <p:cNvSpPr txBox="1"/>
          <p:nvPr/>
        </p:nvSpPr>
        <p:spPr>
          <a:xfrm>
            <a:off x="4638025" y="2504125"/>
            <a:ext cx="32028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R4  </a:t>
            </a:r>
            <a:r>
              <a:rPr lang="en-US" sz="1700"/>
              <a:t>Use a clear rubric</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R5  </a:t>
            </a:r>
            <a:r>
              <a:rPr lang="en-US" sz="1700"/>
              <a:t>Align author and reviewer     </a:t>
            </a:r>
            <a:endParaRPr sz="1700"/>
          </a:p>
          <a:p>
            <a:pPr indent="0" lvl="0" marL="0" rtl="0" algn="l">
              <a:spcBef>
                <a:spcPts val="0"/>
              </a:spcBef>
              <a:spcAft>
                <a:spcPts val="0"/>
              </a:spcAft>
              <a:buNone/>
            </a:pPr>
            <a:r>
              <a:rPr lang="en-US" sz="1700"/>
              <a:t>      </a:t>
            </a:r>
            <a:r>
              <a:rPr lang="en-US" sz="1500"/>
              <a:t> </a:t>
            </a:r>
            <a:r>
              <a:rPr lang="en-US" sz="1700"/>
              <a:t>expectations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R6</a:t>
            </a:r>
            <a:r>
              <a:rPr lang="en-US" sz="1700"/>
              <a:t>  Reduce review cost:        </a:t>
            </a:r>
            <a:endParaRPr sz="1700"/>
          </a:p>
          <a:p>
            <a:pPr indent="0" lvl="0" marL="0" rtl="0" algn="l">
              <a:spcBef>
                <a:spcPts val="0"/>
              </a:spcBef>
              <a:spcAft>
                <a:spcPts val="0"/>
              </a:spcAft>
              <a:buNone/>
            </a:pPr>
            <a:r>
              <a:rPr lang="en-US" sz="1700"/>
              <a:t>     </a:t>
            </a:r>
            <a:r>
              <a:rPr lang="en-US" sz="1300"/>
              <a:t> </a:t>
            </a:r>
            <a:r>
              <a:rPr lang="en-US" sz="1600"/>
              <a:t> </a:t>
            </a:r>
            <a:r>
              <a:rPr lang="en-US" sz="1700"/>
              <a:t>two-way communication, </a:t>
            </a:r>
            <a:endParaRPr sz="1700"/>
          </a:p>
          <a:p>
            <a:pPr indent="0" lvl="0" marL="0" rtl="0" algn="l">
              <a:spcBef>
                <a:spcPts val="0"/>
              </a:spcBef>
              <a:spcAft>
                <a:spcPts val="0"/>
              </a:spcAft>
              <a:buNone/>
            </a:pPr>
            <a:r>
              <a:rPr lang="en-US" sz="1700"/>
              <a:t>      </a:t>
            </a:r>
            <a:r>
              <a:rPr lang="en-US"/>
              <a:t> </a:t>
            </a:r>
            <a:r>
              <a:rPr lang="en-US" sz="1700"/>
              <a:t>anonymizing mailbox, </a:t>
            </a:r>
            <a:endParaRPr sz="1700"/>
          </a:p>
          <a:p>
            <a:pPr indent="0" lvl="0" marL="0" rtl="0" algn="l">
              <a:spcBef>
                <a:spcPts val="0"/>
              </a:spcBef>
              <a:spcAft>
                <a:spcPts val="0"/>
              </a:spcAft>
              <a:buNone/>
            </a:pPr>
            <a:r>
              <a:rPr lang="en-US" sz="1700"/>
              <a:t>       "lazy second evaluation",</a:t>
            </a:r>
            <a:endParaRPr sz="1700"/>
          </a:p>
          <a:p>
            <a:pPr indent="0" lvl="0" marL="0" rtl="0" algn="l">
              <a:spcBef>
                <a:spcPts val="0"/>
              </a:spcBef>
              <a:spcAft>
                <a:spcPts val="0"/>
              </a:spcAft>
              <a:buNone/>
            </a:pPr>
            <a:r>
              <a:rPr lang="en-US" sz="1700"/>
              <a:t>       best-reviewer award</a:t>
            </a:r>
            <a:endParaRPr sz="1700"/>
          </a:p>
        </p:txBody>
      </p:sp>
      <p:sp>
        <p:nvSpPr>
          <p:cNvPr id="408" name="Google Shape;408;p37"/>
          <p:cNvSpPr txBox="1"/>
          <p:nvPr/>
        </p:nvSpPr>
        <p:spPr>
          <a:xfrm>
            <a:off x="8653300" y="2504125"/>
            <a:ext cx="30855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R7  </a:t>
            </a:r>
            <a:r>
              <a:rPr lang="en-US" sz="1700"/>
              <a:t>Recognize and fund   </a:t>
            </a:r>
            <a:endParaRPr sz="1700"/>
          </a:p>
          <a:p>
            <a:pPr indent="0" lvl="0" marL="0" rtl="0" algn="l">
              <a:spcBef>
                <a:spcPts val="0"/>
              </a:spcBef>
              <a:spcAft>
                <a:spcPts val="0"/>
              </a:spcAft>
              <a:buNone/>
            </a:pPr>
            <a:r>
              <a:rPr lang="en-US" sz="1700"/>
              <a:t>      </a:t>
            </a:r>
            <a:r>
              <a:rPr lang="en-US" sz="1600"/>
              <a:t> </a:t>
            </a:r>
            <a:r>
              <a:rPr lang="en-US" sz="1700"/>
              <a:t>artifact work (hiring, </a:t>
            </a:r>
            <a:endParaRPr sz="1700"/>
          </a:p>
          <a:p>
            <a:pPr indent="0" lvl="0" marL="0" rtl="0" algn="l">
              <a:spcBef>
                <a:spcPts val="0"/>
              </a:spcBef>
              <a:spcAft>
                <a:spcPts val="0"/>
              </a:spcAft>
              <a:buNone/>
            </a:pPr>
            <a:r>
              <a:rPr lang="en-US" sz="1700"/>
              <a:t>       promotion, grant)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R8  </a:t>
            </a:r>
            <a:r>
              <a:rPr lang="en-US" sz="1700"/>
              <a:t>Long-term strategy and a </a:t>
            </a:r>
            <a:endParaRPr sz="1700"/>
          </a:p>
          <a:p>
            <a:pPr indent="0" lvl="0" marL="0" rtl="0" algn="l">
              <a:spcBef>
                <a:spcPts val="0"/>
              </a:spcBef>
              <a:spcAft>
                <a:spcPts val="0"/>
              </a:spcAft>
              <a:buNone/>
            </a:pPr>
            <a:r>
              <a:rPr lang="en-US" sz="1700"/>
              <a:t>    </a:t>
            </a:r>
            <a:r>
              <a:rPr lang="en-US" sz="1600"/>
              <a:t>   </a:t>
            </a:r>
            <a:r>
              <a:rPr lang="en-US" sz="1700"/>
              <a:t>standard artifact </a:t>
            </a:r>
            <a:endParaRPr sz="1700"/>
          </a:p>
          <a:p>
            <a:pPr indent="0" lvl="0" marL="0" rtl="0" algn="l">
              <a:spcBef>
                <a:spcPts val="0"/>
              </a:spcBef>
              <a:spcAft>
                <a:spcPts val="0"/>
              </a:spcAft>
              <a:buNone/>
            </a:pPr>
            <a:r>
              <a:rPr lang="en-US" sz="1700"/>
              <a:t>       description format</a:t>
            </a:r>
            <a:endParaRPr sz="1700"/>
          </a:p>
          <a:p>
            <a:pPr indent="0" lvl="0" marL="0" rtl="0" algn="l">
              <a:spcBef>
                <a:spcPts val="0"/>
              </a:spcBef>
              <a:spcAft>
                <a:spcPts val="0"/>
              </a:spcAft>
              <a:buNone/>
            </a:pPr>
            <a:r>
              <a:t/>
            </a:r>
            <a:endParaRPr sz="1700"/>
          </a:p>
        </p:txBody>
      </p:sp>
      <p:sp>
        <p:nvSpPr>
          <p:cNvPr id="409" name="Google Shape;409;p37"/>
          <p:cNvSpPr txBox="1"/>
          <p:nvPr/>
        </p:nvSpPr>
        <p:spPr>
          <a:xfrm>
            <a:off x="4376400" y="5885425"/>
            <a:ext cx="34392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600"/>
              <a:t>Agree?/Disagree?</a:t>
            </a:r>
            <a:endParaRPr sz="26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8"/>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Cross Comparison</a:t>
            </a:r>
            <a:endParaRPr b="0" i="0" sz="4800" u="none" cap="none" strike="noStrike">
              <a:solidFill>
                <a:schemeClr val="dk1"/>
              </a:solidFill>
              <a:latin typeface="Arial"/>
              <a:ea typeface="Arial"/>
              <a:cs typeface="Arial"/>
              <a:sym typeface="Arial"/>
            </a:endParaRPr>
          </a:p>
        </p:txBody>
      </p:sp>
      <p:sp>
        <p:nvSpPr>
          <p:cNvPr id="416" name="Google Shape;416;p38"/>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3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Differences</a:t>
            </a:r>
            <a:endParaRPr b="0" i="0" sz="4000" u="none" cap="none" strike="noStrike">
              <a:solidFill>
                <a:schemeClr val="dk1"/>
              </a:solidFill>
              <a:latin typeface="Arial"/>
              <a:ea typeface="Arial"/>
              <a:cs typeface="Arial"/>
              <a:sym typeface="Arial"/>
            </a:endParaRPr>
          </a:p>
        </p:txBody>
      </p:sp>
      <p:sp>
        <p:nvSpPr>
          <p:cNvPr id="423" name="Google Shape;423;p3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24" name="Google Shape;424;p39"/>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425" name="Google Shape;425;p39"/>
          <p:cNvSpPr txBox="1"/>
          <p:nvPr/>
        </p:nvSpPr>
        <p:spPr>
          <a:xfrm>
            <a:off x="1903700" y="2180425"/>
            <a:ext cx="669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Similarities</a:t>
            </a:r>
            <a:endParaRPr b="0" i="0" sz="4000" u="none" cap="none" strike="noStrike">
              <a:solidFill>
                <a:schemeClr val="dk1"/>
              </a:solidFill>
              <a:latin typeface="Arial"/>
              <a:ea typeface="Arial"/>
              <a:cs typeface="Arial"/>
              <a:sym typeface="Arial"/>
            </a:endParaRPr>
          </a:p>
        </p:txBody>
      </p:sp>
      <p:sp>
        <p:nvSpPr>
          <p:cNvPr id="432" name="Google Shape;432;p40"/>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433" name="Google Shape;433;p4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440" name="Google Shape;440;p4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41" name="Google Shape;441;p41"/>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2"/>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Criticism</a:t>
            </a:r>
            <a:endParaRPr b="0" i="0" sz="4800" u="none" cap="none" strike="noStrike">
              <a:solidFill>
                <a:schemeClr val="dk1"/>
              </a:solidFill>
              <a:latin typeface="Arial"/>
              <a:ea typeface="Arial"/>
              <a:cs typeface="Arial"/>
              <a:sym typeface="Arial"/>
            </a:endParaRPr>
          </a:p>
        </p:txBody>
      </p:sp>
      <p:sp>
        <p:nvSpPr>
          <p:cNvPr id="448" name="Google Shape;448;p42"/>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Discussion </a:t>
            </a:r>
            <a:r>
              <a:rPr b="1" lang="en-US" sz="4000">
                <a:solidFill>
                  <a:srgbClr val="00883A"/>
                </a:solidFill>
              </a:rPr>
              <a:t>-</a:t>
            </a:r>
            <a:r>
              <a:rPr b="1" i="0" lang="en-US" sz="4000" u="none" cap="none" strike="noStrike">
                <a:solidFill>
                  <a:srgbClr val="00883A"/>
                </a:solidFill>
                <a:latin typeface="Arial"/>
                <a:ea typeface="Arial"/>
                <a:cs typeface="Arial"/>
                <a:sym typeface="Arial"/>
              </a:rPr>
              <a:t> Paper 1 (?)</a:t>
            </a:r>
            <a:endParaRPr b="0" i="0" sz="4000" u="none" cap="none" strike="noStrike">
              <a:solidFill>
                <a:schemeClr val="dk1"/>
              </a:solidFill>
              <a:latin typeface="Arial"/>
              <a:ea typeface="Arial"/>
              <a:cs typeface="Arial"/>
              <a:sym typeface="Arial"/>
            </a:endParaRPr>
          </a:p>
        </p:txBody>
      </p:sp>
      <p:sp>
        <p:nvSpPr>
          <p:cNvPr id="455" name="Google Shape;455;p43"/>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456" name="Google Shape;456;p4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a:t>
            </a:r>
            <a:r>
              <a:rPr b="1" lang="en-US" sz="4000">
                <a:solidFill>
                  <a:srgbClr val="00883A"/>
                </a:solidFill>
              </a:rPr>
              <a:t>Discussion</a:t>
            </a:r>
            <a:r>
              <a:rPr b="1" i="0" lang="en-US" sz="4000" u="none" cap="none" strike="noStrike">
                <a:solidFill>
                  <a:srgbClr val="00883A"/>
                </a:solidFill>
                <a:latin typeface="Arial"/>
                <a:ea typeface="Arial"/>
                <a:cs typeface="Arial"/>
                <a:sym typeface="Arial"/>
              </a:rPr>
              <a:t> </a:t>
            </a:r>
            <a:r>
              <a:rPr b="1" lang="en-US" sz="4000">
                <a:solidFill>
                  <a:srgbClr val="00883A"/>
                </a:solidFill>
              </a:rPr>
              <a:t>-</a:t>
            </a:r>
            <a:r>
              <a:rPr b="1" i="0" lang="en-US" sz="4000" u="none" cap="none" strike="noStrike">
                <a:solidFill>
                  <a:srgbClr val="00883A"/>
                </a:solidFill>
                <a:latin typeface="Arial"/>
                <a:ea typeface="Arial"/>
                <a:cs typeface="Arial"/>
                <a:sym typeface="Arial"/>
              </a:rPr>
              <a:t> Paper 2 </a:t>
            </a:r>
            <a:r>
              <a:rPr b="1" lang="en-US" sz="4000">
                <a:solidFill>
                  <a:schemeClr val="dk2"/>
                </a:solidFill>
              </a:rPr>
              <a:t>(?)</a:t>
            </a:r>
            <a:endParaRPr b="0" i="0" sz="4000" u="none" cap="none" strike="noStrike">
              <a:solidFill>
                <a:schemeClr val="dk1"/>
              </a:solidFill>
              <a:latin typeface="Arial"/>
              <a:ea typeface="Arial"/>
              <a:cs typeface="Arial"/>
              <a:sym typeface="Arial"/>
            </a:endParaRPr>
          </a:p>
        </p:txBody>
      </p:sp>
      <p:sp>
        <p:nvSpPr>
          <p:cNvPr id="463" name="Google Shape;463;p44"/>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464" name="Google Shape;464;p4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4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Open Floor</a:t>
            </a:r>
            <a:endParaRPr b="0" i="0" sz="4000" u="none" cap="none" strike="noStrike">
              <a:solidFill>
                <a:schemeClr val="dk1"/>
              </a:solidFill>
              <a:latin typeface="Arial"/>
              <a:ea typeface="Arial"/>
              <a:cs typeface="Arial"/>
              <a:sym typeface="Arial"/>
            </a:endParaRPr>
          </a:p>
        </p:txBody>
      </p:sp>
      <p:sp>
        <p:nvSpPr>
          <p:cNvPr id="471" name="Google Shape;471;p45"/>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further discussion points you wanted to bring up?</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Criticisms of either paper we have not covered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Further interesting ideas or approaches you want to talk about</a:t>
            </a:r>
            <a:endParaRPr b="0" i="0" sz="2200" u="none" cap="none" strike="noStrike">
              <a:solidFill>
                <a:srgbClr val="1A1A1A"/>
              </a:solidFill>
              <a:latin typeface="Arial"/>
              <a:ea typeface="Arial"/>
              <a:cs typeface="Arial"/>
              <a:sym typeface="Arial"/>
            </a:endParaRPr>
          </a:p>
          <a:p>
            <a:pPr indent="-279400" lvl="0" marL="279400" marR="0" rtl="0" algn="l">
              <a:spcBef>
                <a:spcPts val="1000"/>
              </a:spcBef>
              <a:spcAft>
                <a:spcPts val="0"/>
              </a:spcAft>
              <a:buClr>
                <a:srgbClr val="1A1A1A"/>
              </a:buClr>
              <a:buSzPts val="2200"/>
              <a:buChar char="•"/>
            </a:pPr>
            <a:r>
              <a:rPr lang="en-US" sz="2200">
                <a:solidFill>
                  <a:srgbClr val="1A1A1A"/>
                </a:solidFill>
              </a:rPr>
              <a:t>What would you do as a follow-up study to these presented papers?</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Anything from your own notes and preparation</a:t>
            </a:r>
            <a:endParaRPr b="0" i="0" sz="2200" u="none" cap="none" strike="noStrike">
              <a:solidFill>
                <a:schemeClr val="dk1"/>
              </a:solidFill>
              <a:latin typeface="Arial"/>
              <a:ea typeface="Arial"/>
              <a:cs typeface="Arial"/>
              <a:sym typeface="Arial"/>
            </a:endParaRPr>
          </a:p>
        </p:txBody>
      </p:sp>
      <p:sp>
        <p:nvSpPr>
          <p:cNvPr id="472" name="Google Shape;472;p4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6"/>
          <p:cNvSpPr txBox="1"/>
          <p:nvPr/>
        </p:nvSpPr>
        <p:spPr>
          <a:xfrm>
            <a:off x="640080" y="2560320"/>
            <a:ext cx="109116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Thank you for your attention</a:t>
            </a:r>
            <a:endParaRPr b="0" i="0" sz="4800" u="none" cap="none" strike="noStrike">
              <a:solidFill>
                <a:schemeClr val="dk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4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References</a:t>
            </a:r>
            <a:endParaRPr b="0" i="0" sz="4000" u="none" cap="none" strike="noStrike">
              <a:solidFill>
                <a:schemeClr val="dk1"/>
              </a:solidFill>
              <a:latin typeface="Arial"/>
              <a:ea typeface="Arial"/>
              <a:cs typeface="Arial"/>
              <a:sym typeface="Arial"/>
            </a:endParaRPr>
          </a:p>
        </p:txBody>
      </p:sp>
      <p:sp>
        <p:nvSpPr>
          <p:cNvPr id="484" name="Google Shape;484;p4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85" name="Google Shape;485;p47"/>
          <p:cNvSpPr txBox="1"/>
          <p:nvPr/>
        </p:nvSpPr>
        <p:spPr>
          <a:xfrm>
            <a:off x="640080" y="1463040"/>
            <a:ext cx="10908900" cy="211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A1A1A"/>
                </a:solidFill>
                <a:latin typeface="Arial"/>
                <a:ea typeface="Arial"/>
                <a:cs typeface="Arial"/>
                <a:sym typeface="Arial"/>
              </a:rPr>
              <a:t>[1] </a:t>
            </a:r>
            <a:r>
              <a:rPr b="0" i="0" lang="en-US" sz="1800" u="none" cap="none" strike="noStrike">
                <a:solidFill>
                  <a:srgbClr val="1A1A1A"/>
                </a:solidFill>
                <a:latin typeface="Arial"/>
                <a:ea typeface="Arial"/>
                <a:cs typeface="Arial"/>
                <a:sym typeface="Arial"/>
              </a:rPr>
              <a:t>ACM: Artifact Review and Badging, Version 1.1 (2020). acm.org/publications/policies/artifact-review-and-badging-current</a:t>
            </a:r>
            <a:endParaRPr/>
          </a:p>
          <a:p>
            <a:pPr indent="0" lvl="0" marL="0" marR="0" rtl="0" algn="l">
              <a:lnSpc>
                <a:spcPct val="100000"/>
              </a:lnSpc>
              <a:spcBef>
                <a:spcPts val="1400"/>
              </a:spcBef>
              <a:spcAft>
                <a:spcPts val="0"/>
              </a:spcAft>
              <a:buNone/>
            </a:pPr>
            <a:r>
              <a:rPr b="1" i="0" lang="en-US" sz="1800" u="none" cap="none" strike="noStrike">
                <a:solidFill>
                  <a:srgbClr val="1A1A1A"/>
                </a:solidFill>
                <a:latin typeface="Arial"/>
                <a:ea typeface="Arial"/>
                <a:cs typeface="Arial"/>
                <a:sym typeface="Arial"/>
              </a:rPr>
              <a:t>[2] </a:t>
            </a:r>
            <a:r>
              <a:rPr b="0" i="0" lang="en-US" sz="1800" u="none" cap="none" strike="noStrike">
                <a:solidFill>
                  <a:srgbClr val="1A1A1A"/>
                </a:solidFill>
                <a:latin typeface="Arial"/>
                <a:ea typeface="Arial"/>
                <a:cs typeface="Arial"/>
                <a:sym typeface="Arial"/>
              </a:rPr>
              <a:t>Winter &amp; Beyer: Introductory Lecture, Reproducibility of Scientific Results in SE Research, LMU (slide 9)</a:t>
            </a:r>
            <a:endParaRPr/>
          </a:p>
          <a:p>
            <a:pPr indent="0" lvl="0" marL="0" marR="0" rtl="0" algn="l">
              <a:lnSpc>
                <a:spcPct val="100000"/>
              </a:lnSpc>
              <a:spcBef>
                <a:spcPts val="1400"/>
              </a:spcBef>
              <a:spcAft>
                <a:spcPts val="0"/>
              </a:spcAft>
              <a:buNone/>
            </a:pPr>
            <a:r>
              <a:rPr b="1" i="0" lang="en-US" sz="1800" u="none" cap="none" strike="noStrike">
                <a:solidFill>
                  <a:srgbClr val="1A1A1A"/>
                </a:solidFill>
                <a:latin typeface="Arial"/>
                <a:ea typeface="Arial"/>
                <a:cs typeface="Arial"/>
                <a:sym typeface="Arial"/>
              </a:rPr>
              <a:t>[3] </a:t>
            </a:r>
            <a:r>
              <a:rPr b="0" i="0" lang="en-US" sz="1800" u="none" cap="none" strike="noStrike">
                <a:solidFill>
                  <a:srgbClr val="1A1A1A"/>
                </a:solidFill>
                <a:latin typeface="Arial"/>
                <a:ea typeface="Arial"/>
                <a:cs typeface="Arial"/>
                <a:sym typeface="Arial"/>
              </a:rPr>
              <a:t>ICSE 2026 Artifact Evaluation track, call for submissions. conf.researchr.org/track/icse-2026/icse-2026-artifact-evaluation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51"/>
          <p:cNvSpPr txBox="1"/>
          <p:nvPr/>
        </p:nvSpPr>
        <p:spPr>
          <a:xfrm>
            <a:off x="640080" y="2011680"/>
            <a:ext cx="10911535" cy="14630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Lecture 2: Paper Discussion</a:t>
            </a:r>
            <a:endParaRPr b="0" i="0" sz="4400" u="none" cap="none" strike="noStrike">
              <a:solidFill>
                <a:schemeClr val="dk1"/>
              </a:solidFill>
              <a:latin typeface="Arial"/>
              <a:ea typeface="Arial"/>
              <a:cs typeface="Arial"/>
              <a:sym typeface="Arial"/>
            </a:endParaRPr>
          </a:p>
        </p:txBody>
      </p:sp>
      <p:sp>
        <p:nvSpPr>
          <p:cNvPr id="507" name="Google Shape;507;p51"/>
          <p:cNvSpPr txBox="1"/>
          <p:nvPr/>
        </p:nvSpPr>
        <p:spPr>
          <a:xfrm>
            <a:off x="640080" y="365760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Arial"/>
              <a:buNone/>
            </a:pPr>
            <a:r>
              <a:rPr b="0" i="0" lang="en-US" sz="2200" u="none" cap="none" strike="noStrike">
                <a:solidFill>
                  <a:srgbClr val="FFFFFF"/>
                </a:solidFill>
                <a:latin typeface="Arial"/>
                <a:ea typeface="Arial"/>
                <a:cs typeface="Arial"/>
                <a:sym typeface="Arial"/>
              </a:rPr>
              <a:t>Hermann, Winter &amp; Siegmund (FSE 2020) · Timperley, Herckis, Le Goues &amp; Hilton (EMSE 2021)</a:t>
            </a:r>
            <a:endParaRPr b="0" i="0" sz="2200" u="none" cap="none" strike="noStrike">
              <a:solidFill>
                <a:schemeClr val="dk1"/>
              </a:solidFill>
              <a:latin typeface="Arial"/>
              <a:ea typeface="Arial"/>
              <a:cs typeface="Arial"/>
              <a:sym typeface="Arial"/>
            </a:endParaRPr>
          </a:p>
        </p:txBody>
      </p:sp>
      <p:sp>
        <p:nvSpPr>
          <p:cNvPr id="508" name="Google Shape;508;p51"/>
          <p:cNvSpPr txBox="1"/>
          <p:nvPr/>
        </p:nvSpPr>
        <p:spPr>
          <a:xfrm>
            <a:off x="640080" y="4754880"/>
            <a:ext cx="10911535"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1600"/>
              <a:buFont typeface="Arial"/>
              <a:buNone/>
            </a:pPr>
            <a:r>
              <a:rPr b="0" i="0" lang="en-US" sz="1600" u="none" cap="none" strike="noStrike">
                <a:solidFill>
                  <a:srgbClr val="E3F1E8"/>
                </a:solidFill>
                <a:latin typeface="Arial"/>
                <a:ea typeface="Arial"/>
                <a:cs typeface="Arial"/>
                <a:sym typeface="Arial"/>
              </a:rPr>
              <a:t>Seminar: Reproducibility of Scientific Results in Software Engineering Research · 27 October</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2"/>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Index</a:t>
            </a:r>
            <a:endParaRPr b="0" i="0" sz="4000" u="none" cap="none" strike="noStrike">
              <a:solidFill>
                <a:schemeClr val="dk1"/>
              </a:solidFill>
              <a:latin typeface="Arial"/>
              <a:ea typeface="Arial"/>
              <a:cs typeface="Arial"/>
              <a:sym typeface="Arial"/>
            </a:endParaRPr>
          </a:p>
        </p:txBody>
      </p:sp>
      <p:sp>
        <p:nvSpPr>
          <p:cNvPr id="515" name="Google Shape;515;p52"/>
          <p:cNvSpPr txBox="1"/>
          <p:nvPr/>
        </p:nvSpPr>
        <p:spPr>
          <a:xfrm>
            <a:off x="640080" y="155448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01</a:t>
            </a:r>
            <a:endParaRPr b="0" i="0" sz="2200" u="none" cap="none" strike="noStrike">
              <a:solidFill>
                <a:schemeClr val="dk1"/>
              </a:solidFill>
              <a:latin typeface="Arial"/>
              <a:ea typeface="Arial"/>
              <a:cs typeface="Arial"/>
              <a:sym typeface="Arial"/>
            </a:endParaRPr>
          </a:p>
        </p:txBody>
      </p:sp>
      <p:sp>
        <p:nvSpPr>
          <p:cNvPr id="516" name="Google Shape;516;p52"/>
          <p:cNvSpPr txBox="1"/>
          <p:nvPr/>
        </p:nvSpPr>
        <p:spPr>
          <a:xfrm>
            <a:off x="1463040" y="155448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Hermann et al. 2020 · summary</a:t>
            </a:r>
            <a:endParaRPr b="0" i="0" sz="2200" u="none" cap="none" strike="noStrike">
              <a:solidFill>
                <a:schemeClr val="dk1"/>
              </a:solidFill>
              <a:latin typeface="Arial"/>
              <a:ea typeface="Arial"/>
              <a:cs typeface="Arial"/>
              <a:sym typeface="Arial"/>
            </a:endParaRPr>
          </a:p>
        </p:txBody>
      </p:sp>
      <p:sp>
        <p:nvSpPr>
          <p:cNvPr id="517" name="Google Shape;517;p52"/>
          <p:cNvSpPr txBox="1"/>
          <p:nvPr/>
        </p:nvSpPr>
        <p:spPr>
          <a:xfrm>
            <a:off x="640080" y="219456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02</a:t>
            </a:r>
            <a:endParaRPr b="0" i="0" sz="2200" u="none" cap="none" strike="noStrike">
              <a:solidFill>
                <a:schemeClr val="dk1"/>
              </a:solidFill>
              <a:latin typeface="Arial"/>
              <a:ea typeface="Arial"/>
              <a:cs typeface="Arial"/>
              <a:sym typeface="Arial"/>
            </a:endParaRPr>
          </a:p>
        </p:txBody>
      </p:sp>
      <p:sp>
        <p:nvSpPr>
          <p:cNvPr id="518" name="Google Shape;518;p52"/>
          <p:cNvSpPr txBox="1"/>
          <p:nvPr/>
        </p:nvSpPr>
        <p:spPr>
          <a:xfrm>
            <a:off x="1463040" y="219456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 discussion</a:t>
            </a:r>
            <a:endParaRPr b="0" i="0" sz="2200" u="none" cap="none" strike="noStrike">
              <a:solidFill>
                <a:schemeClr val="dk1"/>
              </a:solidFill>
              <a:latin typeface="Arial"/>
              <a:ea typeface="Arial"/>
              <a:cs typeface="Arial"/>
              <a:sym typeface="Arial"/>
            </a:endParaRPr>
          </a:p>
        </p:txBody>
      </p:sp>
      <p:sp>
        <p:nvSpPr>
          <p:cNvPr id="519" name="Google Shape;519;p52"/>
          <p:cNvSpPr txBox="1"/>
          <p:nvPr/>
        </p:nvSpPr>
        <p:spPr>
          <a:xfrm>
            <a:off x="640080" y="283464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03</a:t>
            </a:r>
            <a:endParaRPr b="0" i="0" sz="2200" u="none" cap="none" strike="noStrike">
              <a:solidFill>
                <a:schemeClr val="dk1"/>
              </a:solidFill>
              <a:latin typeface="Arial"/>
              <a:ea typeface="Arial"/>
              <a:cs typeface="Arial"/>
              <a:sym typeface="Arial"/>
            </a:endParaRPr>
          </a:p>
        </p:txBody>
      </p:sp>
      <p:sp>
        <p:nvSpPr>
          <p:cNvPr id="520" name="Google Shape;520;p52"/>
          <p:cNvSpPr txBox="1"/>
          <p:nvPr/>
        </p:nvSpPr>
        <p:spPr>
          <a:xfrm>
            <a:off x="1463040" y="283464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Timperley et al. 2021 · summary</a:t>
            </a:r>
            <a:endParaRPr b="0" i="0" sz="2200" u="none" cap="none" strike="noStrike">
              <a:solidFill>
                <a:schemeClr val="dk1"/>
              </a:solidFill>
              <a:latin typeface="Arial"/>
              <a:ea typeface="Arial"/>
              <a:cs typeface="Arial"/>
              <a:sym typeface="Arial"/>
            </a:endParaRPr>
          </a:p>
        </p:txBody>
      </p:sp>
      <p:sp>
        <p:nvSpPr>
          <p:cNvPr id="521" name="Google Shape;521;p52"/>
          <p:cNvSpPr txBox="1"/>
          <p:nvPr/>
        </p:nvSpPr>
        <p:spPr>
          <a:xfrm>
            <a:off x="640080" y="347472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04</a:t>
            </a:r>
            <a:endParaRPr b="0" i="0" sz="2200" u="none" cap="none" strike="noStrike">
              <a:solidFill>
                <a:schemeClr val="dk1"/>
              </a:solidFill>
              <a:latin typeface="Arial"/>
              <a:ea typeface="Arial"/>
              <a:cs typeface="Arial"/>
              <a:sym typeface="Arial"/>
            </a:endParaRPr>
          </a:p>
        </p:txBody>
      </p:sp>
      <p:sp>
        <p:nvSpPr>
          <p:cNvPr id="522" name="Google Shape;522;p52"/>
          <p:cNvSpPr txBox="1"/>
          <p:nvPr/>
        </p:nvSpPr>
        <p:spPr>
          <a:xfrm>
            <a:off x="1463040" y="347472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 discussion</a:t>
            </a:r>
            <a:endParaRPr b="0" i="0" sz="2200" u="none" cap="none" strike="noStrike">
              <a:solidFill>
                <a:schemeClr val="dk1"/>
              </a:solidFill>
              <a:latin typeface="Arial"/>
              <a:ea typeface="Arial"/>
              <a:cs typeface="Arial"/>
              <a:sym typeface="Arial"/>
            </a:endParaRPr>
          </a:p>
        </p:txBody>
      </p:sp>
      <p:sp>
        <p:nvSpPr>
          <p:cNvPr id="523" name="Google Shape;523;p52"/>
          <p:cNvSpPr txBox="1"/>
          <p:nvPr/>
        </p:nvSpPr>
        <p:spPr>
          <a:xfrm>
            <a:off x="640080" y="411480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05</a:t>
            </a:r>
            <a:endParaRPr b="0" i="0" sz="2200" u="none" cap="none" strike="noStrike">
              <a:solidFill>
                <a:schemeClr val="dk1"/>
              </a:solidFill>
              <a:latin typeface="Arial"/>
              <a:ea typeface="Arial"/>
              <a:cs typeface="Arial"/>
              <a:sym typeface="Arial"/>
            </a:endParaRPr>
          </a:p>
        </p:txBody>
      </p:sp>
      <p:sp>
        <p:nvSpPr>
          <p:cNvPr id="524" name="Google Shape;524;p52"/>
          <p:cNvSpPr txBox="1"/>
          <p:nvPr/>
        </p:nvSpPr>
        <p:spPr>
          <a:xfrm>
            <a:off x="1463040" y="411480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Cross comparison: similarities and differences</a:t>
            </a:r>
            <a:endParaRPr b="0" i="0" sz="2200" u="none" cap="none" strike="noStrike">
              <a:solidFill>
                <a:schemeClr val="dk1"/>
              </a:solidFill>
              <a:latin typeface="Arial"/>
              <a:ea typeface="Arial"/>
              <a:cs typeface="Arial"/>
              <a:sym typeface="Arial"/>
            </a:endParaRPr>
          </a:p>
        </p:txBody>
      </p:sp>
      <p:sp>
        <p:nvSpPr>
          <p:cNvPr id="525" name="Google Shape;525;p52"/>
          <p:cNvSpPr txBox="1"/>
          <p:nvPr/>
        </p:nvSpPr>
        <p:spPr>
          <a:xfrm>
            <a:off x="640080" y="475488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06</a:t>
            </a:r>
            <a:endParaRPr b="0" i="0" sz="2200" u="none" cap="none" strike="noStrike">
              <a:solidFill>
                <a:schemeClr val="dk1"/>
              </a:solidFill>
              <a:latin typeface="Arial"/>
              <a:ea typeface="Arial"/>
              <a:cs typeface="Arial"/>
              <a:sym typeface="Arial"/>
            </a:endParaRPr>
          </a:p>
        </p:txBody>
      </p:sp>
      <p:sp>
        <p:nvSpPr>
          <p:cNvPr id="526" name="Google Shape;526;p52"/>
          <p:cNvSpPr txBox="1"/>
          <p:nvPr/>
        </p:nvSpPr>
        <p:spPr>
          <a:xfrm>
            <a:off x="1463040" y="475488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Discussion: what do you agree with?</a:t>
            </a:r>
            <a:endParaRPr b="0" i="0" sz="2200" u="none" cap="none" strike="noStrike">
              <a:solidFill>
                <a:schemeClr val="dk1"/>
              </a:solidFill>
              <a:latin typeface="Arial"/>
              <a:ea typeface="Arial"/>
              <a:cs typeface="Arial"/>
              <a:sym typeface="Arial"/>
            </a:endParaRPr>
          </a:p>
        </p:txBody>
      </p:sp>
      <p:sp>
        <p:nvSpPr>
          <p:cNvPr id="527" name="Google Shape;527;p52"/>
          <p:cNvSpPr txBox="1"/>
          <p:nvPr/>
        </p:nvSpPr>
        <p:spPr>
          <a:xfrm>
            <a:off x="640080" y="539496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07</a:t>
            </a:r>
            <a:endParaRPr b="0" i="0" sz="2200" u="none" cap="none" strike="noStrike">
              <a:solidFill>
                <a:schemeClr val="dk1"/>
              </a:solidFill>
              <a:latin typeface="Arial"/>
              <a:ea typeface="Arial"/>
              <a:cs typeface="Arial"/>
              <a:sym typeface="Arial"/>
            </a:endParaRPr>
          </a:p>
        </p:txBody>
      </p:sp>
      <p:sp>
        <p:nvSpPr>
          <p:cNvPr id="528" name="Google Shape;528;p52"/>
          <p:cNvSpPr txBox="1"/>
          <p:nvPr/>
        </p:nvSpPr>
        <p:spPr>
          <a:xfrm>
            <a:off x="1463040" y="539496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Criticism of the papers</a:t>
            </a:r>
            <a:endParaRPr b="0" i="0" sz="2200" u="none" cap="none" strike="noStrike">
              <a:solidFill>
                <a:schemeClr val="dk1"/>
              </a:solidFill>
              <a:latin typeface="Arial"/>
              <a:ea typeface="Arial"/>
              <a:cs typeface="Arial"/>
              <a:sym typeface="Arial"/>
            </a:endParaRPr>
          </a:p>
        </p:txBody>
      </p:sp>
      <p:sp>
        <p:nvSpPr>
          <p:cNvPr id="529" name="Google Shape;529;p52"/>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53"/>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1</a:t>
            </a:r>
            <a:endParaRPr b="0" i="0" sz="4800" u="none" cap="none" strike="noStrike">
              <a:solidFill>
                <a:schemeClr val="dk1"/>
              </a:solidFill>
              <a:latin typeface="Arial"/>
              <a:ea typeface="Arial"/>
              <a:cs typeface="Arial"/>
              <a:sym typeface="Arial"/>
            </a:endParaRPr>
          </a:p>
        </p:txBody>
      </p:sp>
      <p:sp>
        <p:nvSpPr>
          <p:cNvPr id="536" name="Google Shape;536;p53"/>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Hermann, Winter &amp; Siegmund (2020): Community Expectations for Research Artifacts and Evaluation Processes · ESEC/FSE, pp. 469–480</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54"/>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543" name="Google Shape;543;p54"/>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Artifact evaluation (AE): committees check artifacts of accepted papers and award badges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Asked the reviewers (AEC members) what AE is for and what they expect</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Found no shared quality threshold and inconsistent terms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 badge only means something within one conference and year (p. 478)</a:t>
            </a:r>
            <a:endParaRPr b="0" i="0" sz="2200" u="none" cap="none" strike="noStrike">
              <a:solidFill>
                <a:schemeClr val="dk1"/>
              </a:solidFill>
              <a:latin typeface="Arial"/>
              <a:ea typeface="Arial"/>
              <a:cs typeface="Arial"/>
              <a:sym typeface="Arial"/>
            </a:endParaRPr>
          </a:p>
        </p:txBody>
      </p:sp>
      <p:sp>
        <p:nvSpPr>
          <p:cNvPr id="544" name="Google Shape;544;p54"/>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5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graphicFrame>
        <p:nvGraphicFramePr>
          <p:cNvPr id="551" name="Google Shape;551;p55"/>
          <p:cNvGraphicFramePr/>
          <p:nvPr/>
        </p:nvGraphicFramePr>
        <p:xfrm>
          <a:off x="640080" y="1554480"/>
          <a:ext cx="3000000" cy="3000000"/>
        </p:xfrm>
        <a:graphic>
          <a:graphicData uri="http://schemas.openxmlformats.org/drawingml/2006/table">
            <a:tbl>
              <a:tblPr>
                <a:noFill/>
                <a:tableStyleId>{945C218A-C812-41D7-858A-F7E590C31D0C}</a:tableStyleId>
              </a:tblPr>
              <a:tblGrid>
                <a:gridCol w="3637175"/>
                <a:gridCol w="3637175"/>
                <a:gridCol w="3637175"/>
              </a:tblGrid>
              <a:tr h="640075">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Setting</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Paper (old ACM)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Our lecture (2020)</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Same team, same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Repeatability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Repeatability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Other team, authors' artifacts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Replicability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Other team, own artifacts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Replicability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bl>
          </a:graphicData>
        </a:graphic>
      </p:graphicFrame>
      <p:sp>
        <p:nvSpPr>
          <p:cNvPr id="552" name="Google Shape;552;p55"/>
          <p:cNvSpPr txBox="1"/>
          <p:nvPr/>
        </p:nvSpPr>
        <p:spPr>
          <a:xfrm>
            <a:off x="640080" y="443484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Footnote 5, p. 471. Artifact = "a self-contained work result, having a context-specific purpose" (p. 470). Badges: Available, Functional, Reusable, Results.</a:t>
            </a:r>
            <a:endParaRPr b="0" i="0" sz="1800" u="none" cap="none" strike="noStrike">
              <a:solidFill>
                <a:schemeClr val="dk1"/>
              </a:solidFill>
              <a:latin typeface="Arial"/>
              <a:ea typeface="Arial"/>
              <a:cs typeface="Arial"/>
              <a:sym typeface="Arial"/>
            </a:endParaRPr>
          </a:p>
        </p:txBody>
      </p:sp>
      <p:sp>
        <p:nvSpPr>
          <p:cNvPr id="553" name="Google Shape;553;p5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5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560" name="Google Shape;560;p56"/>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What do AEC members see as the purpose of artifact evaluation?</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 What do they expect from an artifact as reviewers?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RQ3: What do they expect as users of artifacts?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Pre-study: what do calls for artifacts and ACM guidelines demand?</a:t>
            </a:r>
            <a:endParaRPr b="0" i="0" sz="2200" u="none" cap="none" strike="noStrike">
              <a:solidFill>
                <a:schemeClr val="dk1"/>
              </a:solidFill>
              <a:latin typeface="Arial"/>
              <a:ea typeface="Arial"/>
              <a:cs typeface="Arial"/>
              <a:sym typeface="Arial"/>
            </a:endParaRPr>
          </a:p>
        </p:txBody>
      </p:sp>
      <p:sp>
        <p:nvSpPr>
          <p:cNvPr id="561" name="Google Shape;561;p5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5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568" name="Google Shape;568;p57"/>
          <p:cNvSpPr/>
          <p:nvPr/>
        </p:nvSpPr>
        <p:spPr>
          <a:xfrm>
            <a:off x="640080"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57"/>
          <p:cNvSpPr txBox="1"/>
          <p:nvPr/>
        </p:nvSpPr>
        <p:spPr>
          <a:xfrm>
            <a:off x="868680"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79</a:t>
            </a:r>
            <a:endParaRPr b="0" i="0" sz="3600" u="none" cap="none" strike="noStrike">
              <a:solidFill>
                <a:schemeClr val="dk1"/>
              </a:solidFill>
              <a:latin typeface="Arial"/>
              <a:ea typeface="Arial"/>
              <a:cs typeface="Arial"/>
              <a:sym typeface="Arial"/>
            </a:endParaRPr>
          </a:p>
        </p:txBody>
      </p:sp>
      <p:sp>
        <p:nvSpPr>
          <p:cNvPr id="570" name="Google Shape;570;p57"/>
          <p:cNvSpPr txBox="1"/>
          <p:nvPr/>
        </p:nvSpPr>
        <p:spPr>
          <a:xfrm>
            <a:off x="2468880"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calls analysed</a:t>
            </a:r>
            <a:endParaRPr b="0" i="0" sz="1800" u="none" cap="none" strike="noStrike">
              <a:solidFill>
                <a:schemeClr val="dk1"/>
              </a:solidFill>
              <a:latin typeface="Arial"/>
              <a:ea typeface="Arial"/>
              <a:cs typeface="Arial"/>
              <a:sym typeface="Arial"/>
            </a:endParaRPr>
          </a:p>
        </p:txBody>
      </p:sp>
      <p:sp>
        <p:nvSpPr>
          <p:cNvPr id="571" name="Google Shape;571;p57"/>
          <p:cNvSpPr/>
          <p:nvPr/>
        </p:nvSpPr>
        <p:spPr>
          <a:xfrm>
            <a:off x="4368698"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57"/>
          <p:cNvSpPr txBox="1"/>
          <p:nvPr/>
        </p:nvSpPr>
        <p:spPr>
          <a:xfrm>
            <a:off x="4597298"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1034</a:t>
            </a:r>
            <a:endParaRPr b="0" i="0" sz="3600" u="none" cap="none" strike="noStrike">
              <a:solidFill>
                <a:schemeClr val="dk1"/>
              </a:solidFill>
              <a:latin typeface="Arial"/>
              <a:ea typeface="Arial"/>
              <a:cs typeface="Arial"/>
              <a:sym typeface="Arial"/>
            </a:endParaRPr>
          </a:p>
        </p:txBody>
      </p:sp>
      <p:sp>
        <p:nvSpPr>
          <p:cNvPr id="573" name="Google Shape;573;p57"/>
          <p:cNvSpPr txBox="1"/>
          <p:nvPr/>
        </p:nvSpPr>
        <p:spPr>
          <a:xfrm>
            <a:off x="6197498"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reviewers invited</a:t>
            </a:r>
            <a:endParaRPr b="0" i="0" sz="1800" u="none" cap="none" strike="noStrike">
              <a:solidFill>
                <a:schemeClr val="dk1"/>
              </a:solidFill>
              <a:latin typeface="Arial"/>
              <a:ea typeface="Arial"/>
              <a:cs typeface="Arial"/>
              <a:sym typeface="Arial"/>
            </a:endParaRPr>
          </a:p>
        </p:txBody>
      </p:sp>
      <p:sp>
        <p:nvSpPr>
          <p:cNvPr id="574" name="Google Shape;574;p57"/>
          <p:cNvSpPr/>
          <p:nvPr/>
        </p:nvSpPr>
        <p:spPr>
          <a:xfrm>
            <a:off x="8097317"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57"/>
          <p:cNvSpPr txBox="1"/>
          <p:nvPr/>
        </p:nvSpPr>
        <p:spPr>
          <a:xfrm>
            <a:off x="8325917"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257</a:t>
            </a:r>
            <a:endParaRPr b="0" i="0" sz="3600" u="none" cap="none" strike="noStrike">
              <a:solidFill>
                <a:schemeClr val="dk1"/>
              </a:solidFill>
              <a:latin typeface="Arial"/>
              <a:ea typeface="Arial"/>
              <a:cs typeface="Arial"/>
              <a:sym typeface="Arial"/>
            </a:endParaRPr>
          </a:p>
        </p:txBody>
      </p:sp>
      <p:sp>
        <p:nvSpPr>
          <p:cNvPr id="576" name="Google Shape;576;p57"/>
          <p:cNvSpPr txBox="1"/>
          <p:nvPr/>
        </p:nvSpPr>
        <p:spPr>
          <a:xfrm>
            <a:off x="9926117"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responses</a:t>
            </a:r>
            <a:endParaRPr b="0" i="0" sz="1800" u="none" cap="none" strike="noStrike">
              <a:solidFill>
                <a:schemeClr val="dk1"/>
              </a:solidFill>
              <a:latin typeface="Arial"/>
              <a:ea typeface="Arial"/>
              <a:cs typeface="Arial"/>
              <a:sym typeface="Arial"/>
            </a:endParaRPr>
          </a:p>
        </p:txBody>
      </p:sp>
      <p:sp>
        <p:nvSpPr>
          <p:cNvPr id="577" name="Google Shape;577;p57"/>
          <p:cNvSpPr txBox="1"/>
          <p:nvPr/>
        </p:nvSpPr>
        <p:spPr>
          <a:xfrm>
            <a:off x="640080" y="2788920"/>
            <a:ext cx="10911535" cy="3429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79 calls for artifacts, SE and PL conferences, 2011–2019, coded by two researchers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Survey with open questions sent to 1034 AEC members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257 responded, 124 completed; ~25 % response; mostly programming languages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Answers grouped by open card sorting; counts given as total (PL/SE)</a:t>
            </a:r>
            <a:endParaRPr b="0" i="0" sz="2000" u="none" cap="none" strike="noStrike">
              <a:solidFill>
                <a:schemeClr val="dk1"/>
              </a:solidFill>
              <a:latin typeface="Arial"/>
              <a:ea typeface="Arial"/>
              <a:cs typeface="Arial"/>
              <a:sym typeface="Arial"/>
            </a:endParaRPr>
          </a:p>
        </p:txBody>
      </p:sp>
      <p:sp>
        <p:nvSpPr>
          <p:cNvPr id="578" name="Google Shape;578;p5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5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585" name="Google Shape;585;p58"/>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Calls name criteria (documentation 46, consistency 45) but no levels (pp. 471–472)</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Purpose drifts: from checking claims to reproducibility and reuse (RQ1)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want reproducible results, users want reusable tools (RQ2, RQ3)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20 users see a difference between evaluated and unevaluated artifacts, 34 do not (p. 477)</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reviewers serve once; a third never submitted an artifact (pp. 473, 478)</a:t>
            </a:r>
            <a:endParaRPr b="0" i="0" sz="2200" u="none" cap="none" strike="noStrike">
              <a:solidFill>
                <a:schemeClr val="dk1"/>
              </a:solidFill>
              <a:latin typeface="Arial"/>
              <a:ea typeface="Arial"/>
              <a:cs typeface="Arial"/>
              <a:sym typeface="Arial"/>
            </a:endParaRPr>
          </a:p>
        </p:txBody>
      </p:sp>
      <p:sp>
        <p:nvSpPr>
          <p:cNvPr id="586" name="Google Shape;586;p5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59"/>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593" name="Google Shape;593;p59"/>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Only AEC members asked, mostly PL: a deliberate trade-off (p. 479)</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Card sorting by one labeller, checked by a second, no agreement measure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Implications: purpose and standards per community, written into the calls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Brief one-time reviewers; couple AE more tightly to acceptance (p. 479)</a:t>
            </a:r>
            <a:endParaRPr b="0" i="0" sz="2200" u="none" cap="none" strike="noStrike">
              <a:solidFill>
                <a:schemeClr val="dk1"/>
              </a:solidFill>
              <a:latin typeface="Arial"/>
              <a:ea typeface="Arial"/>
              <a:cs typeface="Arial"/>
              <a:sym typeface="Arial"/>
            </a:endParaRPr>
          </a:p>
        </p:txBody>
      </p:sp>
      <p:sp>
        <p:nvSpPr>
          <p:cNvPr id="594" name="Google Shape;594;p59"/>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6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601" name="Google Shape;601;p60"/>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Should artifact badges be easy to get or hard to get?</a:t>
            </a:r>
            <a:endParaRPr b="0" i="0" sz="2600" u="none" cap="none" strike="noStrike">
              <a:solidFill>
                <a:schemeClr val="dk1"/>
              </a:solidFill>
              <a:latin typeface="Arial"/>
              <a:ea typeface="Arial"/>
              <a:cs typeface="Arial"/>
              <a:sym typeface="Arial"/>
            </a:endParaRPr>
          </a:p>
        </p:txBody>
      </p:sp>
      <p:sp>
        <p:nvSpPr>
          <p:cNvPr id="602" name="Google Shape;602;p60"/>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60"/>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"Enforcing quality criteria only means that some authors will not publish their code" (id 96, p. 475). ICSE and FSE dropped the Functional badge to raise the bar (p. 476).</a:t>
            </a:r>
            <a:endParaRPr b="0" i="0" sz="1800" u="none" cap="none" strike="noStrike">
              <a:solidFill>
                <a:schemeClr val="dk1"/>
              </a:solidFill>
              <a:latin typeface="Arial"/>
              <a:ea typeface="Arial"/>
              <a:cs typeface="Arial"/>
              <a:sym typeface="Arial"/>
            </a:endParaRPr>
          </a:p>
        </p:txBody>
      </p:sp>
      <p:sp>
        <p:nvSpPr>
          <p:cNvPr id="604" name="Google Shape;604;p60"/>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60"/>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Low bar</a:t>
            </a:r>
            <a:endParaRPr b="0" i="0" sz="2200" u="none" cap="none" strike="noStrike">
              <a:solidFill>
                <a:schemeClr val="dk1"/>
              </a:solidFill>
              <a:latin typeface="Arial"/>
              <a:ea typeface="Arial"/>
              <a:cs typeface="Arial"/>
              <a:sym typeface="Arial"/>
            </a:endParaRPr>
          </a:p>
        </p:txBody>
      </p:sp>
      <p:sp>
        <p:nvSpPr>
          <p:cNvPr id="606" name="Google Shape;606;p60"/>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Availability is the bottleneck. Any code beats none.</a:t>
            </a:r>
            <a:endParaRPr b="0" i="0" sz="2000" u="none" cap="none" strike="noStrike">
              <a:solidFill>
                <a:schemeClr val="dk1"/>
              </a:solidFill>
              <a:latin typeface="Arial"/>
              <a:ea typeface="Arial"/>
              <a:cs typeface="Arial"/>
              <a:sym typeface="Arial"/>
            </a:endParaRPr>
          </a:p>
        </p:txBody>
      </p:sp>
      <p:sp>
        <p:nvSpPr>
          <p:cNvPr id="607" name="Google Shape;607;p60"/>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60"/>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High bar</a:t>
            </a:r>
            <a:endParaRPr b="0" i="0" sz="2200" u="none" cap="none" strike="noStrike">
              <a:solidFill>
                <a:schemeClr val="dk1"/>
              </a:solidFill>
              <a:latin typeface="Arial"/>
              <a:ea typeface="Arial"/>
              <a:cs typeface="Arial"/>
              <a:sym typeface="Arial"/>
            </a:endParaRPr>
          </a:p>
        </p:txBody>
      </p:sp>
      <p:sp>
        <p:nvSpPr>
          <p:cNvPr id="609" name="Google Shape;609;p60"/>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If almost everything passes, a badge signals little.</a:t>
            </a:r>
            <a:endParaRPr b="0" i="0" sz="2000" u="none" cap="none" strike="noStrike">
              <a:solidFill>
                <a:schemeClr val="dk1"/>
              </a:solidFill>
              <a:latin typeface="Arial"/>
              <a:ea typeface="Arial"/>
              <a:cs typeface="Arial"/>
              <a:sym typeface="Arial"/>
            </a:endParaRPr>
          </a:p>
        </p:txBody>
      </p:sp>
      <p:sp>
        <p:nvSpPr>
          <p:cNvPr id="610" name="Google Shape;610;p6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61"/>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617" name="Google Shape;617;p61"/>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Who checks the checkers?</a:t>
            </a:r>
            <a:endParaRPr b="0" i="0" sz="2600" u="none" cap="none" strike="noStrike">
              <a:solidFill>
                <a:schemeClr val="dk1"/>
              </a:solidFill>
              <a:latin typeface="Arial"/>
              <a:ea typeface="Arial"/>
              <a:cs typeface="Arial"/>
              <a:sym typeface="Arial"/>
            </a:endParaRPr>
          </a:p>
        </p:txBody>
      </p:sp>
      <p:sp>
        <p:nvSpPr>
          <p:cNvPr id="618" name="Google Shape;618;p61"/>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61"/>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Most AEC members serve once, and a third have never built an artifact themselves (pp. 473, 478).</a:t>
            </a:r>
            <a:endParaRPr b="0" i="0" sz="1800" u="none" cap="none" strike="noStrike">
              <a:solidFill>
                <a:schemeClr val="dk1"/>
              </a:solidFill>
              <a:latin typeface="Arial"/>
              <a:ea typeface="Arial"/>
              <a:cs typeface="Arial"/>
              <a:sym typeface="Arial"/>
            </a:endParaRPr>
          </a:p>
        </p:txBody>
      </p:sp>
      <p:sp>
        <p:nvSpPr>
          <p:cNvPr id="620" name="Google Shape;620;p61"/>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61"/>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Students are fine</a:t>
            </a:r>
            <a:endParaRPr b="0" i="0" sz="2200" u="none" cap="none" strike="noStrike">
              <a:solidFill>
                <a:schemeClr val="dk1"/>
              </a:solidFill>
              <a:latin typeface="Arial"/>
              <a:ea typeface="Arial"/>
              <a:cs typeface="Arial"/>
              <a:sym typeface="Arial"/>
            </a:endParaRPr>
          </a:p>
        </p:txBody>
      </p:sp>
      <p:sp>
        <p:nvSpPr>
          <p:cNvPr id="622" name="Google Shape;622;p61"/>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Reviewing is training; fresh eyes see what users will see.</a:t>
            </a:r>
            <a:endParaRPr b="0" i="0" sz="2000" u="none" cap="none" strike="noStrike">
              <a:solidFill>
                <a:schemeClr val="dk1"/>
              </a:solidFill>
              <a:latin typeface="Arial"/>
              <a:ea typeface="Arial"/>
              <a:cs typeface="Arial"/>
              <a:sym typeface="Arial"/>
            </a:endParaRPr>
          </a:p>
        </p:txBody>
      </p:sp>
      <p:sp>
        <p:nvSpPr>
          <p:cNvPr id="623" name="Google Shape;623;p61"/>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61"/>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Experts needed</a:t>
            </a:r>
            <a:endParaRPr b="0" i="0" sz="2200" u="none" cap="none" strike="noStrike">
              <a:solidFill>
                <a:schemeClr val="dk1"/>
              </a:solidFill>
              <a:latin typeface="Arial"/>
              <a:ea typeface="Arial"/>
              <a:cs typeface="Arial"/>
              <a:sym typeface="Arial"/>
            </a:endParaRPr>
          </a:p>
        </p:txBody>
      </p:sp>
      <p:sp>
        <p:nvSpPr>
          <p:cNvPr id="625" name="Google Shape;625;p61"/>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Inexperienced reviewers make badges inconsistent across years.</a:t>
            </a:r>
            <a:endParaRPr b="0" i="0" sz="2000" u="none" cap="none" strike="noStrike">
              <a:solidFill>
                <a:schemeClr val="dk1"/>
              </a:solidFill>
              <a:latin typeface="Arial"/>
              <a:ea typeface="Arial"/>
              <a:cs typeface="Arial"/>
              <a:sym typeface="Arial"/>
            </a:endParaRPr>
          </a:p>
        </p:txBody>
      </p:sp>
      <p:sp>
        <p:nvSpPr>
          <p:cNvPr id="626" name="Google Shape;626;p61"/>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62"/>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633" name="Google Shape;633;p62"/>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Is "set up in 30 minutes" a quality standard or a convenience rule?</a:t>
            </a:r>
            <a:endParaRPr b="0" i="0" sz="2600" u="none" cap="none" strike="noStrike">
              <a:solidFill>
                <a:schemeClr val="dk1"/>
              </a:solidFill>
              <a:latin typeface="Arial"/>
              <a:ea typeface="Arial"/>
              <a:cs typeface="Arial"/>
              <a:sym typeface="Arial"/>
            </a:endParaRPr>
          </a:p>
        </p:txBody>
      </p:sp>
      <p:sp>
        <p:nvSpPr>
          <p:cNvPr id="634" name="Google Shape;634;p62"/>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62"/>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It is the only concrete threshold in 79 calls (10 calls, p. 472).</a:t>
            </a:r>
            <a:endParaRPr b="0" i="0" sz="1800" u="none" cap="none" strike="noStrike">
              <a:solidFill>
                <a:schemeClr val="dk1"/>
              </a:solidFill>
              <a:latin typeface="Arial"/>
              <a:ea typeface="Arial"/>
              <a:cs typeface="Arial"/>
              <a:sym typeface="Arial"/>
            </a:endParaRPr>
          </a:p>
        </p:txBody>
      </p:sp>
      <p:sp>
        <p:nvSpPr>
          <p:cNvPr id="636" name="Google Shape;636;p62"/>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62"/>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A real standard</a:t>
            </a:r>
            <a:endParaRPr b="0" i="0" sz="2200" u="none" cap="none" strike="noStrike">
              <a:solidFill>
                <a:schemeClr val="dk1"/>
              </a:solidFill>
              <a:latin typeface="Arial"/>
              <a:ea typeface="Arial"/>
              <a:cs typeface="Arial"/>
              <a:sym typeface="Arial"/>
            </a:endParaRPr>
          </a:p>
        </p:txBody>
      </p:sp>
      <p:sp>
        <p:nvSpPr>
          <p:cNvPr id="638" name="Google Shape;638;p62"/>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If users cannot start it quickly, they will not use it.</a:t>
            </a:r>
            <a:endParaRPr b="0" i="0" sz="2000" u="none" cap="none" strike="noStrike">
              <a:solidFill>
                <a:schemeClr val="dk1"/>
              </a:solidFill>
              <a:latin typeface="Arial"/>
              <a:ea typeface="Arial"/>
              <a:cs typeface="Arial"/>
              <a:sym typeface="Arial"/>
            </a:endParaRPr>
          </a:p>
        </p:txBody>
      </p:sp>
      <p:sp>
        <p:nvSpPr>
          <p:cNvPr id="639" name="Google Shape;639;p62"/>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62"/>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Just convenience</a:t>
            </a:r>
            <a:endParaRPr b="0" i="0" sz="2200" u="none" cap="none" strike="noStrike">
              <a:solidFill>
                <a:schemeClr val="dk1"/>
              </a:solidFill>
              <a:latin typeface="Arial"/>
              <a:ea typeface="Arial"/>
              <a:cs typeface="Arial"/>
              <a:sym typeface="Arial"/>
            </a:endParaRPr>
          </a:p>
        </p:txBody>
      </p:sp>
      <p:sp>
        <p:nvSpPr>
          <p:cNvPr id="641" name="Google Shape;641;p62"/>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It says nothing about whether the results are right.</a:t>
            </a:r>
            <a:endParaRPr b="0" i="0" sz="2000" u="none" cap="none" strike="noStrike">
              <a:solidFill>
                <a:schemeClr val="dk1"/>
              </a:solidFill>
              <a:latin typeface="Arial"/>
              <a:ea typeface="Arial"/>
              <a:cs typeface="Arial"/>
              <a:sym typeface="Arial"/>
            </a:endParaRPr>
          </a:p>
        </p:txBody>
      </p:sp>
      <p:sp>
        <p:nvSpPr>
          <p:cNvPr id="642" name="Google Shape;642;p62"/>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63"/>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2</a:t>
            </a:r>
            <a:endParaRPr b="0" i="0" sz="4800" u="none" cap="none" strike="noStrike">
              <a:solidFill>
                <a:schemeClr val="dk1"/>
              </a:solidFill>
              <a:latin typeface="Arial"/>
              <a:ea typeface="Arial"/>
              <a:cs typeface="Arial"/>
              <a:sym typeface="Arial"/>
            </a:endParaRPr>
          </a:p>
        </p:txBody>
      </p:sp>
      <p:sp>
        <p:nvSpPr>
          <p:cNvPr id="649" name="Google Shape;649;p63"/>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Timperley, Herckis, Le Goues &amp; Hilton (2021): Understanding and improving artifact sharing in software engineering research · EMSE 26:67</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64"/>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656" name="Google Shape;656;p64"/>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Counted artifact links in 1434 SE papers and surveyed 153 authors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papers link an artifact, few go through artifact evaluation</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Twelve challenges for creators, users and reviewers; the root is incentives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Eight recommendations, each aimed at a specific group</a:t>
            </a:r>
            <a:endParaRPr b="0" i="0" sz="2200" u="none" cap="none" strike="noStrike">
              <a:solidFill>
                <a:schemeClr val="dk1"/>
              </a:solidFill>
              <a:latin typeface="Arial"/>
              <a:ea typeface="Arial"/>
              <a:cs typeface="Arial"/>
              <a:sym typeface="Arial"/>
            </a:endParaRPr>
          </a:p>
        </p:txBody>
      </p:sp>
      <p:sp>
        <p:nvSpPr>
          <p:cNvPr id="657" name="Google Shape;657;p64"/>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6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664" name="Google Shape;664;p65"/>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Artifact: "any external materials or information provided … via a link" (p. 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Available: the link still works; content was not checked (p. 11)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ACM quality criteria: documented, consistent, complete, exercisable (pp. 4–5)</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Mostly says "replication"; re-running an artifact = our 2020 reproducibility</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Diffusion of Innovations: innovation, channels, time, social system (p. 5)</a:t>
            </a:r>
            <a:endParaRPr b="0" i="0" sz="2200" u="none" cap="none" strike="noStrike">
              <a:solidFill>
                <a:schemeClr val="dk1"/>
              </a:solidFill>
              <a:latin typeface="Arial"/>
              <a:ea typeface="Arial"/>
              <a:cs typeface="Arial"/>
              <a:sym typeface="Arial"/>
            </a:endParaRPr>
          </a:p>
        </p:txBody>
      </p:sp>
      <p:sp>
        <p:nvSpPr>
          <p:cNvPr id="665" name="Google Shape;665;p6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6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672" name="Google Shape;672;p66"/>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Does the SE community perceive inherent value in artifacts?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RQ2.1: What challenges do artifact creators face?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RQ2.2: What challenges do artifact users face?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RQ2.3: What challenges do artifact reviewers face?</a:t>
            </a:r>
            <a:endParaRPr b="0" i="0" sz="2200" u="none" cap="none" strike="noStrike">
              <a:solidFill>
                <a:schemeClr val="dk1"/>
              </a:solidFill>
              <a:latin typeface="Arial"/>
              <a:ea typeface="Arial"/>
              <a:cs typeface="Arial"/>
              <a:sym typeface="Arial"/>
            </a:endParaRPr>
          </a:p>
        </p:txBody>
      </p:sp>
      <p:sp>
        <p:nvSpPr>
          <p:cNvPr id="673" name="Google Shape;673;p6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6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680" name="Google Shape;680;p67"/>
          <p:cNvSpPr/>
          <p:nvPr/>
        </p:nvSpPr>
        <p:spPr>
          <a:xfrm>
            <a:off x="640080"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67"/>
          <p:cNvSpPr txBox="1"/>
          <p:nvPr/>
        </p:nvSpPr>
        <p:spPr>
          <a:xfrm>
            <a:off x="868680"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1434</a:t>
            </a:r>
            <a:endParaRPr b="0" i="0" sz="3600" u="none" cap="none" strike="noStrike">
              <a:solidFill>
                <a:schemeClr val="dk1"/>
              </a:solidFill>
              <a:latin typeface="Arial"/>
              <a:ea typeface="Arial"/>
              <a:cs typeface="Arial"/>
              <a:sym typeface="Arial"/>
            </a:endParaRPr>
          </a:p>
        </p:txBody>
      </p:sp>
      <p:sp>
        <p:nvSpPr>
          <p:cNvPr id="682" name="Google Shape;682;p67"/>
          <p:cNvSpPr txBox="1"/>
          <p:nvPr/>
        </p:nvSpPr>
        <p:spPr>
          <a:xfrm>
            <a:off x="2468880"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papers surveyed</a:t>
            </a:r>
            <a:endParaRPr b="0" i="0" sz="1800" u="none" cap="none" strike="noStrike">
              <a:solidFill>
                <a:schemeClr val="dk1"/>
              </a:solidFill>
              <a:latin typeface="Arial"/>
              <a:ea typeface="Arial"/>
              <a:cs typeface="Arial"/>
              <a:sym typeface="Arial"/>
            </a:endParaRPr>
          </a:p>
        </p:txBody>
      </p:sp>
      <p:sp>
        <p:nvSpPr>
          <p:cNvPr id="683" name="Google Shape;683;p67"/>
          <p:cNvSpPr/>
          <p:nvPr/>
        </p:nvSpPr>
        <p:spPr>
          <a:xfrm>
            <a:off x="4368698"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67"/>
          <p:cNvSpPr txBox="1"/>
          <p:nvPr/>
        </p:nvSpPr>
        <p:spPr>
          <a:xfrm>
            <a:off x="4597298"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153</a:t>
            </a:r>
            <a:endParaRPr b="0" i="0" sz="3600" u="none" cap="none" strike="noStrike">
              <a:solidFill>
                <a:schemeClr val="dk1"/>
              </a:solidFill>
              <a:latin typeface="Arial"/>
              <a:ea typeface="Arial"/>
              <a:cs typeface="Arial"/>
              <a:sym typeface="Arial"/>
            </a:endParaRPr>
          </a:p>
        </p:txBody>
      </p:sp>
      <p:sp>
        <p:nvSpPr>
          <p:cNvPr id="685" name="Google Shape;685;p67"/>
          <p:cNvSpPr txBox="1"/>
          <p:nvPr/>
        </p:nvSpPr>
        <p:spPr>
          <a:xfrm>
            <a:off x="6197498"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authors answered</a:t>
            </a:r>
            <a:endParaRPr b="0" i="0" sz="1800" u="none" cap="none" strike="noStrike">
              <a:solidFill>
                <a:schemeClr val="dk1"/>
              </a:solidFill>
              <a:latin typeface="Arial"/>
              <a:ea typeface="Arial"/>
              <a:cs typeface="Arial"/>
              <a:sym typeface="Arial"/>
            </a:endParaRPr>
          </a:p>
        </p:txBody>
      </p:sp>
      <p:sp>
        <p:nvSpPr>
          <p:cNvPr id="686" name="Google Shape;686;p67"/>
          <p:cNvSpPr/>
          <p:nvPr/>
        </p:nvSpPr>
        <p:spPr>
          <a:xfrm>
            <a:off x="8097317"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67"/>
          <p:cNvSpPr txBox="1"/>
          <p:nvPr/>
        </p:nvSpPr>
        <p:spPr>
          <a:xfrm>
            <a:off x="8325917"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32</a:t>
            </a:r>
            <a:endParaRPr b="0" i="0" sz="3600" u="none" cap="none" strike="noStrike">
              <a:solidFill>
                <a:schemeClr val="dk1"/>
              </a:solidFill>
              <a:latin typeface="Arial"/>
              <a:ea typeface="Arial"/>
              <a:cs typeface="Arial"/>
              <a:sym typeface="Arial"/>
            </a:endParaRPr>
          </a:p>
        </p:txBody>
      </p:sp>
      <p:sp>
        <p:nvSpPr>
          <p:cNvPr id="688" name="Google Shape;688;p67"/>
          <p:cNvSpPr txBox="1"/>
          <p:nvPr/>
        </p:nvSpPr>
        <p:spPr>
          <a:xfrm>
            <a:off x="9926117"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of them reviewers</a:t>
            </a:r>
            <a:endParaRPr b="0" i="0" sz="1800" u="none" cap="none" strike="noStrike">
              <a:solidFill>
                <a:schemeClr val="dk1"/>
              </a:solidFill>
              <a:latin typeface="Arial"/>
              <a:ea typeface="Arial"/>
              <a:cs typeface="Arial"/>
              <a:sym typeface="Arial"/>
            </a:endParaRPr>
          </a:p>
        </p:txBody>
      </p:sp>
      <p:sp>
        <p:nvSpPr>
          <p:cNvPr id="689" name="Google Shape;689;p67"/>
          <p:cNvSpPr txBox="1"/>
          <p:nvPr/>
        </p:nvSpPr>
        <p:spPr>
          <a:xfrm>
            <a:off x="640080" y="2788920"/>
            <a:ext cx="10911535" cy="3429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All technical papers at ICSE, FSE, ASE, EMSE 2014–2018; links found by regex, checked by hand</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Links checked once, January–February 2019</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744 authors of 2018 papers emailed; 153 answered (22 %)</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Descriptive and axial coding; shows the range of themes, not their prevalence (p. 9)</a:t>
            </a:r>
            <a:endParaRPr b="0" i="0" sz="2000" u="none" cap="none" strike="noStrike">
              <a:solidFill>
                <a:schemeClr val="dk1"/>
              </a:solidFill>
              <a:latin typeface="Arial"/>
              <a:ea typeface="Arial"/>
              <a:cs typeface="Arial"/>
              <a:sym typeface="Arial"/>
            </a:endParaRPr>
          </a:p>
        </p:txBody>
      </p:sp>
      <p:sp>
        <p:nvSpPr>
          <p:cNvPr id="690" name="Google Shape;690;p6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6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697" name="Google Shape;697;p68"/>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62.7 % of papers link an artifact, rising from 51 % to 69 % (p. 11)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About 14 % of links dead; 26 % for 2014 papers (Fig. 3, p. 20)</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FSE: 74 of 196 artifact papers submitted to AE, 64 accepted (Fig. 4)</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Top user problems: no usage instructions (103), artifact gone (81)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C1 "not worth it" and C10 "no reviewer incentives" drive the rest</a:t>
            </a:r>
            <a:endParaRPr b="0" i="0" sz="2200" u="none" cap="none" strike="noStrike">
              <a:solidFill>
                <a:schemeClr val="dk1"/>
              </a:solidFill>
              <a:latin typeface="Arial"/>
              <a:ea typeface="Arial"/>
              <a:cs typeface="Arial"/>
              <a:sym typeface="Arial"/>
            </a:endParaRPr>
          </a:p>
        </p:txBody>
      </p:sp>
      <p:sp>
        <p:nvSpPr>
          <p:cNvPr id="698" name="Google Shape;698;p6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69"/>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705" name="Google Shape;705;p69"/>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Creators: describe the artifact, make it self-contained, plan from day one (R1–R3)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and organisers: rubrics, aligned expectations, cheaper reviewing (R4–R6)</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Community leaders: count artifacts in hiring, promotion and grants (R7–R8)</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Threats: links ≠ usable artifacts; authors not contacted; 2018 authors only (pp. 10–11)</a:t>
            </a:r>
            <a:endParaRPr b="0" i="0" sz="2200" u="none" cap="none" strike="noStrike">
              <a:solidFill>
                <a:schemeClr val="dk1"/>
              </a:solidFill>
              <a:latin typeface="Arial"/>
              <a:ea typeface="Arial"/>
              <a:cs typeface="Arial"/>
              <a:sym typeface="Arial"/>
            </a:endParaRPr>
          </a:p>
        </p:txBody>
      </p:sp>
      <p:sp>
        <p:nvSpPr>
          <p:cNvPr id="706" name="Google Shape;706;p69"/>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7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713" name="Google Shape;713;p70"/>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Should a failed artifact evaluation be able to reject a paper?</a:t>
            </a:r>
            <a:endParaRPr b="0" i="0" sz="2600" u="none" cap="none" strike="noStrike">
              <a:solidFill>
                <a:schemeClr val="dk1"/>
              </a:solidFill>
              <a:latin typeface="Arial"/>
              <a:ea typeface="Arial"/>
              <a:cs typeface="Arial"/>
              <a:sym typeface="Arial"/>
            </a:endParaRPr>
          </a:p>
        </p:txBody>
      </p:sp>
      <p:sp>
        <p:nvSpPr>
          <p:cNvPr id="714" name="Google Shape;714;p70"/>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70"/>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Timperley et al. say artifacts should be part of paper review (p. 28). "The evaluations do not determine if the paper is accepted, so I didn't pay much attention" (Hermann, id 79, p. 478).</a:t>
            </a:r>
            <a:endParaRPr b="0" i="0" sz="1800" u="none" cap="none" strike="noStrike">
              <a:solidFill>
                <a:schemeClr val="dk1"/>
              </a:solidFill>
              <a:latin typeface="Arial"/>
              <a:ea typeface="Arial"/>
              <a:cs typeface="Arial"/>
              <a:sym typeface="Arial"/>
            </a:endParaRPr>
          </a:p>
        </p:txBody>
      </p:sp>
      <p:sp>
        <p:nvSpPr>
          <p:cNvPr id="716" name="Google Shape;716;p70"/>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70"/>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Yes</a:t>
            </a:r>
            <a:endParaRPr b="0" i="0" sz="2200" u="none" cap="none" strike="noStrike">
              <a:solidFill>
                <a:schemeClr val="dk1"/>
              </a:solidFill>
              <a:latin typeface="Arial"/>
              <a:ea typeface="Arial"/>
              <a:cs typeface="Arial"/>
              <a:sym typeface="Arial"/>
            </a:endParaRPr>
          </a:p>
        </p:txBody>
      </p:sp>
      <p:sp>
        <p:nvSpPr>
          <p:cNvPr id="718" name="Google Shape;718;p70"/>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Otherwise AE is optional decoration.</a:t>
            </a:r>
            <a:endParaRPr b="0" i="0" sz="2000" u="none" cap="none" strike="noStrike">
              <a:solidFill>
                <a:schemeClr val="dk1"/>
              </a:solidFill>
              <a:latin typeface="Arial"/>
              <a:ea typeface="Arial"/>
              <a:cs typeface="Arial"/>
              <a:sym typeface="Arial"/>
            </a:endParaRPr>
          </a:p>
        </p:txBody>
      </p:sp>
      <p:sp>
        <p:nvSpPr>
          <p:cNvPr id="719" name="Google Shape;719;p70"/>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70"/>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No</a:t>
            </a:r>
            <a:endParaRPr b="0" i="0" sz="2200" u="none" cap="none" strike="noStrike">
              <a:solidFill>
                <a:schemeClr val="dk1"/>
              </a:solidFill>
              <a:latin typeface="Arial"/>
              <a:ea typeface="Arial"/>
              <a:cs typeface="Arial"/>
              <a:sym typeface="Arial"/>
            </a:endParaRPr>
          </a:p>
        </p:txBody>
      </p:sp>
      <p:sp>
        <p:nvSpPr>
          <p:cNvPr id="721" name="Google Shape;721;p70"/>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Clashes with double-blind review (C8) and penalises industry papers (C9).</a:t>
            </a:r>
            <a:endParaRPr b="0" i="0" sz="2000" u="none" cap="none" strike="noStrike">
              <a:solidFill>
                <a:schemeClr val="dk1"/>
              </a:solidFill>
              <a:latin typeface="Arial"/>
              <a:ea typeface="Arial"/>
              <a:cs typeface="Arial"/>
              <a:sym typeface="Arial"/>
            </a:endParaRPr>
          </a:p>
        </p:txBody>
      </p:sp>
      <p:sp>
        <p:nvSpPr>
          <p:cNvPr id="722" name="Google Shape;722;p7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71"/>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729" name="Google Shape;729;p71"/>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Who keeps an artifact alive after the PhD?</a:t>
            </a:r>
            <a:endParaRPr b="0" i="0" sz="2600" u="none" cap="none" strike="noStrike">
              <a:solidFill>
                <a:schemeClr val="dk1"/>
              </a:solidFill>
              <a:latin typeface="Arial"/>
              <a:ea typeface="Arial"/>
              <a:cs typeface="Arial"/>
              <a:sym typeface="Arial"/>
            </a:endParaRPr>
          </a:p>
        </p:txBody>
      </p:sp>
      <p:sp>
        <p:nvSpPr>
          <p:cNvPr id="730" name="Google Shape;730;p71"/>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71"/>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C3 maintenance (p. 16). R3 asks advisors for transition plans and a Zenodo snapshot (p. 32).</a:t>
            </a:r>
            <a:endParaRPr b="0" i="0" sz="1800" u="none" cap="none" strike="noStrike">
              <a:solidFill>
                <a:schemeClr val="dk1"/>
              </a:solidFill>
              <a:latin typeface="Arial"/>
              <a:ea typeface="Arial"/>
              <a:cs typeface="Arial"/>
              <a:sym typeface="Arial"/>
            </a:endParaRPr>
          </a:p>
        </p:txBody>
      </p:sp>
      <p:sp>
        <p:nvSpPr>
          <p:cNvPr id="732" name="Google Shape;732;p71"/>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71"/>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Snapshot is enough</a:t>
            </a:r>
            <a:endParaRPr b="0" i="0" sz="2200" u="none" cap="none" strike="noStrike">
              <a:solidFill>
                <a:schemeClr val="dk1"/>
              </a:solidFill>
              <a:latin typeface="Arial"/>
              <a:ea typeface="Arial"/>
              <a:cs typeface="Arial"/>
              <a:sym typeface="Arial"/>
            </a:endParaRPr>
          </a:p>
        </p:txBody>
      </p:sp>
      <p:sp>
        <p:nvSpPr>
          <p:cNvPr id="734" name="Google Shape;734;p71"/>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Archive it, mark it unmaintained, move on.</a:t>
            </a:r>
            <a:endParaRPr b="0" i="0" sz="2000" u="none" cap="none" strike="noStrike">
              <a:solidFill>
                <a:schemeClr val="dk1"/>
              </a:solidFill>
              <a:latin typeface="Arial"/>
              <a:ea typeface="Arial"/>
              <a:cs typeface="Arial"/>
              <a:sym typeface="Arial"/>
            </a:endParaRPr>
          </a:p>
        </p:txBody>
      </p:sp>
      <p:sp>
        <p:nvSpPr>
          <p:cNvPr id="735" name="Google Shape;735;p71"/>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71"/>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Ongoing upkeep</a:t>
            </a:r>
            <a:endParaRPr b="0" i="0" sz="2200" u="none" cap="none" strike="noStrike">
              <a:solidFill>
                <a:schemeClr val="dk1"/>
              </a:solidFill>
              <a:latin typeface="Arial"/>
              <a:ea typeface="Arial"/>
              <a:cs typeface="Arial"/>
              <a:sym typeface="Arial"/>
            </a:endParaRPr>
          </a:p>
        </p:txBody>
      </p:sp>
      <p:sp>
        <p:nvSpPr>
          <p:cNvPr id="737" name="Google Shape;737;p71"/>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Research software is infrastructure and needs funding (P102, p. 19).</a:t>
            </a:r>
            <a:endParaRPr b="0" i="0" sz="2000" u="none" cap="none" strike="noStrike">
              <a:solidFill>
                <a:schemeClr val="dk1"/>
              </a:solidFill>
              <a:latin typeface="Arial"/>
              <a:ea typeface="Arial"/>
              <a:cs typeface="Arial"/>
              <a:sym typeface="Arial"/>
            </a:endParaRPr>
          </a:p>
        </p:txBody>
      </p:sp>
      <p:sp>
        <p:nvSpPr>
          <p:cNvPr id="738" name="Google Shape;738;p71"/>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72"/>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745" name="Google Shape;745;p72"/>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Students as artifact reviewers: training opportunity or devaluation?</a:t>
            </a:r>
            <a:endParaRPr b="0" i="0" sz="2600" u="none" cap="none" strike="noStrike">
              <a:solidFill>
                <a:schemeClr val="dk1"/>
              </a:solidFill>
              <a:latin typeface="Arial"/>
              <a:ea typeface="Arial"/>
              <a:cs typeface="Arial"/>
              <a:sym typeface="Arial"/>
            </a:endParaRPr>
          </a:p>
        </p:txBody>
      </p:sp>
      <p:sp>
        <p:nvSpPr>
          <p:cNvPr id="746" name="Google Shape;746;p72"/>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72"/>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"We usually just make students do AEC … it reinforces the idea that artifacts are not a primary thing" (P64, p. 23).</a:t>
            </a:r>
            <a:endParaRPr b="0" i="0" sz="1800" u="none" cap="none" strike="noStrike">
              <a:solidFill>
                <a:schemeClr val="dk1"/>
              </a:solidFill>
              <a:latin typeface="Arial"/>
              <a:ea typeface="Arial"/>
              <a:cs typeface="Arial"/>
              <a:sym typeface="Arial"/>
            </a:endParaRPr>
          </a:p>
        </p:txBody>
      </p:sp>
      <p:sp>
        <p:nvSpPr>
          <p:cNvPr id="748" name="Google Shape;748;p72"/>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72"/>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Training</a:t>
            </a:r>
            <a:endParaRPr b="0" i="0" sz="2200" u="none" cap="none" strike="noStrike">
              <a:solidFill>
                <a:schemeClr val="dk1"/>
              </a:solidFill>
              <a:latin typeface="Arial"/>
              <a:ea typeface="Arial"/>
              <a:cs typeface="Arial"/>
              <a:sym typeface="Arial"/>
            </a:endParaRPr>
          </a:p>
        </p:txBody>
      </p:sp>
      <p:sp>
        <p:nvSpPr>
          <p:cNvPr id="750" name="Google Shape;750;p72"/>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Students learn what good artifacts look like.</a:t>
            </a:r>
            <a:endParaRPr b="0" i="0" sz="2000" u="none" cap="none" strike="noStrike">
              <a:solidFill>
                <a:schemeClr val="dk1"/>
              </a:solidFill>
              <a:latin typeface="Arial"/>
              <a:ea typeface="Arial"/>
              <a:cs typeface="Arial"/>
              <a:sym typeface="Arial"/>
            </a:endParaRPr>
          </a:p>
        </p:txBody>
      </p:sp>
      <p:sp>
        <p:nvSpPr>
          <p:cNvPr id="751" name="Google Shape;751;p72"/>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72"/>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Devaluation</a:t>
            </a:r>
            <a:endParaRPr b="0" i="0" sz="2200" u="none" cap="none" strike="noStrike">
              <a:solidFill>
                <a:schemeClr val="dk1"/>
              </a:solidFill>
              <a:latin typeface="Arial"/>
              <a:ea typeface="Arial"/>
              <a:cs typeface="Arial"/>
              <a:sym typeface="Arial"/>
            </a:endParaRPr>
          </a:p>
        </p:txBody>
      </p:sp>
      <p:sp>
        <p:nvSpPr>
          <p:cNvPr id="753" name="Google Shape;753;p72"/>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Signals that artifact work is second-class.</a:t>
            </a:r>
            <a:endParaRPr b="0" i="0" sz="2000" u="none" cap="none" strike="noStrike">
              <a:solidFill>
                <a:schemeClr val="dk1"/>
              </a:solidFill>
              <a:latin typeface="Arial"/>
              <a:ea typeface="Arial"/>
              <a:cs typeface="Arial"/>
              <a:sym typeface="Arial"/>
            </a:endParaRPr>
          </a:p>
        </p:txBody>
      </p:sp>
      <p:sp>
        <p:nvSpPr>
          <p:cNvPr id="754" name="Google Shape;754;p72"/>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73"/>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Cross Comparison</a:t>
            </a:r>
            <a:endParaRPr b="0" i="0" sz="4800" u="none" cap="none" strike="noStrike">
              <a:solidFill>
                <a:schemeClr val="dk1"/>
              </a:solidFill>
              <a:latin typeface="Arial"/>
              <a:ea typeface="Arial"/>
              <a:cs typeface="Arial"/>
              <a:sym typeface="Arial"/>
            </a:endParaRPr>
          </a:p>
        </p:txBody>
      </p:sp>
      <p:sp>
        <p:nvSpPr>
          <p:cNvPr id="761" name="Google Shape;761;p73"/>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74"/>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Differences</a:t>
            </a:r>
            <a:endParaRPr b="0" i="0" sz="4000" u="none" cap="none" strike="noStrike">
              <a:solidFill>
                <a:schemeClr val="dk1"/>
              </a:solidFill>
              <a:latin typeface="Arial"/>
              <a:ea typeface="Arial"/>
              <a:cs typeface="Arial"/>
              <a:sym typeface="Arial"/>
            </a:endParaRPr>
          </a:p>
        </p:txBody>
      </p:sp>
      <p:graphicFrame>
        <p:nvGraphicFramePr>
          <p:cNvPr id="768" name="Google Shape;768;p74"/>
          <p:cNvGraphicFramePr/>
          <p:nvPr/>
        </p:nvGraphicFramePr>
        <p:xfrm>
          <a:off x="640080" y="1554480"/>
          <a:ext cx="3000000" cy="3000000"/>
        </p:xfrm>
        <a:graphic>
          <a:graphicData uri="http://schemas.openxmlformats.org/drawingml/2006/table">
            <a:tbl>
              <a:tblPr>
                <a:noFill/>
                <a:tableStyleId>{945C218A-C812-41D7-858A-F7E590C31D0C}</a:tableStyleId>
              </a:tblPr>
              <a:tblGrid>
                <a:gridCol w="3637175"/>
                <a:gridCol w="3637175"/>
                <a:gridCol w="3637175"/>
              </a:tblGrid>
              <a:tr h="640075">
                <a:tc>
                  <a:txBody>
                    <a:bodyPr/>
                    <a:lstStyle/>
                    <a:p>
                      <a:pPr indent="0" lvl="0" marL="0" marR="0" rtl="0" algn="l">
                        <a:spcBef>
                          <a:spcPts val="0"/>
                        </a:spcBef>
                        <a:spcAft>
                          <a:spcPts val="0"/>
                        </a:spcAft>
                        <a:buClr>
                          <a:schemeClr val="dk1"/>
                        </a:buClr>
                        <a:buSzPts val="2000"/>
                        <a:buFont typeface="Arial"/>
                        <a:buNone/>
                      </a:pPr>
                      <a:r>
                        <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Hermann et 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Timperley et 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Asked</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Reviewers (AEC members)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Authors (few reviewers)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Field</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SE and programming languages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SE only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Diagnosis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Unclear purpose and standards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Misaligned incentives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Proposal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Standards per community in the calls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R1–R8 for each group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bl>
          </a:graphicData>
        </a:graphic>
      </p:graphicFrame>
      <p:sp>
        <p:nvSpPr>
          <p:cNvPr id="769" name="Google Shape;769;p74"/>
          <p:cNvSpPr txBox="1"/>
          <p:nvPr/>
        </p:nvSpPr>
        <p:spPr>
          <a:xfrm>
            <a:off x="640080" y="507492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Timperley et al. build three recommendations on Hermann et al.</a:t>
            </a:r>
            <a:endParaRPr b="0" i="0" sz="1800" u="none" cap="none" strike="noStrike">
              <a:solidFill>
                <a:schemeClr val="dk1"/>
              </a:solidFill>
              <a:latin typeface="Arial"/>
              <a:ea typeface="Arial"/>
              <a:cs typeface="Arial"/>
              <a:sym typeface="Arial"/>
            </a:endParaRPr>
          </a:p>
        </p:txBody>
      </p:sp>
      <p:sp>
        <p:nvSpPr>
          <p:cNvPr id="770" name="Google Shape;770;p74"/>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7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Similarities</a:t>
            </a:r>
            <a:endParaRPr b="0" i="0" sz="4000" u="none" cap="none" strike="noStrike">
              <a:solidFill>
                <a:schemeClr val="dk1"/>
              </a:solidFill>
              <a:latin typeface="Arial"/>
              <a:ea typeface="Arial"/>
              <a:cs typeface="Arial"/>
              <a:sym typeface="Arial"/>
            </a:endParaRPr>
          </a:p>
        </p:txBody>
      </p:sp>
      <p:sp>
        <p:nvSpPr>
          <p:cNvPr id="777" name="Google Shape;777;p75"/>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No agreed quality threshold (Hermann p. 478; Timperley C6, p. 16)</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are inexperienced and under-rewarded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Both lean towards coupling AE to paper acceptance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Neither opens an artifact or tests whether badges mean better artifacts</a:t>
            </a:r>
            <a:endParaRPr b="0" i="0" sz="2200" u="none" cap="none" strike="noStrike">
              <a:solidFill>
                <a:schemeClr val="dk1"/>
              </a:solidFill>
              <a:latin typeface="Arial"/>
              <a:ea typeface="Arial"/>
              <a:cs typeface="Arial"/>
              <a:sym typeface="Arial"/>
            </a:endParaRPr>
          </a:p>
        </p:txBody>
      </p:sp>
      <p:sp>
        <p:nvSpPr>
          <p:cNvPr id="778" name="Google Shape;778;p7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7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785" name="Google Shape;785;p76"/>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Fix the definitions first, or the incentives?</a:t>
            </a:r>
            <a:endParaRPr b="0" i="0" sz="2600" u="none" cap="none" strike="noStrike">
              <a:solidFill>
                <a:schemeClr val="dk1"/>
              </a:solidFill>
              <a:latin typeface="Arial"/>
              <a:ea typeface="Arial"/>
              <a:cs typeface="Arial"/>
              <a:sym typeface="Arial"/>
            </a:endParaRPr>
          </a:p>
        </p:txBody>
      </p:sp>
      <p:sp>
        <p:nvSpPr>
          <p:cNvPr id="786" name="Google Shape;786;p76"/>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76"/>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Hermann: purpose, criteria and terms (p. 479). Timperley: "not worth it" (C1) and rewards in hiring and grants (R7, p. 34).</a:t>
            </a:r>
            <a:endParaRPr b="0" i="0" sz="1800" u="none" cap="none" strike="noStrike">
              <a:solidFill>
                <a:schemeClr val="dk1"/>
              </a:solidFill>
              <a:latin typeface="Arial"/>
              <a:ea typeface="Arial"/>
              <a:cs typeface="Arial"/>
              <a:sym typeface="Arial"/>
            </a:endParaRPr>
          </a:p>
        </p:txBody>
      </p:sp>
      <p:sp>
        <p:nvSpPr>
          <p:cNvPr id="788" name="Google Shape;788;p76"/>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76"/>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Standards first</a:t>
            </a:r>
            <a:endParaRPr b="0" i="0" sz="2200" u="none" cap="none" strike="noStrike">
              <a:solidFill>
                <a:schemeClr val="dk1"/>
              </a:solidFill>
              <a:latin typeface="Arial"/>
              <a:ea typeface="Arial"/>
              <a:cs typeface="Arial"/>
              <a:sym typeface="Arial"/>
            </a:endParaRPr>
          </a:p>
        </p:txBody>
      </p:sp>
      <p:sp>
        <p:nvSpPr>
          <p:cNvPr id="790" name="Google Shape;790;p76"/>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You cannot reward what you cannot measure.</a:t>
            </a:r>
            <a:endParaRPr b="0" i="0" sz="2000" u="none" cap="none" strike="noStrike">
              <a:solidFill>
                <a:schemeClr val="dk1"/>
              </a:solidFill>
              <a:latin typeface="Arial"/>
              <a:ea typeface="Arial"/>
              <a:cs typeface="Arial"/>
              <a:sym typeface="Arial"/>
            </a:endParaRPr>
          </a:p>
        </p:txBody>
      </p:sp>
      <p:sp>
        <p:nvSpPr>
          <p:cNvPr id="791" name="Google Shape;791;p76"/>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76"/>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Incentives first</a:t>
            </a:r>
            <a:endParaRPr b="0" i="0" sz="2200" u="none" cap="none" strike="noStrike">
              <a:solidFill>
                <a:schemeClr val="dk1"/>
              </a:solidFill>
              <a:latin typeface="Arial"/>
              <a:ea typeface="Arial"/>
              <a:cs typeface="Arial"/>
              <a:sym typeface="Arial"/>
            </a:endParaRPr>
          </a:p>
        </p:txBody>
      </p:sp>
      <p:sp>
        <p:nvSpPr>
          <p:cNvPr id="793" name="Google Shape;793;p76"/>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Perfect criteria change nothing if nobody submits.</a:t>
            </a:r>
            <a:endParaRPr b="0" i="0" sz="2000" u="none" cap="none" strike="noStrike">
              <a:solidFill>
                <a:schemeClr val="dk1"/>
              </a:solidFill>
              <a:latin typeface="Arial"/>
              <a:ea typeface="Arial"/>
              <a:cs typeface="Arial"/>
              <a:sym typeface="Arial"/>
            </a:endParaRPr>
          </a:p>
        </p:txBody>
      </p:sp>
      <p:sp>
        <p:nvSpPr>
          <p:cNvPr id="794" name="Google Shape;794;p7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7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801" name="Google Shape;801;p77"/>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Run the authors' scripts, or try to break them?</a:t>
            </a:r>
            <a:endParaRPr b="0" i="0" sz="2600" u="none" cap="none" strike="noStrike">
              <a:solidFill>
                <a:schemeClr val="dk1"/>
              </a:solidFill>
              <a:latin typeface="Arial"/>
              <a:ea typeface="Arial"/>
              <a:cs typeface="Arial"/>
              <a:sym typeface="Arial"/>
            </a:endParaRPr>
          </a:p>
        </p:txBody>
      </p:sp>
      <p:sp>
        <p:nvSpPr>
          <p:cNvPr id="802" name="Google Shape;802;p77"/>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77"/>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"AECs, by asking for replicable scripts, are likely to replicate the same mistake" (Timperley P25, p. 22). Hermann: hard-coded outputs found only by reading code (p. 477).</a:t>
            </a:r>
            <a:endParaRPr b="0" i="0" sz="1800" u="none" cap="none" strike="noStrike">
              <a:solidFill>
                <a:schemeClr val="dk1"/>
              </a:solidFill>
              <a:latin typeface="Arial"/>
              <a:ea typeface="Arial"/>
              <a:cs typeface="Arial"/>
              <a:sym typeface="Arial"/>
            </a:endParaRPr>
          </a:p>
        </p:txBody>
      </p:sp>
      <p:sp>
        <p:nvSpPr>
          <p:cNvPr id="804" name="Google Shape;804;p77"/>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77"/>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Run scripts</a:t>
            </a:r>
            <a:endParaRPr b="0" i="0" sz="2200" u="none" cap="none" strike="noStrike">
              <a:solidFill>
                <a:schemeClr val="dk1"/>
              </a:solidFill>
              <a:latin typeface="Arial"/>
              <a:ea typeface="Arial"/>
              <a:cs typeface="Arial"/>
              <a:sym typeface="Arial"/>
            </a:endParaRPr>
          </a:p>
        </p:txBody>
      </p:sp>
      <p:sp>
        <p:nvSpPr>
          <p:cNvPr id="806" name="Google Shape;806;p77"/>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Cheap, scalable: exactly 2020 reproducibility.</a:t>
            </a:r>
            <a:endParaRPr b="0" i="0" sz="2000" u="none" cap="none" strike="noStrike">
              <a:solidFill>
                <a:schemeClr val="dk1"/>
              </a:solidFill>
              <a:latin typeface="Arial"/>
              <a:ea typeface="Arial"/>
              <a:cs typeface="Arial"/>
              <a:sym typeface="Arial"/>
            </a:endParaRPr>
          </a:p>
        </p:txBody>
      </p:sp>
      <p:sp>
        <p:nvSpPr>
          <p:cNvPr id="807" name="Google Shape;807;p77"/>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77"/>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Probe</a:t>
            </a:r>
            <a:endParaRPr b="0" i="0" sz="2200" u="none" cap="none" strike="noStrike">
              <a:solidFill>
                <a:schemeClr val="dk1"/>
              </a:solidFill>
              <a:latin typeface="Arial"/>
              <a:ea typeface="Arial"/>
              <a:cs typeface="Arial"/>
              <a:sym typeface="Arial"/>
            </a:endParaRPr>
          </a:p>
        </p:txBody>
      </p:sp>
      <p:sp>
        <p:nvSpPr>
          <p:cNvPr id="809" name="Google Shape;809;p77"/>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Otherwise a badge certifies a repeatable bug.</a:t>
            </a:r>
            <a:endParaRPr b="0" i="0" sz="2000" u="none" cap="none" strike="noStrike">
              <a:solidFill>
                <a:schemeClr val="dk1"/>
              </a:solidFill>
              <a:latin typeface="Arial"/>
              <a:ea typeface="Arial"/>
              <a:cs typeface="Arial"/>
              <a:sym typeface="Arial"/>
            </a:endParaRPr>
          </a:p>
        </p:txBody>
      </p:sp>
      <p:sp>
        <p:nvSpPr>
          <p:cNvPr id="810" name="Google Shape;810;p7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78"/>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Criticism</a:t>
            </a:r>
            <a:endParaRPr b="0" i="0" sz="4800" u="none" cap="none" strike="noStrike">
              <a:solidFill>
                <a:schemeClr val="dk1"/>
              </a:solidFill>
              <a:latin typeface="Arial"/>
              <a:ea typeface="Arial"/>
              <a:cs typeface="Arial"/>
              <a:sym typeface="Arial"/>
            </a:endParaRPr>
          </a:p>
        </p:txBody>
      </p:sp>
      <p:sp>
        <p:nvSpPr>
          <p:cNvPr id="817" name="Google Shape;817;p78"/>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79"/>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 Paper 1</a:t>
            </a:r>
            <a:endParaRPr b="0" i="0" sz="4000" u="none" cap="none" strike="noStrike">
              <a:solidFill>
                <a:schemeClr val="dk1"/>
              </a:solidFill>
              <a:latin typeface="Arial"/>
              <a:ea typeface="Arial"/>
              <a:cs typeface="Arial"/>
              <a:sym typeface="Arial"/>
            </a:endParaRPr>
          </a:p>
        </p:txBody>
      </p:sp>
      <p:sp>
        <p:nvSpPr>
          <p:cNvPr id="824" name="Google Shape;824;p79"/>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Only AEC members asked: authors who never submit are missing</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125 PL vs 36 SE respondents; SE counts often single digits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257 started, 124 finished; each question has a different sample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Card-sort counts look precise but depend on one labeller</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PL/SE totals differ between sections (p. 472 vs p. 474)</a:t>
            </a:r>
            <a:endParaRPr b="0" i="0" sz="2200" u="none" cap="none" strike="noStrike">
              <a:solidFill>
                <a:schemeClr val="dk1"/>
              </a:solidFill>
              <a:latin typeface="Arial"/>
              <a:ea typeface="Arial"/>
              <a:cs typeface="Arial"/>
              <a:sym typeface="Arial"/>
            </a:endParaRPr>
          </a:p>
        </p:txBody>
      </p:sp>
      <p:sp>
        <p:nvSpPr>
          <p:cNvPr id="825" name="Google Shape;825;p79"/>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8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 Paper 2</a:t>
            </a:r>
            <a:endParaRPr b="0" i="0" sz="4000" u="none" cap="none" strike="noStrike">
              <a:solidFill>
                <a:schemeClr val="dk1"/>
              </a:solidFill>
              <a:latin typeface="Arial"/>
              <a:ea typeface="Arial"/>
              <a:cs typeface="Arial"/>
              <a:sym typeface="Arial"/>
            </a:endParaRPr>
          </a:p>
        </p:txBody>
      </p:sp>
      <p:sp>
        <p:nvSpPr>
          <p:cNvPr id="832" name="Google Shape;832;p80"/>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link counts as an artifact; a live link counts as available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"value" rests on link counts and quotes from willing respondents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Fig. 4: 26.33 % is 74 of all 281 papers; of 196 artifact papers it is 38 %</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Small inconsistencies: 81 vs 82, 60 vs 62; Table 6 cites an undefined C13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recommendations still ask creators and reviewers for more work</a:t>
            </a:r>
            <a:endParaRPr b="0" i="0" sz="2200" u="none" cap="none" strike="noStrike">
              <a:solidFill>
                <a:schemeClr val="dk1"/>
              </a:solidFill>
              <a:latin typeface="Arial"/>
              <a:ea typeface="Arial"/>
              <a:cs typeface="Arial"/>
              <a:sym typeface="Arial"/>
            </a:endParaRPr>
          </a:p>
        </p:txBody>
      </p:sp>
      <p:sp>
        <p:nvSpPr>
          <p:cNvPr id="833" name="Google Shape;833;p8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81"/>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Open Floor</a:t>
            </a:r>
            <a:endParaRPr b="0" i="0" sz="4000" u="none" cap="none" strike="noStrike">
              <a:solidFill>
                <a:schemeClr val="dk1"/>
              </a:solidFill>
              <a:latin typeface="Arial"/>
              <a:ea typeface="Arial"/>
              <a:cs typeface="Arial"/>
              <a:sym typeface="Arial"/>
            </a:endParaRPr>
          </a:p>
        </p:txBody>
      </p:sp>
      <p:sp>
        <p:nvSpPr>
          <p:cNvPr id="840" name="Google Shape;840;p81"/>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further discussion points you wanted to bring up?</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Criticisms of either paper we have not covered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Further interesting ideas or approaches you want to talk about</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Anything from your own notes and preparation</a:t>
            </a:r>
            <a:endParaRPr b="0" i="0" sz="2200" u="none" cap="none" strike="noStrike">
              <a:solidFill>
                <a:schemeClr val="dk1"/>
              </a:solidFill>
              <a:latin typeface="Arial"/>
              <a:ea typeface="Arial"/>
              <a:cs typeface="Arial"/>
              <a:sym typeface="Arial"/>
            </a:endParaRPr>
          </a:p>
        </p:txBody>
      </p:sp>
      <p:sp>
        <p:nvSpPr>
          <p:cNvPr id="841" name="Google Shape;841;p81"/>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82"/>
          <p:cNvSpPr txBox="1"/>
          <p:nvPr/>
        </p:nvSpPr>
        <p:spPr>
          <a:xfrm>
            <a:off x="640080" y="2560320"/>
            <a:ext cx="10911535"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Thank you for your attention</a:t>
            </a:r>
            <a:endParaRPr b="0" i="0" sz="4800" u="none" cap="none" strike="noStrike">
              <a:solidFill>
                <a:schemeClr val="dk1"/>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3" name="Google Shape;133;p1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134" name="Google Shape;134;p1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5" name="TextBox 134"/>
          <p:cNvSpPr txBox="1"/>
          <p:nvPr/>
        </p:nvSpPr>
        <p:spPr>
          <a:xfrm>
            <a:off x="640080" y="1325880"/>
            <a:ext cx="10908792" cy="914400"/>
          </a:xfrm>
          <a:prstGeom prst="rect">
            <a:avLst/>
          </a:prstGeom>
          <a:noFill/>
        </p:spPr>
        <p:txBody>
          <a:bodyPr wrap="square">
            <a:spAutoFit/>
          </a:bodyPr>
          <a:lstStyle/>
          <a:p>
            <a:pPr>
              <a:spcAft>
                <a:spcPts val="400"/>
              </a:spcAft>
            </a:pPr>
            <a:r>
              <a:rPr sz="2800" b="1">
                <a:solidFill>
                  <a:srgbClr val="00883A"/>
                </a:solidFill>
                <a:latin typeface="Arial"/>
              </a:rPr>
              <a:t>C1: Fear of exposing mistakes</a:t>
            </a:r>
          </a:p>
        </p:txBody>
      </p:sp>
      <p:sp>
        <p:nvSpPr>
          <p:cNvPr id="136" name="TextBox 135"/>
          <p:cNvSpPr txBox="1"/>
          <p:nvPr/>
        </p:nvSpPr>
        <p:spPr>
          <a:xfrm>
            <a:off x="640080" y="2057400"/>
            <a:ext cx="10908792" cy="2194560"/>
          </a:xfrm>
          <a:prstGeom prst="rect">
            <a:avLst/>
          </a:prstGeom>
          <a:noFill/>
        </p:spPr>
        <p:txBody>
          <a:bodyPr wrap="square">
            <a:spAutoFit/>
          </a:bodyPr>
          <a:lstStyle/>
          <a:p>
            <a:pPr>
              <a:spcAft>
                <a:spcPts val="400"/>
              </a:spcAft>
            </a:pPr>
            <a:r>
              <a:rPr sz="2800" b="1">
                <a:solidFill>
                  <a:srgbClr val="1A1A1A"/>
                </a:solidFill>
                <a:latin typeface="Arial"/>
              </a:rPr>
              <a:t>Creators fear that shared code exposes mistakes and harms their reputation: what would make you more or less willing to share your own code?</a:t>
            </a:r>
          </a:p>
        </p:txBody>
      </p:sp>
      <p:sp>
        <p:nvSpPr>
          <p:cNvPr id="137" name="Rounded Rectangle 136"/>
          <p:cNvSpPr/>
          <p:nvPr/>
        </p:nvSpPr>
        <p:spPr>
          <a:xfrm>
            <a:off x="640080" y="4709160"/>
            <a:ext cx="10908792" cy="1508760"/>
          </a:xfrm>
          <a:prstGeom prst="roundRect">
            <a:avLst>
              <a:gd name="adj" fmla="val 8000"/>
            </a:avLst>
          </a:prstGeom>
          <a:solidFill>
            <a:srgbClr val="F1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22960" y="4800600"/>
            <a:ext cx="10515600" cy="1325880"/>
          </a:xfrm>
          <a:prstGeom prst="rect">
            <a:avLst/>
          </a:prstGeom>
          <a:noFill/>
        </p:spPr>
        <p:txBody>
          <a:bodyPr wrap="square">
            <a:spAutoFit/>
          </a:bodyPr>
          <a:lstStyle/>
          <a:p>
            <a:pPr>
              <a:spcAft>
                <a:spcPts val="800"/>
              </a:spcAft>
            </a:pPr>
            <a:r>
              <a:rPr sz="2000" b="1">
                <a:solidFill>
                  <a:srgbClr val="00883A"/>
                </a:solidFill>
                <a:latin typeface="Arial"/>
              </a:rPr>
              <a:t>↳ Example: </a:t>
            </a:r>
            <a:r>
              <a:rPr sz="2000" b="0">
                <a:solidFill>
                  <a:srgbClr val="1A1A1A"/>
                </a:solidFill>
                <a:latin typeface="Arial"/>
              </a:rPr>
              <a:t>a mistake found later through your artifact only leads to a correction note, not a retraction</a:t>
            </a:r>
          </a:p>
          <a:p>
            <a:pPr>
              <a:spcAft>
                <a:spcPts val="800"/>
              </a:spcAft>
            </a:pPr>
            <a:r>
              <a:rPr sz="2000" b="1">
                <a:solidFill>
                  <a:srgbClr val="00883A"/>
                </a:solidFill>
                <a:latin typeface="Arial"/>
              </a:rPr>
              <a:t>↳ You: </a:t>
            </a:r>
            <a:r>
              <a:rPr sz="2000" b="0">
                <a:solidFill>
                  <a:srgbClr val="1A1A1A"/>
                </a:solidFill>
                <a:latin typeface="Arial"/>
              </a:rPr>
              <a:t>Would you share more readily if releasing research code as is, messy and undocumented, were the accepted norm?</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3" name="Google Shape;133;p1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134" name="Google Shape;134;p1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5" name="TextBox 134"/>
          <p:cNvSpPr txBox="1"/>
          <p:nvPr/>
        </p:nvSpPr>
        <p:spPr>
          <a:xfrm>
            <a:off x="640080" y="1325880"/>
            <a:ext cx="10908792" cy="914400"/>
          </a:xfrm>
          <a:prstGeom prst="rect">
            <a:avLst/>
          </a:prstGeom>
          <a:noFill/>
        </p:spPr>
        <p:txBody>
          <a:bodyPr wrap="square">
            <a:spAutoFit/>
          </a:bodyPr>
          <a:lstStyle/>
          <a:p>
            <a:pPr>
              <a:spcAft>
                <a:spcPts val="400"/>
              </a:spcAft>
            </a:pPr>
            <a:r>
              <a:rPr sz="2800" b="1">
                <a:solidFill>
                  <a:srgbClr val="00883A"/>
                </a:solidFill>
                <a:latin typeface="Arial"/>
              </a:rPr>
              <a:t>C1: Unreleased tools</a:t>
            </a:r>
          </a:p>
        </p:txBody>
      </p:sp>
      <p:sp>
        <p:nvSpPr>
          <p:cNvPr id="136" name="TextBox 135"/>
          <p:cNvSpPr txBox="1"/>
          <p:nvPr/>
        </p:nvSpPr>
        <p:spPr>
          <a:xfrm>
            <a:off x="640080" y="2057400"/>
            <a:ext cx="10908792" cy="2194560"/>
          </a:xfrm>
          <a:prstGeom prst="rect">
            <a:avLst/>
          </a:prstGeom>
          <a:noFill/>
        </p:spPr>
        <p:txBody>
          <a:bodyPr wrap="square">
            <a:spAutoFit/>
          </a:bodyPr>
          <a:lstStyle/>
          <a:p>
            <a:pPr>
              <a:spcAft>
                <a:spcPts val="400"/>
              </a:spcAft>
            </a:pPr>
            <a:r>
              <a:rPr sz="2800" b="1">
                <a:solidFill>
                  <a:srgbClr val="1A1A1A"/>
                </a:solidFill>
                <a:latin typeface="Arial"/>
              </a:rPr>
              <a:t>Should a paper whose results rest on a tool the authors keep private be treated as a full result or as preliminary until the tool is released?</a:t>
            </a:r>
          </a:p>
        </p:txBody>
      </p:sp>
      <p:sp>
        <p:nvSpPr>
          <p:cNvPr id="137" name="Rounded Rectangle 136"/>
          <p:cNvSpPr/>
          <p:nvPr/>
        </p:nvSpPr>
        <p:spPr>
          <a:xfrm>
            <a:off x="640080" y="4709160"/>
            <a:ext cx="10908792" cy="1508760"/>
          </a:xfrm>
          <a:prstGeom prst="roundRect">
            <a:avLst>
              <a:gd name="adj" fmla="val 8000"/>
            </a:avLst>
          </a:prstGeom>
          <a:solidFill>
            <a:srgbClr val="F1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22960" y="4800600"/>
            <a:ext cx="10515600" cy="1325880"/>
          </a:xfrm>
          <a:prstGeom prst="rect">
            <a:avLst/>
          </a:prstGeom>
          <a:noFill/>
        </p:spPr>
        <p:txBody>
          <a:bodyPr wrap="square">
            <a:spAutoFit/>
          </a:bodyPr>
          <a:lstStyle/>
          <a:p>
            <a:pPr>
              <a:spcAft>
                <a:spcPts val="800"/>
              </a:spcAft>
            </a:pPr>
            <a:r>
              <a:rPr sz="2000" b="1">
                <a:solidFill>
                  <a:srgbClr val="00883A"/>
                </a:solidFill>
                <a:latin typeface="Arial"/>
              </a:rPr>
              <a:t>↳ Example: </a:t>
            </a:r>
            <a:r>
              <a:rPr sz="2000" b="0">
                <a:solidFill>
                  <a:srgbClr val="1A1A1A"/>
                </a:solidFill>
                <a:latin typeface="Arial"/>
              </a:rPr>
              <a:t>a new testing technique evaluated with a tool held back for the PhD student's next paper</a:t>
            </a:r>
          </a:p>
          <a:p>
            <a:pPr>
              <a:spcAft>
                <a:spcPts val="800"/>
              </a:spcAft>
            </a:pPr>
            <a:r>
              <a:rPr sz="2000" b="1">
                <a:solidFill>
                  <a:srgbClr val="00883A"/>
                </a:solidFill>
                <a:latin typeface="Arial"/>
              </a:rPr>
              <a:t>↳ You: </a:t>
            </a:r>
            <a:r>
              <a:rPr sz="2000" b="0">
                <a:solidFill>
                  <a:srgbClr val="1A1A1A"/>
                </a:solidFill>
                <a:latin typeface="Arial"/>
              </a:rPr>
              <a:t>Would you cite and build on such a paper in your own thesis?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3" name="Google Shape;133;p1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134" name="Google Shape;134;p1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5" name="TextBox 134"/>
          <p:cNvSpPr txBox="1"/>
          <p:nvPr/>
        </p:nvSpPr>
        <p:spPr>
          <a:xfrm>
            <a:off x="640080" y="1325880"/>
            <a:ext cx="10908792" cy="914400"/>
          </a:xfrm>
          <a:prstGeom prst="rect">
            <a:avLst/>
          </a:prstGeom>
          <a:noFill/>
        </p:spPr>
        <p:txBody>
          <a:bodyPr wrap="square">
            <a:spAutoFit/>
          </a:bodyPr>
          <a:lstStyle/>
          <a:p>
            <a:pPr>
              <a:spcAft>
                <a:spcPts val="400"/>
              </a:spcAft>
            </a:pPr>
            <a:r>
              <a:rPr sz="2800" b="1">
                <a:solidFill>
                  <a:srgbClr val="00883A"/>
                </a:solidFill>
                <a:latin typeface="Arial"/>
              </a:rPr>
              <a:t>C2: Portability</a:t>
            </a:r>
          </a:p>
        </p:txBody>
      </p:sp>
      <p:sp>
        <p:nvSpPr>
          <p:cNvPr id="136" name="TextBox 135"/>
          <p:cNvSpPr txBox="1"/>
          <p:nvPr/>
        </p:nvSpPr>
        <p:spPr>
          <a:xfrm>
            <a:off x="640080" y="2057400"/>
            <a:ext cx="10908792" cy="2194560"/>
          </a:xfrm>
          <a:prstGeom prst="rect">
            <a:avLst/>
          </a:prstGeom>
          <a:noFill/>
        </p:spPr>
        <p:txBody>
          <a:bodyPr wrap="square">
            <a:spAutoFit/>
          </a:bodyPr>
          <a:lstStyle/>
          <a:p>
            <a:pPr>
              <a:spcAft>
                <a:spcPts val="400"/>
              </a:spcAft>
            </a:pPr>
            <a:r>
              <a:rPr sz="2800" b="1">
                <a:solidFill>
                  <a:srgbClr val="1A1A1A"/>
                </a:solidFill>
                <a:latin typeface="Arial"/>
              </a:rPr>
              <a:t>Does an artifact count as portable if it only runs inside the authors' container image?</a:t>
            </a:r>
          </a:p>
        </p:txBody>
      </p:sp>
      <p:sp>
        <p:nvSpPr>
          <p:cNvPr id="137" name="Rounded Rectangle 136"/>
          <p:cNvSpPr/>
          <p:nvPr/>
        </p:nvSpPr>
        <p:spPr>
          <a:xfrm>
            <a:off x="640080" y="4709160"/>
            <a:ext cx="10908792" cy="1508760"/>
          </a:xfrm>
          <a:prstGeom prst="roundRect">
            <a:avLst>
              <a:gd name="adj" fmla="val 8000"/>
            </a:avLst>
          </a:prstGeom>
          <a:solidFill>
            <a:srgbClr val="F1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22960" y="4800600"/>
            <a:ext cx="10515600" cy="1325880"/>
          </a:xfrm>
          <a:prstGeom prst="rect">
            <a:avLst/>
          </a:prstGeom>
          <a:noFill/>
        </p:spPr>
        <p:txBody>
          <a:bodyPr wrap="square">
            <a:spAutoFit/>
          </a:bodyPr>
          <a:lstStyle/>
          <a:p>
            <a:pPr>
              <a:spcAft>
                <a:spcPts val="800"/>
              </a:spcAft>
            </a:pPr>
            <a:r>
              <a:rPr sz="2000" b="1">
                <a:solidFill>
                  <a:srgbClr val="00883A"/>
                </a:solidFill>
                <a:latin typeface="Arial"/>
              </a:rPr>
              <a:t>↳ Example: </a:t>
            </a:r>
            <a:r>
              <a:rPr sz="2000" b="0">
                <a:solidFill>
                  <a:srgbClr val="1A1A1A"/>
                </a:solidFill>
                <a:latin typeface="Arial"/>
              </a:rPr>
              <a:t>the Docker image works, but nobody could rebuild the tool from source</a:t>
            </a:r>
          </a:p>
          <a:p>
            <a:pPr>
              <a:spcAft>
                <a:spcPts val="800"/>
              </a:spcAft>
            </a:pPr>
            <a:r>
              <a:rPr sz="2000" b="1">
                <a:solidFill>
                  <a:srgbClr val="00883A"/>
                </a:solidFill>
                <a:latin typeface="Arial"/>
              </a:rPr>
              <a:t>↳ You: </a:t>
            </a:r>
            <a:r>
              <a:rPr sz="2000" b="0">
                <a:solidFill>
                  <a:srgbClr val="1A1A1A"/>
                </a:solidFill>
                <a:latin typeface="Arial"/>
              </a:rPr>
              <a:t>Would you build your own research on a tool you can only run inside a black-box image?</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3" name="Google Shape;133;p1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134" name="Google Shape;134;p1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5" name="TextBox 134"/>
          <p:cNvSpPr txBox="1"/>
          <p:nvPr/>
        </p:nvSpPr>
        <p:spPr>
          <a:xfrm>
            <a:off x="640080" y="1325880"/>
            <a:ext cx="10908792" cy="914400"/>
          </a:xfrm>
          <a:prstGeom prst="rect">
            <a:avLst/>
          </a:prstGeom>
          <a:noFill/>
        </p:spPr>
        <p:txBody>
          <a:bodyPr wrap="square">
            <a:spAutoFit/>
          </a:bodyPr>
          <a:lstStyle/>
          <a:p>
            <a:pPr>
              <a:spcAft>
                <a:spcPts val="400"/>
              </a:spcAft>
            </a:pPr>
            <a:r>
              <a:rPr sz="2800" b="1">
                <a:solidFill>
                  <a:srgbClr val="00883A"/>
                </a:solidFill>
                <a:latin typeface="Arial"/>
              </a:rPr>
              <a:t>C3: Decay and maintenance</a:t>
            </a:r>
          </a:p>
        </p:txBody>
      </p:sp>
      <p:sp>
        <p:nvSpPr>
          <p:cNvPr id="136" name="TextBox 135"/>
          <p:cNvSpPr txBox="1"/>
          <p:nvPr/>
        </p:nvSpPr>
        <p:spPr>
          <a:xfrm>
            <a:off x="640080" y="2057400"/>
            <a:ext cx="10908792" cy="2194560"/>
          </a:xfrm>
          <a:prstGeom prst="rect">
            <a:avLst/>
          </a:prstGeom>
          <a:noFill/>
        </p:spPr>
        <p:txBody>
          <a:bodyPr wrap="square">
            <a:spAutoFit/>
          </a:bodyPr>
          <a:lstStyle/>
          <a:p>
            <a:pPr>
              <a:spcAft>
                <a:spcPts val="400"/>
              </a:spcAft>
            </a:pPr>
            <a:r>
              <a:rPr sz="2800" b="1">
                <a:solidFill>
                  <a:srgbClr val="1A1A1A"/>
                </a:solidFill>
                <a:latin typeface="Arial"/>
              </a:rPr>
              <a:t>Is software decay unavoidable as technology moves on, and who should carry the cost of limiting it?</a:t>
            </a:r>
          </a:p>
        </p:txBody>
      </p:sp>
      <p:sp>
        <p:nvSpPr>
          <p:cNvPr id="137" name="Rounded Rectangle 136"/>
          <p:cNvSpPr/>
          <p:nvPr/>
        </p:nvSpPr>
        <p:spPr>
          <a:xfrm>
            <a:off x="640080" y="4709160"/>
            <a:ext cx="10908792" cy="1508760"/>
          </a:xfrm>
          <a:prstGeom prst="roundRect">
            <a:avLst>
              <a:gd name="adj" fmla="val 8000"/>
            </a:avLst>
          </a:prstGeom>
          <a:solidFill>
            <a:srgbClr val="F1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22960" y="4800600"/>
            <a:ext cx="10515600" cy="1325880"/>
          </a:xfrm>
          <a:prstGeom prst="rect">
            <a:avLst/>
          </a:prstGeom>
          <a:noFill/>
        </p:spPr>
        <p:txBody>
          <a:bodyPr wrap="square">
            <a:spAutoFit/>
          </a:bodyPr>
          <a:lstStyle/>
          <a:p>
            <a:pPr>
              <a:spcAft>
                <a:spcPts val="800"/>
              </a:spcAft>
            </a:pPr>
            <a:r>
              <a:rPr sz="2000" b="1">
                <a:solidFill>
                  <a:srgbClr val="00883A"/>
                </a:solidFill>
                <a:latin typeface="Arial"/>
              </a:rPr>
              <a:t>↳ Example: </a:t>
            </a:r>
            <a:r>
              <a:rPr sz="2000" b="0">
                <a:solidFill>
                  <a:srgbClr val="1A1A1A"/>
                </a:solidFill>
                <a:latin typeface="Arial"/>
              </a:rPr>
              <a:t>a 2015 thesis tool needs Python 2 and a library that no longer exists: fix it, freeze it in an image, or let it go?</a:t>
            </a:r>
          </a:p>
          <a:p>
            <a:pPr>
              <a:spcAft>
                <a:spcPts val="800"/>
              </a:spcAft>
            </a:pPr>
            <a:r>
              <a:rPr sz="2000" b="1">
                <a:solidFill>
                  <a:srgbClr val="00883A"/>
                </a:solidFill>
                <a:latin typeface="Arial"/>
              </a:rPr>
              <a:t>↳ You: </a:t>
            </a:r>
            <a:r>
              <a:rPr sz="2000" b="0">
                <a:solidFill>
                  <a:srgbClr val="1A1A1A"/>
                </a:solidFill>
                <a:latin typeface="Arial"/>
              </a:rPr>
              <a:t>If you inherited a ten-year-old tool for your thesis, what would you want its authors to have left you?</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3" name="Google Shape;133;p1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134" name="Google Shape;134;p1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5" name="TextBox 134"/>
          <p:cNvSpPr txBox="1"/>
          <p:nvPr/>
        </p:nvSpPr>
        <p:spPr>
          <a:xfrm>
            <a:off x="640080" y="1325880"/>
            <a:ext cx="10908792" cy="914400"/>
          </a:xfrm>
          <a:prstGeom prst="rect">
            <a:avLst/>
          </a:prstGeom>
          <a:noFill/>
        </p:spPr>
        <p:txBody>
          <a:bodyPr wrap="square">
            <a:spAutoFit/>
          </a:bodyPr>
          <a:lstStyle/>
          <a:p>
            <a:pPr>
              <a:spcAft>
                <a:spcPts val="400"/>
              </a:spcAft>
            </a:pPr>
            <a:r>
              <a:rPr sz="2800" b="1">
                <a:solidFill>
                  <a:srgbClr val="00883A"/>
                </a:solidFill>
                <a:latin typeface="Arial"/>
              </a:rPr>
              <a:t>C4: One-click reproduction scripts</a:t>
            </a:r>
          </a:p>
        </p:txBody>
      </p:sp>
      <p:sp>
        <p:nvSpPr>
          <p:cNvPr id="136" name="TextBox 135"/>
          <p:cNvSpPr txBox="1"/>
          <p:nvPr/>
        </p:nvSpPr>
        <p:spPr>
          <a:xfrm>
            <a:off x="640080" y="2057400"/>
            <a:ext cx="10908792" cy="2194560"/>
          </a:xfrm>
          <a:prstGeom prst="rect">
            <a:avLst/>
          </a:prstGeom>
          <a:noFill/>
        </p:spPr>
        <p:txBody>
          <a:bodyPr wrap="square">
            <a:spAutoFit/>
          </a:bodyPr>
          <a:lstStyle/>
          <a:p>
            <a:pPr>
              <a:spcAft>
                <a:spcPts val="400"/>
              </a:spcAft>
            </a:pPr>
            <a:r>
              <a:rPr sz="2800" b="1">
                <a:solidFill>
                  <a:srgbClr val="1A1A1A"/>
                </a:solidFill>
                <a:latin typeface="Arial"/>
              </a:rPr>
              <a:t>Is a one-click reproduction script good or bad for scientific scrutiny?</a:t>
            </a:r>
          </a:p>
        </p:txBody>
      </p:sp>
      <p:sp>
        <p:nvSpPr>
          <p:cNvPr id="137" name="Rounded Rectangle 136"/>
          <p:cNvSpPr/>
          <p:nvPr/>
        </p:nvSpPr>
        <p:spPr>
          <a:xfrm>
            <a:off x="640080" y="4709160"/>
            <a:ext cx="10908792" cy="1508760"/>
          </a:xfrm>
          <a:prstGeom prst="roundRect">
            <a:avLst>
              <a:gd name="adj" fmla="val 8000"/>
            </a:avLst>
          </a:prstGeom>
          <a:solidFill>
            <a:srgbClr val="F1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22960" y="4800600"/>
            <a:ext cx="10515600" cy="1325880"/>
          </a:xfrm>
          <a:prstGeom prst="rect">
            <a:avLst/>
          </a:prstGeom>
          <a:noFill/>
        </p:spPr>
        <p:txBody>
          <a:bodyPr wrap="square">
            <a:spAutoFit/>
          </a:bodyPr>
          <a:lstStyle/>
          <a:p>
            <a:pPr>
              <a:spcAft>
                <a:spcPts val="800"/>
              </a:spcAft>
            </a:pPr>
            <a:r>
              <a:rPr sz="2000" b="1">
                <a:solidFill>
                  <a:srgbClr val="00883A"/>
                </a:solidFill>
                <a:latin typeface="Arial"/>
              </a:rPr>
              <a:t>↳ Example: </a:t>
            </a:r>
            <a:r>
              <a:rPr sz="2000" b="0">
                <a:solidFill>
                  <a:srgbClr val="1A1A1A"/>
                </a:solidFill>
                <a:latin typeface="Arial"/>
              </a:rPr>
              <a:t>the script regenerates every table in the paper, but nobody reads the code that produces them: what has actually been checked?</a:t>
            </a:r>
          </a:p>
          <a:p>
            <a:pPr>
              <a:spcAft>
                <a:spcPts val="800"/>
              </a:spcAft>
            </a:pPr>
            <a:r>
              <a:rPr sz="2000" b="1">
                <a:solidFill>
                  <a:srgbClr val="00883A"/>
                </a:solidFill>
                <a:latin typeface="Arial"/>
              </a:rPr>
              <a:t>↳ You: </a:t>
            </a:r>
            <a:r>
              <a:rPr sz="2000" b="0">
                <a:solidFill>
                  <a:srgbClr val="1A1A1A"/>
                </a:solidFill>
                <a:latin typeface="Arial"/>
              </a:rPr>
              <a:t>As a reviewer with one day per artifact, would you rather get a script or a documented step-by-step procedure?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3" name="Google Shape;133;p1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134" name="Google Shape;134;p1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5" name="TextBox 134"/>
          <p:cNvSpPr txBox="1"/>
          <p:nvPr/>
        </p:nvSpPr>
        <p:spPr>
          <a:xfrm>
            <a:off x="640080" y="1325880"/>
            <a:ext cx="10908792" cy="914400"/>
          </a:xfrm>
          <a:prstGeom prst="rect">
            <a:avLst/>
          </a:prstGeom>
          <a:noFill/>
        </p:spPr>
        <p:txBody>
          <a:bodyPr wrap="square">
            <a:spAutoFit/>
          </a:bodyPr>
          <a:lstStyle/>
          <a:p>
            <a:pPr>
              <a:spcAft>
                <a:spcPts val="400"/>
              </a:spcAft>
            </a:pPr>
            <a:r>
              <a:rPr sz="2800" b="1">
                <a:solidFill>
                  <a:srgbClr val="00883A"/>
                </a:solidFill>
                <a:latin typeface="Arial"/>
              </a:rPr>
              <a:t>C4: Tacit knowledge</a:t>
            </a:r>
          </a:p>
        </p:txBody>
      </p:sp>
      <p:sp>
        <p:nvSpPr>
          <p:cNvPr id="136" name="TextBox 135"/>
          <p:cNvSpPr txBox="1"/>
          <p:nvPr/>
        </p:nvSpPr>
        <p:spPr>
          <a:xfrm>
            <a:off x="640080" y="2057400"/>
            <a:ext cx="10908792" cy="2194560"/>
          </a:xfrm>
          <a:prstGeom prst="rect">
            <a:avLst/>
          </a:prstGeom>
          <a:noFill/>
        </p:spPr>
        <p:txBody>
          <a:bodyPr wrap="square">
            <a:spAutoFit/>
          </a:bodyPr>
          <a:lstStyle/>
          <a:p>
            <a:pPr>
              <a:spcAft>
                <a:spcPts val="400"/>
              </a:spcAft>
            </a:pPr>
            <a:r>
              <a:rPr sz="2800" b="1">
                <a:solidFill>
                  <a:srgbClr val="1A1A1A"/>
                </a:solidFill>
                <a:latin typeface="Arial"/>
              </a:rPr>
              <a:t>What knowledge about a research prototype typically stays in the developer's head, and could documentation ever capture it?</a:t>
            </a:r>
          </a:p>
        </p:txBody>
      </p:sp>
      <p:sp>
        <p:nvSpPr>
          <p:cNvPr id="137" name="Rounded Rectangle 136"/>
          <p:cNvSpPr/>
          <p:nvPr/>
        </p:nvSpPr>
        <p:spPr>
          <a:xfrm>
            <a:off x="640080" y="4709160"/>
            <a:ext cx="10908792" cy="1508760"/>
          </a:xfrm>
          <a:prstGeom prst="roundRect">
            <a:avLst>
              <a:gd name="adj" fmla="val 8000"/>
            </a:avLst>
          </a:prstGeom>
          <a:solidFill>
            <a:srgbClr val="F1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22960" y="4800600"/>
            <a:ext cx="10515600" cy="1325880"/>
          </a:xfrm>
          <a:prstGeom prst="rect">
            <a:avLst/>
          </a:prstGeom>
          <a:noFill/>
        </p:spPr>
        <p:txBody>
          <a:bodyPr wrap="square">
            <a:spAutoFit/>
          </a:bodyPr>
          <a:lstStyle/>
          <a:p>
            <a:pPr>
              <a:spcAft>
                <a:spcPts val="800"/>
              </a:spcAft>
            </a:pPr>
            <a:r>
              <a:rPr sz="2000" b="1">
                <a:solidFill>
                  <a:srgbClr val="00883A"/>
                </a:solidFill>
                <a:latin typeface="Arial"/>
              </a:rPr>
              <a:t>↳ Example: </a:t>
            </a:r>
            <a:r>
              <a:rPr sz="2000" b="0">
                <a:solidFill>
                  <a:srgbClr val="1A1A1A"/>
                </a:solidFill>
                <a:latin typeface="Arial"/>
              </a:rPr>
              <a:t>the order the scripts must run in, hard-coded paths, parameter values that were tried and dropped</a:t>
            </a:r>
          </a:p>
          <a:p>
            <a:pPr>
              <a:spcAft>
                <a:spcPts val="800"/>
              </a:spcAft>
            </a:pPr>
            <a:r>
              <a:rPr sz="2000" b="1">
                <a:solidFill>
                  <a:srgbClr val="00883A"/>
                </a:solidFill>
                <a:latin typeface="Arial"/>
              </a:rPr>
              <a:t>↳ You: </a:t>
            </a:r>
            <a:r>
              <a:rPr sz="2000" b="0">
                <a:solidFill>
                  <a:srgbClr val="1A1A1A"/>
                </a:solidFill>
                <a:latin typeface="Arial"/>
              </a:rPr>
              <a:t>Could someone reproduce your bachelor thesis results from your repository alone?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3" name="Google Shape;133;p1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134" name="Google Shape;134;p1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5" name="TextBox 134"/>
          <p:cNvSpPr txBox="1"/>
          <p:nvPr/>
        </p:nvSpPr>
        <p:spPr>
          <a:xfrm>
            <a:off x="640080" y="1325880"/>
            <a:ext cx="10908792" cy="914400"/>
          </a:xfrm>
          <a:prstGeom prst="rect">
            <a:avLst/>
          </a:prstGeom>
          <a:noFill/>
        </p:spPr>
        <p:txBody>
          <a:bodyPr wrap="square">
            <a:spAutoFit/>
          </a:bodyPr>
          <a:lstStyle/>
          <a:p>
            <a:pPr>
              <a:spcAft>
                <a:spcPts val="400"/>
              </a:spcAft>
            </a:pPr>
            <a:r>
              <a:rPr sz="2800" b="1">
                <a:solidFill>
                  <a:srgbClr val="00883A"/>
                </a:solidFill>
                <a:latin typeface="Arial"/>
              </a:rPr>
              <a:t>C4: Reviewer effort</a:t>
            </a:r>
          </a:p>
        </p:txBody>
      </p:sp>
      <p:sp>
        <p:nvSpPr>
          <p:cNvPr id="136" name="TextBox 135"/>
          <p:cNvSpPr txBox="1"/>
          <p:nvPr/>
        </p:nvSpPr>
        <p:spPr>
          <a:xfrm>
            <a:off x="640080" y="2057400"/>
            <a:ext cx="10908792" cy="2194560"/>
          </a:xfrm>
          <a:prstGeom prst="rect">
            <a:avLst/>
          </a:prstGeom>
          <a:noFill/>
        </p:spPr>
        <p:txBody>
          <a:bodyPr wrap="square">
            <a:spAutoFit/>
          </a:bodyPr>
          <a:lstStyle/>
          <a:p>
            <a:pPr>
              <a:spcAft>
                <a:spcPts val="400"/>
              </a:spcAft>
            </a:pPr>
            <a:r>
              <a:rPr sz="2800" b="1">
                <a:solidFill>
                  <a:srgbClr val="1A1A1A"/>
                </a:solidFill>
                <a:latin typeface="Arial"/>
              </a:rPr>
              <a:t>How much effort should an artifact reviewer invest before giving up on an artifact?</a:t>
            </a:r>
          </a:p>
        </p:txBody>
      </p:sp>
      <p:sp>
        <p:nvSpPr>
          <p:cNvPr id="137" name="Rounded Rectangle 136"/>
          <p:cNvSpPr/>
          <p:nvPr/>
        </p:nvSpPr>
        <p:spPr>
          <a:xfrm>
            <a:off x="640080" y="4709160"/>
            <a:ext cx="10908792" cy="1508760"/>
          </a:xfrm>
          <a:prstGeom prst="roundRect">
            <a:avLst>
              <a:gd name="adj" fmla="val 8000"/>
            </a:avLst>
          </a:prstGeom>
          <a:solidFill>
            <a:srgbClr val="F1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22960" y="4800600"/>
            <a:ext cx="10515600" cy="1325880"/>
          </a:xfrm>
          <a:prstGeom prst="rect">
            <a:avLst/>
          </a:prstGeom>
          <a:noFill/>
        </p:spPr>
        <p:txBody>
          <a:bodyPr wrap="square">
            <a:spAutoFit/>
          </a:bodyPr>
          <a:lstStyle/>
          <a:p>
            <a:pPr>
              <a:spcAft>
                <a:spcPts val="800"/>
              </a:spcAft>
            </a:pPr>
            <a:r>
              <a:rPr sz="2000" b="1">
                <a:solidFill>
                  <a:srgbClr val="00883A"/>
                </a:solidFill>
                <a:latin typeface="Arial"/>
              </a:rPr>
              <a:t>↳ Example: </a:t>
            </a:r>
            <a:r>
              <a:rPr sz="2000" b="0">
                <a:solidFill>
                  <a:srgbClr val="1A1A1A"/>
                </a:solidFill>
                <a:latin typeface="Arial"/>
              </a:rPr>
              <a:t>after two hours the artifact fails on a missing dependency: fix it yourself, contact the authors, or reject?</a:t>
            </a:r>
          </a:p>
          <a:p>
            <a:pPr>
              <a:spcAft>
                <a:spcPts val="800"/>
              </a:spcAft>
            </a:pPr>
            <a:r>
              <a:rPr sz="2000" b="1">
                <a:solidFill>
                  <a:srgbClr val="00883A"/>
                </a:solidFill>
                <a:latin typeface="Arial"/>
              </a:rPr>
              <a:t>↳ You: </a:t>
            </a:r>
            <a:r>
              <a:rPr sz="2000" b="0">
                <a:solidFill>
                  <a:srgbClr val="1A1A1A"/>
                </a:solidFill>
                <a:latin typeface="Arial"/>
              </a:rPr>
              <a:t>As an author, how much of a reviewer's goodwill would you be comfortable relying on?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3" name="Google Shape;133;p1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134" name="Google Shape;134;p1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5" name="TextBox 134"/>
          <p:cNvSpPr txBox="1"/>
          <p:nvPr/>
        </p:nvSpPr>
        <p:spPr>
          <a:xfrm>
            <a:off x="640080" y="1325880"/>
            <a:ext cx="10908792" cy="914400"/>
          </a:xfrm>
          <a:prstGeom prst="rect">
            <a:avLst/>
          </a:prstGeom>
          <a:noFill/>
        </p:spPr>
        <p:txBody>
          <a:bodyPr wrap="square">
            <a:spAutoFit/>
          </a:bodyPr>
          <a:lstStyle/>
          <a:p>
            <a:pPr>
              <a:spcAft>
                <a:spcPts val="400"/>
              </a:spcAft>
            </a:pPr>
            <a:r>
              <a:rPr sz="2800" b="1">
                <a:solidFill>
                  <a:srgbClr val="00883A"/>
                </a:solidFill>
                <a:latin typeface="Arial"/>
              </a:rPr>
              <a:t>C7: Very large artifacts</a:t>
            </a:r>
          </a:p>
        </p:txBody>
      </p:sp>
      <p:sp>
        <p:nvSpPr>
          <p:cNvPr id="136" name="TextBox 135"/>
          <p:cNvSpPr txBox="1"/>
          <p:nvPr/>
        </p:nvSpPr>
        <p:spPr>
          <a:xfrm>
            <a:off x="640080" y="2057400"/>
            <a:ext cx="10908792" cy="2194560"/>
          </a:xfrm>
          <a:prstGeom prst="rect">
            <a:avLst/>
          </a:prstGeom>
          <a:noFill/>
        </p:spPr>
        <p:txBody>
          <a:bodyPr wrap="square">
            <a:spAutoFit/>
          </a:bodyPr>
          <a:lstStyle/>
          <a:p>
            <a:pPr>
              <a:spcAft>
                <a:spcPts val="400"/>
              </a:spcAft>
            </a:pPr>
            <a:r>
              <a:rPr sz="2800" b="1">
                <a:solidFill>
                  <a:srgbClr val="1A1A1A"/>
                </a:solidFill>
                <a:latin typeface="Arial"/>
              </a:rPr>
              <a:t>How should researchers share artifacts that are too big for archives like Zenodo and for a reviewer's laptop?</a:t>
            </a:r>
          </a:p>
        </p:txBody>
      </p:sp>
      <p:sp>
        <p:nvSpPr>
          <p:cNvPr id="137" name="Rounded Rectangle 136"/>
          <p:cNvSpPr/>
          <p:nvPr/>
        </p:nvSpPr>
        <p:spPr>
          <a:xfrm>
            <a:off x="640080" y="4709160"/>
            <a:ext cx="10908792" cy="1508760"/>
          </a:xfrm>
          <a:prstGeom prst="roundRect">
            <a:avLst>
              <a:gd name="adj" fmla="val 8000"/>
            </a:avLst>
          </a:prstGeom>
          <a:solidFill>
            <a:srgbClr val="F1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22960" y="4800600"/>
            <a:ext cx="10515600" cy="1325880"/>
          </a:xfrm>
          <a:prstGeom prst="rect">
            <a:avLst/>
          </a:prstGeom>
          <a:noFill/>
        </p:spPr>
        <p:txBody>
          <a:bodyPr wrap="square">
            <a:spAutoFit/>
          </a:bodyPr>
          <a:lstStyle/>
          <a:p>
            <a:pPr>
              <a:spcAft>
                <a:spcPts val="800"/>
              </a:spcAft>
            </a:pPr>
            <a:r>
              <a:rPr sz="2000" b="1">
                <a:solidFill>
                  <a:srgbClr val="00883A"/>
                </a:solidFill>
                <a:latin typeface="Arial"/>
              </a:rPr>
              <a:t>↳ Example: </a:t>
            </a:r>
            <a:r>
              <a:rPr sz="2000" b="0">
                <a:solidFill>
                  <a:srgbClr val="1A1A1A"/>
                </a:solidFill>
                <a:latin typeface="Arial"/>
              </a:rPr>
              <a:t>several terabytes of mined repository data</a:t>
            </a:r>
          </a:p>
          <a:p>
            <a:pPr>
              <a:spcAft>
                <a:spcPts val="800"/>
              </a:spcAft>
            </a:pPr>
            <a:r>
              <a:rPr sz="2000" b="1">
                <a:solidFill>
                  <a:srgbClr val="00883A"/>
                </a:solidFill>
                <a:latin typeface="Arial"/>
              </a:rPr>
              <a:t>↳ You: </a:t>
            </a:r>
            <a:r>
              <a:rPr sz="2000" b="0">
                <a:solidFill>
                  <a:srgbClr val="1A1A1A"/>
                </a:solidFill>
                <a:latin typeface="Arial"/>
              </a:rPr>
              <a:t>If your thesis data were that large, what would you publish?</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3" name="Google Shape;133;p1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134" name="Google Shape;134;p1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5" name="TextBox 134"/>
          <p:cNvSpPr txBox="1"/>
          <p:nvPr/>
        </p:nvSpPr>
        <p:spPr>
          <a:xfrm>
            <a:off x="640080" y="1325880"/>
            <a:ext cx="10908792" cy="914400"/>
          </a:xfrm>
          <a:prstGeom prst="rect">
            <a:avLst/>
          </a:prstGeom>
          <a:noFill/>
        </p:spPr>
        <p:txBody>
          <a:bodyPr wrap="square">
            <a:spAutoFit/>
          </a:bodyPr>
          <a:lstStyle/>
          <a:p>
            <a:pPr>
              <a:spcAft>
                <a:spcPts val="400"/>
              </a:spcAft>
            </a:pPr>
            <a:r>
              <a:rPr sz="2800" b="1">
                <a:solidFill>
                  <a:srgbClr val="00883A"/>
                </a:solidFill>
                <a:latin typeface="Arial"/>
              </a:rPr>
              <a:t>C7: Dead links and old badges</a:t>
            </a:r>
          </a:p>
        </p:txBody>
      </p:sp>
      <p:sp>
        <p:nvSpPr>
          <p:cNvPr id="136" name="TextBox 135"/>
          <p:cNvSpPr txBox="1"/>
          <p:nvPr/>
        </p:nvSpPr>
        <p:spPr>
          <a:xfrm>
            <a:off x="640080" y="2057400"/>
            <a:ext cx="10908792" cy="2194560"/>
          </a:xfrm>
          <a:prstGeom prst="rect">
            <a:avLst/>
          </a:prstGeom>
          <a:noFill/>
        </p:spPr>
        <p:txBody>
          <a:bodyPr wrap="square">
            <a:spAutoFit/>
          </a:bodyPr>
          <a:lstStyle/>
          <a:p>
            <a:pPr>
              <a:spcAft>
                <a:spcPts val="400"/>
              </a:spcAft>
            </a:pPr>
            <a:r>
              <a:rPr sz="2800" b="1">
                <a:solidFill>
                  <a:srgbClr val="1A1A1A"/>
                </a:solidFill>
                <a:latin typeface="Arial"/>
              </a:rPr>
              <a:t>Should a badge expire if the artifact link dies a few years after publication?</a:t>
            </a:r>
          </a:p>
        </p:txBody>
      </p:sp>
      <p:sp>
        <p:nvSpPr>
          <p:cNvPr id="137" name="Rounded Rectangle 136"/>
          <p:cNvSpPr/>
          <p:nvPr/>
        </p:nvSpPr>
        <p:spPr>
          <a:xfrm>
            <a:off x="640080" y="4709160"/>
            <a:ext cx="10908792" cy="1508760"/>
          </a:xfrm>
          <a:prstGeom prst="roundRect">
            <a:avLst>
              <a:gd name="adj" fmla="val 8000"/>
            </a:avLst>
          </a:prstGeom>
          <a:solidFill>
            <a:srgbClr val="F1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22960" y="4800600"/>
            <a:ext cx="10515600" cy="1325880"/>
          </a:xfrm>
          <a:prstGeom prst="rect">
            <a:avLst/>
          </a:prstGeom>
          <a:noFill/>
        </p:spPr>
        <p:txBody>
          <a:bodyPr wrap="square">
            <a:spAutoFit/>
          </a:bodyPr>
          <a:lstStyle/>
          <a:p>
            <a:pPr>
              <a:spcAft>
                <a:spcPts val="800"/>
              </a:spcAft>
            </a:pPr>
            <a:r>
              <a:rPr sz="2000" b="1">
                <a:solidFill>
                  <a:srgbClr val="00883A"/>
                </a:solidFill>
                <a:latin typeface="Arial"/>
              </a:rPr>
              <a:t>↳ Example: </a:t>
            </a:r>
            <a:r>
              <a:rPr sz="2000" b="0">
                <a:solidFill>
                  <a:srgbClr val="1A1A1A"/>
                </a:solidFill>
                <a:latin typeface="Arial"/>
              </a:rPr>
              <a:t>a 2016 badge on a paper whose artifact link now returns 404</a:t>
            </a:r>
          </a:p>
          <a:p>
            <a:pPr>
              <a:spcAft>
                <a:spcPts val="800"/>
              </a:spcAft>
            </a:pPr>
            <a:r>
              <a:rPr sz="2000" b="1">
                <a:solidFill>
                  <a:srgbClr val="00883A"/>
                </a:solidFill>
                <a:latin typeface="Arial"/>
              </a:rPr>
              <a:t>↳ You: </a:t>
            </a:r>
            <a:r>
              <a:rPr sz="2000" b="0">
                <a:solidFill>
                  <a:srgbClr val="1A1A1A"/>
                </a:solidFill>
                <a:latin typeface="Arial"/>
              </a:rPr>
              <a:t>Would a label like awarded 2016, not re-checked change how you treat the paper?</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3" name="Google Shape;133;p1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134" name="Google Shape;134;p1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5" name="TextBox 134"/>
          <p:cNvSpPr txBox="1"/>
          <p:nvPr/>
        </p:nvSpPr>
        <p:spPr>
          <a:xfrm>
            <a:off x="640080" y="1325880"/>
            <a:ext cx="10908792" cy="914400"/>
          </a:xfrm>
          <a:prstGeom prst="rect">
            <a:avLst/>
          </a:prstGeom>
          <a:noFill/>
        </p:spPr>
        <p:txBody>
          <a:bodyPr wrap="square">
            <a:spAutoFit/>
          </a:bodyPr>
          <a:lstStyle/>
          <a:p>
            <a:pPr>
              <a:spcAft>
                <a:spcPts val="400"/>
              </a:spcAft>
            </a:pPr>
            <a:r>
              <a:rPr sz="2800" b="1">
                <a:solidFill>
                  <a:srgbClr val="00883A"/>
                </a:solidFill>
                <a:latin typeface="Arial"/>
              </a:rPr>
              <a:t>C9: Unshareable industry data</a:t>
            </a:r>
          </a:p>
        </p:txBody>
      </p:sp>
      <p:sp>
        <p:nvSpPr>
          <p:cNvPr id="136" name="TextBox 135"/>
          <p:cNvSpPr txBox="1"/>
          <p:nvPr/>
        </p:nvSpPr>
        <p:spPr>
          <a:xfrm>
            <a:off x="640080" y="2057400"/>
            <a:ext cx="10908792" cy="2194560"/>
          </a:xfrm>
          <a:prstGeom prst="rect">
            <a:avLst/>
          </a:prstGeom>
          <a:noFill/>
        </p:spPr>
        <p:txBody>
          <a:bodyPr wrap="square">
            <a:spAutoFit/>
          </a:bodyPr>
          <a:lstStyle/>
          <a:p>
            <a:pPr>
              <a:spcAft>
                <a:spcPts val="400"/>
              </a:spcAft>
            </a:pPr>
            <a:r>
              <a:rPr sz="2800" b="1">
                <a:solidFill>
                  <a:srgbClr val="1A1A1A"/>
                </a:solidFill>
                <a:latin typeface="Arial"/>
              </a:rPr>
              <a:t>Should a paper be criticised for not sharing data that its industry partner won't release?</a:t>
            </a:r>
          </a:p>
        </p:txBody>
      </p:sp>
      <p:sp>
        <p:nvSpPr>
          <p:cNvPr id="137" name="Rounded Rectangle 136"/>
          <p:cNvSpPr/>
          <p:nvPr/>
        </p:nvSpPr>
        <p:spPr>
          <a:xfrm>
            <a:off x="640080" y="4709160"/>
            <a:ext cx="10908792" cy="1508760"/>
          </a:xfrm>
          <a:prstGeom prst="roundRect">
            <a:avLst>
              <a:gd name="adj" fmla="val 8000"/>
            </a:avLst>
          </a:prstGeom>
          <a:solidFill>
            <a:srgbClr val="F1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22960" y="4800600"/>
            <a:ext cx="10515600" cy="1325880"/>
          </a:xfrm>
          <a:prstGeom prst="rect">
            <a:avLst/>
          </a:prstGeom>
          <a:noFill/>
        </p:spPr>
        <p:txBody>
          <a:bodyPr wrap="square">
            <a:spAutoFit/>
          </a:bodyPr>
          <a:lstStyle/>
          <a:p>
            <a:pPr>
              <a:spcAft>
                <a:spcPts val="800"/>
              </a:spcAft>
            </a:pPr>
            <a:r>
              <a:rPr sz="2000" b="1">
                <a:solidFill>
                  <a:srgbClr val="00883A"/>
                </a:solidFill>
                <a:latin typeface="Arial"/>
              </a:rPr>
              <a:t>↳ Example: </a:t>
            </a:r>
            <a:r>
              <a:rPr sz="2000" b="0">
                <a:solidFill>
                  <a:srgbClr val="1A1A1A"/>
                </a:solidFill>
                <a:latin typeface="Arial"/>
              </a:rPr>
              <a:t>an empirical study of a company's ten years of bug reports, with the data under NDA</a:t>
            </a:r>
          </a:p>
          <a:p>
            <a:pPr>
              <a:spcAft>
                <a:spcPts val="800"/>
              </a:spcAft>
            </a:pPr>
            <a:r>
              <a:rPr sz="2000" b="1">
                <a:solidFill>
                  <a:srgbClr val="00883A"/>
                </a:solidFill>
                <a:latin typeface="Arial"/>
              </a:rPr>
              <a:t>↳ You: </a:t>
            </a:r>
            <a:r>
              <a:rPr sz="2000" b="0">
                <a:solidFill>
                  <a:srgbClr val="1A1A1A"/>
                </a:solidFill>
                <a:latin typeface="Arial"/>
              </a:rPr>
              <a:t>If you built on a study whose data is under NDA, would you trust it less than one whose artifact simply disappeared?</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3" name="Google Shape;133;p1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134" name="Google Shape;134;p1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5" name="TextBox 134"/>
          <p:cNvSpPr txBox="1"/>
          <p:nvPr/>
        </p:nvSpPr>
        <p:spPr>
          <a:xfrm>
            <a:off x="640080" y="1325880"/>
            <a:ext cx="10908792" cy="914400"/>
          </a:xfrm>
          <a:prstGeom prst="rect">
            <a:avLst/>
          </a:prstGeom>
          <a:noFill/>
        </p:spPr>
        <p:txBody>
          <a:bodyPr wrap="square">
            <a:spAutoFit/>
          </a:bodyPr>
          <a:lstStyle/>
          <a:p>
            <a:pPr>
              <a:spcAft>
                <a:spcPts val="400"/>
              </a:spcAft>
            </a:pPr>
            <a:r>
              <a:rPr sz="2800" b="1">
                <a:solidFill>
                  <a:srgbClr val="00883A"/>
                </a:solidFill>
                <a:latin typeface="Arial"/>
              </a:rPr>
              <a:t>C9: Formal exceptions</a:t>
            </a:r>
          </a:p>
        </p:txBody>
      </p:sp>
      <p:sp>
        <p:nvSpPr>
          <p:cNvPr id="136" name="TextBox 135"/>
          <p:cNvSpPr txBox="1"/>
          <p:nvPr/>
        </p:nvSpPr>
        <p:spPr>
          <a:xfrm>
            <a:off x="640080" y="2057400"/>
            <a:ext cx="10908792" cy="2194560"/>
          </a:xfrm>
          <a:prstGeom prst="rect">
            <a:avLst/>
          </a:prstGeom>
          <a:noFill/>
        </p:spPr>
        <p:txBody>
          <a:bodyPr wrap="square">
            <a:spAutoFit/>
          </a:bodyPr>
          <a:lstStyle/>
          <a:p>
            <a:pPr>
              <a:spcAft>
                <a:spcPts val="400"/>
              </a:spcAft>
            </a:pPr>
            <a:r>
              <a:rPr sz="2800" b="1">
                <a:solidFill>
                  <a:srgbClr val="1A1A1A"/>
                </a:solidFill>
                <a:latin typeface="Arial"/>
              </a:rPr>
              <a:t>Should artifact evaluation have formal exceptions for unshareable artifacts, e.g. evaluating them privately without publishing them?</a:t>
            </a:r>
          </a:p>
        </p:txBody>
      </p:sp>
      <p:sp>
        <p:nvSpPr>
          <p:cNvPr id="137" name="Rounded Rectangle 136"/>
          <p:cNvSpPr/>
          <p:nvPr/>
        </p:nvSpPr>
        <p:spPr>
          <a:xfrm>
            <a:off x="640080" y="4709160"/>
            <a:ext cx="10908792" cy="1508760"/>
          </a:xfrm>
          <a:prstGeom prst="roundRect">
            <a:avLst>
              <a:gd name="adj" fmla="val 8000"/>
            </a:avLst>
          </a:prstGeom>
          <a:solidFill>
            <a:srgbClr val="F1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22960" y="4800600"/>
            <a:ext cx="10515600" cy="1325880"/>
          </a:xfrm>
          <a:prstGeom prst="rect">
            <a:avLst/>
          </a:prstGeom>
          <a:noFill/>
        </p:spPr>
        <p:txBody>
          <a:bodyPr wrap="square">
            <a:spAutoFit/>
          </a:bodyPr>
          <a:lstStyle/>
          <a:p>
            <a:pPr>
              <a:spcAft>
                <a:spcPts val="800"/>
              </a:spcAft>
            </a:pPr>
            <a:r>
              <a:rPr sz="2000" b="1">
                <a:solidFill>
                  <a:srgbClr val="00883A"/>
                </a:solidFill>
                <a:latin typeface="Arial"/>
              </a:rPr>
              <a:t>↳ Example: </a:t>
            </a:r>
            <a:r>
              <a:rPr sz="2000" b="0">
                <a:solidFill>
                  <a:srgbClr val="1A1A1A"/>
                </a:solidFill>
                <a:latin typeface="Arial"/>
              </a:rPr>
              <a:t>reviewers get temporary access under NDA, but readers never see the artifact</a:t>
            </a:r>
          </a:p>
          <a:p>
            <a:pPr>
              <a:spcAft>
                <a:spcPts val="800"/>
              </a:spcAft>
            </a:pPr>
            <a:r>
              <a:rPr sz="2000" b="1">
                <a:solidFill>
                  <a:srgbClr val="00883A"/>
                </a:solidFill>
                <a:latin typeface="Arial"/>
              </a:rPr>
              <a:t>↳ You: </a:t>
            </a:r>
            <a:r>
              <a:rPr sz="2000" b="0">
                <a:solidFill>
                  <a:srgbClr val="1A1A1A"/>
                </a:solidFill>
                <a:latin typeface="Arial"/>
              </a:rPr>
              <a:t>Would a badge saying evaluated privately convince you as a reader?</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3" name="Google Shape;133;p1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134" name="Google Shape;134;p1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5" name="TextBox 134"/>
          <p:cNvSpPr txBox="1"/>
          <p:nvPr/>
        </p:nvSpPr>
        <p:spPr>
          <a:xfrm>
            <a:off x="640080" y="1325880"/>
            <a:ext cx="10908792" cy="914400"/>
          </a:xfrm>
          <a:prstGeom prst="rect">
            <a:avLst/>
          </a:prstGeom>
          <a:noFill/>
        </p:spPr>
        <p:txBody>
          <a:bodyPr wrap="square">
            <a:spAutoFit/>
          </a:bodyPr>
          <a:lstStyle/>
          <a:p>
            <a:pPr>
              <a:spcAft>
                <a:spcPts val="400"/>
              </a:spcAft>
            </a:pPr>
            <a:r>
              <a:rPr sz="2800" b="1">
                <a:solidFill>
                  <a:srgbClr val="00883A"/>
                </a:solidFill>
                <a:latin typeface="Arial"/>
              </a:rPr>
              <a:t>C9: Open by default</a:t>
            </a:r>
          </a:p>
        </p:txBody>
      </p:sp>
      <p:sp>
        <p:nvSpPr>
          <p:cNvPr id="136" name="TextBox 135"/>
          <p:cNvSpPr txBox="1"/>
          <p:nvPr/>
        </p:nvSpPr>
        <p:spPr>
          <a:xfrm>
            <a:off x="640080" y="2057400"/>
            <a:ext cx="10908792" cy="2194560"/>
          </a:xfrm>
          <a:prstGeom prst="rect">
            <a:avLst/>
          </a:prstGeom>
          <a:noFill/>
        </p:spPr>
        <p:txBody>
          <a:bodyPr wrap="square">
            <a:spAutoFit/>
          </a:bodyPr>
          <a:lstStyle/>
          <a:p>
            <a:pPr>
              <a:spcAft>
                <a:spcPts val="400"/>
              </a:spcAft>
            </a:pPr>
            <a:r>
              <a:rPr sz="2800" b="1">
                <a:solidFill>
                  <a:srgbClr val="1A1A1A"/>
                </a:solidFill>
                <a:latin typeface="Arial"/>
              </a:rPr>
              <a:t>Should research software be open source by default, with closed artifacts needing a justification?</a:t>
            </a:r>
          </a:p>
        </p:txBody>
      </p:sp>
      <p:sp>
        <p:nvSpPr>
          <p:cNvPr id="137" name="Rounded Rectangle 136"/>
          <p:cNvSpPr/>
          <p:nvPr/>
        </p:nvSpPr>
        <p:spPr>
          <a:xfrm>
            <a:off x="640080" y="4709160"/>
            <a:ext cx="10908792" cy="1508760"/>
          </a:xfrm>
          <a:prstGeom prst="roundRect">
            <a:avLst>
              <a:gd name="adj" fmla="val 8000"/>
            </a:avLst>
          </a:prstGeom>
          <a:solidFill>
            <a:srgbClr val="F1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22960" y="4800600"/>
            <a:ext cx="10515600" cy="1325880"/>
          </a:xfrm>
          <a:prstGeom prst="rect">
            <a:avLst/>
          </a:prstGeom>
          <a:noFill/>
        </p:spPr>
        <p:txBody>
          <a:bodyPr wrap="square">
            <a:spAutoFit/>
          </a:bodyPr>
          <a:lstStyle/>
          <a:p>
            <a:pPr>
              <a:spcAft>
                <a:spcPts val="800"/>
              </a:spcAft>
            </a:pPr>
            <a:r>
              <a:rPr sz="2000" b="1">
                <a:solidFill>
                  <a:srgbClr val="00883A"/>
                </a:solidFill>
                <a:latin typeface="Arial"/>
              </a:rPr>
              <a:t>↳ Example: </a:t>
            </a:r>
            <a:r>
              <a:rPr sz="2000" b="0">
                <a:solidFill>
                  <a:srgbClr val="1A1A1A"/>
                </a:solidFill>
                <a:latin typeface="Arial"/>
              </a:rPr>
              <a:t>a company co-authored the tool and wants to sell it later</a:t>
            </a:r>
          </a:p>
          <a:p>
            <a:pPr>
              <a:spcAft>
                <a:spcPts val="800"/>
              </a:spcAft>
            </a:pPr>
            <a:r>
              <a:rPr sz="2000" b="1">
                <a:solidFill>
                  <a:srgbClr val="00883A"/>
                </a:solidFill>
                <a:latin typeface="Arial"/>
              </a:rPr>
              <a:t>↳ You: </a:t>
            </a:r>
            <a:r>
              <a:rPr sz="2000" b="0">
                <a:solidFill>
                  <a:srgbClr val="1A1A1A"/>
                </a:solidFill>
                <a:latin typeface="Arial"/>
              </a:rPr>
              <a:t>If your thesis tool had commercial potential, would you open-source it?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3" name="Google Shape;133;p1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134" name="Google Shape;134;p1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5" name="TextBox 134"/>
          <p:cNvSpPr txBox="1"/>
          <p:nvPr/>
        </p:nvSpPr>
        <p:spPr>
          <a:xfrm>
            <a:off x="640080" y="1325880"/>
            <a:ext cx="10908792" cy="914400"/>
          </a:xfrm>
          <a:prstGeom prst="rect">
            <a:avLst/>
          </a:prstGeom>
          <a:noFill/>
        </p:spPr>
        <p:txBody>
          <a:bodyPr wrap="square">
            <a:spAutoFit/>
          </a:bodyPr>
          <a:lstStyle/>
          <a:p>
            <a:pPr>
              <a:spcAft>
                <a:spcPts val="400"/>
              </a:spcAft>
            </a:pPr>
            <a:r>
              <a:rPr sz="2800" b="1">
                <a:solidFill>
                  <a:srgbClr val="00883A"/>
                </a:solidFill>
                <a:latin typeface="Arial"/>
              </a:rPr>
              <a:t>C9: Licensed software</a:t>
            </a:r>
          </a:p>
        </p:txBody>
      </p:sp>
      <p:sp>
        <p:nvSpPr>
          <p:cNvPr id="136" name="TextBox 135"/>
          <p:cNvSpPr txBox="1"/>
          <p:nvPr/>
        </p:nvSpPr>
        <p:spPr>
          <a:xfrm>
            <a:off x="640080" y="2057400"/>
            <a:ext cx="10908792" cy="2194560"/>
          </a:xfrm>
          <a:prstGeom prst="rect">
            <a:avLst/>
          </a:prstGeom>
          <a:noFill/>
        </p:spPr>
        <p:txBody>
          <a:bodyPr wrap="square">
            <a:spAutoFit/>
          </a:bodyPr>
          <a:lstStyle/>
          <a:p>
            <a:pPr>
              <a:spcAft>
                <a:spcPts val="400"/>
              </a:spcAft>
            </a:pPr>
            <a:r>
              <a:rPr sz="2800" b="1">
                <a:solidFill>
                  <a:srgbClr val="1A1A1A"/>
                </a:solidFill>
                <a:latin typeface="Arial"/>
              </a:rPr>
              <a:t>Should research tools that depend on paid commercial software be accepted as artifacts at all?</a:t>
            </a:r>
          </a:p>
        </p:txBody>
      </p:sp>
      <p:sp>
        <p:nvSpPr>
          <p:cNvPr id="137" name="Rounded Rectangle 136"/>
          <p:cNvSpPr/>
          <p:nvPr/>
        </p:nvSpPr>
        <p:spPr>
          <a:xfrm>
            <a:off x="640080" y="4709160"/>
            <a:ext cx="10908792" cy="1508760"/>
          </a:xfrm>
          <a:prstGeom prst="roundRect">
            <a:avLst>
              <a:gd name="adj" fmla="val 8000"/>
            </a:avLst>
          </a:prstGeom>
          <a:solidFill>
            <a:srgbClr val="F1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22960" y="4800600"/>
            <a:ext cx="10515600" cy="1325880"/>
          </a:xfrm>
          <a:prstGeom prst="rect">
            <a:avLst/>
          </a:prstGeom>
          <a:noFill/>
        </p:spPr>
        <p:txBody>
          <a:bodyPr wrap="square">
            <a:spAutoFit/>
          </a:bodyPr>
          <a:lstStyle/>
          <a:p>
            <a:pPr>
              <a:spcAft>
                <a:spcPts val="800"/>
              </a:spcAft>
            </a:pPr>
            <a:r>
              <a:rPr sz="2000" b="1">
                <a:solidFill>
                  <a:srgbClr val="00883A"/>
                </a:solidFill>
                <a:latin typeface="Arial"/>
              </a:rPr>
              <a:t>↳ Example: </a:t>
            </a:r>
            <a:r>
              <a:rPr sz="2000" b="0">
                <a:solidFill>
                  <a:srgbClr val="1A1A1A"/>
                </a:solidFill>
                <a:latin typeface="Arial"/>
              </a:rPr>
              <a:t>your artifact needs MATLAB, and the reviewer has no licence: whose problem is that?</a:t>
            </a:r>
          </a:p>
          <a:p>
            <a:pPr>
              <a:spcAft>
                <a:spcPts val="800"/>
              </a:spcAft>
            </a:pPr>
            <a:r>
              <a:rPr sz="2000" b="1">
                <a:solidFill>
                  <a:srgbClr val="00883A"/>
                </a:solidFill>
                <a:latin typeface="Arial"/>
              </a:rPr>
              <a:t>↳ You: </a:t>
            </a:r>
            <a:r>
              <a:rPr sz="2000" b="0">
                <a:solidFill>
                  <a:srgbClr val="1A1A1A"/>
                </a:solidFill>
                <a:latin typeface="Arial"/>
              </a:rPr>
              <a:t>As a reviewer, would you pay for a licence yourself to evaluate someone else's artifact?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3" name="Google Shape;133;p1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134" name="Google Shape;134;p1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5" name="TextBox 134"/>
          <p:cNvSpPr txBox="1"/>
          <p:nvPr/>
        </p:nvSpPr>
        <p:spPr>
          <a:xfrm>
            <a:off x="640080" y="1325880"/>
            <a:ext cx="10908792" cy="914400"/>
          </a:xfrm>
          <a:prstGeom prst="rect">
            <a:avLst/>
          </a:prstGeom>
          <a:noFill/>
        </p:spPr>
        <p:txBody>
          <a:bodyPr wrap="square">
            <a:spAutoFit/>
          </a:bodyPr>
          <a:lstStyle/>
          <a:p>
            <a:pPr>
              <a:spcAft>
                <a:spcPts val="400"/>
              </a:spcAft>
            </a:pPr>
            <a:r>
              <a:rPr sz="2800" b="1">
                <a:solidFill>
                  <a:srgbClr val="00883A"/>
                </a:solidFill>
                <a:latin typeface="Arial"/>
              </a:rPr>
              <a:t>C10: Students as reviewers</a:t>
            </a:r>
          </a:p>
        </p:txBody>
      </p:sp>
      <p:sp>
        <p:nvSpPr>
          <p:cNvPr id="136" name="TextBox 135"/>
          <p:cNvSpPr txBox="1"/>
          <p:nvPr/>
        </p:nvSpPr>
        <p:spPr>
          <a:xfrm>
            <a:off x="640080" y="2057400"/>
            <a:ext cx="10908792" cy="2194560"/>
          </a:xfrm>
          <a:prstGeom prst="rect">
            <a:avLst/>
          </a:prstGeom>
          <a:noFill/>
        </p:spPr>
        <p:txBody>
          <a:bodyPr wrap="square">
            <a:spAutoFit/>
          </a:bodyPr>
          <a:lstStyle/>
          <a:p>
            <a:pPr>
              <a:spcAft>
                <a:spcPts val="400"/>
              </a:spcAft>
            </a:pPr>
            <a:r>
              <a:rPr sz="2800" b="1">
                <a:solidFill>
                  <a:srgbClr val="1A1A1A"/>
                </a:solidFill>
                <a:latin typeface="Arial"/>
              </a:rPr>
              <a:t>Is leaving artifact evaluation to students a good training opportunity, or does it undermine how rigorous and seriously taken the badges are?</a:t>
            </a:r>
          </a:p>
        </p:txBody>
      </p:sp>
      <p:sp>
        <p:nvSpPr>
          <p:cNvPr id="137" name="Rounded Rectangle 136"/>
          <p:cNvSpPr/>
          <p:nvPr/>
        </p:nvSpPr>
        <p:spPr>
          <a:xfrm>
            <a:off x="640080" y="4709160"/>
            <a:ext cx="10908792" cy="1508760"/>
          </a:xfrm>
          <a:prstGeom prst="roundRect">
            <a:avLst>
              <a:gd name="adj" fmla="val 8000"/>
            </a:avLst>
          </a:prstGeom>
          <a:solidFill>
            <a:srgbClr val="F1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22960" y="4800600"/>
            <a:ext cx="10515600" cy="1325880"/>
          </a:xfrm>
          <a:prstGeom prst="rect">
            <a:avLst/>
          </a:prstGeom>
          <a:noFill/>
        </p:spPr>
        <p:txBody>
          <a:bodyPr wrap="square">
            <a:spAutoFit/>
          </a:bodyPr>
          <a:lstStyle/>
          <a:p>
            <a:pPr>
              <a:spcAft>
                <a:spcPts val="800"/>
              </a:spcAft>
            </a:pPr>
            <a:r>
              <a:rPr sz="2000" b="1">
                <a:solidFill>
                  <a:srgbClr val="00883A"/>
                </a:solidFill>
                <a:latin typeface="Arial"/>
              </a:rPr>
              <a:t>↳ Example: </a:t>
            </a:r>
            <a:r>
              <a:rPr sz="2000" b="0">
                <a:solidFill>
                  <a:srgbClr val="1A1A1A"/>
                </a:solidFill>
                <a:latin typeface="Arial"/>
              </a:rPr>
              <a:t>a first-year PhD student has to judge the artifact of an experienced professor's group</a:t>
            </a:r>
          </a:p>
          <a:p>
            <a:pPr>
              <a:spcAft>
                <a:spcPts val="800"/>
              </a:spcAft>
            </a:pPr>
            <a:r>
              <a:rPr sz="2000" b="1">
                <a:solidFill>
                  <a:srgbClr val="00883A"/>
                </a:solidFill>
                <a:latin typeface="Arial"/>
              </a:rPr>
              <a:t>↳ You: </a:t>
            </a:r>
            <a:r>
              <a:rPr sz="2000" b="0">
                <a:solidFill>
                  <a:srgbClr val="1A1A1A"/>
                </a:solidFill>
                <a:latin typeface="Arial"/>
              </a:rPr>
              <a:t>Would you trust a badge more if you knew a senior researcher rather than a student had awarded it?</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3" name="Google Shape;133;p1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134" name="Google Shape;134;p1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5" name="TextBox 134"/>
          <p:cNvSpPr txBox="1"/>
          <p:nvPr/>
        </p:nvSpPr>
        <p:spPr>
          <a:xfrm>
            <a:off x="640080" y="1325880"/>
            <a:ext cx="10908792" cy="914400"/>
          </a:xfrm>
          <a:prstGeom prst="rect">
            <a:avLst/>
          </a:prstGeom>
          <a:noFill/>
        </p:spPr>
        <p:txBody>
          <a:bodyPr wrap="square">
            <a:spAutoFit/>
          </a:bodyPr>
          <a:lstStyle/>
          <a:p>
            <a:pPr>
              <a:spcAft>
                <a:spcPts val="400"/>
              </a:spcAft>
            </a:pPr>
            <a:r>
              <a:rPr sz="2800" b="1">
                <a:solidFill>
                  <a:srgbClr val="00883A"/>
                </a:solidFill>
                <a:latin typeface="Arial"/>
              </a:rPr>
              <a:t>C11: Fixed time limits</a:t>
            </a:r>
          </a:p>
        </p:txBody>
      </p:sp>
      <p:sp>
        <p:nvSpPr>
          <p:cNvPr id="136" name="TextBox 135"/>
          <p:cNvSpPr txBox="1"/>
          <p:nvPr/>
        </p:nvSpPr>
        <p:spPr>
          <a:xfrm>
            <a:off x="640080" y="2057400"/>
            <a:ext cx="10908792" cy="2194560"/>
          </a:xfrm>
          <a:prstGeom prst="rect">
            <a:avLst/>
          </a:prstGeom>
          <a:noFill/>
        </p:spPr>
        <p:txBody>
          <a:bodyPr wrap="square">
            <a:spAutoFit/>
          </a:bodyPr>
          <a:lstStyle/>
          <a:p>
            <a:pPr>
              <a:spcAft>
                <a:spcPts val="400"/>
              </a:spcAft>
            </a:pPr>
            <a:r>
              <a:rPr sz="2800" b="1">
                <a:solidFill>
                  <a:srgbClr val="1A1A1A"/>
                </a:solidFill>
                <a:latin typeface="Arial"/>
              </a:rPr>
              <a:t>Is it fair to have a fixed time limit (e.g. a 30-minute setup) after which an artifact fails?</a:t>
            </a:r>
          </a:p>
        </p:txBody>
      </p:sp>
      <p:sp>
        <p:nvSpPr>
          <p:cNvPr id="137" name="Rounded Rectangle 136"/>
          <p:cNvSpPr/>
          <p:nvPr/>
        </p:nvSpPr>
        <p:spPr>
          <a:xfrm>
            <a:off x="640080" y="4709160"/>
            <a:ext cx="10908792" cy="1508760"/>
          </a:xfrm>
          <a:prstGeom prst="roundRect">
            <a:avLst>
              <a:gd name="adj" fmla="val 8000"/>
            </a:avLst>
          </a:prstGeom>
          <a:solidFill>
            <a:srgbClr val="F1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22960" y="4800600"/>
            <a:ext cx="10515600" cy="1325880"/>
          </a:xfrm>
          <a:prstGeom prst="rect">
            <a:avLst/>
          </a:prstGeom>
          <a:noFill/>
        </p:spPr>
        <p:txBody>
          <a:bodyPr wrap="square">
            <a:spAutoFit/>
          </a:bodyPr>
          <a:lstStyle/>
          <a:p>
            <a:pPr>
              <a:spcAft>
                <a:spcPts val="800"/>
              </a:spcAft>
            </a:pPr>
            <a:r>
              <a:rPr sz="2000" b="1">
                <a:solidFill>
                  <a:srgbClr val="00883A"/>
                </a:solidFill>
                <a:latin typeface="Arial"/>
              </a:rPr>
              <a:t>↳ Example: </a:t>
            </a:r>
            <a:r>
              <a:rPr sz="2000" b="0">
                <a:solidFill>
                  <a:srgbClr val="1A1A1A"/>
                </a:solidFill>
                <a:latin typeface="Arial"/>
              </a:rPr>
              <a:t>a fuzzing experiment that by nature runs for three days</a:t>
            </a:r>
          </a:p>
          <a:p>
            <a:pPr>
              <a:spcAft>
                <a:spcPts val="800"/>
              </a:spcAft>
            </a:pPr>
            <a:r>
              <a:rPr sz="2000" b="1">
                <a:solidFill>
                  <a:srgbClr val="00883A"/>
                </a:solidFill>
                <a:latin typeface="Arial"/>
              </a:rPr>
              <a:t>↳ You: </a:t>
            </a:r>
            <a:r>
              <a:rPr sz="2000" b="0">
                <a:solidFill>
                  <a:srgbClr val="1A1A1A"/>
                </a:solidFill>
                <a:latin typeface="Arial"/>
              </a:rPr>
              <a:t>How long would you give an artifact before giving up, if you were reviewing it unpaid?</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3" name="Google Shape;133;p1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134" name="Google Shape;134;p1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5" name="TextBox 134"/>
          <p:cNvSpPr txBox="1"/>
          <p:nvPr/>
        </p:nvSpPr>
        <p:spPr>
          <a:xfrm>
            <a:off x="640080" y="1325880"/>
            <a:ext cx="10908792" cy="914400"/>
          </a:xfrm>
          <a:prstGeom prst="rect">
            <a:avLst/>
          </a:prstGeom>
          <a:noFill/>
        </p:spPr>
        <p:txBody>
          <a:bodyPr wrap="square">
            <a:spAutoFit/>
          </a:bodyPr>
          <a:lstStyle/>
          <a:p>
            <a:pPr>
              <a:spcAft>
                <a:spcPts val="400"/>
              </a:spcAft>
            </a:pPr>
            <a:r>
              <a:rPr sz="2800" b="1">
                <a:solidFill>
                  <a:srgbClr val="00883A"/>
                </a:solidFill>
                <a:latin typeface="Arial"/>
              </a:rPr>
              <a:t>C11: Hardware reviewers don't have</a:t>
            </a:r>
          </a:p>
        </p:txBody>
      </p:sp>
      <p:sp>
        <p:nvSpPr>
          <p:cNvPr id="136" name="TextBox 135"/>
          <p:cNvSpPr txBox="1"/>
          <p:nvPr/>
        </p:nvSpPr>
        <p:spPr>
          <a:xfrm>
            <a:off x="640080" y="2057400"/>
            <a:ext cx="10908792" cy="2194560"/>
          </a:xfrm>
          <a:prstGeom prst="rect">
            <a:avLst/>
          </a:prstGeom>
          <a:noFill/>
        </p:spPr>
        <p:txBody>
          <a:bodyPr wrap="square">
            <a:spAutoFit/>
          </a:bodyPr>
          <a:lstStyle/>
          <a:p>
            <a:pPr>
              <a:spcAft>
                <a:spcPts val="400"/>
              </a:spcAft>
            </a:pPr>
            <a:r>
              <a:rPr sz="2800" b="1">
                <a:solidFill>
                  <a:srgbClr val="1A1A1A"/>
                </a:solidFill>
                <a:latin typeface="Arial"/>
              </a:rPr>
              <a:t>Should artifacts that need more hardware than reviewers have still be eligible for a badge?</a:t>
            </a:r>
          </a:p>
        </p:txBody>
      </p:sp>
      <p:sp>
        <p:nvSpPr>
          <p:cNvPr id="137" name="Rounded Rectangle 136"/>
          <p:cNvSpPr/>
          <p:nvPr/>
        </p:nvSpPr>
        <p:spPr>
          <a:xfrm>
            <a:off x="640080" y="4709160"/>
            <a:ext cx="10908792" cy="1508760"/>
          </a:xfrm>
          <a:prstGeom prst="roundRect">
            <a:avLst>
              <a:gd name="adj" fmla="val 8000"/>
            </a:avLst>
          </a:prstGeom>
          <a:solidFill>
            <a:srgbClr val="F1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22960" y="4800600"/>
            <a:ext cx="10515600" cy="1325880"/>
          </a:xfrm>
          <a:prstGeom prst="rect">
            <a:avLst/>
          </a:prstGeom>
          <a:noFill/>
        </p:spPr>
        <p:txBody>
          <a:bodyPr wrap="square">
            <a:spAutoFit/>
          </a:bodyPr>
          <a:lstStyle/>
          <a:p>
            <a:pPr>
              <a:spcAft>
                <a:spcPts val="800"/>
              </a:spcAft>
            </a:pPr>
            <a:r>
              <a:rPr sz="2000" b="1">
                <a:solidFill>
                  <a:srgbClr val="00883A"/>
                </a:solidFill>
                <a:latin typeface="Arial"/>
              </a:rPr>
              <a:t>↳ Example: </a:t>
            </a:r>
            <a:r>
              <a:rPr sz="2000" b="0">
                <a:solidFill>
                  <a:srgbClr val="1A1A1A"/>
                </a:solidFill>
                <a:latin typeface="Arial"/>
              </a:rPr>
              <a:t>an experiment that needs eight GPUs or a 500 GB VM image</a:t>
            </a:r>
          </a:p>
          <a:p>
            <a:pPr>
              <a:spcAft>
                <a:spcPts val="800"/>
              </a:spcAft>
            </a:pPr>
            <a:r>
              <a:rPr sz="2000" b="1">
                <a:solidFill>
                  <a:srgbClr val="00883A"/>
                </a:solidFill>
                <a:latin typeface="Arial"/>
              </a:rPr>
              <a:t>↳ You: </a:t>
            </a:r>
            <a:r>
              <a:rPr sz="2000" b="0">
                <a:solidFill>
                  <a:srgbClr val="1A1A1A"/>
                </a:solidFill>
                <a:latin typeface="Arial"/>
              </a:rPr>
              <a:t>If your thesis needed a GPU cluster, how would you want it evaluated?</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3" name="Google Shape;133;p1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134" name="Google Shape;134;p1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5" name="TextBox 134"/>
          <p:cNvSpPr txBox="1"/>
          <p:nvPr/>
        </p:nvSpPr>
        <p:spPr>
          <a:xfrm>
            <a:off x="640080" y="1325880"/>
            <a:ext cx="10908792" cy="914400"/>
          </a:xfrm>
          <a:prstGeom prst="rect">
            <a:avLst/>
          </a:prstGeom>
          <a:noFill/>
        </p:spPr>
        <p:txBody>
          <a:bodyPr wrap="square">
            <a:spAutoFit/>
          </a:bodyPr>
          <a:lstStyle/>
          <a:p>
            <a:pPr>
              <a:spcAft>
                <a:spcPts val="400"/>
              </a:spcAft>
            </a:pPr>
            <a:r>
              <a:rPr sz="2800" b="1">
                <a:solidFill>
                  <a:srgbClr val="00883A"/>
                </a:solidFill>
                <a:latin typeface="Arial"/>
              </a:rPr>
              <a:t>C12: One-shot or iterative review</a:t>
            </a:r>
          </a:p>
        </p:txBody>
      </p:sp>
      <p:sp>
        <p:nvSpPr>
          <p:cNvPr id="136" name="TextBox 135"/>
          <p:cNvSpPr txBox="1"/>
          <p:nvPr/>
        </p:nvSpPr>
        <p:spPr>
          <a:xfrm>
            <a:off x="640080" y="2057400"/>
            <a:ext cx="10908792" cy="2194560"/>
          </a:xfrm>
          <a:prstGeom prst="rect">
            <a:avLst/>
          </a:prstGeom>
          <a:noFill/>
        </p:spPr>
        <p:txBody>
          <a:bodyPr wrap="square">
            <a:spAutoFit/>
          </a:bodyPr>
          <a:lstStyle/>
          <a:p>
            <a:pPr>
              <a:spcAft>
                <a:spcPts val="400"/>
              </a:spcAft>
            </a:pPr>
            <a:r>
              <a:rPr sz="2800" b="1">
                <a:solidFill>
                  <a:srgbClr val="1A1A1A"/>
                </a:solidFill>
                <a:latin typeface="Arial"/>
              </a:rPr>
              <a:t>Should artifact evaluation be a one-shot review or an iterative dialogue with the authors?</a:t>
            </a:r>
          </a:p>
        </p:txBody>
      </p:sp>
      <p:sp>
        <p:nvSpPr>
          <p:cNvPr id="137" name="Rounded Rectangle 136"/>
          <p:cNvSpPr/>
          <p:nvPr/>
        </p:nvSpPr>
        <p:spPr>
          <a:xfrm>
            <a:off x="640080" y="4709160"/>
            <a:ext cx="10908792" cy="1508760"/>
          </a:xfrm>
          <a:prstGeom prst="roundRect">
            <a:avLst>
              <a:gd name="adj" fmla="val 8000"/>
            </a:avLst>
          </a:prstGeom>
          <a:solidFill>
            <a:srgbClr val="F1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22960" y="4800600"/>
            <a:ext cx="10515600" cy="1325880"/>
          </a:xfrm>
          <a:prstGeom prst="rect">
            <a:avLst/>
          </a:prstGeom>
          <a:noFill/>
        </p:spPr>
        <p:txBody>
          <a:bodyPr wrap="square">
            <a:spAutoFit/>
          </a:bodyPr>
          <a:lstStyle/>
          <a:p>
            <a:pPr>
              <a:spcAft>
                <a:spcPts val="800"/>
              </a:spcAft>
            </a:pPr>
            <a:r>
              <a:rPr sz="2000" b="1">
                <a:solidFill>
                  <a:srgbClr val="00883A"/>
                </a:solidFill>
                <a:latin typeface="Arial"/>
              </a:rPr>
              <a:t>↳ Example: </a:t>
            </a:r>
            <a:r>
              <a:rPr sz="2000" b="0">
                <a:solidFill>
                  <a:srgbClr val="1A1A1A"/>
                </a:solidFill>
                <a:latin typeface="Arial"/>
              </a:rPr>
              <a:t>the artifact fails because of a typo in the install instructions: reject, or ask the authors?</a:t>
            </a:r>
          </a:p>
          <a:p>
            <a:pPr>
              <a:spcAft>
                <a:spcPts val="800"/>
              </a:spcAft>
            </a:pPr>
            <a:r>
              <a:rPr sz="2000" b="1">
                <a:solidFill>
                  <a:srgbClr val="00883A"/>
                </a:solidFill>
                <a:latin typeface="Arial"/>
              </a:rPr>
              <a:t>↳ You: </a:t>
            </a:r>
            <a:r>
              <a:rPr sz="2000" b="0">
                <a:solidFill>
                  <a:srgbClr val="1A1A1A"/>
                </a:solidFill>
                <a:latin typeface="Arial"/>
              </a:rPr>
              <a:t>Later users won't have the authors on call: should the review simulate that?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3" name="Google Shape;133;p1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134" name="Google Shape;134;p1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5" name="TextBox 134"/>
          <p:cNvSpPr txBox="1"/>
          <p:nvPr/>
        </p:nvSpPr>
        <p:spPr>
          <a:xfrm>
            <a:off x="640080" y="1325880"/>
            <a:ext cx="10908792" cy="914400"/>
          </a:xfrm>
          <a:prstGeom prst="rect">
            <a:avLst/>
          </a:prstGeom>
          <a:noFill/>
        </p:spPr>
        <p:txBody>
          <a:bodyPr wrap="square">
            <a:spAutoFit/>
          </a:bodyPr>
          <a:lstStyle/>
          <a:p>
            <a:pPr>
              <a:spcAft>
                <a:spcPts val="400"/>
              </a:spcAft>
            </a:pPr>
            <a:r>
              <a:rPr sz="2800" b="1">
                <a:solidFill>
                  <a:srgbClr val="00883A"/>
                </a:solidFill>
                <a:latin typeface="Arial"/>
              </a:rPr>
              <a:t>C12: Support after publication</a:t>
            </a:r>
          </a:p>
        </p:txBody>
      </p:sp>
      <p:sp>
        <p:nvSpPr>
          <p:cNvPr id="136" name="TextBox 135"/>
          <p:cNvSpPr txBox="1"/>
          <p:nvPr/>
        </p:nvSpPr>
        <p:spPr>
          <a:xfrm>
            <a:off x="640080" y="2057400"/>
            <a:ext cx="10908792" cy="2194560"/>
          </a:xfrm>
          <a:prstGeom prst="rect">
            <a:avLst/>
          </a:prstGeom>
          <a:noFill/>
        </p:spPr>
        <p:txBody>
          <a:bodyPr wrap="square">
            <a:spAutoFit/>
          </a:bodyPr>
          <a:lstStyle/>
          <a:p>
            <a:pPr>
              <a:spcAft>
                <a:spcPts val="400"/>
              </a:spcAft>
            </a:pPr>
            <a:r>
              <a:rPr sz="2800" b="1">
                <a:solidFill>
                  <a:srgbClr val="1A1A1A"/>
                </a:solidFill>
                <a:latin typeface="Arial"/>
              </a:rPr>
              <a:t>Can authors be expected to support their artifacts after publication, and for how long?</a:t>
            </a:r>
          </a:p>
        </p:txBody>
      </p:sp>
      <p:sp>
        <p:nvSpPr>
          <p:cNvPr id="137" name="Rounded Rectangle 136"/>
          <p:cNvSpPr/>
          <p:nvPr/>
        </p:nvSpPr>
        <p:spPr>
          <a:xfrm>
            <a:off x="640080" y="4709160"/>
            <a:ext cx="10908792" cy="1508760"/>
          </a:xfrm>
          <a:prstGeom prst="roundRect">
            <a:avLst>
              <a:gd name="adj" fmla="val 8000"/>
            </a:avLst>
          </a:prstGeom>
          <a:solidFill>
            <a:srgbClr val="F1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22960" y="4800600"/>
            <a:ext cx="10515600" cy="1325880"/>
          </a:xfrm>
          <a:prstGeom prst="rect">
            <a:avLst/>
          </a:prstGeom>
          <a:noFill/>
        </p:spPr>
        <p:txBody>
          <a:bodyPr wrap="square">
            <a:spAutoFit/>
          </a:bodyPr>
          <a:lstStyle/>
          <a:p>
            <a:pPr>
              <a:spcAft>
                <a:spcPts val="800"/>
              </a:spcAft>
            </a:pPr>
            <a:r>
              <a:rPr sz="2000" b="1">
                <a:solidFill>
                  <a:srgbClr val="00883A"/>
                </a:solidFill>
                <a:latin typeface="Arial"/>
              </a:rPr>
              <a:t>↳ Example: </a:t>
            </a:r>
            <a:r>
              <a:rPr sz="2000" b="0">
                <a:solidFill>
                  <a:srgbClr val="1A1A1A"/>
                </a:solidFill>
                <a:latin typeface="Arial"/>
              </a:rPr>
              <a:t>the PhD student who built the tool has graduated and changed jobs</a:t>
            </a:r>
          </a:p>
          <a:p>
            <a:pPr>
              <a:spcAft>
                <a:spcPts val="800"/>
              </a:spcAft>
            </a:pPr>
            <a:r>
              <a:rPr sz="2000" b="1">
                <a:solidFill>
                  <a:srgbClr val="00883A"/>
                </a:solidFill>
                <a:latin typeface="Arial"/>
              </a:rPr>
              <a:t>↳ You: </a:t>
            </a:r>
            <a:r>
              <a:rPr sz="2000" b="0">
                <a:solidFill>
                  <a:srgbClr val="1A1A1A"/>
                </a:solidFill>
                <a:latin typeface="Arial"/>
              </a:rPr>
              <a:t>Would you still answer emails about your thesis code three years from now?</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3" name="Google Shape;133;p1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134" name="Google Shape;134;p1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5" name="TextBox 134"/>
          <p:cNvSpPr txBox="1"/>
          <p:nvPr/>
        </p:nvSpPr>
        <p:spPr>
          <a:xfrm>
            <a:off x="640080" y="1325880"/>
            <a:ext cx="10908792" cy="914400"/>
          </a:xfrm>
          <a:prstGeom prst="rect">
            <a:avLst/>
          </a:prstGeom>
          <a:noFill/>
        </p:spPr>
        <p:txBody>
          <a:bodyPr wrap="square">
            <a:spAutoFit/>
          </a:bodyPr>
          <a:lstStyle/>
          <a:p>
            <a:pPr>
              <a:spcAft>
                <a:spcPts val="400"/>
              </a:spcAft>
            </a:pPr>
            <a:r>
              <a:rPr sz="2800" b="1">
                <a:solidFill>
                  <a:srgbClr val="00883A"/>
                </a:solidFill>
                <a:latin typeface="Arial"/>
              </a:rPr>
              <a:t>RQ1: Rewards</a:t>
            </a:r>
          </a:p>
        </p:txBody>
      </p:sp>
      <p:sp>
        <p:nvSpPr>
          <p:cNvPr id="136" name="TextBox 135"/>
          <p:cNvSpPr txBox="1"/>
          <p:nvPr/>
        </p:nvSpPr>
        <p:spPr>
          <a:xfrm>
            <a:off x="640080" y="2057400"/>
            <a:ext cx="10908792" cy="2194560"/>
          </a:xfrm>
          <a:prstGeom prst="rect">
            <a:avLst/>
          </a:prstGeom>
          <a:noFill/>
        </p:spPr>
        <p:txBody>
          <a:bodyPr wrap="square">
            <a:spAutoFit/>
          </a:bodyPr>
          <a:lstStyle/>
          <a:p>
            <a:pPr>
              <a:spcAft>
                <a:spcPts val="400"/>
              </a:spcAft>
            </a:pPr>
            <a:r>
              <a:rPr sz="2800" b="1">
                <a:solidFill>
                  <a:srgbClr val="1A1A1A"/>
                </a:solidFill>
                <a:latin typeface="Arial"/>
              </a:rPr>
              <a:t>Which reward would actually make researchers invest more in their artifacts?</a:t>
            </a:r>
          </a:p>
        </p:txBody>
      </p:sp>
      <p:sp>
        <p:nvSpPr>
          <p:cNvPr id="137" name="Rounded Rectangle 136"/>
          <p:cNvSpPr/>
          <p:nvPr/>
        </p:nvSpPr>
        <p:spPr>
          <a:xfrm>
            <a:off x="640080" y="4709160"/>
            <a:ext cx="10908792" cy="1508760"/>
          </a:xfrm>
          <a:prstGeom prst="roundRect">
            <a:avLst>
              <a:gd name="adj" fmla="val 8000"/>
            </a:avLst>
          </a:prstGeom>
          <a:solidFill>
            <a:srgbClr val="F1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22960" y="4800600"/>
            <a:ext cx="10515600" cy="1325880"/>
          </a:xfrm>
          <a:prstGeom prst="rect">
            <a:avLst/>
          </a:prstGeom>
          <a:noFill/>
        </p:spPr>
        <p:txBody>
          <a:bodyPr wrap="square">
            <a:spAutoFit/>
          </a:bodyPr>
          <a:lstStyle/>
          <a:p>
            <a:pPr>
              <a:spcAft>
                <a:spcPts val="800"/>
              </a:spcAft>
            </a:pPr>
            <a:r>
              <a:rPr sz="2000" b="1">
                <a:solidFill>
                  <a:srgbClr val="00883A"/>
                </a:solidFill>
                <a:latin typeface="Arial"/>
              </a:rPr>
              <a:t>↳ Example: </a:t>
            </a:r>
            <a:r>
              <a:rPr sz="2000" b="0">
                <a:solidFill>
                  <a:srgbClr val="1A1A1A"/>
                </a:solidFill>
                <a:latin typeface="Arial"/>
              </a:rPr>
              <a:t>a citable DOI, a best-artifact award, or counting artifacts in hiring</a:t>
            </a:r>
          </a:p>
          <a:p>
            <a:pPr>
              <a:spcAft>
                <a:spcPts val="800"/>
              </a:spcAft>
            </a:pPr>
            <a:r>
              <a:rPr sz="2000" b="1">
                <a:solidFill>
                  <a:srgbClr val="00883A"/>
                </a:solidFill>
                <a:latin typeface="Arial"/>
              </a:rPr>
              <a:t>↳ You: </a:t>
            </a:r>
            <a:r>
              <a:rPr sz="2000" b="0">
                <a:solidFill>
                  <a:srgbClr val="1A1A1A"/>
                </a:solidFill>
                <a:latin typeface="Arial"/>
              </a:rPr>
              <a:t>What would make you spend an extra week on your thesis artifact?</a:t>
            </a:r>
          </a:p>
        </p:txBody>
      </p:sp>
    </p:spTree>
  </p:cSld>
  <p:clrMapOvr>
    <a:masterClrMapping/>
  </p:clrMapOvr>
</p:sld>
</file>

<file path=ppt/theme/theme1.xml><?xml version="1.0" encoding="utf-8"?>
<a:theme xmlns:a="http://schemas.openxmlformats.org/drawingml/2006/main" xmlns:r="http://schemas.openxmlformats.org/officeDocument/2006/relationships" name="LMU Green">
  <a:themeElements>
    <a:clrScheme name="LMU Green">
      <a:dk1>
        <a:srgbClr val="1A1A1A"/>
      </a:dk1>
      <a:lt1>
        <a:srgbClr val="FFFFFF"/>
      </a:lt1>
      <a:dk2>
        <a:srgbClr val="00883A"/>
      </a:dk2>
      <a:lt2>
        <a:srgbClr val="F1F3F2"/>
      </a:lt2>
      <a:accent1>
        <a:srgbClr val="00883A"/>
      </a:accent1>
      <a:accent2>
        <a:srgbClr val="1A1A1A"/>
      </a:accent2>
      <a:accent3>
        <a:srgbClr val="5F6368"/>
      </a:accent3>
      <a:accent4>
        <a:srgbClr val="E3F1E8"/>
      </a:accent4>
      <a:accent5>
        <a:srgbClr val="ECECEC"/>
      </a:accent5>
      <a:accent6>
        <a:srgbClr val="F1F3F2"/>
      </a:accent6>
      <a:hlink>
        <a:srgbClr val="00883A"/>
      </a:hlink>
      <a:folHlink>
        <a:srgbClr val="5F63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MU Green">
  <a:themeElements>
    <a:clrScheme name="LMU Green">
      <a:dk1>
        <a:srgbClr val="1A1A1A"/>
      </a:dk1>
      <a:lt1>
        <a:srgbClr val="FFFFFF"/>
      </a:lt1>
      <a:dk2>
        <a:srgbClr val="00883A"/>
      </a:dk2>
      <a:lt2>
        <a:srgbClr val="F1F3F2"/>
      </a:lt2>
      <a:accent1>
        <a:srgbClr val="00883A"/>
      </a:accent1>
      <a:accent2>
        <a:srgbClr val="1A1A1A"/>
      </a:accent2>
      <a:accent3>
        <a:srgbClr val="5F6368"/>
      </a:accent3>
      <a:accent4>
        <a:srgbClr val="E3F1E8"/>
      </a:accent4>
      <a:accent5>
        <a:srgbClr val="ECECEC"/>
      </a:accent5>
      <a:accent6>
        <a:srgbClr val="F1F3F2"/>
      </a:accent6>
      <a:hlink>
        <a:srgbClr val="00883A"/>
      </a:hlink>
      <a:folHlink>
        <a:srgbClr val="5F63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