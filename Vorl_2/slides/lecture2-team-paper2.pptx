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322" r:id="rId80"/>
    <p:sldId id="323" r:id="rId81"/>
    <p:sldId id="269" r:id="rId19"/>
    <p:sldId id="270" r:id="rId20"/>
    <p:sldId id="324" r:id="rId82"/>
    <p:sldId id="271" r:id="rId21"/>
    <p:sldId id="325" r:id="rId83"/>
    <p:sldId id="326" r:id="rId84"/>
    <p:sldId id="327" r:id="rId85"/>
    <p:sldId id="328" r:id="rId86"/>
    <p:sldId id="329" r:id="rId87"/>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Lst>
  <p:sldSz cy="6858000" cx="12192000"/>
  <p:notesSz cx="6858000" cy="12192000"/>
  <p:embeddedFontLst>
    <p:embeddedFont>
      <p:font typeface="Playfair Display"/>
      <p:regular r:id="rId72"/>
      <p:bold r:id="rId73"/>
      <p:italic r:id="rId74"/>
      <p:boldItalic r:id="rId75"/>
    </p:embeddedFont>
    <p:embeddedFont>
      <p:font typeface="DM Sans"/>
      <p:regular r:id="rId76"/>
      <p:bold r:id="rId77"/>
      <p:italic r:id="rId78"/>
      <p:boldItalic r:id="rId7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6CE9DF0-B079-444F-8531-439F84C1735D}">
  <a:tblStyle styleId="{86CE9DF0-B079-444F-8531-439F84C1735D}"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font" Target="fonts/PlayfairDisplay-regular.fntdata"/><Relationship Id="rId73" Type="http://schemas.openxmlformats.org/officeDocument/2006/relationships/font" Target="fonts/PlayfairDisplay-bold.fntdata"/><Relationship Id="rId74" Type="http://schemas.openxmlformats.org/officeDocument/2006/relationships/font" Target="fonts/PlayfairDisplay-italic.fntdata"/><Relationship Id="rId75" Type="http://schemas.openxmlformats.org/officeDocument/2006/relationships/font" Target="fonts/PlayfairDisplay-boldItalic.fntdata"/><Relationship Id="rId76" Type="http://schemas.openxmlformats.org/officeDocument/2006/relationships/font" Target="fonts/DMSans-regular.fntdata"/><Relationship Id="rId77" Type="http://schemas.openxmlformats.org/officeDocument/2006/relationships/font" Target="fonts/DMSans-bold.fntdata"/><Relationship Id="rId78" Type="http://schemas.openxmlformats.org/officeDocument/2006/relationships/font" Target="fonts/DMSans-italic.fntdata"/><Relationship Id="rId79" Type="http://schemas.openxmlformats.org/officeDocument/2006/relationships/font" Target="fonts/DMSans-boldItalic.fntdata"/><Relationship Id="rId80" Type="http://schemas.openxmlformats.org/officeDocument/2006/relationships/slide" Target="slides/slide67.xml"/><Relationship Id="rId81" Type="http://schemas.openxmlformats.org/officeDocument/2006/relationships/slide" Target="slides/slide68.xml"/><Relationship Id="rId82" Type="http://schemas.openxmlformats.org/officeDocument/2006/relationships/slide" Target="slides/slide69.xml"/><Relationship Id="rId83" Type="http://schemas.openxmlformats.org/officeDocument/2006/relationships/slide" Target="slides/slide70.xml"/><Relationship Id="rId84" Type="http://schemas.openxmlformats.org/officeDocument/2006/relationships/slide" Target="slides/slide71.xml"/><Relationship Id="rId85" Type="http://schemas.openxmlformats.org/officeDocument/2006/relationships/slide" Target="slides/slide72.xml"/><Relationship Id="rId86" Type="http://schemas.openxmlformats.org/officeDocument/2006/relationships/slide" Target="slides/slide73.xml"/><Relationship Id="rId87" Type="http://schemas.openxmlformats.org/officeDocument/2006/relationships/slide" Target="slides/slide7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 name="Shape 15"/>
        <p:cNvGrpSpPr/>
        <p:nvPr/>
      </p:nvGrpSpPr>
      <p:grpSpPr>
        <a:xfrm>
          <a:off x="0" y="0"/>
          <a:ext cx="0" cy="0"/>
          <a:chOff x="0" y="0"/>
          <a:chExt cx="0" cy="0"/>
        </a:xfrm>
      </p:grpSpPr>
      <p:sp>
        <p:nvSpPr>
          <p:cNvPr id="16" name="Google Shape;16;h14a77dcaeeb36948_1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 name="Google Shape;17;h14a77dcaeeb36948_1_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18" name="Google Shape;18;h14a77dcaeeb36948_1_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 name="Shape 23"/>
        <p:cNvGrpSpPr/>
        <p:nvPr/>
      </p:nvGrpSpPr>
      <p:grpSpPr>
        <a:xfrm>
          <a:off x="0" y="0"/>
          <a:ext cx="0" cy="0"/>
          <a:chOff x="0" y="0"/>
          <a:chExt cx="0" cy="0"/>
        </a:xfrm>
      </p:grpSpPr>
      <p:sp>
        <p:nvSpPr>
          <p:cNvPr id="24" name="Google Shape;24;h14a77dcaeeb36948_1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 name="Google Shape;25;h14a77dcaeeb36948_1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 name="Google Shape;26;h14a77dcaeeb36948_1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 name="Shape 44"/>
        <p:cNvGrpSpPr/>
        <p:nvPr/>
      </p:nvGrpSpPr>
      <p:grpSpPr>
        <a:xfrm>
          <a:off x="0" y="0"/>
          <a:ext cx="0" cy="0"/>
          <a:chOff x="0" y="0"/>
          <a:chExt cx="0" cy="0"/>
        </a:xfrm>
      </p:grpSpPr>
      <p:sp>
        <p:nvSpPr>
          <p:cNvPr id="45" name="Google Shape;45;h14a77dcaeeb36948_1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 name="Google Shape;46;h14a77dcaeeb36948_1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7" name="Google Shape;47;h14a77dcaeeb36948_1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 name="Shape 51"/>
        <p:cNvGrpSpPr/>
        <p:nvPr/>
      </p:nvGrpSpPr>
      <p:grpSpPr>
        <a:xfrm>
          <a:off x="0" y="0"/>
          <a:ext cx="0" cy="0"/>
          <a:chOff x="0" y="0"/>
          <a:chExt cx="0" cy="0"/>
        </a:xfrm>
      </p:grpSpPr>
      <p:sp>
        <p:nvSpPr>
          <p:cNvPr id="52" name="Google Shape;52;h14a77dcaeeb36948_1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 name="Google Shape;53;h14a77dcaeeb36948_1_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4" name="Google Shape;54;h14a77dcaeeb36948_1_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h14a77dcaeeb36948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h14a77dcaeeb36948_1_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63" name="Google Shape;63;h14a77dcaeeb36948_1_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 name="Shape 69"/>
        <p:cNvGrpSpPr/>
        <p:nvPr/>
      </p:nvGrpSpPr>
      <p:grpSpPr>
        <a:xfrm>
          <a:off x="0" y="0"/>
          <a:ext cx="0" cy="0"/>
          <a:chOff x="0" y="0"/>
          <a:chExt cx="0" cy="0"/>
        </a:xfrm>
      </p:grpSpPr>
      <p:sp>
        <p:nvSpPr>
          <p:cNvPr id="70" name="Google Shape;70;h14a77dcaeeb36948_1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 name="Google Shape;71;h14a77dcaeeb36948_1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72" name="Google Shape;72;h14a77dcaeeb36948_1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h14a77dcaeeb36948_1_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 name="Google Shape;79;h14a77dcaeeb36948_1_6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80" name="Google Shape;80;h14a77dcaeeb36948_1_6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4a77dcaeeb36948_1_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h14a77dcaeeb36948_1_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97" name="Google Shape;97;h14a77dcaeeb36948_1_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h14a77dcaeeb36948_1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h14a77dcaeeb36948_1_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106" name="Google Shape;106;h14a77dcaeeb36948_1_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h14a77dcaeeb36948_1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3" name="Google Shape;113;h14a77dcaeeb36948_1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114" name="Google Shape;114;h14a77dcaeeb36948_1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h14a77dcaeeb36948_1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h14a77dcaeeb36948_1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2" name="Google Shape;122;h14a77dcaeeb36948_1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h14a77dcaeeb36948_1_1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 name="Google Shape;128;h14a77dcaeeb36948_1_1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Abstract, p. 1; intro pp. 2-3. Issues stem from four areas: communication, social system (reward), time (bitrot), technical aspects (ease of use) (p. 3). Authors argue AECs are well positioned to fix many issues (p. 3). Earlier work (Collberg) showed artifacts often lack documentation and have unstated dependencies; the controversy around it shows there are no clear community standards (p. 2).</a:t>
            </a:r>
          </a:p>
        </p:txBody>
      </p:sp>
      <p:sp>
        <p:nvSpPr>
          <p:cNvPr id="129" name="Google Shape;129;h14a77dcaeeb36948_1_1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h14a77dcaeeb36948_1_1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 name="Google Shape;136;h14a77dcaeeb36948_1_15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Motivations for sharing: let others replicate, reproduce or build upon work (p. 4). First AEC at FSE 2011, ICSE from 2019 (p. 4). Badge processes assess claims, uncover usability issues, signal quality; met with praise and criticism (p. 2).</a:t>
            </a:r>
          </a:p>
        </p:txBody>
      </p:sp>
      <p:sp>
        <p:nvSpPr>
          <p:cNvPr id="137" name="Google Shape;137;h14a77dcaeeb36948_1_15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h14a77dcaeeb36948_1_1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4" name="Google Shape;144;h14a77dcaeeb36948_1_1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 6.</a:t>
            </a:r>
            <a:endParaRPr/>
          </a:p>
        </p:txBody>
      </p:sp>
      <p:sp>
        <p:nvSpPr>
          <p:cNvPr id="145" name="Google Shape;145;h14a77dcaeeb36948_1_1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h14a77dcaeeb36948_1_1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 name="Google Shape;152;h14a77dcaeeb36948_1_1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Fig. 1, p. 7; contributions p. 3. RQs p. 6. Secondary analysis (DoI, §5) and recommendations (§6) are covered by a teammate. Replication package on Zenodo: survey materials, quantitative results, publication data, mining scripts (p. 3).</a:t>
            </a:r>
          </a:p>
        </p:txBody>
      </p:sp>
      <p:sp>
        <p:nvSpPr>
          <p:cNvPr id="153" name="Google Shape;153;h14a77dcaeeb36948_1_1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h14a77dcaeeb36948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 name="Google Shape;160;h14a77dcaeeb36948_1_18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62.69% of papers at ASE, EMSE, FSE, ICSE 2014-2018 contain an artifact, rising from 50.56% (2014) to 69.47% (2018) (Fig. 2, pp. 11-12). Quotes: "a big fan of sharing" (P89), "sharing is essential" (P20).</a:t>
            </a:r>
          </a:p>
        </p:txBody>
      </p:sp>
      <p:sp>
        <p:nvSpPr>
          <p:cNvPr id="161" name="Google Shape;161;h14a77dcaeeb36948_1_18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h14a77dcaeeb36948_1_1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h14a77dcaeeb36948_1_1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§3.5 pp. 10-11. External mitigation: authors sampled from several top conferences and a leading journal. Design mitigation: parallel-convergent mixed methods.</a:t>
            </a:r>
          </a:p>
        </p:txBody>
      </p:sp>
      <p:sp>
        <p:nvSpPr>
          <p:cNvPr id="169" name="Google Shape;169;h14a77dcaeeb36948_1_1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h14a77dcaeeb36948_1_1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h14a77dcaeeb36948_1_1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177" name="Google Shape;177;h14a77dcaeeb36948_1_1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h456e3c7019817545_1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h456e3c7019817545_1_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185" name="Google Shape;185;h456e3c7019817545_1_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h76656c63b9505f1e_2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2" name="Google Shape;192;h76656c63b9505f1e_2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Why do these challenges persist? In a second analysis the authors </a:t>
            </a:r>
            <a:r>
              <a:rPr lang="en-US"/>
              <a:t>explore how the challenges connect and why they remain unresolved.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a:t>
            </a:r>
            <a:r>
              <a:rPr lang="en-US"/>
              <a:t>based on Diffusion of Innovation Theory (so how well something spreads), the authors show that artifacts are hard to adopt because they often lack familiar conventions, clear documentation, easy setup, and benefits beyond the paper itself.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Then communication between creators, reviewers, and users is limited, documentation is often missing, and badge standards vary across conferences, leading to misunderstandings and confusion.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Artifacts, as we know, deteriorate over time but consistent maintenance costs too much effort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And because artifact creation is not well rewarded and review is less valued, it leads to low-quality artifacts and inconsistent evaluations.</a:t>
            </a:r>
            <a:endParaRPr/>
          </a:p>
        </p:txBody>
      </p:sp>
      <p:sp>
        <p:nvSpPr>
          <p:cNvPr id="193" name="Google Shape;193;h76656c63b9505f1e_2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h76656c63b9505f1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0" name="Google Shape;200;h76656c63b9505f1e_2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201" name="Google Shape;201;h76656c63b9505f1e_2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h76656c63b9505f1e_2_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h76656c63b9505f1e_2_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Take Recommendation 2: Should researchers be expected to share the entire implementation of their work to get the badges? The article recommends providing proof-of-concept artifacts, so smaller self-contained artifacts with useful documentation, if full systems are too expensive. Do you agree with this? Do you think scientific confidence is hurt by doing this, since you’re only submitting a fraction of your whole code or system?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6: The current standard is double blind review (so the reviewers don’t know who the authors are and authors dk who the reviewers are), which makes artifact sharing harder, as the authors have to scrub the artifact clean as well as find an anonymous place to host it. This also limits communication as some people mentioned that they have a harder time asking authors for help. </a:t>
            </a:r>
            <a:endParaRPr/>
          </a:p>
          <a:p>
            <a:pPr indent="-317500" lvl="1" marL="914400" rtl="0" algn="l">
              <a:spcBef>
                <a:spcPts val="0"/>
              </a:spcBef>
              <a:spcAft>
                <a:spcPts val="0"/>
              </a:spcAft>
              <a:buSzPts val="1400"/>
              <a:buAutoNum type="alphaLcPeriod"/>
            </a:pPr>
            <a:r>
              <a:rPr lang="en-US"/>
              <a:t>How important do you feel anonymity is?</a:t>
            </a:r>
            <a:endParaRPr/>
          </a:p>
          <a:p>
            <a:pPr indent="-317500" lvl="1" marL="914400" rtl="0" algn="l">
              <a:spcBef>
                <a:spcPts val="0"/>
              </a:spcBef>
              <a:spcAft>
                <a:spcPts val="0"/>
              </a:spcAft>
              <a:buSzPts val="1400"/>
              <a:buAutoNum type="alphaLcPeriod"/>
            </a:pPr>
            <a:r>
              <a:rPr lang="en-US"/>
              <a:t>Another practice could be single blind review (so the reviewer knows the authors’ names). So the challenged about scrubbing the artifact and finding an anonymous place to host would be resolved. Do you feel like that would suffice or might still introduce other issues (like bias)? Or do you feel like it’s worth it since the challenge is a bigger issue?</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So for example, if we look at Recommendation 7: Should the hiring, promotion and funding process consider artifacts? Don’t you feel like there could be some issues? How would you assess that, maybe with how widely reused the artifact is? How much can we trust the badges?</a:t>
            </a:r>
            <a:endParaRPr/>
          </a:p>
          <a:p>
            <a:pPr indent="0" lvl="0" marL="457200" rtl="0" algn="l">
              <a:spcBef>
                <a:spcPts val="0"/>
              </a:spcBef>
              <a:spcAft>
                <a:spcPts val="0"/>
              </a:spcAft>
              <a:buNone/>
            </a:pPr>
            <a:r>
              <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8: </a:t>
            </a:r>
            <a:r>
              <a:rPr lang="en-US"/>
              <a:t>The article recommended periodic review of the artifact evaluation itself. Do you feel like the artifacts themselves should also go through some sort of periodic evaluation? Since availability (because of unusably libraries, compilers, operating systems, bit rot!!) is an issue, should there be a system in place where artifacts are evaluated regularly (e.g. every ten years)? Because if it doesn’t work anymore, shouldn’t the evaluation status change? Or is it even worth the effort?</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Another issue or reason that they mentioned was a part of why these challenges persist is because artifact review is not only time-consuming, but also seen as the more  “annoying” task that is given to students. Do you think this sentiment is justified? Why do you think the community feels this way?</a:t>
            </a:r>
            <a:endParaRPr/>
          </a:p>
          <a:p>
            <a:pPr indent="-317500" lvl="1" marL="914400" rtl="0" algn="l">
              <a:spcBef>
                <a:spcPts val="0"/>
              </a:spcBef>
              <a:spcAft>
                <a:spcPts val="0"/>
              </a:spcAft>
              <a:buSzPts val="1400"/>
              <a:buAutoNum type="alphaLcPeriod"/>
            </a:pPr>
            <a:r>
              <a:rPr lang="en-US"/>
              <a:t>e.g. could it be justified as paper reviews do require broader knowledge?</a:t>
            </a:r>
            <a:endParaRPr/>
          </a:p>
          <a:p>
            <a:pPr indent="-317500" lvl="1" marL="914400" rtl="0" algn="l">
              <a:spcBef>
                <a:spcPts val="0"/>
              </a:spcBef>
              <a:spcAft>
                <a:spcPts val="0"/>
              </a:spcAft>
              <a:buSzPts val="1400"/>
              <a:buAutoNum type="alphaLcPeriod"/>
            </a:pPr>
            <a:r>
              <a:rPr lang="en-US"/>
              <a:t>So do you think more experienced researchers shouldn’t participate in artifact evaluation and always focus on the more important part, the paper itself?</a:t>
            </a:r>
            <a:endParaRPr/>
          </a:p>
          <a:p>
            <a:pPr indent="-317500" lvl="1" marL="914400" rtl="0" algn="l">
              <a:spcBef>
                <a:spcPts val="0"/>
              </a:spcBef>
              <a:spcAft>
                <a:spcPts val="0"/>
              </a:spcAft>
              <a:buSzPts val="1400"/>
              <a:buAutoNum type="alphaLcPeriod"/>
            </a:pPr>
            <a:r>
              <a:rPr lang="en-US"/>
              <a:t>Can you think of any way to change this sentiment?</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Do </a:t>
            </a:r>
            <a:r>
              <a:rPr lang="en-US"/>
              <a:t>you agree or disagree with any other recommendation?</a:t>
            </a:r>
            <a:endParaRPr/>
          </a:p>
          <a:p>
            <a:pPr indent="-317500" lvl="0" marL="457200" rtl="0" algn="l">
              <a:spcBef>
                <a:spcPts val="0"/>
              </a:spcBef>
              <a:spcAft>
                <a:spcPts val="0"/>
              </a:spcAft>
              <a:buSzPts val="1400"/>
              <a:buAutoNum type="arabicPeriod"/>
            </a:pPr>
            <a:r>
              <a:rPr lang="en-US"/>
              <a:t>So after discussing all recommendations: Which one do you think would you prioritise when it comes to implementation? Which one do you feel solves the most important and biggest problem and is also easy to implement?</a:t>
            </a:r>
            <a:endParaRPr sz="2200"/>
          </a:p>
          <a:p>
            <a:pPr indent="0" lvl="0" marL="0" rtl="0" algn="l">
              <a:spcBef>
                <a:spcPts val="0"/>
              </a:spcBef>
              <a:spcAft>
                <a:spcPts val="0"/>
              </a:spcAft>
              <a:buNone/>
            </a:pPr>
            <a:r>
              <a:t/>
            </a:r>
            <a:endParaRPr/>
          </a:p>
        </p:txBody>
      </p:sp>
      <p:sp>
        <p:nvSpPr>
          <p:cNvPr id="217" name="Google Shape;217;h76656c63b9505f1e_2_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h14a77dcaeeb36948_1_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3" name="Google Shape;233;h14a77dcaeeb36948_1_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4" name="Google Shape;234;h14a77dcaeeb36948_1_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h14a77dcaeeb36948_1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0" name="Google Shape;240;h14a77dcaeeb36948_1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1" name="Google Shape;241;h14a77dcaeeb36948_1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h14a77dcaeeb36948_1_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 name="Google Shape;248;h14a77dcaeeb36948_1_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49" name="Google Shape;249;h14a77dcaeeb36948_1_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h14a77dcaeeb36948_1_2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6" name="Google Shape;256;h14a77dcaeeb36948_1_2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257" name="Google Shape;257;h14a77dcaeeb36948_1_2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h14a77dcaeeb36948_1_2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4" name="Google Shape;264;h14a77dcaeeb36948_1_2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5" name="Google Shape;265;h14a77dcaeeb36948_1_2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h14a77dcaeeb36948_1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h14a77dcaeeb36948_1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272" name="Google Shape;272;h14a77dcaeeb36948_1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h14a77dcaeeb36948_1_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9" name="Google Shape;279;h14a77dcaeeb36948_1_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280" name="Google Shape;280;h14a77dcaeeb36948_1_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h14a77dcaeeb36948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h14a77dcaeeb36948_1_3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288" name="Google Shape;288;h14a77dcaeeb36948_1_3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3" name="Shape 293"/>
        <p:cNvGrpSpPr/>
        <p:nvPr/>
      </p:nvGrpSpPr>
      <p:grpSpPr>
        <a:xfrm>
          <a:off x="0" y="0"/>
          <a:ext cx="0" cy="0"/>
          <a:chOff x="0" y="0"/>
          <a:chExt cx="0" cy="0"/>
        </a:xfrm>
      </p:grpSpPr>
      <p:sp>
        <p:nvSpPr>
          <p:cNvPr id="294" name="Google Shape;294;h14a77dcaeeb36948_1_3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5" name="Google Shape;295;h14a77dcaeeb36948_1_3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6" name="Google Shape;296;h14a77dcaeeb36948_1_3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h14a77dcaeeb36948_1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01" name="Google Shape;301;h14a77dcaeeb36948_11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2" name="Google Shape;302;h14a77dcaeeb36948_1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h14a77dcaeeb36948_11_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06" name="Google Shape;306;h14a77dcaeeb36948_11_4: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7" name="Google Shape;307;h14a77dcaeeb36948_11_4: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h14a77dcaeeb36948_11_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311" name="Google Shape;311;h14a77dcaeeb36948_11_8: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2" name="Google Shape;312;h14a77dcaeeb36948_11_8: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6" name="Google Shape;316;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317" name="Google Shape;317;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2" name="Shape 322"/>
        <p:cNvGrpSpPr/>
        <p:nvPr/>
      </p:nvGrpSpPr>
      <p:grpSpPr>
        <a:xfrm>
          <a:off x="0" y="0"/>
          <a:ext cx="0" cy="0"/>
          <a:chOff x="0" y="0"/>
          <a:chExt cx="0" cy="0"/>
        </a:xfrm>
      </p:grpSpPr>
      <p:sp>
        <p:nvSpPr>
          <p:cNvPr id="323" name="Google Shape;323;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4" name="Google Shape;324;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25" name="Google Shape;325;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5" name="Google Shape;345;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46" name="Google Shape;346;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2" name="Google Shape;35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353" name="Google Shape;35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0" name="Google Shape;36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361" name="Google Shape;36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7" name="Shape 367"/>
        <p:cNvGrpSpPr/>
        <p:nvPr/>
      </p:nvGrpSpPr>
      <p:grpSpPr>
        <a:xfrm>
          <a:off x="0" y="0"/>
          <a:ext cx="0" cy="0"/>
          <a:chOff x="0" y="0"/>
          <a:chExt cx="0" cy="0"/>
        </a:xfrm>
      </p:grpSpPr>
      <p:sp>
        <p:nvSpPr>
          <p:cNvPr id="368" name="Google Shape;368;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9" name="Google Shape;369;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370" name="Google Shape;370;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5" name="Shape 375"/>
        <p:cNvGrpSpPr/>
        <p:nvPr/>
      </p:nvGrpSpPr>
      <p:grpSpPr>
        <a:xfrm>
          <a:off x="0" y="0"/>
          <a:ext cx="0" cy="0"/>
          <a:chOff x="0" y="0"/>
          <a:chExt cx="0" cy="0"/>
        </a:xfrm>
      </p:grpSpPr>
      <p:sp>
        <p:nvSpPr>
          <p:cNvPr id="376" name="Google Shape;376;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7" name="Google Shape;377;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378" name="Google Shape;378;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395" name="Google Shape;395;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2" name="Google Shape;402;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403" name="Google Shape;403;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8" name="Shape 408"/>
        <p:cNvGrpSpPr/>
        <p:nvPr/>
      </p:nvGrpSpPr>
      <p:grpSpPr>
        <a:xfrm>
          <a:off x="0" y="0"/>
          <a:ext cx="0" cy="0"/>
          <a:chOff x="0" y="0"/>
          <a:chExt cx="0" cy="0"/>
        </a:xfrm>
      </p:grpSpPr>
      <p:sp>
        <p:nvSpPr>
          <p:cNvPr id="409" name="Google Shape;409;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0" name="Google Shape;410;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411" name="Google Shape;411;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6" name="Google Shape;426;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Would you sign up for an AEC next year? Why or why not?</a:t>
            </a:r>
            <a:endParaRPr/>
          </a:p>
        </p:txBody>
      </p:sp>
      <p:sp>
        <p:nvSpPr>
          <p:cNvPr id="427" name="Google Shape;427;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 name="Google Shape;442;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What would a second, meaningful threshold look like?</a:t>
            </a:r>
            <a:endParaRPr/>
          </a:p>
        </p:txBody>
      </p:sp>
      <p:sp>
        <p:nvSpPr>
          <p:cNvPr id="443" name="Google Shape;443;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8" name="Google Shape;45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59" name="Google Shape;45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5" name="Google Shape;465;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Mixed methods, then a Diffusion of Innovations secondary analysis (pp. 2–3).</a:t>
            </a:r>
            <a:endParaRPr/>
          </a:p>
        </p:txBody>
      </p:sp>
      <p:sp>
        <p:nvSpPr>
          <p:cNvPr id="466" name="Google Shape;466;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1" name="Shape 471"/>
        <p:cNvGrpSpPr/>
        <p:nvPr/>
      </p:nvGrpSpPr>
      <p:grpSpPr>
        <a:xfrm>
          <a:off x="0" y="0"/>
          <a:ext cx="0" cy="0"/>
          <a:chOff x="0" y="0"/>
          <a:chExt cx="0" cy="0"/>
        </a:xfrm>
      </p:grpSpPr>
      <p:sp>
        <p:nvSpPr>
          <p:cNvPr id="472" name="Google Shape;472;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3" name="Google Shape;473;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Implementation Science: evidence-based, iterative change from medicine (p. 6).</a:t>
            </a:r>
            <a:endParaRPr/>
          </a:p>
        </p:txBody>
      </p:sp>
      <p:sp>
        <p:nvSpPr>
          <p:cNvPr id="474" name="Google Shape;474;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1" name="Google Shape;481;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 6.</a:t>
            </a:r>
            <a:endParaRPr/>
          </a:p>
        </p:txBody>
      </p:sp>
      <p:sp>
        <p:nvSpPr>
          <p:cNvPr id="482" name="Google Shape;482;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pp. 6–9. FSE AEC chairs supplied submission numbers.</a:t>
            </a:r>
            <a:endParaRPr/>
          </a:p>
        </p:txBody>
      </p:sp>
      <p:sp>
        <p:nvSpPr>
          <p:cNvPr id="490" name="Google Shape;490;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6" name="Google Shape;506;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Twelve challenges, Table 4 pp. 14–15: not worth it, portability, maintenance, tacit knowledge, doesn't fit purpose, no standards, hosting, double-blind review, external constraints, no reviewer incentives, technical obstacles, limited communication.</a:t>
            </a:r>
            <a:endParaRPr/>
          </a:p>
        </p:txBody>
      </p:sp>
      <p:sp>
        <p:nvSpPr>
          <p:cNvPr id="507" name="Google Shape;507;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2" name="Shape 512"/>
        <p:cNvGrpSpPr/>
        <p:nvPr/>
      </p:nvGrpSpPr>
      <p:grpSpPr>
        <a:xfrm>
          <a:off x="0" y="0"/>
          <a:ext cx="0" cy="0"/>
          <a:chOff x="0" y="0"/>
          <a:chExt cx="0" cy="0"/>
        </a:xfrm>
      </p:grpSpPr>
      <p:sp>
        <p:nvSpPr>
          <p:cNvPr id="513" name="Google Shape;513;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4" name="Google Shape;514;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Authors believe artifacts should be reviewed as part of paper review (p. 28).</a:t>
            </a:r>
            <a:endParaRPr/>
          </a:p>
        </p:txBody>
      </p:sp>
      <p:sp>
        <p:nvSpPr>
          <p:cNvPr id="515" name="Google Shape;515;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2" name="Google Shape;522;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523" name="Google Shape;523;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6" name="Shape 536"/>
        <p:cNvGrpSpPr/>
        <p:nvPr/>
      </p:nvGrpSpPr>
      <p:grpSpPr>
        <a:xfrm>
          <a:off x="0" y="0"/>
          <a:ext cx="0" cy="0"/>
          <a:chOff x="0" y="0"/>
          <a:chExt cx="0" cy="0"/>
        </a:xfrm>
      </p:grpSpPr>
      <p:sp>
        <p:nvSpPr>
          <p:cNvPr id="537" name="Google Shape;53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8" name="Google Shape;53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Week 1 link: Docker may not exist in 40 years.</a:t>
            </a:r>
            <a:endParaRPr/>
          </a:p>
        </p:txBody>
      </p:sp>
      <p:sp>
        <p:nvSpPr>
          <p:cNvPr id="539" name="Google Shape;53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4" name="Google Shape;554;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Connects to Hermann's one-time reviewers.</a:t>
            </a:r>
            <a:endParaRPr/>
          </a:p>
        </p:txBody>
      </p:sp>
      <p:sp>
        <p:nvSpPr>
          <p:cNvPr id="555" name="Google Shape;555;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8" name="Shape 568"/>
        <p:cNvGrpSpPr/>
        <p:nvPr/>
      </p:nvGrpSpPr>
      <p:grpSpPr>
        <a:xfrm>
          <a:off x="0" y="0"/>
          <a:ext cx="0" cy="0"/>
          <a:chOff x="0" y="0"/>
          <a:chExt cx="0" cy="0"/>
        </a:xfrm>
      </p:grpSpPr>
      <p:sp>
        <p:nvSpPr>
          <p:cNvPr id="569" name="Google Shape;56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0" name="Google Shape;57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1" name="Google Shape;57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5" name="Shape 575"/>
        <p:cNvGrpSpPr/>
        <p:nvPr/>
      </p:nvGrpSpPr>
      <p:grpSpPr>
        <a:xfrm>
          <a:off x="0" y="0"/>
          <a:ext cx="0" cy="0"/>
          <a:chOff x="0" y="0"/>
          <a:chExt cx="0" cy="0"/>
        </a:xfrm>
      </p:grpSpPr>
      <p:sp>
        <p:nvSpPr>
          <p:cNvPr id="576" name="Google Shape;576;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7" name="Google Shape;577;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8" name="Google Shape;578;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87" name="Google Shape;587;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4" name="Google Shape;5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595" name="Google Shape;5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Outside the box: what if an AI agent ran every artifact automatically? What would it miss?</a:t>
            </a:r>
            <a:endParaRPr/>
          </a:p>
        </p:txBody>
      </p:sp>
      <p:sp>
        <p:nvSpPr>
          <p:cNvPr id="611" name="Google Shape;611;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6" name="Google Shape;626;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7" name="Google Shape;627;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1" name="Shape 631"/>
        <p:cNvGrpSpPr/>
        <p:nvPr/>
      </p:nvGrpSpPr>
      <p:grpSpPr>
        <a:xfrm>
          <a:off x="0" y="0"/>
          <a:ext cx="0" cy="0"/>
          <a:chOff x="0" y="0"/>
          <a:chExt cx="0" cy="0"/>
        </a:xfrm>
      </p:grpSpPr>
      <p:sp>
        <p:nvSpPr>
          <p:cNvPr id="632" name="Google Shape;632;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3" name="Google Shape;633;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634" name="Google Shape;634;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1" name="Google Shape;641;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642" name="Google Shape;642;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7" name="Shape 647"/>
        <p:cNvGrpSpPr/>
        <p:nvPr/>
      </p:nvGrpSpPr>
      <p:grpSpPr>
        <a:xfrm>
          <a:off x="0" y="0"/>
          <a:ext cx="0" cy="0"/>
          <a:chOff x="0" y="0"/>
          <a:chExt cx="0" cy="0"/>
        </a:xfrm>
      </p:grpSpPr>
      <p:sp>
        <p:nvSpPr>
          <p:cNvPr id="648" name="Google Shape;648;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9" name="Google Shape;649;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650" name="Google Shape;650;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5" name="Shape 655"/>
        <p:cNvGrpSpPr/>
        <p:nvPr/>
      </p:nvGrpSpPr>
      <p:grpSpPr>
        <a:xfrm>
          <a:off x="0" y="0"/>
          <a:ext cx="0" cy="0"/>
          <a:chOff x="0" y="0"/>
          <a:chExt cx="0" cy="0"/>
        </a:xfrm>
      </p:grpSpPr>
      <p:sp>
        <p:nvSpPr>
          <p:cNvPr id="656" name="Google Shape;656;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7" name="Google Shape;657;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58" name="Google Shape;658;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Added from research (timperley-research.md item 1). Badges are independent; only one Evaluated level. FSE and ICSE use ACM badges since July 2020; badges shown on front page and in ACM DL (p. 4). 2020 revision swapped Reproduced/Replicated to match NISO RP-31-2021. Example of concrete rules: ICSE 2026 30-min install limit, README structure, accepted archives.</a:t>
            </a:r>
          </a:p>
        </p:txBody>
      </p:sp>
      <p:sp>
        <p:nvSpPr>
          <p:cNvPr id="4" name="Slide Number Placeholder 3"/>
          <p:cNvSpPr>
            <a:spLocks noGrp="1"/>
          </p:cNvSpPr>
          <p:nvPr>
            <p:ph type="sldNum" idx="12"/>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DoI p. 5-6; IS p. 6. Coding terms (p. 8-9): descriptive coding = label each answer segment; axial coding = organise codes, find dominant themes and improvement opportunities; thematic analysis shows the range of themes, not how common they are.</a:t>
            </a:r>
          </a:p>
        </p:txBody>
      </p:sp>
      <p:sp>
        <p:nvSpPr>
          <p:cNvPr id="4" name="Slide Number Placeholder 3"/>
          <p:cNvSpPr>
            <a:spLocks noGrp="1"/>
          </p:cNvSpPr>
          <p:nvPr>
            <p:ph type="sldNum" idx="12"/>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Publication survey: 899 artifacts in 1434 papers; availability checked 29 Jan - 6 Feb 2019. Author survey: 744 emailed, 153 of 698 delivered completed (22%); 91% academic; creators 137, users 129, reviewers 32 (Table 2). Table 1 grouping: RQ1 Q5,Q10,Q12 · RQ2.1 Q3,Q4,Q6-Q9 · RQ2.2 Q11 · RQ2.3 Q13-Q15 · all Q16 · demographics Q1,Q2.</a:t>
            </a:r>
          </a:p>
        </p:txBody>
      </p:sp>
      <p:sp>
        <p:nvSpPr>
          <p:cNvPr id="4" name="Slide Number Placeholder 3"/>
          <p:cNvSpPr>
            <a:spLocks noGrp="1"/>
          </p:cNvSpPr>
          <p:nvPr>
            <p:ph type="sldNum" idx="12"/>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Themes from thematic analysis: they show which challenges exist, not how common each is (p. 9). Overall: issues stem from communication, social system, time and technical aspects.</a:t>
            </a:r>
          </a:p>
        </p:txBody>
      </p:sp>
      <p:sp>
        <p:nvSpPr>
          <p:cNvPr id="4" name="Slide Number Placeholder 3"/>
          <p:cNvSpPr>
            <a:spLocks noGrp="1"/>
          </p:cNvSpPr>
          <p:nvPr>
            <p:ph type="sldNum" idx="12"/>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C1: opportunity cost highest when submitting to an AEC (P1, P23, p. 13). P87: no time, scared the analysis is wrong, wanted to save it for the next paper. C2 Table 5: no build instructions 79, unavailable dependency 69, missing dependency 66, modified source 60, run-time error 55, reimplemented 28. C3: users sympathetic; P20: only well-funded groups maintain artifacts well (p. 19).</a:t>
            </a:r>
          </a:p>
        </p:txBody>
      </p:sp>
      <p:sp>
        <p:nvSpPr>
          <p:cNvPr id="4" name="Slide Number Placeholder 3"/>
          <p:cNvSpPr>
            <a:spLocks noGrp="1"/>
          </p:cNvSpPr>
          <p:nvPr>
            <p:ph type="sldNum" idx="12"/>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C4 Table 5: no usage instructions 103 (most common), no build instructions 79 (third). P25: AECs asking for replicable scripts are likely to replicate the authors’ mistakes. P52: easy to reproduce, hard to know where to add case studies. C6: P6 deep dives take days, "if the AEC doesn’t do it, will anybody ever?"; P11 evaluate as part of paper; P124/P146 mandatory; P143 rubber stamp.</a:t>
            </a:r>
          </a:p>
        </p:txBody>
      </p:sp>
      <p:sp>
        <p:nvSpPr>
          <p:cNvPr id="4" name="Slide Number Placeholder 3"/>
          <p:cNvSpPr>
            <a:spLocks noGrp="1"/>
          </p:cNvSpPr>
          <p:nvPr>
            <p:ph type="sldNum" idx="12"/>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C7: ~14% of artifact links dead in early 2019: 26.47% for 2014 papers, 5.43% for 2018 (Fig. 3). Research: Zenodo free, DOI, 50-200 GB, GitHub release integration; ICSE now requires an archive for Available. C8: research: Anonymous GitHub hides names but links expire. C9: ACM "Complete" allows proxies for proprietary data.</a:t>
            </a:r>
          </a:p>
        </p:txBody>
      </p:sp>
      <p:sp>
        <p:nvSpPr>
          <p:cNvPr id="4" name="Slide Number Placeholder 3"/>
          <p:cNvSpPr>
            <a:spLocks noGrp="1"/>
          </p:cNvSpPr>
          <p:nvPr>
            <p:ph type="sldNum" idx="12"/>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Reviewers face the same issues as users (portability, docs) and as creators (guidelines, incentives) (p. 21). Research: MobiSys allows reduced representative experiments; IISWC has authors provide remote access; no SE venue provides compute.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rgbClr val="00883A"/>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p:cSld name="BASE">
    <p:bg>
      <p:bgPr>
        <a:solidFill>
          <a:srgbClr val="FFFFFF"/>
        </a:solidFill>
      </p:bgPr>
    </p:bg>
    <p:spTree>
      <p:nvGrpSpPr>
        <p:cNvPr id="12" name="Shape 12"/>
        <p:cNvGrpSpPr/>
        <p:nvPr/>
      </p:nvGrpSpPr>
      <p:grpSpPr>
        <a:xfrm>
          <a:off x="0" y="0"/>
          <a:ext cx="0" cy="0"/>
          <a:chOff x="0" y="0"/>
          <a:chExt cx="0" cy="0"/>
        </a:xfrm>
      </p:grpSpPr>
      <p:sp>
        <p:nvSpPr>
          <p:cNvPr id="13" name="Google Shape;13;p3"/>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algn="l">
              <a:spcBef>
                <a:spcPts val="0"/>
              </a:spcBef>
              <a:buNone/>
              <a:defRPr b="0" i="0" sz="1100" u="none" cap="none" strike="noStrike">
                <a:solidFill>
                  <a:srgbClr val="5F6368"/>
                </a:solidFill>
                <a:latin typeface="Arial"/>
                <a:ea typeface="Arial"/>
                <a:cs typeface="Arial"/>
                <a:sym typeface="Arial"/>
              </a:defRPr>
            </a:lvl1pPr>
            <a:lvl2pPr indent="0" lvl="1" marL="0" marR="0" algn="l">
              <a:spcBef>
                <a:spcPts val="0"/>
              </a:spcBef>
              <a:buNone/>
              <a:defRPr b="0" i="0" sz="1100" u="none" cap="none" strike="noStrike">
                <a:solidFill>
                  <a:srgbClr val="5F6368"/>
                </a:solidFill>
                <a:latin typeface="Arial"/>
                <a:ea typeface="Arial"/>
                <a:cs typeface="Arial"/>
                <a:sym typeface="Arial"/>
              </a:defRPr>
            </a:lvl2pPr>
            <a:lvl3pPr indent="0" lvl="2" marL="0" marR="0" algn="l">
              <a:spcBef>
                <a:spcPts val="0"/>
              </a:spcBef>
              <a:buNone/>
              <a:defRPr b="0" i="0" sz="1100" u="none" cap="none" strike="noStrike">
                <a:solidFill>
                  <a:srgbClr val="5F6368"/>
                </a:solidFill>
                <a:latin typeface="Arial"/>
                <a:ea typeface="Arial"/>
                <a:cs typeface="Arial"/>
                <a:sym typeface="Arial"/>
              </a:defRPr>
            </a:lvl3pPr>
            <a:lvl4pPr indent="0" lvl="3" marL="0" marR="0" algn="l">
              <a:spcBef>
                <a:spcPts val="0"/>
              </a:spcBef>
              <a:buNone/>
              <a:defRPr b="0" i="0" sz="1100" u="none" cap="none" strike="noStrike">
                <a:solidFill>
                  <a:srgbClr val="5F6368"/>
                </a:solidFill>
                <a:latin typeface="Arial"/>
                <a:ea typeface="Arial"/>
                <a:cs typeface="Arial"/>
                <a:sym typeface="Arial"/>
              </a:defRPr>
            </a:lvl4pPr>
            <a:lvl5pPr indent="0" lvl="4" marL="0" marR="0" algn="l">
              <a:spcBef>
                <a:spcPts val="0"/>
              </a:spcBef>
              <a:buNone/>
              <a:defRPr b="0" i="0" sz="1100" u="none" cap="none" strike="noStrike">
                <a:solidFill>
                  <a:srgbClr val="5F6368"/>
                </a:solidFill>
                <a:latin typeface="Arial"/>
                <a:ea typeface="Arial"/>
                <a:cs typeface="Arial"/>
                <a:sym typeface="Arial"/>
              </a:defRPr>
            </a:lvl5pPr>
            <a:lvl6pPr indent="0" lvl="5" marL="0" marR="0" algn="l">
              <a:spcBef>
                <a:spcPts val="0"/>
              </a:spcBef>
              <a:buNone/>
              <a:defRPr b="0" i="0" sz="1100" u="none" cap="none" strike="noStrike">
                <a:solidFill>
                  <a:srgbClr val="5F6368"/>
                </a:solidFill>
                <a:latin typeface="Arial"/>
                <a:ea typeface="Arial"/>
                <a:cs typeface="Arial"/>
                <a:sym typeface="Arial"/>
              </a:defRPr>
            </a:lvl6pPr>
            <a:lvl7pPr indent="0" lvl="6" marL="0" marR="0" algn="l">
              <a:spcBef>
                <a:spcPts val="0"/>
              </a:spcBef>
              <a:buNone/>
              <a:defRPr b="0" i="0" sz="1100" u="none" cap="none" strike="noStrike">
                <a:solidFill>
                  <a:srgbClr val="5F6368"/>
                </a:solidFill>
                <a:latin typeface="Arial"/>
                <a:ea typeface="Arial"/>
                <a:cs typeface="Arial"/>
                <a:sym typeface="Arial"/>
              </a:defRPr>
            </a:lvl7pPr>
            <a:lvl8pPr indent="0" lvl="7" marL="0" marR="0" algn="l">
              <a:spcBef>
                <a:spcPts val="0"/>
              </a:spcBef>
              <a:buNone/>
              <a:defRPr b="0" i="0" sz="1100" u="none" cap="none" strike="noStrike">
                <a:solidFill>
                  <a:srgbClr val="5F6368"/>
                </a:solidFill>
                <a:latin typeface="Arial"/>
                <a:ea typeface="Arial"/>
                <a:cs typeface="Arial"/>
                <a:sym typeface="Arial"/>
              </a:defRPr>
            </a:lvl8pPr>
            <a:lvl9pPr indent="0" lvl="8" marL="0" marR="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4" name="Shape 1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100" u="none" cap="none" strike="noStrike">
                <a:solidFill>
                  <a:srgbClr val="5F6368"/>
                </a:solidFill>
                <a:latin typeface="Arial"/>
                <a:ea typeface="Arial"/>
                <a:cs typeface="Arial"/>
                <a:sym typeface="Arial"/>
              </a:defRPr>
            </a:lvl1pPr>
            <a:lvl2pPr indent="0" lvl="1" marL="0" marR="0" rtl="0" algn="l">
              <a:spcBef>
                <a:spcPts val="0"/>
              </a:spcBef>
              <a:buNone/>
              <a:defRPr b="0" i="0" sz="1100" u="none" cap="none" strike="noStrike">
                <a:solidFill>
                  <a:srgbClr val="5F6368"/>
                </a:solidFill>
                <a:latin typeface="Arial"/>
                <a:ea typeface="Arial"/>
                <a:cs typeface="Arial"/>
                <a:sym typeface="Arial"/>
              </a:defRPr>
            </a:lvl2pPr>
            <a:lvl3pPr indent="0" lvl="2" marL="0" marR="0" rtl="0" algn="l">
              <a:spcBef>
                <a:spcPts val="0"/>
              </a:spcBef>
              <a:buNone/>
              <a:defRPr b="0" i="0" sz="1100" u="none" cap="none" strike="noStrike">
                <a:solidFill>
                  <a:srgbClr val="5F6368"/>
                </a:solidFill>
                <a:latin typeface="Arial"/>
                <a:ea typeface="Arial"/>
                <a:cs typeface="Arial"/>
                <a:sym typeface="Arial"/>
              </a:defRPr>
            </a:lvl3pPr>
            <a:lvl4pPr indent="0" lvl="3" marL="0" marR="0" rtl="0" algn="l">
              <a:spcBef>
                <a:spcPts val="0"/>
              </a:spcBef>
              <a:buNone/>
              <a:defRPr b="0" i="0" sz="1100" u="none" cap="none" strike="noStrike">
                <a:solidFill>
                  <a:srgbClr val="5F6368"/>
                </a:solidFill>
                <a:latin typeface="Arial"/>
                <a:ea typeface="Arial"/>
                <a:cs typeface="Arial"/>
                <a:sym typeface="Arial"/>
              </a:defRPr>
            </a:lvl4pPr>
            <a:lvl5pPr indent="0" lvl="4" marL="0" marR="0" rtl="0" algn="l">
              <a:spcBef>
                <a:spcPts val="0"/>
              </a:spcBef>
              <a:buNone/>
              <a:defRPr b="0" i="0" sz="1100" u="none" cap="none" strike="noStrike">
                <a:solidFill>
                  <a:srgbClr val="5F6368"/>
                </a:solidFill>
                <a:latin typeface="Arial"/>
                <a:ea typeface="Arial"/>
                <a:cs typeface="Arial"/>
                <a:sym typeface="Arial"/>
              </a:defRPr>
            </a:lvl5pPr>
            <a:lvl6pPr indent="0" lvl="5" marL="0" marR="0" rtl="0" algn="l">
              <a:spcBef>
                <a:spcPts val="0"/>
              </a:spcBef>
              <a:buNone/>
              <a:defRPr b="0" i="0" sz="1100" u="none" cap="none" strike="noStrike">
                <a:solidFill>
                  <a:srgbClr val="5F6368"/>
                </a:solidFill>
                <a:latin typeface="Arial"/>
                <a:ea typeface="Arial"/>
                <a:cs typeface="Arial"/>
                <a:sym typeface="Arial"/>
              </a:defRPr>
            </a:lvl6pPr>
            <a:lvl7pPr indent="0" lvl="6" marL="0" marR="0" rtl="0" algn="l">
              <a:spcBef>
                <a:spcPts val="0"/>
              </a:spcBef>
              <a:buNone/>
              <a:defRPr b="0" i="0" sz="1100" u="none" cap="none" strike="noStrike">
                <a:solidFill>
                  <a:srgbClr val="5F6368"/>
                </a:solidFill>
                <a:latin typeface="Arial"/>
                <a:ea typeface="Arial"/>
                <a:cs typeface="Arial"/>
                <a:sym typeface="Arial"/>
              </a:defRPr>
            </a:lvl7pPr>
            <a:lvl8pPr indent="0" lvl="7" marL="0" marR="0" rtl="0" algn="l">
              <a:spcBef>
                <a:spcPts val="0"/>
              </a:spcBef>
              <a:buNone/>
              <a:defRPr b="0" i="0" sz="1100" u="none" cap="none" strike="noStrike">
                <a:solidFill>
                  <a:srgbClr val="5F6368"/>
                </a:solidFill>
                <a:latin typeface="Arial"/>
                <a:ea typeface="Arial"/>
                <a:cs typeface="Arial"/>
                <a:sym typeface="Arial"/>
              </a:defRPr>
            </a:lvl8pPr>
            <a:lvl9pPr indent="0" lvl="8" marL="0" marR="0" rtl="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 name="Shape 19"/>
        <p:cNvGrpSpPr/>
        <p:nvPr/>
      </p:nvGrpSpPr>
      <p:grpSpPr>
        <a:xfrm>
          <a:off x="0" y="0"/>
          <a:ext cx="0" cy="0"/>
          <a:chOff x="0" y="0"/>
          <a:chExt cx="0" cy="0"/>
        </a:xfrm>
      </p:grpSpPr>
      <p:sp>
        <p:nvSpPr>
          <p:cNvPr id="20" name="Google Shape;20;p5"/>
          <p:cNvSpPr txBox="1"/>
          <p:nvPr/>
        </p:nvSpPr>
        <p:spPr>
          <a:xfrm>
            <a:off x="640080" y="2011680"/>
            <a:ext cx="10911600" cy="14631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21" name="Google Shape;21;p5"/>
          <p:cNvSpPr txBox="1"/>
          <p:nvPr/>
        </p:nvSpPr>
        <p:spPr>
          <a:xfrm>
            <a:off x="640080" y="3657600"/>
            <a:ext cx="10911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22" name="Google Shape;22;p5"/>
          <p:cNvSpPr txBox="1"/>
          <p:nvPr/>
        </p:nvSpPr>
        <p:spPr>
          <a:xfrm>
            <a:off x="640080" y="4754880"/>
            <a:ext cx="10911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 name="Shape 27"/>
        <p:cNvGrpSpPr/>
        <p:nvPr/>
      </p:nvGrpSpPr>
      <p:grpSpPr>
        <a:xfrm>
          <a:off x="0" y="0"/>
          <a:ext cx="0" cy="0"/>
          <a:chOff x="0" y="0"/>
          <a:chExt cx="0" cy="0"/>
        </a:xfrm>
      </p:grpSpPr>
      <p:sp>
        <p:nvSpPr>
          <p:cNvPr id="28" name="Google Shape;28;p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29" name="Google Shape;29;p6"/>
          <p:cNvSpPr txBox="1"/>
          <p:nvPr/>
        </p:nvSpPr>
        <p:spPr>
          <a:xfrm>
            <a:off x="640080" y="15544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30" name="Google Shape;30;p6"/>
          <p:cNvSpPr txBox="1"/>
          <p:nvPr/>
        </p:nvSpPr>
        <p:spPr>
          <a:xfrm>
            <a:off x="1463040" y="15544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31" name="Google Shape;31;p6"/>
          <p:cNvSpPr txBox="1"/>
          <p:nvPr/>
        </p:nvSpPr>
        <p:spPr>
          <a:xfrm>
            <a:off x="640080" y="21945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32" name="Google Shape;32;p6"/>
          <p:cNvSpPr txBox="1"/>
          <p:nvPr/>
        </p:nvSpPr>
        <p:spPr>
          <a:xfrm>
            <a:off x="1463040" y="21945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33" name="Google Shape;33;p6"/>
          <p:cNvSpPr txBox="1"/>
          <p:nvPr/>
        </p:nvSpPr>
        <p:spPr>
          <a:xfrm>
            <a:off x="640080" y="283464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34" name="Google Shape;34;p6"/>
          <p:cNvSpPr txBox="1"/>
          <p:nvPr/>
        </p:nvSpPr>
        <p:spPr>
          <a:xfrm>
            <a:off x="1463040" y="283464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35" name="Google Shape;35;p6"/>
          <p:cNvSpPr txBox="1"/>
          <p:nvPr/>
        </p:nvSpPr>
        <p:spPr>
          <a:xfrm>
            <a:off x="640080" y="347472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36" name="Google Shape;36;p6"/>
          <p:cNvSpPr txBox="1"/>
          <p:nvPr/>
        </p:nvSpPr>
        <p:spPr>
          <a:xfrm>
            <a:off x="1463040" y="347472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37" name="Google Shape;37;p6"/>
          <p:cNvSpPr txBox="1"/>
          <p:nvPr/>
        </p:nvSpPr>
        <p:spPr>
          <a:xfrm>
            <a:off x="640080" y="411480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38" name="Google Shape;38;p6"/>
          <p:cNvSpPr txBox="1"/>
          <p:nvPr/>
        </p:nvSpPr>
        <p:spPr>
          <a:xfrm>
            <a:off x="1463040" y="411480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39" name="Google Shape;39;p6"/>
          <p:cNvSpPr txBox="1"/>
          <p:nvPr/>
        </p:nvSpPr>
        <p:spPr>
          <a:xfrm>
            <a:off x="640080" y="47548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40" name="Google Shape;40;p6"/>
          <p:cNvSpPr txBox="1"/>
          <p:nvPr/>
        </p:nvSpPr>
        <p:spPr>
          <a:xfrm>
            <a:off x="1463040" y="47548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41" name="Google Shape;41;p6"/>
          <p:cNvSpPr txBox="1"/>
          <p:nvPr/>
        </p:nvSpPr>
        <p:spPr>
          <a:xfrm>
            <a:off x="640080" y="53949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42" name="Google Shape;42;p6"/>
          <p:cNvSpPr txBox="1"/>
          <p:nvPr/>
        </p:nvSpPr>
        <p:spPr>
          <a:xfrm>
            <a:off x="1463040" y="53949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43" name="Google Shape;43;p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 name="Shape 48"/>
        <p:cNvGrpSpPr/>
        <p:nvPr/>
      </p:nvGrpSpPr>
      <p:grpSpPr>
        <a:xfrm>
          <a:off x="0" y="0"/>
          <a:ext cx="0" cy="0"/>
          <a:chOff x="0" y="0"/>
          <a:chExt cx="0" cy="0"/>
        </a:xfrm>
      </p:grpSpPr>
      <p:sp>
        <p:nvSpPr>
          <p:cNvPr id="49" name="Google Shape;49;p7"/>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0" name="Google Shape;50;p7"/>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 name="Shape 55"/>
        <p:cNvGrpSpPr/>
        <p:nvPr/>
      </p:nvGrpSpPr>
      <p:grpSpPr>
        <a:xfrm>
          <a:off x="0" y="0"/>
          <a:ext cx="0" cy="0"/>
          <a:chOff x="0" y="0"/>
          <a:chExt cx="0" cy="0"/>
        </a:xfrm>
      </p:grpSpPr>
      <p:sp>
        <p:nvSpPr>
          <p:cNvPr id="56" name="Google Shape;56;p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57" name="Google Shape;57;p8"/>
          <p:cNvSpPr txBox="1"/>
          <p:nvPr/>
        </p:nvSpPr>
        <p:spPr>
          <a:xfrm>
            <a:off x="3968325" y="1811175"/>
            <a:ext cx="7583400" cy="44070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2200">
                <a:solidFill>
                  <a:schemeClr val="dk1"/>
                </a:solidFill>
              </a:rPr>
              <a:t>Replicability Crisis:</a:t>
            </a:r>
            <a:r>
              <a:rPr lang="en-US" sz="2200">
                <a:solidFill>
                  <a:schemeClr val="dk1"/>
                </a:solidFill>
              </a:rPr>
              <a:t> Researchers struggle to obtain usable experimental artifacts. </a:t>
            </a:r>
            <a:endParaRPr sz="2200">
              <a:solidFill>
                <a:schemeClr val="dk1"/>
              </a:solidFill>
            </a:endParaRPr>
          </a:p>
          <a:p>
            <a:pPr indent="0" lvl="0" marL="0" rtl="0" algn="l">
              <a:spcBef>
                <a:spcPts val="1000"/>
              </a:spcBef>
              <a:spcAft>
                <a:spcPts val="0"/>
              </a:spcAft>
              <a:buNone/>
            </a:pPr>
            <a:r>
              <a:rPr b="1" lang="en-US" sz="2200">
                <a:solidFill>
                  <a:schemeClr val="dk1"/>
                </a:solidFill>
              </a:rPr>
              <a:t>Adoption Since 2011</a:t>
            </a:r>
            <a:r>
              <a:rPr lang="en-US" sz="2200">
                <a:solidFill>
                  <a:schemeClr val="dk1"/>
                </a:solidFill>
              </a:rPr>
              <a:t>: Conferences award badges via voluntary peer audits. </a:t>
            </a:r>
            <a:endParaRPr sz="2200">
              <a:solidFill>
                <a:schemeClr val="dk1"/>
              </a:solidFill>
            </a:endParaRPr>
          </a:p>
          <a:p>
            <a:pPr indent="0" lvl="0" marL="0" rtl="0" algn="l">
              <a:spcBef>
                <a:spcPts val="1000"/>
              </a:spcBef>
              <a:spcAft>
                <a:spcPts val="0"/>
              </a:spcAft>
              <a:buNone/>
            </a:pPr>
            <a:r>
              <a:rPr b="1" lang="en-US" sz="2200">
                <a:solidFill>
                  <a:schemeClr val="dk1"/>
                </a:solidFill>
              </a:rPr>
              <a:t>Core Problem</a:t>
            </a:r>
            <a:r>
              <a:rPr lang="en-US" sz="2200">
                <a:solidFill>
                  <a:schemeClr val="dk1"/>
                </a:solidFill>
              </a:rPr>
              <a:t>: Guidelines lack uniform thresholds for artifact quality.</a:t>
            </a:r>
            <a:endParaRPr sz="2200">
              <a:solidFill>
                <a:schemeClr val="dk1"/>
              </a:solidFill>
            </a:endParaRPr>
          </a:p>
          <a:p>
            <a:pPr indent="0" lvl="0" marL="0" rtl="0" algn="l">
              <a:spcBef>
                <a:spcPts val="1000"/>
              </a:spcBef>
              <a:spcAft>
                <a:spcPts val="0"/>
              </a:spcAft>
              <a:buNone/>
            </a:pPr>
            <a:r>
              <a:rPr b="1" lang="en-US" sz="2200">
                <a:solidFill>
                  <a:schemeClr val="dk1"/>
                </a:solidFill>
              </a:rPr>
              <a:t>Main Contribution</a:t>
            </a:r>
            <a:r>
              <a:rPr lang="en-US" sz="2200">
                <a:solidFill>
                  <a:schemeClr val="dk1"/>
                </a:solidFill>
              </a:rPr>
              <a:t>: Empirical survey of 255 committee reviewers.</a:t>
            </a:r>
            <a:endParaRPr sz="2200">
              <a:solidFill>
                <a:schemeClr val="dk1"/>
              </a:solidFill>
            </a:endParaRPr>
          </a:p>
        </p:txBody>
      </p:sp>
      <p:sp>
        <p:nvSpPr>
          <p:cNvPr id="58" name="Google Shape;58;p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9" name="Google Shape;59;p8"/>
          <p:cNvSpPr txBox="1"/>
          <p:nvPr/>
        </p:nvSpPr>
        <p:spPr>
          <a:xfrm>
            <a:off x="518925" y="1811175"/>
            <a:ext cx="3449400" cy="2493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Evaluating the efficacy of Artifact Evaluation across </a:t>
            </a:r>
            <a:endParaRPr b="1" sz="2500">
              <a:solidFill>
                <a:schemeClr val="dk2"/>
              </a:solidFill>
              <a:highlight>
                <a:schemeClr val="lt1"/>
              </a:highlight>
              <a:latin typeface="Playfair Display"/>
              <a:ea typeface="Playfair Display"/>
              <a:cs typeface="Playfair Display"/>
              <a:sym typeface="Playfair Display"/>
            </a:endParaRPr>
          </a:p>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Software Engineering and Programming Languages.</a:t>
            </a:r>
            <a:r>
              <a:rPr b="1" lang="en-US" sz="2500">
                <a:solidFill>
                  <a:schemeClr val="dk2"/>
                </a:solidFill>
              </a:rPr>
              <a:t> </a:t>
            </a:r>
            <a:endParaRPr b="1" sz="2500">
              <a:solidFill>
                <a:schemeClr val="dk2"/>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p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66" name="Google Shape;66;p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7" name="Google Shape;67;p9"/>
          <p:cNvSpPr txBox="1"/>
          <p:nvPr/>
        </p:nvSpPr>
        <p:spPr>
          <a:xfrm>
            <a:off x="640075" y="5267300"/>
            <a:ext cx="9547200" cy="7452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1800">
                <a:solidFill>
                  <a:schemeClr val="dk2"/>
                </a:solidFill>
              </a:rPr>
              <a:t>Question:</a:t>
            </a:r>
            <a:r>
              <a:rPr lang="en-US" sz="1800">
                <a:solidFill>
                  <a:srgbClr val="1A1A1A"/>
                </a:solidFill>
              </a:rPr>
              <a:t> Since computer science, data science, and empirical software engineering overlap so heavily with statistics, how can a reviewer or author know what a Call for Artifacts actually expects when these words are used without a glossary? </a:t>
            </a:r>
            <a:endParaRPr sz="1800">
              <a:solidFill>
                <a:srgbClr val="1A1A1A"/>
              </a:solidFill>
            </a:endParaRPr>
          </a:p>
        </p:txBody>
      </p:sp>
      <p:graphicFrame>
        <p:nvGraphicFramePr>
          <p:cNvPr id="68" name="Google Shape;68;p9"/>
          <p:cNvGraphicFramePr/>
          <p:nvPr/>
        </p:nvGraphicFramePr>
        <p:xfrm>
          <a:off x="606867" y="1214192"/>
          <a:ext cx="3000000" cy="3000000"/>
        </p:xfrm>
        <a:graphic>
          <a:graphicData uri="http://schemas.openxmlformats.org/drawingml/2006/table">
            <a:tbl>
              <a:tblPr>
                <a:noFill/>
                <a:tableStyleId>{86CE9DF0-B079-444F-8531-439F84C1735D}</a:tableStyleId>
              </a:tblPr>
              <a:tblGrid>
                <a:gridCol w="2195600"/>
                <a:gridCol w="2195600"/>
                <a:gridCol w="2195600"/>
                <a:gridCol w="2195600"/>
                <a:gridCol w="2195600"/>
              </a:tblGrid>
              <a:tr h="734400">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Term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Who Performs it?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Experimental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ACM Guideline Role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ASA Definition Clash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8104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Repeatability</a:t>
                      </a:r>
                      <a:endParaRPr b="1" sz="2000" u="none" cap="none" strike="noStrike"/>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Same 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Baseline requirement</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Same as ACM</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11221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Replicability </a:t>
                      </a:r>
                      <a:endParaRPr b="1"/>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Setup(authors Artifact)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lang="en-US" sz="2000">
                          <a:solidFill>
                            <a:srgbClr val="1A1A1A"/>
                          </a:solidFill>
                        </a:rPr>
                        <a:t>Direct goal of Artifact Evaluation</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US" sz="2000">
                          <a:solidFill>
                            <a:schemeClr val="dk1"/>
                          </a:solidFill>
                        </a:rPr>
                        <a:t>Called Reproducibility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1122100">
                <a:tc>
                  <a:txBody>
                    <a:bodyPr/>
                    <a:lstStyle/>
                    <a:p>
                      <a:pPr indent="0" lvl="0" marL="0" marR="0" rtl="0" algn="l">
                        <a:spcBef>
                          <a:spcPts val="0"/>
                        </a:spcBef>
                        <a:spcAft>
                          <a:spcPts val="0"/>
                        </a:spcAft>
                        <a:buClr>
                          <a:srgbClr val="1A1A1A"/>
                        </a:buClr>
                        <a:buSzPts val="2000"/>
                        <a:buFont typeface="Arial"/>
                        <a:buNone/>
                      </a:pPr>
                      <a:r>
                        <a:rPr b="1" lang="en-US" sz="2000">
                          <a:solidFill>
                            <a:schemeClr val="dk1"/>
                          </a:solidFil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Different Team</a:t>
                      </a:r>
                      <a:endParaRPr sz="2000"/>
                    </a:p>
                    <a:p>
                      <a:pPr indent="0" lvl="0" marL="0" rtl="0" algn="l">
                        <a:spcBef>
                          <a:spcPts val="0"/>
                        </a:spcBef>
                        <a:spcAft>
                          <a:spcPts val="0"/>
                        </a:spcAft>
                        <a:buClr>
                          <a:schemeClr val="dk1"/>
                        </a:buClr>
                        <a:buSzPts val="2000"/>
                        <a:buFont typeface="Arial"/>
                        <a:buNone/>
                      </a:pPr>
                      <a:r>
                        <a:t/>
                      </a:r>
                      <a:endParaRPr sz="2000">
                        <a:solidFill>
                          <a:schemeClr val="dk1"/>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long-term Goal</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Called Replication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sp>
        <p:nvSpPr>
          <p:cNvPr id="74" name="Google Shape;74;p10"/>
          <p:cNvSpPr txBox="1"/>
          <p:nvPr/>
        </p:nvSpPr>
        <p:spPr>
          <a:xfrm>
            <a:off x="640080" y="396285"/>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75" name="Google Shape;75;p1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RQ1 (Purpose):</a:t>
            </a:r>
            <a:r>
              <a:rPr lang="en-US" sz="2200">
                <a:solidFill>
                  <a:srgbClr val="1A1A1A"/>
                </a:solidFill>
              </a:rPr>
              <a:t> What is the perceived purpose of artifact evaluation in the software engineering and programming languages communities?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RQ2 (Quality Criteria &amp; Expectations):</a:t>
            </a:r>
            <a:r>
              <a:rPr lang="en-US" sz="2200">
                <a:solidFill>
                  <a:srgbClr val="1A1A1A"/>
                </a:solidFill>
              </a:rPr>
              <a:t> What quality criteria and expectations do researchers have toward research artifacts (both as reviewers on an AEC and as users reusing artifacts across code, data, and proofs)?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RQ3 (Community Differences):</a:t>
            </a:r>
            <a:r>
              <a:rPr lang="en-US" sz="2200">
                <a:solidFill>
                  <a:srgbClr val="1A1A1A"/>
                </a:solidFill>
              </a:rPr>
              <a:t> What is the magnitude of difference in the perception of purpose and expectations between the </a:t>
            </a:r>
            <a:r>
              <a:rPr lang="en-US" sz="2200">
                <a:solidFill>
                  <a:schemeClr val="dk1"/>
                </a:solidFill>
              </a:rPr>
              <a:t>software engineering and programming languages</a:t>
            </a:r>
            <a:r>
              <a:rPr lang="en-US" sz="2200">
                <a:solidFill>
                  <a:srgbClr val="1A1A1A"/>
                </a:solidFill>
              </a:rPr>
              <a:t> communities?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1" i="0" lang="en-US" sz="2200" u="none" cap="none" strike="noStrike">
                <a:solidFill>
                  <a:srgbClr val="1A1A1A"/>
                </a:solidFill>
              </a:rPr>
              <a:t>Pre-study:</a:t>
            </a:r>
            <a:r>
              <a:rPr b="0" i="0" lang="en-US" sz="2200" u="none" cap="none" strike="noStrike">
                <a:solidFill>
                  <a:srgbClr val="1A1A1A"/>
                </a:solidFill>
                <a:latin typeface="Arial"/>
                <a:ea typeface="Arial"/>
                <a:cs typeface="Arial"/>
                <a:sym typeface="Arial"/>
              </a:rPr>
              <a:t> what do calls for artifacts and ACM guidelines demand?</a:t>
            </a:r>
            <a:endParaRPr b="0" i="0" sz="2200" u="none" cap="none" strike="noStrike">
              <a:solidFill>
                <a:schemeClr val="dk1"/>
              </a:solidFill>
              <a:latin typeface="Arial"/>
              <a:ea typeface="Arial"/>
              <a:cs typeface="Arial"/>
              <a:sym typeface="Arial"/>
            </a:endParaRPr>
          </a:p>
        </p:txBody>
      </p:sp>
      <p:sp>
        <p:nvSpPr>
          <p:cNvPr id="76" name="Google Shape;76;p1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83" name="Google Shape;83;p1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84" name="Google Shape;84;p11"/>
          <p:cNvSpPr txBox="1"/>
          <p:nvPr/>
        </p:nvSpPr>
        <p:spPr>
          <a:xfrm>
            <a:off x="609600" y="4184779"/>
            <a:ext cx="8721600" cy="22974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None/>
            </a:pPr>
            <a:r>
              <a:rPr lang="en-US" sz="2000">
                <a:solidFill>
                  <a:srgbClr val="1A1A1A"/>
                </a:solidFill>
              </a:rPr>
              <a:t>Questions: </a:t>
            </a:r>
            <a:endParaRPr sz="2000">
              <a:solidFill>
                <a:srgbClr val="1A1A1A"/>
              </a:solidFill>
            </a:endParaRPr>
          </a:p>
          <a:p>
            <a:pPr indent="-355600" lvl="0" marL="457200" rtl="0" algn="l">
              <a:lnSpc>
                <a:spcPct val="115000"/>
              </a:lnSpc>
              <a:spcBef>
                <a:spcPts val="1200"/>
              </a:spcBef>
              <a:spcAft>
                <a:spcPts val="0"/>
              </a:spcAft>
              <a:buClr>
                <a:srgbClr val="1A1A1A"/>
              </a:buClr>
              <a:buSzPts val="2000"/>
              <a:buChar char="-"/>
            </a:pPr>
            <a:r>
              <a:rPr lang="en-US" sz="2000">
                <a:solidFill>
                  <a:srgbClr val="1A1A1A"/>
                </a:solidFill>
              </a:rPr>
              <a:t>Why was it so important for the authors to separate the 'Reviewer' role from the 'User' role when questioning the exact same researchers?</a:t>
            </a:r>
            <a:endParaRPr sz="2000">
              <a:solidFill>
                <a:srgbClr val="1A1A1A"/>
              </a:solidFill>
            </a:endParaRPr>
          </a:p>
          <a:p>
            <a:pPr indent="-355600" lvl="0" marL="457200" rtl="0" algn="l">
              <a:lnSpc>
                <a:spcPct val="115000"/>
              </a:lnSpc>
              <a:spcBef>
                <a:spcPts val="0"/>
              </a:spcBef>
              <a:spcAft>
                <a:spcPts val="0"/>
              </a:spcAft>
              <a:buClr>
                <a:srgbClr val="1A1A1A"/>
              </a:buClr>
              <a:buSzPts val="2000"/>
              <a:buChar char="-"/>
            </a:pPr>
            <a:r>
              <a:rPr lang="en-US" sz="2000">
                <a:solidFill>
                  <a:srgbClr val="1A1A1A"/>
                </a:solidFill>
              </a:rPr>
              <a:t>Why might a researcher hold completely different standards when grading an artifact for a badge versus trying to reuse it in their own work? </a:t>
            </a:r>
            <a:endParaRPr sz="2000">
              <a:solidFill>
                <a:srgbClr val="1A1A1A"/>
              </a:solidFill>
            </a:endParaRPr>
          </a:p>
        </p:txBody>
      </p:sp>
      <p:sp>
        <p:nvSpPr>
          <p:cNvPr id="85" name="Google Shape;85;p11"/>
          <p:cNvSpPr txBox="1"/>
          <p:nvPr/>
        </p:nvSpPr>
        <p:spPr>
          <a:xfrm>
            <a:off x="609600" y="2066925"/>
            <a:ext cx="41910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79</a:t>
            </a:r>
            <a:endParaRPr>
              <a:solidFill>
                <a:schemeClr val="dk2"/>
              </a:solidFill>
            </a:endParaRPr>
          </a:p>
        </p:txBody>
      </p:sp>
      <p:sp>
        <p:nvSpPr>
          <p:cNvPr id="86" name="Google Shape;86;p11"/>
          <p:cNvSpPr txBox="1"/>
          <p:nvPr/>
        </p:nvSpPr>
        <p:spPr>
          <a:xfrm>
            <a:off x="609600" y="3057525"/>
            <a:ext cx="41910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Calls for Artifacts Analyzed</a:t>
            </a:r>
            <a:endParaRPr/>
          </a:p>
        </p:txBody>
      </p:sp>
      <p:sp>
        <p:nvSpPr>
          <p:cNvPr id="87" name="Google Shape;87;p11"/>
          <p:cNvSpPr txBox="1"/>
          <p:nvPr/>
        </p:nvSpPr>
        <p:spPr>
          <a:xfrm>
            <a:off x="609600" y="3333750"/>
            <a:ext cx="3448200" cy="415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Pre-study across SE and PL venues (2011–2019).</a:t>
            </a:r>
            <a:endParaRPr/>
          </a:p>
        </p:txBody>
      </p:sp>
      <p:sp>
        <p:nvSpPr>
          <p:cNvPr id="88" name="Google Shape;88;p11"/>
          <p:cNvSpPr txBox="1"/>
          <p:nvPr/>
        </p:nvSpPr>
        <p:spPr>
          <a:xfrm>
            <a:off x="4419600" y="2066925"/>
            <a:ext cx="41910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255</a:t>
            </a:r>
            <a:endParaRPr>
              <a:solidFill>
                <a:schemeClr val="dk2"/>
              </a:solidFill>
            </a:endParaRPr>
          </a:p>
        </p:txBody>
      </p:sp>
      <p:sp>
        <p:nvSpPr>
          <p:cNvPr id="89" name="Google Shape;89;p11"/>
          <p:cNvSpPr txBox="1"/>
          <p:nvPr/>
        </p:nvSpPr>
        <p:spPr>
          <a:xfrm>
            <a:off x="4419600" y="3057525"/>
            <a:ext cx="41910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Valid AEC Survey Responses</a:t>
            </a:r>
            <a:endParaRPr/>
          </a:p>
        </p:txBody>
      </p:sp>
      <p:sp>
        <p:nvSpPr>
          <p:cNvPr id="90" name="Google Shape;90;p11"/>
          <p:cNvSpPr txBox="1"/>
          <p:nvPr/>
        </p:nvSpPr>
        <p:spPr>
          <a:xfrm>
            <a:off x="4419600" y="3333750"/>
            <a:ext cx="41910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1,034 invited; coded via open card sorting.</a:t>
            </a:r>
            <a:endParaRPr/>
          </a:p>
        </p:txBody>
      </p:sp>
      <p:sp>
        <p:nvSpPr>
          <p:cNvPr id="91" name="Google Shape;91;p11"/>
          <p:cNvSpPr txBox="1"/>
          <p:nvPr/>
        </p:nvSpPr>
        <p:spPr>
          <a:xfrm>
            <a:off x="8229600" y="2066925"/>
            <a:ext cx="3962400" cy="831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5400" u="none" cap="none" strike="noStrike">
                <a:solidFill>
                  <a:schemeClr val="dk2"/>
                </a:solidFill>
                <a:latin typeface="Playfair Display"/>
                <a:ea typeface="Playfair Display"/>
                <a:cs typeface="Playfair Display"/>
                <a:sym typeface="Playfair Display"/>
              </a:rPr>
              <a:t>30mi</a:t>
            </a:r>
            <a:r>
              <a:rPr b="1" lang="en-US" sz="5400">
                <a:solidFill>
                  <a:schemeClr val="dk2"/>
                </a:solidFill>
                <a:latin typeface="Playfair Display"/>
                <a:ea typeface="Playfair Display"/>
                <a:cs typeface="Playfair Display"/>
                <a:sym typeface="Playfair Display"/>
              </a:rPr>
              <a:t>n</a:t>
            </a:r>
            <a:endParaRPr>
              <a:solidFill>
                <a:schemeClr val="dk2"/>
              </a:solidFill>
            </a:endParaRPr>
          </a:p>
        </p:txBody>
      </p:sp>
      <p:sp>
        <p:nvSpPr>
          <p:cNvPr id="92" name="Google Shape;92;p11"/>
          <p:cNvSpPr txBox="1"/>
          <p:nvPr/>
        </p:nvSpPr>
        <p:spPr>
          <a:xfrm>
            <a:off x="8229600" y="3057525"/>
            <a:ext cx="3962400" cy="2193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25" u="none" cap="none" strike="noStrike">
                <a:solidFill>
                  <a:srgbClr val="18181B"/>
                </a:solidFill>
                <a:latin typeface="DM Sans"/>
                <a:ea typeface="DM Sans"/>
                <a:cs typeface="DM Sans"/>
                <a:sym typeface="DM Sans"/>
              </a:rPr>
              <a:t>Only Explicit CfA Threshold</a:t>
            </a:r>
            <a:endParaRPr/>
          </a:p>
        </p:txBody>
      </p:sp>
      <p:sp>
        <p:nvSpPr>
          <p:cNvPr id="93" name="Google Shape;93;p11"/>
          <p:cNvSpPr txBox="1"/>
          <p:nvPr/>
        </p:nvSpPr>
        <p:spPr>
          <a:xfrm>
            <a:off x="8229600" y="3333750"/>
            <a:ext cx="3962400" cy="2079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350" u="none" cap="none" strike="noStrike">
                <a:solidFill>
                  <a:srgbClr val="52525B"/>
                </a:solidFill>
                <a:latin typeface="DM Sans"/>
                <a:ea typeface="DM Sans"/>
                <a:cs typeface="DM Sans"/>
                <a:sym typeface="DM Sans"/>
              </a:rPr>
              <a:t>Maximum setup time stated in 10 calls.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00" name="Google Shape;100;p12"/>
          <p:cNvSpPr txBox="1"/>
          <p:nvPr/>
        </p:nvSpPr>
        <p:spPr>
          <a:xfrm>
            <a:off x="539055" y="4284790"/>
            <a:ext cx="10911600" cy="4755000"/>
          </a:xfrm>
          <a:prstGeom prst="rect">
            <a:avLst/>
          </a:prstGeom>
          <a:noFill/>
          <a:ln>
            <a:noFill/>
          </a:ln>
        </p:spPr>
        <p:txBody>
          <a:bodyPr anchorCtr="0" anchor="t" bIns="0" lIns="0" spcFirstLastPara="1" rIns="0" wrap="square" tIns="0">
            <a:noAutofit/>
          </a:bodyPr>
          <a:lstStyle/>
          <a:p>
            <a:pPr indent="0" lvl="0" marL="457200" marR="0" rtl="0" algn="l">
              <a:spcBef>
                <a:spcPts val="1000"/>
              </a:spcBef>
              <a:spcAft>
                <a:spcPts val="0"/>
              </a:spcAft>
              <a:buNone/>
            </a:pPr>
            <a:r>
              <a:rPr b="1" lang="en-US" sz="2200">
                <a:solidFill>
                  <a:schemeClr val="dk2"/>
                </a:solidFill>
              </a:rPr>
              <a:t>Question:</a:t>
            </a:r>
            <a:r>
              <a:rPr b="1" lang="en-US" sz="2200">
                <a:solidFill>
                  <a:srgbClr val="1A1A1A"/>
                </a:solidFill>
              </a:rPr>
              <a:t> </a:t>
            </a:r>
            <a:endParaRPr b="1" sz="2200">
              <a:solidFill>
                <a:srgbClr val="1A1A1A"/>
              </a:solidFill>
            </a:endParaRPr>
          </a:p>
          <a:p>
            <a:pPr indent="-368300" lvl="0" marL="457200" marR="0" rtl="0" algn="l">
              <a:spcBef>
                <a:spcPts val="1000"/>
              </a:spcBef>
              <a:spcAft>
                <a:spcPts val="0"/>
              </a:spcAft>
              <a:buClr>
                <a:srgbClr val="1A1A1A"/>
              </a:buClr>
              <a:buSzPts val="2200"/>
              <a:buChar char="-"/>
            </a:pPr>
            <a:r>
              <a:rPr lang="en-US" sz="2200">
                <a:solidFill>
                  <a:srgbClr val="1A1A1A"/>
                </a:solidFill>
              </a:rPr>
              <a:t>If real-world reuse is so low and badges aren't noticeably improving quality, is the massive amount of volunteer time spent on AECs actually worth it? </a:t>
            </a:r>
            <a:endParaRPr sz="2200">
              <a:solidFill>
                <a:srgbClr val="1A1A1A"/>
              </a:solidFill>
            </a:endParaRPr>
          </a:p>
          <a:p>
            <a:pPr indent="-368300" lvl="0" marL="457200" marR="0" rtl="0" algn="l">
              <a:spcBef>
                <a:spcPts val="0"/>
              </a:spcBef>
              <a:spcAft>
                <a:spcPts val="0"/>
              </a:spcAft>
              <a:buClr>
                <a:srgbClr val="1A1A1A"/>
              </a:buClr>
              <a:buSzPts val="2200"/>
              <a:buChar char="-"/>
            </a:pPr>
            <a:r>
              <a:rPr lang="en-US" sz="2200">
                <a:solidFill>
                  <a:srgbClr val="1A1A1A"/>
                </a:solidFill>
              </a:rPr>
              <a:t>How should we redefine 'success' for an artifact if the end-goal isn't just to prove it ran once for a reviewer, but to help someone else build on it? </a:t>
            </a:r>
            <a:endParaRPr b="0" i="0" sz="2200" u="none" cap="none" strike="noStrike">
              <a:solidFill>
                <a:schemeClr val="dk1"/>
              </a:solidFill>
              <a:latin typeface="Arial"/>
              <a:ea typeface="Arial"/>
              <a:cs typeface="Arial"/>
              <a:sym typeface="Arial"/>
            </a:endParaRPr>
          </a:p>
        </p:txBody>
      </p:sp>
      <p:sp>
        <p:nvSpPr>
          <p:cNvPr id="101" name="Google Shape;101;p1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pic>
        <p:nvPicPr>
          <p:cNvPr id="102" name="Google Shape;102;p12"/>
          <p:cNvPicPr preferRelativeResize="0"/>
          <p:nvPr/>
        </p:nvPicPr>
        <p:blipFill>
          <a:blip r:embed="rId3">
            <a:alphaModFix/>
          </a:blip>
          <a:stretch>
            <a:fillRect/>
          </a:stretch>
        </p:blipFill>
        <p:spPr>
          <a:xfrm>
            <a:off x="539050" y="1236274"/>
            <a:ext cx="9988784" cy="30485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109" name="Google Shape;109;p1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110" name="Google Shape;110;p1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sp>
        <p:nvSpPr>
          <p:cNvPr id="116" name="Google Shape;116;p1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117" name="Google Shape;117;p1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18" name="Google Shape;118;p1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15"/>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125" name="Google Shape;125;p15"/>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600200"/>
            <a:ext cx="3017520" cy="4389120"/>
          </a:xfrm>
          <a:prstGeom prst="rect">
            <a:avLst/>
          </a:prstGeom>
          <a:noFill/>
        </p:spPr>
        <p:txBody>
          <a:bodyPr wrap="square">
            <a:spAutoFit/>
          </a:bodyPr>
          <a:lstStyle/>
          <a:p>
            <a:pPr>
              <a:spcAft>
                <a:spcPts val="1800"/>
              </a:spcAft>
            </a:pPr>
            <a:r>
              <a:rPr sz="2200" b="1" i="0">
                <a:solidFill>
                  <a:srgbClr val="00883A"/>
                </a:solidFill>
                <a:latin typeface="Arial"/>
              </a:rPr>
              <a:t>Week 1: why are working artifacts so rare?</a:t>
            </a:r>
          </a:p>
          <a:p>
            <a:pPr>
              <a:spcAft>
                <a:spcPts val="1800"/>
              </a:spcAft>
            </a:pPr>
            <a:r>
              <a:rPr sz="2200" b="1" i="0">
                <a:solidFill>
                  <a:srgbClr val="00883A"/>
                </a:solidFill>
                <a:latin typeface="Arial"/>
              </a:rPr>
              <a:t>This paper: why is making good artifacts so hard?</a:t>
            </a:r>
          </a:p>
        </p:txBody>
      </p:sp>
      <p:sp>
        <p:nvSpPr>
          <p:cNvPr id="135" name="TextBox 134"/>
          <p:cNvSpPr txBox="1"/>
          <p:nvPr/>
        </p:nvSpPr>
        <p:spPr>
          <a:xfrm>
            <a:off x="3968496" y="1600200"/>
            <a:ext cx="7589520" cy="4572000"/>
          </a:xfrm>
          <a:prstGeom prst="rect">
            <a:avLst/>
          </a:prstGeom>
          <a:noFill/>
        </p:spPr>
        <p:txBody>
          <a:bodyPr wrap="square">
            <a:spAutoFit/>
          </a:bodyPr>
          <a:lstStyle/>
          <a:p>
            <a:pPr>
              <a:spcAft>
                <a:spcPts val="1200"/>
              </a:spcAft>
            </a:pPr>
            <a:r>
              <a:rPr sz="2000" b="1" i="0">
                <a:solidFill>
                  <a:srgbClr val="1A1A1A"/>
                </a:solidFill>
                <a:latin typeface="Arial"/>
              </a:rPr>
              <a:t>Problem: </a:t>
            </a:r>
            <a:r>
              <a:rPr sz="2000" b="0" i="0">
                <a:solidFill>
                  <a:srgbClr val="1A1A1A"/>
                </a:solidFill>
                <a:latin typeface="Arial"/>
              </a:rPr>
              <a:t>artifacts (tools, benchmarks, data) should support claims and future research, but in practice fall short</a:t>
            </a:r>
          </a:p>
          <a:p>
            <a:pPr>
              <a:spcAft>
                <a:spcPts val="1200"/>
              </a:spcAft>
            </a:pPr>
            <a:r>
              <a:rPr sz="2000" b="1" i="0">
                <a:solidFill>
                  <a:srgbClr val="1A1A1A"/>
                </a:solidFill>
                <a:latin typeface="Arial"/>
              </a:rPr>
              <a:t>Goal: </a:t>
            </a:r>
            <a:r>
              <a:rPr sz="2000" b="0" i="0">
                <a:solidFill>
                  <a:srgbClr val="1A1A1A"/>
                </a:solidFill>
                <a:latin typeface="Arial"/>
              </a:rPr>
              <a:t>understand the challenges of creating, sharing, using and reviewing artifacts</a:t>
            </a:r>
          </a:p>
          <a:p>
            <a:pPr>
              <a:spcAft>
                <a:spcPts val="1200"/>
              </a:spcAft>
            </a:pPr>
            <a:r>
              <a:rPr sz="2000" b="1" i="0">
                <a:solidFill>
                  <a:srgbClr val="1A1A1A"/>
                </a:solidFill>
                <a:latin typeface="Arial"/>
              </a:rPr>
              <a:t>Approach: </a:t>
            </a:r>
            <a:r>
              <a:rPr sz="2000" b="0" i="0">
                <a:solidFill>
                  <a:srgbClr val="1A1A1A"/>
                </a:solidFill>
                <a:latin typeface="Arial"/>
              </a:rPr>
              <a:t>mixed methods: survey of SE publications + online survey of SE researchers, seen from three angles: creators, users, reviewers</a:t>
            </a:r>
          </a:p>
          <a:p>
            <a:pPr>
              <a:spcAft>
                <a:spcPts val="1200"/>
              </a:spcAft>
            </a:pPr>
            <a:r>
              <a:rPr sz="2000" b="1" i="0">
                <a:solidFill>
                  <a:srgbClr val="1A1A1A"/>
                </a:solidFill>
                <a:latin typeface="Arial"/>
              </a:rPr>
              <a:t>Finding: </a:t>
            </a:r>
            <a:r>
              <a:rPr sz="2000" b="0" i="0">
                <a:solidFill>
                  <a:srgbClr val="1A1A1A"/>
                </a:solidFill>
                <a:latin typeface="Arial"/>
              </a:rPr>
              <a:t>mismatched expectations between the groups and too little reward for creators and reviewers</a:t>
            </a:r>
          </a:p>
          <a:p>
            <a:pPr>
              <a:spcAft>
                <a:spcPts val="1200"/>
              </a:spcAft>
            </a:pPr>
            <a:r>
              <a:rPr sz="2000" b="1" i="0">
                <a:solidFill>
                  <a:srgbClr val="1A1A1A"/>
                </a:solidFill>
                <a:latin typeface="Arial"/>
              </a:rPr>
              <a:t>Output: </a:t>
            </a:r>
            <a:r>
              <a:rPr sz="2000" b="0" i="0">
                <a:solidFill>
                  <a:srgbClr val="1A1A1A"/>
                </a:solidFill>
                <a:latin typeface="Arial"/>
              </a:rPr>
              <a:t>recommendations to improve artifact quality (later section)</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1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41" name="Google Shape;141;p1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42" name="Rounded Rectangle 141"/>
          <p:cNvSpPr/>
          <p:nvPr/>
        </p:nvSpPr>
        <p:spPr>
          <a:xfrm>
            <a:off x="640080" y="1463040"/>
            <a:ext cx="10908792" cy="1051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TextBox 142"/>
          <p:cNvSpPr txBox="1"/>
          <p:nvPr/>
        </p:nvSpPr>
        <p:spPr>
          <a:xfrm>
            <a:off x="822960" y="1554480"/>
            <a:ext cx="2743200" cy="914400"/>
          </a:xfrm>
          <a:prstGeom prst="rect">
            <a:avLst/>
          </a:prstGeom>
          <a:noFill/>
        </p:spPr>
        <p:txBody>
          <a:bodyPr wrap="square" anchor="ctr">
            <a:spAutoFit/>
          </a:bodyPr>
          <a:lstStyle/>
          <a:p>
            <a:pPr>
              <a:spcAft>
                <a:spcPts val="600"/>
              </a:spcAft>
            </a:pPr>
            <a:r>
              <a:rPr sz="2000" b="1" i="0">
                <a:solidFill>
                  <a:srgbClr val="00883A"/>
                </a:solidFill>
                <a:latin typeface="Arial"/>
              </a:rPr>
              <a:t>Artifact (this paper)</a:t>
            </a:r>
          </a:p>
        </p:txBody>
      </p:sp>
      <p:sp>
        <p:nvSpPr>
          <p:cNvPr id="144" name="TextBox 143"/>
          <p:cNvSpPr txBox="1"/>
          <p:nvPr/>
        </p:nvSpPr>
        <p:spPr>
          <a:xfrm>
            <a:off x="3566160" y="1554480"/>
            <a:ext cx="7863840" cy="914400"/>
          </a:xfrm>
          <a:prstGeom prst="rect">
            <a:avLst/>
          </a:prstGeom>
          <a:noFill/>
        </p:spPr>
        <p:txBody>
          <a:bodyPr wrap="square" anchor="ctr">
            <a:spAutoFit/>
          </a:bodyPr>
          <a:lstStyle/>
          <a:p>
            <a:pPr>
              <a:spcAft>
                <a:spcPts val="600"/>
              </a:spcAft>
            </a:pPr>
            <a:r>
              <a:rPr sz="1800" b="0" i="0">
                <a:solidFill>
                  <a:srgbClr val="1A1A1A"/>
                </a:solidFill>
                <a:latin typeface="Arial"/>
              </a:rPr>
              <a:t>any external material linked from a paper: tools, code, data, replication packages, companion sites, survey instruments, proofs (pp. 3-4)</a:t>
            </a:r>
          </a:p>
        </p:txBody>
      </p:sp>
      <p:sp>
        <p:nvSpPr>
          <p:cNvPr id="145" name="Rounded Rectangle 144"/>
          <p:cNvSpPr/>
          <p:nvPr/>
        </p:nvSpPr>
        <p:spPr>
          <a:xfrm>
            <a:off x="640080" y="2651760"/>
            <a:ext cx="10908792" cy="1051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822960" y="2743200"/>
            <a:ext cx="2743200" cy="914400"/>
          </a:xfrm>
          <a:prstGeom prst="rect">
            <a:avLst/>
          </a:prstGeom>
          <a:noFill/>
        </p:spPr>
        <p:txBody>
          <a:bodyPr wrap="square" anchor="ctr">
            <a:spAutoFit/>
          </a:bodyPr>
          <a:lstStyle/>
          <a:p>
            <a:pPr>
              <a:spcAft>
                <a:spcPts val="600"/>
              </a:spcAft>
            </a:pPr>
            <a:r>
              <a:rPr sz="2000" b="1" i="0">
                <a:solidFill>
                  <a:srgbClr val="00883A"/>
                </a:solidFill>
                <a:latin typeface="Arial"/>
              </a:rPr>
              <a:t>Artifact (ACM)</a:t>
            </a:r>
          </a:p>
        </p:txBody>
      </p:sp>
      <p:sp>
        <p:nvSpPr>
          <p:cNvPr id="147" name="TextBox 146"/>
          <p:cNvSpPr txBox="1"/>
          <p:nvPr/>
        </p:nvSpPr>
        <p:spPr>
          <a:xfrm>
            <a:off x="3566160" y="2743200"/>
            <a:ext cx="7863840" cy="914400"/>
          </a:xfrm>
          <a:prstGeom prst="rect">
            <a:avLst/>
          </a:prstGeom>
          <a:noFill/>
        </p:spPr>
        <p:txBody>
          <a:bodyPr wrap="square" anchor="ctr">
            <a:spAutoFit/>
          </a:bodyPr>
          <a:lstStyle/>
          <a:p>
            <a:pPr>
              <a:spcAft>
                <a:spcPts val="600"/>
              </a:spcAft>
            </a:pPr>
            <a:r>
              <a:rPr sz="1800" b="0" i="0">
                <a:solidFill>
                  <a:srgbClr val="1A1A1A"/>
                </a:solidFill>
                <a:latin typeface="Arial"/>
              </a:rPr>
              <a:t>digital object created for the study or generated by it (p. 4)</a:t>
            </a:r>
          </a:p>
        </p:txBody>
      </p:sp>
      <p:sp>
        <p:nvSpPr>
          <p:cNvPr id="148" name="Rounded Rectangle 147"/>
          <p:cNvSpPr/>
          <p:nvPr/>
        </p:nvSpPr>
        <p:spPr>
          <a:xfrm>
            <a:off x="640080" y="3840480"/>
            <a:ext cx="10908792" cy="1051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822960" y="3931920"/>
            <a:ext cx="2743200" cy="914400"/>
          </a:xfrm>
          <a:prstGeom prst="rect">
            <a:avLst/>
          </a:prstGeom>
          <a:noFill/>
        </p:spPr>
        <p:txBody>
          <a:bodyPr wrap="square" anchor="ctr">
            <a:spAutoFit/>
          </a:bodyPr>
          <a:lstStyle/>
          <a:p>
            <a:pPr>
              <a:spcAft>
                <a:spcPts val="600"/>
              </a:spcAft>
            </a:pPr>
            <a:r>
              <a:rPr sz="2000" b="1" i="0">
                <a:solidFill>
                  <a:srgbClr val="00883A"/>
                </a:solidFill>
                <a:latin typeface="Arial"/>
              </a:rPr>
              <a:t>AEC</a:t>
            </a:r>
          </a:p>
        </p:txBody>
      </p:sp>
      <p:sp>
        <p:nvSpPr>
          <p:cNvPr id="150" name="TextBox 149"/>
          <p:cNvSpPr txBox="1"/>
          <p:nvPr/>
        </p:nvSpPr>
        <p:spPr>
          <a:xfrm>
            <a:off x="3566160" y="3931920"/>
            <a:ext cx="7863840" cy="914400"/>
          </a:xfrm>
          <a:prstGeom prst="rect">
            <a:avLst/>
          </a:prstGeom>
          <a:noFill/>
        </p:spPr>
        <p:txBody>
          <a:bodyPr wrap="square" anchor="ctr">
            <a:spAutoFit/>
          </a:bodyPr>
          <a:lstStyle/>
          <a:p>
            <a:pPr>
              <a:spcAft>
                <a:spcPts val="600"/>
              </a:spcAft>
            </a:pPr>
            <a:r>
              <a:rPr sz="1800" b="0" i="0">
                <a:solidFill>
                  <a:srgbClr val="1A1A1A"/>
                </a:solidFill>
                <a:latin typeface="Arial"/>
              </a:rPr>
              <a:t>Artifact Evaluation Committee: reviews artifacts of accepted papers; opt-in, after acceptance, cannot reject a paper (p. 4)</a:t>
            </a:r>
          </a:p>
        </p:txBody>
      </p:sp>
      <p:sp>
        <p:nvSpPr>
          <p:cNvPr id="151" name="Rounded Rectangle 150"/>
          <p:cNvSpPr/>
          <p:nvPr/>
        </p:nvSpPr>
        <p:spPr>
          <a:xfrm>
            <a:off x="640080" y="5029200"/>
            <a:ext cx="10908792" cy="1051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2960" y="5120640"/>
            <a:ext cx="2743200" cy="914400"/>
          </a:xfrm>
          <a:prstGeom prst="rect">
            <a:avLst/>
          </a:prstGeom>
          <a:noFill/>
        </p:spPr>
        <p:txBody>
          <a:bodyPr wrap="square" anchor="ctr">
            <a:spAutoFit/>
          </a:bodyPr>
          <a:lstStyle/>
          <a:p>
            <a:pPr>
              <a:spcAft>
                <a:spcPts val="600"/>
              </a:spcAft>
            </a:pPr>
            <a:r>
              <a:rPr sz="2000" b="1" i="0">
                <a:solidFill>
                  <a:srgbClr val="00883A"/>
                </a:solidFill>
                <a:latin typeface="Arial"/>
              </a:rPr>
              <a:t>ACM quality criteria</a:t>
            </a:r>
          </a:p>
        </p:txBody>
      </p:sp>
      <p:sp>
        <p:nvSpPr>
          <p:cNvPr id="153" name="TextBox 152"/>
          <p:cNvSpPr txBox="1"/>
          <p:nvPr/>
        </p:nvSpPr>
        <p:spPr>
          <a:xfrm>
            <a:off x="3566160" y="5120640"/>
            <a:ext cx="7863840" cy="914400"/>
          </a:xfrm>
          <a:prstGeom prst="rect">
            <a:avLst/>
          </a:prstGeom>
          <a:noFill/>
        </p:spPr>
        <p:txBody>
          <a:bodyPr wrap="square" anchor="ctr">
            <a:spAutoFit/>
          </a:bodyPr>
          <a:lstStyle/>
          <a:p>
            <a:pPr>
              <a:spcAft>
                <a:spcPts val="600"/>
              </a:spcAft>
            </a:pPr>
            <a:r>
              <a:rPr sz="1800" b="0" i="0">
                <a:solidFill>
                  <a:srgbClr val="1A1A1A"/>
                </a:solidFill>
                <a:latin typeface="Arial"/>
              </a:rPr>
              <a:t>documented · consistent (supports main results) · complete (proprietary parts may be replaced by proxies) · exercisable (pp. 4-5)</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1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148" name="Google Shape;148;p18"/>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149" name="Google Shape;149;p1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156" name="Google Shape;156;p1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57" name="TextBox 156"/>
          <p:cNvSpPr txBox="1"/>
          <p:nvPr/>
        </p:nvSpPr>
        <p:spPr>
          <a:xfrm>
            <a:off x="640080" y="1280160"/>
            <a:ext cx="10908792" cy="548640"/>
          </a:xfrm>
          <a:prstGeom prst="rect">
            <a:avLst/>
          </a:prstGeom>
          <a:noFill/>
        </p:spPr>
        <p:txBody>
          <a:bodyPr wrap="square">
            <a:spAutoFit/>
          </a:bodyPr>
          <a:lstStyle/>
          <a:p>
            <a:pPr>
              <a:spcAft>
                <a:spcPts val="600"/>
              </a:spcAft>
            </a:pPr>
            <a:r>
              <a:rPr sz="1900" b="1" i="0">
                <a:solidFill>
                  <a:srgbClr val="00883A"/>
                </a:solidFill>
                <a:latin typeface="Arial"/>
              </a:rPr>
              <a:t>Mixed methods, parallel-convergent: </a:t>
            </a:r>
            <a:r>
              <a:rPr sz="1900" b="0" i="0">
                <a:solidFill>
                  <a:srgbClr val="1A1A1A"/>
                </a:solidFill>
                <a:latin typeface="Arial"/>
              </a:rPr>
              <a:t>two studies run at the same time, analysed separately, then merged (p. 10)</a:t>
            </a:r>
          </a:p>
        </p:txBody>
      </p:sp>
      <p:sp>
        <p:nvSpPr>
          <p:cNvPr id="158" name="Rounded Rectangle 157"/>
          <p:cNvSpPr/>
          <p:nvPr/>
        </p:nvSpPr>
        <p:spPr>
          <a:xfrm>
            <a:off x="640080" y="2103120"/>
            <a:ext cx="5212080" cy="237744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2959" y="2194560"/>
            <a:ext cx="4846320" cy="2194560"/>
          </a:xfrm>
          <a:prstGeom prst="rect">
            <a:avLst/>
          </a:prstGeom>
          <a:noFill/>
        </p:spPr>
        <p:txBody>
          <a:bodyPr wrap="square">
            <a:spAutoFit/>
          </a:bodyPr>
          <a:lstStyle/>
          <a:p>
            <a:pPr>
              <a:spcAft>
                <a:spcPts val="600"/>
              </a:spcAft>
            </a:pPr>
            <a:r>
              <a:rPr sz="2100" b="1" i="0">
                <a:solidFill>
                  <a:srgbClr val="00883A"/>
                </a:solidFill>
                <a:latin typeface="Arial"/>
              </a:rPr>
              <a:t>§3.1 Publication survey</a:t>
            </a:r>
          </a:p>
          <a:p>
            <a:pPr>
              <a:spcAft>
                <a:spcPts val="600"/>
              </a:spcAft>
            </a:pPr>
            <a:r>
              <a:rPr sz="1800" b="0" i="0">
                <a:solidFill>
                  <a:srgbClr val="1A1A1A"/>
                </a:solidFill>
                <a:latin typeface="Arial"/>
              </a:rPr>
              <a:t>all technical-track papers</a:t>
            </a:r>
          </a:p>
          <a:p>
            <a:pPr>
              <a:spcAft>
                <a:spcPts val="600"/>
              </a:spcAft>
            </a:pPr>
            <a:r>
              <a:rPr sz="1800" b="0" i="0">
                <a:solidFill>
                  <a:srgbClr val="1A1A1A"/>
                </a:solidFill>
                <a:latin typeface="Arial"/>
              </a:rPr>
              <a:t>ICSE · FSE · ASE · EMSE</a:t>
            </a:r>
          </a:p>
          <a:p>
            <a:pPr>
              <a:spcAft>
                <a:spcPts val="600"/>
              </a:spcAft>
            </a:pPr>
            <a:r>
              <a:rPr sz="1800" b="0" i="0">
                <a:solidFill>
                  <a:srgbClr val="1A1A1A"/>
                </a:solidFill>
                <a:latin typeface="Arial"/>
              </a:rPr>
              <a:t>2014-2018</a:t>
            </a:r>
          </a:p>
          <a:p>
            <a:pPr>
              <a:spcAft>
                <a:spcPts val="600"/>
              </a:spcAft>
            </a:pPr>
            <a:r>
              <a:rPr sz="1800" b="0" i="0">
                <a:solidFill>
                  <a:srgbClr val="1A1A1A"/>
                </a:solidFill>
                <a:latin typeface="Arial"/>
              </a:rPr>
              <a:t>→ prevalence and availability</a:t>
            </a:r>
          </a:p>
        </p:txBody>
      </p:sp>
      <p:sp>
        <p:nvSpPr>
          <p:cNvPr id="160" name="Rounded Rectangle 159"/>
          <p:cNvSpPr/>
          <p:nvPr/>
        </p:nvSpPr>
        <p:spPr>
          <a:xfrm>
            <a:off x="6336792" y="2103120"/>
            <a:ext cx="5212080" cy="237744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519672" y="2194560"/>
            <a:ext cx="4846320" cy="2194560"/>
          </a:xfrm>
          <a:prstGeom prst="rect">
            <a:avLst/>
          </a:prstGeom>
          <a:noFill/>
        </p:spPr>
        <p:txBody>
          <a:bodyPr wrap="square">
            <a:spAutoFit/>
          </a:bodyPr>
          <a:lstStyle/>
          <a:p>
            <a:pPr>
              <a:spcAft>
                <a:spcPts val="600"/>
              </a:spcAft>
            </a:pPr>
            <a:r>
              <a:rPr sz="2100" b="1" i="0">
                <a:solidFill>
                  <a:srgbClr val="00883A"/>
                </a:solidFill>
                <a:latin typeface="Arial"/>
              </a:rPr>
              <a:t>§3.2 Author survey</a:t>
            </a:r>
          </a:p>
          <a:p>
            <a:pPr>
              <a:spcAft>
                <a:spcPts val="600"/>
              </a:spcAft>
            </a:pPr>
            <a:r>
              <a:rPr sz="1800" b="0" i="0">
                <a:solidFill>
                  <a:srgbClr val="1A1A1A"/>
                </a:solidFill>
                <a:latin typeface="Arial"/>
              </a:rPr>
              <a:t>online questionnaire</a:t>
            </a:r>
          </a:p>
          <a:p>
            <a:pPr>
              <a:spcAft>
                <a:spcPts val="600"/>
              </a:spcAft>
            </a:pPr>
            <a:r>
              <a:rPr sz="1800" b="0" i="0">
                <a:solidFill>
                  <a:srgbClr val="1A1A1A"/>
                </a:solidFill>
                <a:latin typeface="Arial"/>
              </a:rPr>
              <a:t>authors of 2018 papers</a:t>
            </a:r>
          </a:p>
          <a:p>
            <a:pPr>
              <a:spcAft>
                <a:spcPts val="600"/>
              </a:spcAft>
            </a:pPr>
            <a:r>
              <a:rPr sz="1800" b="0" i="0">
                <a:solidFill>
                  <a:srgbClr val="1A1A1A"/>
                </a:solidFill>
                <a:latin typeface="Arial"/>
              </a:rPr>
              <a:t>creators · users · reviewers</a:t>
            </a:r>
          </a:p>
          <a:p>
            <a:pPr>
              <a:spcAft>
                <a:spcPts val="600"/>
              </a:spcAft>
            </a:pPr>
            <a:r>
              <a:rPr sz="1800" b="0" i="0">
                <a:solidFill>
                  <a:srgbClr val="1A1A1A"/>
                </a:solidFill>
                <a:latin typeface="Arial"/>
              </a:rPr>
              <a:t>→ perceived value and challenges</a:t>
            </a:r>
          </a:p>
        </p:txBody>
      </p:sp>
      <p:sp>
        <p:nvSpPr>
          <p:cNvPr id="162" name="Down Arrow 161"/>
          <p:cNvSpPr/>
          <p:nvPr/>
        </p:nvSpPr>
        <p:spPr>
          <a:xfrm>
            <a:off x="5824728" y="4572000"/>
            <a:ext cx="548640" cy="457200"/>
          </a:xfrm>
          <a:prstGeom prst="downArrow">
            <a:avLst/>
          </a:prstGeom>
          <a:solidFill>
            <a:srgbClr val="008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Rounded Rectangle 162"/>
          <p:cNvSpPr/>
          <p:nvPr/>
        </p:nvSpPr>
        <p:spPr>
          <a:xfrm>
            <a:off x="2286000" y="5120640"/>
            <a:ext cx="7616952" cy="91440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2468880" y="5166360"/>
            <a:ext cx="7251192" cy="822960"/>
          </a:xfrm>
          <a:prstGeom prst="rect">
            <a:avLst/>
          </a:prstGeom>
          <a:noFill/>
        </p:spPr>
        <p:txBody>
          <a:bodyPr wrap="square" anchor="ctr">
            <a:spAutoFit/>
          </a:bodyPr>
          <a:lstStyle/>
          <a:p>
            <a:pPr algn="ctr">
              <a:spcAft>
                <a:spcPts val="600"/>
              </a:spcAft>
            </a:pPr>
            <a:r>
              <a:rPr sz="1900" b="1" i="0">
                <a:solidFill>
                  <a:srgbClr val="00883A"/>
                </a:solidFill>
                <a:latin typeface="Arial"/>
              </a:rPr>
              <a:t>Integrated results (§4): </a:t>
            </a:r>
            <a:r>
              <a:rPr sz="1900" b="0" i="0">
                <a:solidFill>
                  <a:srgbClr val="1A1A1A"/>
                </a:solidFill>
                <a:latin typeface="Arial"/>
              </a:rPr>
              <a:t>RQ1 value · RQ2 challenges</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65" name="Google Shape;165;p2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66" name="TextBox 165"/>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RQ1 · Does the community value artifacts?</a:t>
            </a:r>
          </a:p>
        </p:txBody>
      </p:sp>
      <p:sp>
        <p:nvSpPr>
          <p:cNvPr id="167" name="Rounded Rectangle 166"/>
          <p:cNvSpPr/>
          <p:nvPr/>
        </p:nvSpPr>
        <p:spPr>
          <a:xfrm>
            <a:off x="640080" y="1554480"/>
            <a:ext cx="10908792" cy="146304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822960" y="1600200"/>
            <a:ext cx="10515600" cy="1371600"/>
          </a:xfrm>
          <a:prstGeom prst="rect">
            <a:avLst/>
          </a:prstGeom>
          <a:noFill/>
        </p:spPr>
        <p:txBody>
          <a:bodyPr wrap="square" anchor="ctr">
            <a:spAutoFit/>
          </a:bodyPr>
          <a:lstStyle/>
          <a:p>
            <a:pPr>
              <a:spcAft>
                <a:spcPts val="600"/>
              </a:spcAft>
            </a:pPr>
            <a:r>
              <a:rPr sz="1900" b="1" i="0">
                <a:solidFill>
                  <a:srgbClr val="00883A"/>
                </a:solidFill>
                <a:latin typeface="Arial"/>
              </a:rPr>
              <a:t>Yes: </a:t>
            </a:r>
            <a:r>
              <a:rPr sz="1900" b="0" i="0">
                <a:solidFill>
                  <a:srgbClr val="1A1A1A"/>
                </a:solidFill>
                <a:latin typeface="Arial"/>
              </a:rPr>
              <a:t>artifacts are seen as inherently valuable; sharing is an established and growing norm (most papers now link one, p. 11)</a:t>
            </a:r>
          </a:p>
          <a:p>
            <a:pPr>
              <a:spcAft>
                <a:spcPts val="600"/>
              </a:spcAft>
            </a:pPr>
            <a:r>
              <a:rPr sz="1900" b="0" i="0">
                <a:solidFill>
                  <a:srgbClr val="1A1A1A"/>
                </a:solidFill>
                <a:latin typeface="Arial"/>
              </a:rPr>
              <a:t>Not every paper needs one, but sharing should be encouraged and rewarded; replication is hard and unreliable without artifacts</a:t>
            </a:r>
          </a:p>
        </p:txBody>
      </p:sp>
      <p:sp>
        <p:nvSpPr>
          <p:cNvPr id="169" name="TextBox 168"/>
          <p:cNvSpPr txBox="1"/>
          <p:nvPr/>
        </p:nvSpPr>
        <p:spPr>
          <a:xfrm>
            <a:off x="640080" y="3200400"/>
            <a:ext cx="10908792" cy="365760"/>
          </a:xfrm>
          <a:prstGeom prst="rect">
            <a:avLst/>
          </a:prstGeom>
          <a:noFill/>
        </p:spPr>
        <p:txBody>
          <a:bodyPr wrap="square">
            <a:spAutoFit/>
          </a:bodyPr>
          <a:lstStyle/>
          <a:p>
            <a:pPr>
              <a:spcAft>
                <a:spcPts val="600"/>
              </a:spcAft>
            </a:pPr>
            <a:r>
              <a:rPr sz="1600" b="1" i="0">
                <a:solidFill>
                  <a:srgbClr val="5F6368"/>
                </a:solidFill>
                <a:latin typeface="Arial"/>
              </a:rPr>
              <a:t>Why authors share (Table 3, p. 12)</a:t>
            </a:r>
          </a:p>
        </p:txBody>
      </p:sp>
      <p:sp>
        <p:nvSpPr>
          <p:cNvPr id="170" name="Rounded Rectangle 169"/>
          <p:cNvSpPr/>
          <p:nvPr/>
        </p:nvSpPr>
        <p:spPr>
          <a:xfrm>
            <a:off x="640080" y="3657600"/>
            <a:ext cx="2587752" cy="2194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777240" y="3794760"/>
            <a:ext cx="2313432" cy="1920240"/>
          </a:xfrm>
          <a:prstGeom prst="rect">
            <a:avLst/>
          </a:prstGeom>
          <a:noFill/>
        </p:spPr>
        <p:txBody>
          <a:bodyPr wrap="square">
            <a:spAutoFit/>
          </a:bodyPr>
          <a:lstStyle/>
          <a:p>
            <a:pPr>
              <a:spcAft>
                <a:spcPts val="1000"/>
              </a:spcAft>
            </a:pPr>
            <a:r>
              <a:rPr sz="2000" b="1" i="0">
                <a:solidFill>
                  <a:srgbClr val="00883A"/>
                </a:solidFill>
                <a:latin typeface="Arial"/>
              </a:rPr>
              <a:t>Supporting evidence</a:t>
            </a:r>
          </a:p>
          <a:p>
            <a:pPr>
              <a:spcAft>
                <a:spcPts val="1000"/>
              </a:spcAft>
            </a:pPr>
            <a:r>
              <a:rPr sz="1700" b="0" i="0">
                <a:solidFill>
                  <a:srgbClr val="1A1A1A"/>
                </a:solidFill>
                <a:latin typeface="Arial"/>
              </a:rPr>
              <a:t>backs the paper’s claims, builds trust</a:t>
            </a:r>
          </a:p>
        </p:txBody>
      </p:sp>
      <p:sp>
        <p:nvSpPr>
          <p:cNvPr id="172" name="Rounded Rectangle 171"/>
          <p:cNvSpPr/>
          <p:nvPr/>
        </p:nvSpPr>
        <p:spPr>
          <a:xfrm>
            <a:off x="3410711" y="3657600"/>
            <a:ext cx="2587752" cy="2194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3547871" y="3794760"/>
            <a:ext cx="2313432" cy="1920240"/>
          </a:xfrm>
          <a:prstGeom prst="rect">
            <a:avLst/>
          </a:prstGeom>
          <a:noFill/>
        </p:spPr>
        <p:txBody>
          <a:bodyPr wrap="square">
            <a:spAutoFit/>
          </a:bodyPr>
          <a:lstStyle/>
          <a:p>
            <a:pPr>
              <a:spcAft>
                <a:spcPts val="1000"/>
              </a:spcAft>
            </a:pPr>
            <a:r>
              <a:rPr sz="2000" b="1" i="0">
                <a:solidFill>
                  <a:srgbClr val="00883A"/>
                </a:solidFill>
                <a:latin typeface="Arial"/>
              </a:rPr>
              <a:t>Community norm</a:t>
            </a:r>
          </a:p>
          <a:p>
            <a:pPr>
              <a:spcAft>
                <a:spcPts val="1000"/>
              </a:spcAft>
            </a:pPr>
            <a:r>
              <a:rPr sz="1700" b="0" i="0">
                <a:solidFill>
                  <a:srgbClr val="1A1A1A"/>
                </a:solidFill>
                <a:latin typeface="Arial"/>
              </a:rPr>
              <a:t>"good practice" that benefits all</a:t>
            </a:r>
          </a:p>
        </p:txBody>
      </p:sp>
      <p:sp>
        <p:nvSpPr>
          <p:cNvPr id="174" name="Rounded Rectangle 173"/>
          <p:cNvSpPr/>
          <p:nvPr/>
        </p:nvSpPr>
        <p:spPr>
          <a:xfrm>
            <a:off x="6181344" y="3657600"/>
            <a:ext cx="2587752" cy="2194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6318504" y="3794760"/>
            <a:ext cx="2313432" cy="1920240"/>
          </a:xfrm>
          <a:prstGeom prst="rect">
            <a:avLst/>
          </a:prstGeom>
          <a:noFill/>
        </p:spPr>
        <p:txBody>
          <a:bodyPr wrap="square">
            <a:spAutoFit/>
          </a:bodyPr>
          <a:lstStyle/>
          <a:p>
            <a:pPr>
              <a:spcAft>
                <a:spcPts val="1000"/>
              </a:spcAft>
            </a:pPr>
            <a:r>
              <a:rPr sz="2000" b="1" i="0">
                <a:solidFill>
                  <a:srgbClr val="00883A"/>
                </a:solidFill>
                <a:latin typeface="Arial"/>
              </a:rPr>
              <a:t>Reuse</a:t>
            </a:r>
          </a:p>
          <a:p>
            <a:pPr>
              <a:spcAft>
                <a:spcPts val="1000"/>
              </a:spcAft>
            </a:pPr>
            <a:r>
              <a:rPr sz="1700" b="0" i="0">
                <a:solidFill>
                  <a:srgbClr val="1A1A1A"/>
                </a:solidFill>
                <a:latin typeface="Arial"/>
              </a:rPr>
              <a:t>tools and data others can extend</a:t>
            </a:r>
          </a:p>
        </p:txBody>
      </p:sp>
      <p:sp>
        <p:nvSpPr>
          <p:cNvPr id="176" name="Rounded Rectangle 175"/>
          <p:cNvSpPr/>
          <p:nvPr/>
        </p:nvSpPr>
        <p:spPr>
          <a:xfrm>
            <a:off x="8951976" y="3657600"/>
            <a:ext cx="2587752" cy="219456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089136" y="3794760"/>
            <a:ext cx="2313432" cy="1920240"/>
          </a:xfrm>
          <a:prstGeom prst="rect">
            <a:avLst/>
          </a:prstGeom>
          <a:noFill/>
        </p:spPr>
        <p:txBody>
          <a:bodyPr wrap="square">
            <a:spAutoFit/>
          </a:bodyPr>
          <a:lstStyle/>
          <a:p>
            <a:pPr>
              <a:spcAft>
                <a:spcPts val="1000"/>
              </a:spcAft>
            </a:pPr>
            <a:r>
              <a:rPr sz="2000" b="1" i="0">
                <a:solidFill>
                  <a:srgbClr val="00883A"/>
                </a:solidFill>
                <a:latin typeface="Arial"/>
              </a:rPr>
              <a:t>Understanding</a:t>
            </a:r>
          </a:p>
          <a:p>
            <a:pPr>
              <a:spcAft>
                <a:spcPts val="1000"/>
              </a:spcAft>
            </a:pPr>
            <a:r>
              <a:rPr sz="1700" b="0" i="0">
                <a:solidFill>
                  <a:srgbClr val="1A1A1A"/>
                </a:solidFill>
                <a:latin typeface="Arial"/>
              </a:rPr>
              <a:t>details that don’t fit in a paper</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sp>
        <p:nvSpPr>
          <p:cNvPr id="171" name="Google Shape;171;p2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173" name="Google Shape;173;p2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74" name="Rounded Rectangle 173"/>
          <p:cNvSpPr/>
          <p:nvPr/>
        </p:nvSpPr>
        <p:spPr>
          <a:xfrm>
            <a:off x="640080" y="1417320"/>
            <a:ext cx="10908792" cy="86868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822960" y="1463040"/>
            <a:ext cx="2377440" cy="777240"/>
          </a:xfrm>
          <a:prstGeom prst="rect">
            <a:avLst/>
          </a:prstGeom>
          <a:noFill/>
        </p:spPr>
        <p:txBody>
          <a:bodyPr wrap="square" anchor="ctr">
            <a:spAutoFit/>
          </a:bodyPr>
          <a:lstStyle/>
          <a:p>
            <a:pPr>
              <a:spcAft>
                <a:spcPts val="600"/>
              </a:spcAft>
            </a:pPr>
            <a:r>
              <a:rPr sz="2000" b="1" i="0">
                <a:solidFill>
                  <a:srgbClr val="00883A"/>
                </a:solidFill>
                <a:latin typeface="Arial"/>
              </a:rPr>
              <a:t>Replicability</a:t>
            </a:r>
          </a:p>
        </p:txBody>
      </p:sp>
      <p:sp>
        <p:nvSpPr>
          <p:cNvPr id="176" name="TextBox 175"/>
          <p:cNvSpPr txBox="1"/>
          <p:nvPr/>
        </p:nvSpPr>
        <p:spPr>
          <a:xfrm>
            <a:off x="3200400" y="1463040"/>
            <a:ext cx="8229600" cy="777240"/>
          </a:xfrm>
          <a:prstGeom prst="rect">
            <a:avLst/>
          </a:prstGeom>
          <a:noFill/>
        </p:spPr>
        <p:txBody>
          <a:bodyPr wrap="square" anchor="ctr">
            <a:spAutoFit/>
          </a:bodyPr>
          <a:lstStyle/>
          <a:p>
            <a:pPr>
              <a:spcAft>
                <a:spcPts val="600"/>
              </a:spcAft>
            </a:pPr>
            <a:r>
              <a:rPr sz="1800" b="0" i="0">
                <a:solidFill>
                  <a:srgbClr val="1A1A1A"/>
                </a:solidFill>
                <a:latin typeface="Arial"/>
              </a:rPr>
              <a:t>data and scripts shared; qualitative answers kept confidential (p. 10)</a:t>
            </a:r>
          </a:p>
        </p:txBody>
      </p:sp>
      <p:sp>
        <p:nvSpPr>
          <p:cNvPr id="177" name="Rounded Rectangle 176"/>
          <p:cNvSpPr/>
          <p:nvPr/>
        </p:nvSpPr>
        <p:spPr>
          <a:xfrm>
            <a:off x="640080" y="2395728"/>
            <a:ext cx="10908792" cy="86868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TextBox 177"/>
          <p:cNvSpPr txBox="1"/>
          <p:nvPr/>
        </p:nvSpPr>
        <p:spPr>
          <a:xfrm>
            <a:off x="822960" y="2441448"/>
            <a:ext cx="2377440" cy="777240"/>
          </a:xfrm>
          <a:prstGeom prst="rect">
            <a:avLst/>
          </a:prstGeom>
          <a:noFill/>
        </p:spPr>
        <p:txBody>
          <a:bodyPr wrap="square" anchor="ctr">
            <a:spAutoFit/>
          </a:bodyPr>
          <a:lstStyle/>
          <a:p>
            <a:pPr>
              <a:spcAft>
                <a:spcPts val="600"/>
              </a:spcAft>
            </a:pPr>
            <a:r>
              <a:rPr sz="2000" b="1" i="0">
                <a:solidFill>
                  <a:srgbClr val="00883A"/>
                </a:solidFill>
                <a:latin typeface="Arial"/>
              </a:rPr>
              <a:t>Construct</a:t>
            </a:r>
          </a:p>
        </p:txBody>
      </p:sp>
      <p:sp>
        <p:nvSpPr>
          <p:cNvPr id="179" name="TextBox 178"/>
          <p:cNvSpPr txBox="1"/>
          <p:nvPr/>
        </p:nvSpPr>
        <p:spPr>
          <a:xfrm>
            <a:off x="3200400" y="2441448"/>
            <a:ext cx="8229600" cy="777240"/>
          </a:xfrm>
          <a:prstGeom prst="rect">
            <a:avLst/>
          </a:prstGeom>
          <a:noFill/>
        </p:spPr>
        <p:txBody>
          <a:bodyPr wrap="square" anchor="ctr">
            <a:spAutoFit/>
          </a:bodyPr>
          <a:lstStyle/>
          <a:p>
            <a:pPr>
              <a:spcAft>
                <a:spcPts val="600"/>
              </a:spcAft>
            </a:pPr>
            <a:r>
              <a:rPr sz="1800" b="0" i="0">
                <a:solidFill>
                  <a:srgbClr val="1A1A1A"/>
                </a:solidFill>
                <a:latin typeface="Arial"/>
              </a:rPr>
              <a:t>artifact = any link; unlinked artifacts missed; authors not contacted (p. 10)</a:t>
            </a:r>
          </a:p>
        </p:txBody>
      </p:sp>
      <p:sp>
        <p:nvSpPr>
          <p:cNvPr id="180" name="Rounded Rectangle 179"/>
          <p:cNvSpPr/>
          <p:nvPr/>
        </p:nvSpPr>
        <p:spPr>
          <a:xfrm>
            <a:off x="640080" y="3374136"/>
            <a:ext cx="10908792" cy="86868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822960" y="3419856"/>
            <a:ext cx="2377440" cy="777240"/>
          </a:xfrm>
          <a:prstGeom prst="rect">
            <a:avLst/>
          </a:prstGeom>
          <a:noFill/>
        </p:spPr>
        <p:txBody>
          <a:bodyPr wrap="square" anchor="ctr">
            <a:spAutoFit/>
          </a:bodyPr>
          <a:lstStyle/>
          <a:p>
            <a:pPr>
              <a:spcAft>
                <a:spcPts val="600"/>
              </a:spcAft>
            </a:pPr>
            <a:r>
              <a:rPr sz="2000" b="1" i="0">
                <a:solidFill>
                  <a:srgbClr val="00883A"/>
                </a:solidFill>
                <a:latin typeface="Arial"/>
              </a:rPr>
              <a:t>Internal</a:t>
            </a:r>
          </a:p>
        </p:txBody>
      </p:sp>
      <p:sp>
        <p:nvSpPr>
          <p:cNvPr id="182" name="TextBox 181"/>
          <p:cNvSpPr txBox="1"/>
          <p:nvPr/>
        </p:nvSpPr>
        <p:spPr>
          <a:xfrm>
            <a:off x="3200400" y="3419856"/>
            <a:ext cx="8229600" cy="777240"/>
          </a:xfrm>
          <a:prstGeom prst="rect">
            <a:avLst/>
          </a:prstGeom>
          <a:noFill/>
        </p:spPr>
        <p:txBody>
          <a:bodyPr wrap="square" anchor="ctr">
            <a:spAutoFit/>
          </a:bodyPr>
          <a:lstStyle/>
          <a:p>
            <a:pPr>
              <a:spcAft>
                <a:spcPts val="600"/>
              </a:spcAft>
            </a:pPr>
            <a:r>
              <a:rPr sz="1800" b="0" i="0">
                <a:solidFill>
                  <a:srgbClr val="1A1A1A"/>
                </a:solidFill>
                <a:latin typeface="Arial"/>
              </a:rPr>
              <a:t>survey bias from respondents and researchers; triangulation, documented coding (pp. 10-11)</a:t>
            </a:r>
          </a:p>
        </p:txBody>
      </p:sp>
      <p:sp>
        <p:nvSpPr>
          <p:cNvPr id="183" name="Rounded Rectangle 182"/>
          <p:cNvSpPr/>
          <p:nvPr/>
        </p:nvSpPr>
        <p:spPr>
          <a:xfrm>
            <a:off x="640080" y="4352544"/>
            <a:ext cx="10908792" cy="86868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TextBox 183"/>
          <p:cNvSpPr txBox="1"/>
          <p:nvPr/>
        </p:nvSpPr>
        <p:spPr>
          <a:xfrm>
            <a:off x="822960" y="4398264"/>
            <a:ext cx="2377440" cy="777240"/>
          </a:xfrm>
          <a:prstGeom prst="rect">
            <a:avLst/>
          </a:prstGeom>
          <a:noFill/>
        </p:spPr>
        <p:txBody>
          <a:bodyPr wrap="square" anchor="ctr">
            <a:spAutoFit/>
          </a:bodyPr>
          <a:lstStyle/>
          <a:p>
            <a:pPr>
              <a:spcAft>
                <a:spcPts val="600"/>
              </a:spcAft>
            </a:pPr>
            <a:r>
              <a:rPr sz="2000" b="1" i="0">
                <a:solidFill>
                  <a:srgbClr val="00883A"/>
                </a:solidFill>
                <a:latin typeface="Arial"/>
              </a:rPr>
              <a:t>"Available"</a:t>
            </a:r>
          </a:p>
        </p:txBody>
      </p:sp>
      <p:sp>
        <p:nvSpPr>
          <p:cNvPr id="185" name="TextBox 184"/>
          <p:cNvSpPr txBox="1"/>
          <p:nvPr/>
        </p:nvSpPr>
        <p:spPr>
          <a:xfrm>
            <a:off x="3200400" y="4398264"/>
            <a:ext cx="8229600" cy="777240"/>
          </a:xfrm>
          <a:prstGeom prst="rect">
            <a:avLst/>
          </a:prstGeom>
          <a:noFill/>
        </p:spPr>
        <p:txBody>
          <a:bodyPr wrap="square" anchor="ctr">
            <a:spAutoFit/>
          </a:bodyPr>
          <a:lstStyle/>
          <a:p>
            <a:pPr>
              <a:spcAft>
                <a:spcPts val="600"/>
              </a:spcAft>
            </a:pPr>
            <a:r>
              <a:rPr sz="1800" b="0" i="0">
                <a:solidFill>
                  <a:srgbClr val="1A1A1A"/>
                </a:solidFill>
                <a:latin typeface="Arial"/>
              </a:rPr>
              <a:t>link still works; content and quality not checked (p. 11)</a:t>
            </a:r>
          </a:p>
        </p:txBody>
      </p:sp>
      <p:sp>
        <p:nvSpPr>
          <p:cNvPr id="186" name="Rounded Rectangle 185"/>
          <p:cNvSpPr/>
          <p:nvPr/>
        </p:nvSpPr>
        <p:spPr>
          <a:xfrm>
            <a:off x="640080" y="5330952"/>
            <a:ext cx="10908792" cy="86868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822960" y="5376672"/>
            <a:ext cx="2377440" cy="777240"/>
          </a:xfrm>
          <a:prstGeom prst="rect">
            <a:avLst/>
          </a:prstGeom>
          <a:noFill/>
        </p:spPr>
        <p:txBody>
          <a:bodyPr wrap="square" anchor="ctr">
            <a:spAutoFit/>
          </a:bodyPr>
          <a:lstStyle/>
          <a:p>
            <a:pPr>
              <a:spcAft>
                <a:spcPts val="600"/>
              </a:spcAft>
            </a:pPr>
            <a:r>
              <a:rPr sz="2000" b="1" i="0">
                <a:solidFill>
                  <a:srgbClr val="00883A"/>
                </a:solidFill>
                <a:latin typeface="Arial"/>
              </a:rPr>
              <a:t>External</a:t>
            </a:r>
          </a:p>
        </p:txBody>
      </p:sp>
      <p:sp>
        <p:nvSpPr>
          <p:cNvPr id="188" name="TextBox 187"/>
          <p:cNvSpPr txBox="1"/>
          <p:nvPr/>
        </p:nvSpPr>
        <p:spPr>
          <a:xfrm>
            <a:off x="3200400" y="5376672"/>
            <a:ext cx="8229600" cy="777240"/>
          </a:xfrm>
          <a:prstGeom prst="rect">
            <a:avLst/>
          </a:prstGeom>
          <a:noFill/>
        </p:spPr>
        <p:txBody>
          <a:bodyPr wrap="square" anchor="ctr">
            <a:spAutoFit/>
          </a:bodyPr>
          <a:lstStyle/>
          <a:p>
            <a:pPr>
              <a:spcAft>
                <a:spcPts val="600"/>
              </a:spcAft>
            </a:pPr>
            <a:r>
              <a:rPr sz="1800" b="0" i="0">
                <a:solidFill>
                  <a:srgbClr val="1A1A1A"/>
                </a:solidFill>
                <a:latin typeface="Arial"/>
              </a:rPr>
              <a:t>results describe only the SE research community (p. 11)</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2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80" name="Google Shape;180;p2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81" name="Google Shape;181;p22"/>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188" name="Google Shape;188;p2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89" name="Google Shape;189;p2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Frage die mir eingefallen sind, idk ob die iwo reinpasst?</a:t>
            </a:r>
            <a:r>
              <a:rPr lang="en-US" sz="2200">
                <a:solidFill>
                  <a:srgbClr val="1A1A1A"/>
                </a:solidFill>
              </a:rPr>
              <a:t>…</a:t>
            </a:r>
            <a:endParaRPr sz="2200">
              <a:solidFill>
                <a:srgbClr val="1A1A1A"/>
              </a:solidFill>
            </a:endParaRPr>
          </a:p>
          <a:p>
            <a:pPr indent="-368300" lvl="0" marL="457200" rtl="0" algn="l">
              <a:lnSpc>
                <a:spcPct val="115000"/>
              </a:lnSpc>
              <a:spcBef>
                <a:spcPts val="0"/>
              </a:spcBef>
              <a:spcAft>
                <a:spcPts val="0"/>
              </a:spcAft>
              <a:buClr>
                <a:srgbClr val="1A1A1A"/>
              </a:buClr>
              <a:buSzPts val="2200"/>
              <a:buChar char="•"/>
            </a:pPr>
            <a:r>
              <a:rPr lang="en-US" sz="1100"/>
              <a:t>1.</a:t>
            </a:r>
            <a:r>
              <a:rPr lang="en-US" sz="700">
                <a:latin typeface="Times New Roman"/>
                <a:ea typeface="Times New Roman"/>
                <a:cs typeface="Times New Roman"/>
                <a:sym typeface="Times New Roman"/>
              </a:rPr>
              <a:t>      </a:t>
            </a:r>
            <a:r>
              <a:rPr lang="en-US" sz="1100"/>
              <a:t>Do you think any of the ACM artifact badges are unnecessary?</a:t>
            </a:r>
            <a:br>
              <a:rPr lang="en-US" sz="1100"/>
            </a:br>
            <a:r>
              <a:rPr lang="en-US" sz="1100"/>
              <a:t> For example, the Artifact Available Badge does not guarantee its functionality or say anything else other than there is an artifact that can be accessed.</a:t>
            </a:r>
            <a:endParaRPr sz="1100"/>
          </a:p>
          <a:p>
            <a:pPr indent="0" lvl="0" marL="457200" rtl="0" algn="l">
              <a:lnSpc>
                <a:spcPct val="115000"/>
              </a:lnSpc>
              <a:spcBef>
                <a:spcPts val="800"/>
              </a:spcBef>
              <a:spcAft>
                <a:spcPts val="0"/>
              </a:spcAft>
              <a:buNone/>
            </a:pPr>
            <a:r>
              <a:rPr lang="en-US" sz="1000"/>
              <a:t>-</a:t>
            </a:r>
            <a:r>
              <a:rPr lang="en-US" sz="700">
                <a:latin typeface="Times New Roman"/>
                <a:ea typeface="Times New Roman"/>
                <a:cs typeface="Times New Roman"/>
                <a:sym typeface="Times New Roman"/>
              </a:rPr>
              <a:t>  </a:t>
            </a:r>
            <a:r>
              <a:rPr lang="en-US" sz="1100"/>
              <a:t>How useful do you deem them overall? Some participants in the article’s survey mention that they hesitate submitting their artifact because the guidelines are not clear of what will get accepted?</a:t>
            </a:r>
            <a:endParaRPr sz="1100"/>
          </a:p>
          <a:p>
            <a:pPr indent="-368300" lvl="0" marL="457200" rtl="0" algn="l">
              <a:lnSpc>
                <a:spcPct val="115000"/>
              </a:lnSpc>
              <a:spcBef>
                <a:spcPts val="800"/>
              </a:spcBef>
              <a:spcAft>
                <a:spcPts val="0"/>
              </a:spcAft>
              <a:buClr>
                <a:srgbClr val="1A1A1A"/>
              </a:buClr>
              <a:buSzPts val="2200"/>
              <a:buChar char="•"/>
            </a:pPr>
            <a:r>
              <a:t/>
            </a:r>
            <a:endParaRPr sz="2200">
              <a:solidFill>
                <a:srgbClr val="1A1A1A"/>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Secondary Analysis</a:t>
            </a:r>
            <a:endParaRPr b="0" i="0" sz="4000" u="none" cap="none" strike="noStrike">
              <a:solidFill>
                <a:schemeClr val="dk1"/>
              </a:solidFill>
              <a:latin typeface="Arial"/>
              <a:ea typeface="Arial"/>
              <a:cs typeface="Arial"/>
              <a:sym typeface="Arial"/>
            </a:endParaRPr>
          </a:p>
        </p:txBody>
      </p:sp>
      <p:sp>
        <p:nvSpPr>
          <p:cNvPr id="196" name="Google Shape;196;p2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lang="en-US" sz="2200">
                <a:solidFill>
                  <a:srgbClr val="1A1A1A"/>
                </a:solidFill>
              </a:rPr>
              <a:t>Limited adoption (DoI):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are difficult to adopt and spread</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Communication breakdowns: </a:t>
            </a:r>
            <a:endParaRPr sz="2200">
              <a:solidFill>
                <a:srgbClr val="1A1A1A"/>
              </a:solidFill>
            </a:endParaRPr>
          </a:p>
          <a:p>
            <a:pPr indent="457200" lvl="0" marL="0" marR="0" rtl="0" algn="l">
              <a:spcBef>
                <a:spcPts val="0"/>
              </a:spcBef>
              <a:spcAft>
                <a:spcPts val="0"/>
              </a:spcAft>
              <a:buNone/>
            </a:pPr>
            <a:r>
              <a:rPr lang="en-US" sz="2200">
                <a:solidFill>
                  <a:srgbClr val="1A1A1A"/>
                </a:solidFill>
              </a:rPr>
              <a:t>→ Communication between creators, reviewers, and users is limited and </a:t>
            </a:r>
            <a:endParaRPr sz="2200">
              <a:solidFill>
                <a:srgbClr val="1A1A1A"/>
              </a:solidFill>
            </a:endParaRPr>
          </a:p>
          <a:p>
            <a:pPr indent="457200" lvl="0" marL="0" marR="0" rtl="0" algn="l">
              <a:spcBef>
                <a:spcPts val="0"/>
              </a:spcBef>
              <a:spcAft>
                <a:spcPts val="0"/>
              </a:spcAft>
              <a:buNone/>
            </a:pPr>
            <a:r>
              <a:rPr lang="en-US" sz="2200">
                <a:solidFill>
                  <a:srgbClr val="1A1A1A"/>
                </a:solidFill>
              </a:rPr>
              <a:t>     inconsistent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Decay and maintenance: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deteriorate over time, while maintenance requires ongoing effort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Lack of incentives and standards: </a:t>
            </a:r>
            <a:endParaRPr sz="2200">
              <a:solidFill>
                <a:srgbClr val="1A1A1A"/>
              </a:solidFill>
            </a:endParaRPr>
          </a:p>
          <a:p>
            <a:pPr indent="457200" lvl="0" marL="0" marR="0" rtl="0" algn="l">
              <a:spcBef>
                <a:spcPts val="0"/>
              </a:spcBef>
              <a:spcAft>
                <a:spcPts val="0"/>
              </a:spcAft>
              <a:buNone/>
            </a:pPr>
            <a:r>
              <a:rPr lang="en-US" sz="2200">
                <a:solidFill>
                  <a:srgbClr val="1A1A1A"/>
                </a:solidFill>
              </a:rPr>
              <a:t>→ Little reward for artifact creation and review leads to low-quality artifacts, </a:t>
            </a:r>
            <a:endParaRPr sz="2200">
              <a:solidFill>
                <a:srgbClr val="1A1A1A"/>
              </a:solidFill>
            </a:endParaRPr>
          </a:p>
          <a:p>
            <a:pPr indent="0" lvl="0" marL="457200" marR="0" rtl="0" algn="l">
              <a:spcBef>
                <a:spcPts val="0"/>
              </a:spcBef>
              <a:spcAft>
                <a:spcPts val="0"/>
              </a:spcAft>
              <a:buNone/>
            </a:pPr>
            <a:r>
              <a:rPr lang="en-US" sz="2200">
                <a:solidFill>
                  <a:srgbClr val="1A1A1A"/>
                </a:solidFill>
              </a:rPr>
              <a:t>     inexperienced reviewers, and inconsistent evaluation standards.</a:t>
            </a:r>
            <a:endParaRPr sz="2200">
              <a:solidFill>
                <a:srgbClr val="1A1A1A"/>
              </a:solidFill>
            </a:endParaRPr>
          </a:p>
        </p:txBody>
      </p:sp>
      <p:sp>
        <p:nvSpPr>
          <p:cNvPr id="197" name="Google Shape;197;p2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2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204" name="Google Shape;204;p2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05" name="Google Shape;205;p25"/>
          <p:cNvSpPr/>
          <p:nvPr/>
        </p:nvSpPr>
        <p:spPr>
          <a:xfrm>
            <a:off x="45295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06" name="Google Shape;206;p25"/>
          <p:cNvSpPr/>
          <p:nvPr/>
        </p:nvSpPr>
        <p:spPr>
          <a:xfrm>
            <a:off x="4494475"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07" name="Google Shape;207;p25"/>
          <p:cNvSpPr/>
          <p:nvPr/>
        </p:nvSpPr>
        <p:spPr>
          <a:xfrm>
            <a:off x="853600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08" name="Google Shape;208;p25"/>
          <p:cNvSpPr txBox="1"/>
          <p:nvPr/>
        </p:nvSpPr>
        <p:spPr>
          <a:xfrm>
            <a:off x="123040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209" name="Google Shape;209;p25"/>
          <p:cNvSpPr txBox="1"/>
          <p:nvPr/>
        </p:nvSpPr>
        <p:spPr>
          <a:xfrm>
            <a:off x="4494475" y="1423475"/>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210" name="Google Shape;210;p25"/>
          <p:cNvSpPr txBox="1"/>
          <p:nvPr/>
        </p:nvSpPr>
        <p:spPr>
          <a:xfrm>
            <a:off x="931345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211" name="Google Shape;211;p25"/>
          <p:cNvSpPr txBox="1"/>
          <p:nvPr/>
        </p:nvSpPr>
        <p:spPr>
          <a:xfrm>
            <a:off x="570250" y="2738950"/>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212" name="Google Shape;212;p25"/>
          <p:cNvSpPr txBox="1"/>
          <p:nvPr/>
        </p:nvSpPr>
        <p:spPr>
          <a:xfrm>
            <a:off x="4638025" y="2738950"/>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Align author and reviewer     </a:t>
            </a:r>
            <a:endParaRPr sz="1700"/>
          </a:p>
          <a:p>
            <a:pPr indent="0" lvl="0" marL="0" rtl="0" algn="l">
              <a:spcBef>
                <a:spcPts val="0"/>
              </a:spcBef>
              <a:spcAft>
                <a:spcPts val="0"/>
              </a:spcAft>
              <a:buNone/>
            </a:pPr>
            <a:r>
              <a:rPr lang="en-US" sz="1700"/>
              <a:t>      </a:t>
            </a:r>
            <a:r>
              <a:rPr lang="en-US" sz="1500"/>
              <a:t> </a:t>
            </a:r>
            <a:r>
              <a:rPr lang="en-US" sz="1700"/>
              <a:t>expectations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a:t>
            </a:r>
            <a:r>
              <a:rPr lang="en-US" sz="1700"/>
              <a:t>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a:t>
            </a:r>
            <a:r>
              <a:rPr lang="en-US" sz="1700"/>
              <a:t> </a:t>
            </a:r>
            <a:r>
              <a:rPr lang="en-US" sz="1700"/>
              <a:t>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213" name="Google Shape;213;p25"/>
          <p:cNvSpPr txBox="1"/>
          <p:nvPr/>
        </p:nvSpPr>
        <p:spPr>
          <a:xfrm>
            <a:off x="8653300" y="2738950"/>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 name="Shape 218"/>
        <p:cNvGrpSpPr/>
        <p:nvPr/>
      </p:nvGrpSpPr>
      <p:grpSpPr>
        <a:xfrm>
          <a:off x="0" y="0"/>
          <a:ext cx="0" cy="0"/>
          <a:chOff x="0" y="0"/>
          <a:chExt cx="0" cy="0"/>
        </a:xfrm>
      </p:grpSpPr>
      <p:sp>
        <p:nvSpPr>
          <p:cNvPr id="219" name="Google Shape;219;p2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4000"/>
              <a:buFont typeface="Arial"/>
              <a:buNone/>
            </a:pPr>
            <a:r>
              <a:rPr b="1" lang="en-US" sz="4000">
                <a:solidFill>
                  <a:schemeClr val="dk2"/>
                </a:solidFill>
              </a:rPr>
              <a:t>Paper 2 · Discussion</a:t>
            </a:r>
            <a:endParaRPr b="1" sz="4000">
              <a:solidFill>
                <a:srgbClr val="00883A"/>
              </a:solidFill>
            </a:endParaRPr>
          </a:p>
        </p:txBody>
      </p:sp>
      <p:sp>
        <p:nvSpPr>
          <p:cNvPr id="220" name="Google Shape;220;p2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21" name="Google Shape;221;p26"/>
          <p:cNvSpPr/>
          <p:nvPr/>
        </p:nvSpPr>
        <p:spPr>
          <a:xfrm>
            <a:off x="452950" y="2061888"/>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2" name="Google Shape;222;p26"/>
          <p:cNvSpPr/>
          <p:nvPr/>
        </p:nvSpPr>
        <p:spPr>
          <a:xfrm>
            <a:off x="4494475" y="2061888"/>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3" name="Google Shape;223;p26"/>
          <p:cNvSpPr/>
          <p:nvPr/>
        </p:nvSpPr>
        <p:spPr>
          <a:xfrm>
            <a:off x="8536000" y="2061888"/>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224" name="Google Shape;224;p26"/>
          <p:cNvSpPr txBox="1"/>
          <p:nvPr/>
        </p:nvSpPr>
        <p:spPr>
          <a:xfrm>
            <a:off x="1230400" y="1489163"/>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225" name="Google Shape;225;p26"/>
          <p:cNvSpPr txBox="1"/>
          <p:nvPr/>
        </p:nvSpPr>
        <p:spPr>
          <a:xfrm>
            <a:off x="4494475" y="1260013"/>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226" name="Google Shape;226;p26"/>
          <p:cNvSpPr txBox="1"/>
          <p:nvPr/>
        </p:nvSpPr>
        <p:spPr>
          <a:xfrm>
            <a:off x="9313450" y="1489163"/>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227" name="Google Shape;227;p26"/>
          <p:cNvSpPr txBox="1"/>
          <p:nvPr/>
        </p:nvSpPr>
        <p:spPr>
          <a:xfrm>
            <a:off x="570250" y="2575488"/>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228" name="Google Shape;228;p26"/>
          <p:cNvSpPr txBox="1"/>
          <p:nvPr/>
        </p:nvSpPr>
        <p:spPr>
          <a:xfrm>
            <a:off x="4638025" y="2575488"/>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Align author and reviewer     </a:t>
            </a:r>
            <a:endParaRPr sz="1700"/>
          </a:p>
          <a:p>
            <a:pPr indent="0" lvl="0" marL="0" rtl="0" algn="l">
              <a:spcBef>
                <a:spcPts val="0"/>
              </a:spcBef>
              <a:spcAft>
                <a:spcPts val="0"/>
              </a:spcAft>
              <a:buNone/>
            </a:pPr>
            <a:r>
              <a:rPr lang="en-US" sz="1700"/>
              <a:t>      </a:t>
            </a:r>
            <a:r>
              <a:rPr lang="en-US" sz="1500"/>
              <a:t> </a:t>
            </a:r>
            <a:r>
              <a:rPr lang="en-US" sz="1700"/>
              <a:t>expectations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 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229" name="Google Shape;229;p26"/>
          <p:cNvSpPr txBox="1"/>
          <p:nvPr/>
        </p:nvSpPr>
        <p:spPr>
          <a:xfrm>
            <a:off x="8653300" y="2575488"/>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
        <p:nvSpPr>
          <p:cNvPr id="230" name="Google Shape;230;p26"/>
          <p:cNvSpPr txBox="1"/>
          <p:nvPr/>
        </p:nvSpPr>
        <p:spPr>
          <a:xfrm>
            <a:off x="4739425" y="5956800"/>
            <a:ext cx="3000000" cy="554100"/>
          </a:xfrm>
          <a:prstGeom prst="rect">
            <a:avLst/>
          </a:prstGeom>
          <a:noFill/>
          <a:ln>
            <a:noFill/>
          </a:ln>
        </p:spPr>
        <p:txBody>
          <a:bodyPr anchorCtr="0" anchor="t" bIns="91425" lIns="91425" spcFirstLastPara="1" rIns="91425" wrap="square" tIns="91425">
            <a:spAutoFit/>
          </a:bodyPr>
          <a:lstStyle/>
          <a:p>
            <a:pPr indent="0" lvl="0" marL="0" rtl="0" algn="ctr">
              <a:lnSpc>
                <a:spcPct val="120000"/>
              </a:lnSpc>
              <a:spcBef>
                <a:spcPts val="0"/>
              </a:spcBef>
              <a:spcAft>
                <a:spcPts val="0"/>
              </a:spcAft>
              <a:buNone/>
            </a:pPr>
            <a:r>
              <a:rPr lang="en-US" sz="2400"/>
              <a:t>Agree/Disagree?</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27"/>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237" name="Google Shape;237;p27"/>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2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sp>
        <p:nvSpPr>
          <p:cNvPr id="244" name="Google Shape;244;p2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45" name="Google Shape;245;p28"/>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2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252" name="Google Shape;252;p2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253" name="Google Shape;253;p2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3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260" name="Google Shape;260;p3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61" name="Google Shape;261;p30"/>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31"/>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268" name="Google Shape;268;p31"/>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3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Discussion </a:t>
            </a:r>
            <a:r>
              <a:rPr b="1" lang="en-US" sz="4000">
                <a:solidFill>
                  <a:srgbClr val="00883A"/>
                </a:solidFill>
              </a:rPr>
              <a:t>-</a:t>
            </a:r>
            <a:r>
              <a:rPr b="1" i="0" lang="en-US" sz="4000" u="none" cap="none" strike="noStrike">
                <a:solidFill>
                  <a:srgbClr val="00883A"/>
                </a:solidFill>
                <a:latin typeface="Arial"/>
                <a:ea typeface="Arial"/>
                <a:cs typeface="Arial"/>
                <a:sym typeface="Arial"/>
              </a:rPr>
              <a:t> Paper 1 (?)</a:t>
            </a:r>
            <a:endParaRPr b="0" i="0" sz="4000" u="none" cap="none" strike="noStrike">
              <a:solidFill>
                <a:schemeClr val="dk1"/>
              </a:solidFill>
              <a:latin typeface="Arial"/>
              <a:ea typeface="Arial"/>
              <a:cs typeface="Arial"/>
              <a:sym typeface="Arial"/>
            </a:endParaRPr>
          </a:p>
        </p:txBody>
      </p:sp>
      <p:sp>
        <p:nvSpPr>
          <p:cNvPr id="275" name="Google Shape;275;p32"/>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276" name="Google Shape;276;p3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3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a:t>
            </a:r>
            <a:r>
              <a:rPr b="1" lang="en-US" sz="4000">
                <a:solidFill>
                  <a:srgbClr val="00883A"/>
                </a:solidFill>
              </a:rPr>
              <a:t>Discussion</a:t>
            </a:r>
            <a:r>
              <a:rPr b="1" i="0" lang="en-US" sz="4000" u="none" cap="none" strike="noStrike">
                <a:solidFill>
                  <a:srgbClr val="00883A"/>
                </a:solidFill>
                <a:latin typeface="Arial"/>
                <a:ea typeface="Arial"/>
                <a:cs typeface="Arial"/>
                <a:sym typeface="Arial"/>
              </a:rPr>
              <a:t> </a:t>
            </a:r>
            <a:r>
              <a:rPr b="1" lang="en-US" sz="4000">
                <a:solidFill>
                  <a:srgbClr val="00883A"/>
                </a:solidFill>
              </a:rPr>
              <a:t>-</a:t>
            </a:r>
            <a:r>
              <a:rPr b="1" i="0" lang="en-US" sz="4000" u="none" cap="none" strike="noStrike">
                <a:solidFill>
                  <a:srgbClr val="00883A"/>
                </a:solidFill>
                <a:latin typeface="Arial"/>
                <a:ea typeface="Arial"/>
                <a:cs typeface="Arial"/>
                <a:sym typeface="Arial"/>
              </a:rPr>
              <a:t> Paper 2 </a:t>
            </a:r>
            <a:r>
              <a:rPr b="1" lang="en-US" sz="4000">
                <a:solidFill>
                  <a:schemeClr val="dk2"/>
                </a:solidFill>
              </a:rPr>
              <a:t>(?)</a:t>
            </a:r>
            <a:endParaRPr b="0" i="0" sz="4000" u="none" cap="none" strike="noStrike">
              <a:solidFill>
                <a:schemeClr val="dk1"/>
              </a:solidFill>
              <a:latin typeface="Arial"/>
              <a:ea typeface="Arial"/>
              <a:cs typeface="Arial"/>
              <a:sym typeface="Arial"/>
            </a:endParaRPr>
          </a:p>
        </p:txBody>
      </p:sp>
      <p:sp>
        <p:nvSpPr>
          <p:cNvPr id="283" name="Google Shape;283;p3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284" name="Google Shape;284;p3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3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291" name="Google Shape;291;p3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292" name="Google Shape;292;p3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35"/>
          <p:cNvSpPr txBox="1"/>
          <p:nvPr/>
        </p:nvSpPr>
        <p:spPr>
          <a:xfrm>
            <a:off x="640080" y="2560320"/>
            <a:ext cx="10911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8" name="Shape 308"/>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3" name="Shape 313"/>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8" name="Shape 318"/>
        <p:cNvGrpSpPr/>
        <p:nvPr/>
      </p:nvGrpSpPr>
      <p:grpSpPr>
        <a:xfrm>
          <a:off x="0" y="0"/>
          <a:ext cx="0" cy="0"/>
          <a:chOff x="0" y="0"/>
          <a:chExt cx="0" cy="0"/>
        </a:xfrm>
      </p:grpSpPr>
      <p:sp>
        <p:nvSpPr>
          <p:cNvPr id="319" name="Google Shape;319;p39"/>
          <p:cNvSpPr txBox="1"/>
          <p:nvPr/>
        </p:nvSpPr>
        <p:spPr>
          <a:xfrm>
            <a:off x="640080" y="2011680"/>
            <a:ext cx="10911535" cy="14630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320" name="Google Shape;320;p39"/>
          <p:cNvSpPr txBox="1"/>
          <p:nvPr/>
        </p:nvSpPr>
        <p:spPr>
          <a:xfrm>
            <a:off x="640080" y="365760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321" name="Google Shape;321;p39"/>
          <p:cNvSpPr txBox="1"/>
          <p:nvPr/>
        </p:nvSpPr>
        <p:spPr>
          <a:xfrm>
            <a:off x="640080" y="4754880"/>
            <a:ext cx="10911535"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p4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328" name="Google Shape;328;p40"/>
          <p:cNvSpPr txBox="1"/>
          <p:nvPr/>
        </p:nvSpPr>
        <p:spPr>
          <a:xfrm>
            <a:off x="640080" y="15544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329" name="Google Shape;329;p40"/>
          <p:cNvSpPr txBox="1"/>
          <p:nvPr/>
        </p:nvSpPr>
        <p:spPr>
          <a:xfrm>
            <a:off x="1463040" y="15544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330" name="Google Shape;330;p40"/>
          <p:cNvSpPr txBox="1"/>
          <p:nvPr/>
        </p:nvSpPr>
        <p:spPr>
          <a:xfrm>
            <a:off x="640080" y="21945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331" name="Google Shape;331;p40"/>
          <p:cNvSpPr txBox="1"/>
          <p:nvPr/>
        </p:nvSpPr>
        <p:spPr>
          <a:xfrm>
            <a:off x="1463040" y="21945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332" name="Google Shape;332;p40"/>
          <p:cNvSpPr txBox="1"/>
          <p:nvPr/>
        </p:nvSpPr>
        <p:spPr>
          <a:xfrm>
            <a:off x="640080" y="283464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333" name="Google Shape;333;p40"/>
          <p:cNvSpPr txBox="1"/>
          <p:nvPr/>
        </p:nvSpPr>
        <p:spPr>
          <a:xfrm>
            <a:off x="1463040" y="283464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334" name="Google Shape;334;p40"/>
          <p:cNvSpPr txBox="1"/>
          <p:nvPr/>
        </p:nvSpPr>
        <p:spPr>
          <a:xfrm>
            <a:off x="640080" y="347472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335" name="Google Shape;335;p40"/>
          <p:cNvSpPr txBox="1"/>
          <p:nvPr/>
        </p:nvSpPr>
        <p:spPr>
          <a:xfrm>
            <a:off x="1463040" y="347472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336" name="Google Shape;336;p40"/>
          <p:cNvSpPr txBox="1"/>
          <p:nvPr/>
        </p:nvSpPr>
        <p:spPr>
          <a:xfrm>
            <a:off x="640080" y="411480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337" name="Google Shape;337;p40"/>
          <p:cNvSpPr txBox="1"/>
          <p:nvPr/>
        </p:nvSpPr>
        <p:spPr>
          <a:xfrm>
            <a:off x="1463040" y="411480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338" name="Google Shape;338;p40"/>
          <p:cNvSpPr txBox="1"/>
          <p:nvPr/>
        </p:nvSpPr>
        <p:spPr>
          <a:xfrm>
            <a:off x="640080" y="47548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339" name="Google Shape;339;p40"/>
          <p:cNvSpPr txBox="1"/>
          <p:nvPr/>
        </p:nvSpPr>
        <p:spPr>
          <a:xfrm>
            <a:off x="1463040" y="47548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340" name="Google Shape;340;p40"/>
          <p:cNvSpPr txBox="1"/>
          <p:nvPr/>
        </p:nvSpPr>
        <p:spPr>
          <a:xfrm>
            <a:off x="640080" y="53949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341" name="Google Shape;341;p40"/>
          <p:cNvSpPr txBox="1"/>
          <p:nvPr/>
        </p:nvSpPr>
        <p:spPr>
          <a:xfrm>
            <a:off x="1463040" y="53949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342" name="Google Shape;342;p4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41"/>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349" name="Google Shape;349;p41"/>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4" name="Shape 354"/>
        <p:cNvGrpSpPr/>
        <p:nvPr/>
      </p:nvGrpSpPr>
      <p:grpSpPr>
        <a:xfrm>
          <a:off x="0" y="0"/>
          <a:ext cx="0" cy="0"/>
          <a:chOff x="0" y="0"/>
          <a:chExt cx="0" cy="0"/>
        </a:xfrm>
      </p:grpSpPr>
      <p:sp>
        <p:nvSpPr>
          <p:cNvPr id="355" name="Google Shape;355;p4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356" name="Google Shape;356;p42"/>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evaluation (AE): committees check artifacts of accepted papers and award badges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Asked the reviewers (AEC members) what AE is for and what they expect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Found no shared quality threshold and inconsistent terms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 badge only means something within one conference and year (p. 478)</a:t>
            </a:r>
            <a:endParaRPr b="0" i="0" sz="2200" u="none" cap="none" strike="noStrike">
              <a:solidFill>
                <a:schemeClr val="dk1"/>
              </a:solidFill>
              <a:latin typeface="Arial"/>
              <a:ea typeface="Arial"/>
              <a:cs typeface="Arial"/>
              <a:sym typeface="Arial"/>
            </a:endParaRPr>
          </a:p>
        </p:txBody>
      </p:sp>
      <p:sp>
        <p:nvSpPr>
          <p:cNvPr id="357" name="Google Shape;357;p4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4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graphicFrame>
        <p:nvGraphicFramePr>
          <p:cNvPr id="364" name="Google Shape;364;p43"/>
          <p:cNvGraphicFramePr/>
          <p:nvPr/>
        </p:nvGraphicFramePr>
        <p:xfrm>
          <a:off x="640080" y="1554480"/>
          <a:ext cx="3000000" cy="3000000"/>
        </p:xfrm>
        <a:graphic>
          <a:graphicData uri="http://schemas.openxmlformats.org/drawingml/2006/table">
            <a:tbl>
              <a:tblPr>
                <a:noFill/>
                <a:tableStyleId>{86CE9DF0-B079-444F-8531-439F84C1735D}</a:tableStyleId>
              </a:tblPr>
              <a:tblGrid>
                <a:gridCol w="3637175"/>
                <a:gridCol w="3637175"/>
                <a:gridCol w="3637175"/>
              </a:tblGrid>
              <a:tr h="640075">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Setting</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Paper (old ACM)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Our lecture (2020)</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Same team, 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authors'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own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
        <p:nvSpPr>
          <p:cNvPr id="365" name="Google Shape;365;p43"/>
          <p:cNvSpPr txBox="1"/>
          <p:nvPr/>
        </p:nvSpPr>
        <p:spPr>
          <a:xfrm>
            <a:off x="640080" y="443484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Footnote 5, p. 471. Artifact = "a self-contained work result, having a context-specific purpose" (p. 470). Badges: Available, Functional, Reusable, Results.</a:t>
            </a:r>
            <a:endParaRPr b="0" i="0" sz="1800" u="none" cap="none" strike="noStrike">
              <a:solidFill>
                <a:schemeClr val="dk1"/>
              </a:solidFill>
              <a:latin typeface="Arial"/>
              <a:ea typeface="Arial"/>
              <a:cs typeface="Arial"/>
              <a:sym typeface="Arial"/>
            </a:endParaRPr>
          </a:p>
        </p:txBody>
      </p:sp>
      <p:sp>
        <p:nvSpPr>
          <p:cNvPr id="366" name="Google Shape;366;p4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1" name="Shape 371"/>
        <p:cNvGrpSpPr/>
        <p:nvPr/>
      </p:nvGrpSpPr>
      <p:grpSpPr>
        <a:xfrm>
          <a:off x="0" y="0"/>
          <a:ext cx="0" cy="0"/>
          <a:chOff x="0" y="0"/>
          <a:chExt cx="0" cy="0"/>
        </a:xfrm>
      </p:grpSpPr>
      <p:sp>
        <p:nvSpPr>
          <p:cNvPr id="372" name="Google Shape;372;p4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373" name="Google Shape;373;p4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What do AEC members see as the purpose of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 What do they expect from an artifact as reviewers?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RQ3: What do they expect as users of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Pre-study: what do calls for artifacts and ACM guidelines demand?</a:t>
            </a:r>
            <a:endParaRPr b="0" i="0" sz="2200" u="none" cap="none" strike="noStrike">
              <a:solidFill>
                <a:schemeClr val="dk1"/>
              </a:solidFill>
              <a:latin typeface="Arial"/>
              <a:ea typeface="Arial"/>
              <a:cs typeface="Arial"/>
              <a:sym typeface="Arial"/>
            </a:endParaRPr>
          </a:p>
        </p:txBody>
      </p:sp>
      <p:sp>
        <p:nvSpPr>
          <p:cNvPr id="374" name="Google Shape;374;p4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9" name="Shape 379"/>
        <p:cNvGrpSpPr/>
        <p:nvPr/>
      </p:nvGrpSpPr>
      <p:grpSpPr>
        <a:xfrm>
          <a:off x="0" y="0"/>
          <a:ext cx="0" cy="0"/>
          <a:chOff x="0" y="0"/>
          <a:chExt cx="0" cy="0"/>
        </a:xfrm>
      </p:grpSpPr>
      <p:sp>
        <p:nvSpPr>
          <p:cNvPr id="380" name="Google Shape;380;p4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381" name="Google Shape;381;p45"/>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45"/>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79</a:t>
            </a:r>
            <a:endParaRPr b="0" i="0" sz="3600" u="none" cap="none" strike="noStrike">
              <a:solidFill>
                <a:schemeClr val="dk1"/>
              </a:solidFill>
              <a:latin typeface="Arial"/>
              <a:ea typeface="Arial"/>
              <a:cs typeface="Arial"/>
              <a:sym typeface="Arial"/>
            </a:endParaRPr>
          </a:p>
        </p:txBody>
      </p:sp>
      <p:sp>
        <p:nvSpPr>
          <p:cNvPr id="383" name="Google Shape;383;p45"/>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calls analysed</a:t>
            </a:r>
            <a:endParaRPr b="0" i="0" sz="1800" u="none" cap="none" strike="noStrike">
              <a:solidFill>
                <a:schemeClr val="dk1"/>
              </a:solidFill>
              <a:latin typeface="Arial"/>
              <a:ea typeface="Arial"/>
              <a:cs typeface="Arial"/>
              <a:sym typeface="Arial"/>
            </a:endParaRPr>
          </a:p>
        </p:txBody>
      </p:sp>
      <p:sp>
        <p:nvSpPr>
          <p:cNvPr id="384" name="Google Shape;384;p45"/>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45"/>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1034</a:t>
            </a:r>
            <a:endParaRPr b="0" i="0" sz="3600" u="none" cap="none" strike="noStrike">
              <a:solidFill>
                <a:schemeClr val="dk1"/>
              </a:solidFill>
              <a:latin typeface="Arial"/>
              <a:ea typeface="Arial"/>
              <a:cs typeface="Arial"/>
              <a:sym typeface="Arial"/>
            </a:endParaRPr>
          </a:p>
        </p:txBody>
      </p:sp>
      <p:sp>
        <p:nvSpPr>
          <p:cNvPr id="386" name="Google Shape;386;p45"/>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reviewers invited</a:t>
            </a:r>
            <a:endParaRPr b="0" i="0" sz="1800" u="none" cap="none" strike="noStrike">
              <a:solidFill>
                <a:schemeClr val="dk1"/>
              </a:solidFill>
              <a:latin typeface="Arial"/>
              <a:ea typeface="Arial"/>
              <a:cs typeface="Arial"/>
              <a:sym typeface="Arial"/>
            </a:endParaRPr>
          </a:p>
        </p:txBody>
      </p:sp>
      <p:sp>
        <p:nvSpPr>
          <p:cNvPr id="387" name="Google Shape;387;p45"/>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45"/>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257</a:t>
            </a:r>
            <a:endParaRPr b="0" i="0" sz="3600" u="none" cap="none" strike="noStrike">
              <a:solidFill>
                <a:schemeClr val="dk1"/>
              </a:solidFill>
              <a:latin typeface="Arial"/>
              <a:ea typeface="Arial"/>
              <a:cs typeface="Arial"/>
              <a:sym typeface="Arial"/>
            </a:endParaRPr>
          </a:p>
        </p:txBody>
      </p:sp>
      <p:sp>
        <p:nvSpPr>
          <p:cNvPr id="389" name="Google Shape;389;p45"/>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responses</a:t>
            </a:r>
            <a:endParaRPr b="0" i="0" sz="1800" u="none" cap="none" strike="noStrike">
              <a:solidFill>
                <a:schemeClr val="dk1"/>
              </a:solidFill>
              <a:latin typeface="Arial"/>
              <a:ea typeface="Arial"/>
              <a:cs typeface="Arial"/>
              <a:sym typeface="Arial"/>
            </a:endParaRPr>
          </a:p>
        </p:txBody>
      </p:sp>
      <p:sp>
        <p:nvSpPr>
          <p:cNvPr id="390" name="Google Shape;390;p45"/>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79 calls for artifacts, SE and PL conferences, 2011–2019, coded by two researchers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Survey with open questions sent to 1034 AEC members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257 responded, 124 completed; ~25 % response; mostly programming languages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Answers grouped by open card sorting; counts given as total (PL/SE)</a:t>
            </a:r>
            <a:endParaRPr b="0" i="0" sz="2000" u="none" cap="none" strike="noStrike">
              <a:solidFill>
                <a:schemeClr val="dk1"/>
              </a:solidFill>
              <a:latin typeface="Arial"/>
              <a:ea typeface="Arial"/>
              <a:cs typeface="Arial"/>
              <a:sym typeface="Arial"/>
            </a:endParaRPr>
          </a:p>
        </p:txBody>
      </p:sp>
      <p:sp>
        <p:nvSpPr>
          <p:cNvPr id="391" name="Google Shape;391;p4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4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398" name="Google Shape;398;p4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Calls name criteria (documentation 46, consistency 45) but no levels (pp. 471–472)</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Purpose drifts: from checking claims to reproducibility and reuse (RQ1)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want reproducible results, users want reusable tools (RQ2, RQ3)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20 users see a difference between evaluated and unevaluated artifacts, 34 do not (p. 477)</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reviewers serve once; a third never submitted an artifact (pp. 473, 478)</a:t>
            </a:r>
            <a:endParaRPr b="0" i="0" sz="2200" u="none" cap="none" strike="noStrike">
              <a:solidFill>
                <a:schemeClr val="dk1"/>
              </a:solidFill>
              <a:latin typeface="Arial"/>
              <a:ea typeface="Arial"/>
              <a:cs typeface="Arial"/>
              <a:sym typeface="Arial"/>
            </a:endParaRPr>
          </a:p>
        </p:txBody>
      </p:sp>
      <p:sp>
        <p:nvSpPr>
          <p:cNvPr id="399" name="Google Shape;399;p4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4" name="Shape 404"/>
        <p:cNvGrpSpPr/>
        <p:nvPr/>
      </p:nvGrpSpPr>
      <p:grpSpPr>
        <a:xfrm>
          <a:off x="0" y="0"/>
          <a:ext cx="0" cy="0"/>
          <a:chOff x="0" y="0"/>
          <a:chExt cx="0" cy="0"/>
        </a:xfrm>
      </p:grpSpPr>
      <p:sp>
        <p:nvSpPr>
          <p:cNvPr id="405" name="Google Shape;405;p4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406" name="Google Shape;406;p47"/>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mostly PL: a deliberate trade-off (p. 479)</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 sorting by one labeller, checked by a second, no agreement measure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Implications: purpose and standards per community, written into the calls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Brief one-time reviewers; couple AE more tightly to acceptance (p. 479)</a:t>
            </a:r>
            <a:endParaRPr b="0" i="0" sz="2200" u="none" cap="none" strike="noStrike">
              <a:solidFill>
                <a:schemeClr val="dk1"/>
              </a:solidFill>
              <a:latin typeface="Arial"/>
              <a:ea typeface="Arial"/>
              <a:cs typeface="Arial"/>
              <a:sym typeface="Arial"/>
            </a:endParaRPr>
          </a:p>
        </p:txBody>
      </p:sp>
      <p:sp>
        <p:nvSpPr>
          <p:cNvPr id="407" name="Google Shape;407;p4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4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414" name="Google Shape;414;p48"/>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artifact badges be easy to get or hard to get?</a:t>
            </a:r>
            <a:endParaRPr b="0" i="0" sz="2600" u="none" cap="none" strike="noStrike">
              <a:solidFill>
                <a:schemeClr val="dk1"/>
              </a:solidFill>
              <a:latin typeface="Arial"/>
              <a:ea typeface="Arial"/>
              <a:cs typeface="Arial"/>
              <a:sym typeface="Arial"/>
            </a:endParaRPr>
          </a:p>
        </p:txBody>
      </p:sp>
      <p:sp>
        <p:nvSpPr>
          <p:cNvPr id="415" name="Google Shape;415;p48"/>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48"/>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"Enforcing quality criteria only means that some authors will not publish their code" (id 96, p. 475). ICSE and FSE dropped the Functional badge to raise the bar (p. 476).</a:t>
            </a:r>
            <a:endParaRPr b="0" i="0" sz="1800" u="none" cap="none" strike="noStrike">
              <a:solidFill>
                <a:schemeClr val="dk1"/>
              </a:solidFill>
              <a:latin typeface="Arial"/>
              <a:ea typeface="Arial"/>
              <a:cs typeface="Arial"/>
              <a:sym typeface="Arial"/>
            </a:endParaRPr>
          </a:p>
        </p:txBody>
      </p:sp>
      <p:sp>
        <p:nvSpPr>
          <p:cNvPr id="417" name="Google Shape;417;p48"/>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48"/>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Low bar</a:t>
            </a:r>
            <a:endParaRPr b="0" i="0" sz="2200" u="none" cap="none" strike="noStrike">
              <a:solidFill>
                <a:schemeClr val="dk1"/>
              </a:solidFill>
              <a:latin typeface="Arial"/>
              <a:ea typeface="Arial"/>
              <a:cs typeface="Arial"/>
              <a:sym typeface="Arial"/>
            </a:endParaRPr>
          </a:p>
        </p:txBody>
      </p:sp>
      <p:sp>
        <p:nvSpPr>
          <p:cNvPr id="419" name="Google Shape;419;p48"/>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Availability is the bottleneck. Any code beats none.</a:t>
            </a:r>
            <a:endParaRPr b="0" i="0" sz="2000" u="none" cap="none" strike="noStrike">
              <a:solidFill>
                <a:schemeClr val="dk1"/>
              </a:solidFill>
              <a:latin typeface="Arial"/>
              <a:ea typeface="Arial"/>
              <a:cs typeface="Arial"/>
              <a:sym typeface="Arial"/>
            </a:endParaRPr>
          </a:p>
        </p:txBody>
      </p:sp>
      <p:sp>
        <p:nvSpPr>
          <p:cNvPr id="420" name="Google Shape;420;p48"/>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p48"/>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High bar</a:t>
            </a:r>
            <a:endParaRPr b="0" i="0" sz="2200" u="none" cap="none" strike="noStrike">
              <a:solidFill>
                <a:schemeClr val="dk1"/>
              </a:solidFill>
              <a:latin typeface="Arial"/>
              <a:ea typeface="Arial"/>
              <a:cs typeface="Arial"/>
              <a:sym typeface="Arial"/>
            </a:endParaRPr>
          </a:p>
        </p:txBody>
      </p:sp>
      <p:sp>
        <p:nvSpPr>
          <p:cNvPr id="422" name="Google Shape;422;p48"/>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almost everything passes, a badge signals little.</a:t>
            </a:r>
            <a:endParaRPr b="0" i="0" sz="2000" u="none" cap="none" strike="noStrike">
              <a:solidFill>
                <a:schemeClr val="dk1"/>
              </a:solidFill>
              <a:latin typeface="Arial"/>
              <a:ea typeface="Arial"/>
              <a:cs typeface="Arial"/>
              <a:sym typeface="Arial"/>
            </a:endParaRPr>
          </a:p>
        </p:txBody>
      </p:sp>
      <p:sp>
        <p:nvSpPr>
          <p:cNvPr id="423" name="Google Shape;423;p4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8" name="Shape 428"/>
        <p:cNvGrpSpPr/>
        <p:nvPr/>
      </p:nvGrpSpPr>
      <p:grpSpPr>
        <a:xfrm>
          <a:off x="0" y="0"/>
          <a:ext cx="0" cy="0"/>
          <a:chOff x="0" y="0"/>
          <a:chExt cx="0" cy="0"/>
        </a:xfrm>
      </p:grpSpPr>
      <p:sp>
        <p:nvSpPr>
          <p:cNvPr id="429" name="Google Shape;429;p4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430" name="Google Shape;430;p49"/>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checks the checkers?</a:t>
            </a:r>
            <a:endParaRPr b="0" i="0" sz="2600" u="none" cap="none" strike="noStrike">
              <a:solidFill>
                <a:schemeClr val="dk1"/>
              </a:solidFill>
              <a:latin typeface="Arial"/>
              <a:ea typeface="Arial"/>
              <a:cs typeface="Arial"/>
              <a:sym typeface="Arial"/>
            </a:endParaRPr>
          </a:p>
        </p:txBody>
      </p:sp>
      <p:sp>
        <p:nvSpPr>
          <p:cNvPr id="431" name="Google Shape;431;p49"/>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49"/>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Most AEC members serve once, and a third have never built an artifact themselves (pp. 473, 478).</a:t>
            </a:r>
            <a:endParaRPr b="0" i="0" sz="1800" u="none" cap="none" strike="noStrike">
              <a:solidFill>
                <a:schemeClr val="dk1"/>
              </a:solidFill>
              <a:latin typeface="Arial"/>
              <a:ea typeface="Arial"/>
              <a:cs typeface="Arial"/>
              <a:sym typeface="Arial"/>
            </a:endParaRPr>
          </a:p>
        </p:txBody>
      </p:sp>
      <p:sp>
        <p:nvSpPr>
          <p:cNvPr id="433" name="Google Shape;433;p49"/>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4" name="Google Shape;434;p49"/>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Students are fine</a:t>
            </a:r>
            <a:endParaRPr b="0" i="0" sz="2200" u="none" cap="none" strike="noStrike">
              <a:solidFill>
                <a:schemeClr val="dk1"/>
              </a:solidFill>
              <a:latin typeface="Arial"/>
              <a:ea typeface="Arial"/>
              <a:cs typeface="Arial"/>
              <a:sym typeface="Arial"/>
            </a:endParaRPr>
          </a:p>
        </p:txBody>
      </p:sp>
      <p:sp>
        <p:nvSpPr>
          <p:cNvPr id="435" name="Google Shape;435;p49"/>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Reviewing is training; fresh eyes see what users will see.</a:t>
            </a:r>
            <a:endParaRPr b="0" i="0" sz="2000" u="none" cap="none" strike="noStrike">
              <a:solidFill>
                <a:schemeClr val="dk1"/>
              </a:solidFill>
              <a:latin typeface="Arial"/>
              <a:ea typeface="Arial"/>
              <a:cs typeface="Arial"/>
              <a:sym typeface="Arial"/>
            </a:endParaRPr>
          </a:p>
        </p:txBody>
      </p:sp>
      <p:sp>
        <p:nvSpPr>
          <p:cNvPr id="436" name="Google Shape;436;p49"/>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7" name="Google Shape;437;p49"/>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Experts needed</a:t>
            </a:r>
            <a:endParaRPr b="0" i="0" sz="2200" u="none" cap="none" strike="noStrike">
              <a:solidFill>
                <a:schemeClr val="dk1"/>
              </a:solidFill>
              <a:latin typeface="Arial"/>
              <a:ea typeface="Arial"/>
              <a:cs typeface="Arial"/>
              <a:sym typeface="Arial"/>
            </a:endParaRPr>
          </a:p>
        </p:txBody>
      </p:sp>
      <p:sp>
        <p:nvSpPr>
          <p:cNvPr id="438" name="Google Shape;438;p49"/>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Inexperienced reviewers make badges inconsistent across years.</a:t>
            </a:r>
            <a:endParaRPr b="0" i="0" sz="2000" u="none" cap="none" strike="noStrike">
              <a:solidFill>
                <a:schemeClr val="dk1"/>
              </a:solidFill>
              <a:latin typeface="Arial"/>
              <a:ea typeface="Arial"/>
              <a:cs typeface="Arial"/>
              <a:sym typeface="Arial"/>
            </a:endParaRPr>
          </a:p>
        </p:txBody>
      </p:sp>
      <p:sp>
        <p:nvSpPr>
          <p:cNvPr id="439" name="Google Shape;439;p4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5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446" name="Google Shape;446;p50"/>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Is "set up in 30 minutes" a quality standard or a convenience rule?</a:t>
            </a:r>
            <a:endParaRPr b="0" i="0" sz="2600" u="none" cap="none" strike="noStrike">
              <a:solidFill>
                <a:schemeClr val="dk1"/>
              </a:solidFill>
              <a:latin typeface="Arial"/>
              <a:ea typeface="Arial"/>
              <a:cs typeface="Arial"/>
              <a:sym typeface="Arial"/>
            </a:endParaRPr>
          </a:p>
        </p:txBody>
      </p:sp>
      <p:sp>
        <p:nvSpPr>
          <p:cNvPr id="447" name="Google Shape;447;p50"/>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8" name="Google Shape;448;p50"/>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It is the only concrete threshold in 79 calls (10 calls, p. 472).</a:t>
            </a:r>
            <a:endParaRPr b="0" i="0" sz="1800" u="none" cap="none" strike="noStrike">
              <a:solidFill>
                <a:schemeClr val="dk1"/>
              </a:solidFill>
              <a:latin typeface="Arial"/>
              <a:ea typeface="Arial"/>
              <a:cs typeface="Arial"/>
              <a:sym typeface="Arial"/>
            </a:endParaRPr>
          </a:p>
        </p:txBody>
      </p:sp>
      <p:sp>
        <p:nvSpPr>
          <p:cNvPr id="449" name="Google Shape;449;p50"/>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50"/>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A real standard</a:t>
            </a:r>
            <a:endParaRPr b="0" i="0" sz="2200" u="none" cap="none" strike="noStrike">
              <a:solidFill>
                <a:schemeClr val="dk1"/>
              </a:solidFill>
              <a:latin typeface="Arial"/>
              <a:ea typeface="Arial"/>
              <a:cs typeface="Arial"/>
              <a:sym typeface="Arial"/>
            </a:endParaRPr>
          </a:p>
        </p:txBody>
      </p:sp>
      <p:sp>
        <p:nvSpPr>
          <p:cNvPr id="451" name="Google Shape;451;p50"/>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users cannot start it quickly, they will not use it.</a:t>
            </a:r>
            <a:endParaRPr b="0" i="0" sz="2000" u="none" cap="none" strike="noStrike">
              <a:solidFill>
                <a:schemeClr val="dk1"/>
              </a:solidFill>
              <a:latin typeface="Arial"/>
              <a:ea typeface="Arial"/>
              <a:cs typeface="Arial"/>
              <a:sym typeface="Arial"/>
            </a:endParaRPr>
          </a:p>
        </p:txBody>
      </p:sp>
      <p:sp>
        <p:nvSpPr>
          <p:cNvPr id="452" name="Google Shape;452;p50"/>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3" name="Google Shape;453;p50"/>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Just convenience</a:t>
            </a:r>
            <a:endParaRPr b="0" i="0" sz="2200" u="none" cap="none" strike="noStrike">
              <a:solidFill>
                <a:schemeClr val="dk1"/>
              </a:solidFill>
              <a:latin typeface="Arial"/>
              <a:ea typeface="Arial"/>
              <a:cs typeface="Arial"/>
              <a:sym typeface="Arial"/>
            </a:endParaRPr>
          </a:p>
        </p:txBody>
      </p:sp>
      <p:sp>
        <p:nvSpPr>
          <p:cNvPr id="454" name="Google Shape;454;p50"/>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It says nothing about whether the results are right.</a:t>
            </a:r>
            <a:endParaRPr b="0" i="0" sz="2000" u="none" cap="none" strike="noStrike">
              <a:solidFill>
                <a:schemeClr val="dk1"/>
              </a:solidFill>
              <a:latin typeface="Arial"/>
              <a:ea typeface="Arial"/>
              <a:cs typeface="Arial"/>
              <a:sym typeface="Arial"/>
            </a:endParaRPr>
          </a:p>
        </p:txBody>
      </p:sp>
      <p:sp>
        <p:nvSpPr>
          <p:cNvPr id="455" name="Google Shape;455;p5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0" name="Shape 460"/>
        <p:cNvGrpSpPr/>
        <p:nvPr/>
      </p:nvGrpSpPr>
      <p:grpSpPr>
        <a:xfrm>
          <a:off x="0" y="0"/>
          <a:ext cx="0" cy="0"/>
          <a:chOff x="0" y="0"/>
          <a:chExt cx="0" cy="0"/>
        </a:xfrm>
      </p:grpSpPr>
      <p:sp>
        <p:nvSpPr>
          <p:cNvPr id="461" name="Google Shape;461;p51"/>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462" name="Google Shape;462;p51"/>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5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469" name="Google Shape;469;p52"/>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Counted artifact links in 1434 SE papers and surveyed 153 authors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papers link an artifact, few go through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Twelve challenges for creators, users and reviewers; the root is incentives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Eight recommendations, each aimed at a specific group</a:t>
            </a:r>
            <a:endParaRPr b="0" i="0" sz="2200" u="none" cap="none" strike="noStrike">
              <a:solidFill>
                <a:schemeClr val="dk1"/>
              </a:solidFill>
              <a:latin typeface="Arial"/>
              <a:ea typeface="Arial"/>
              <a:cs typeface="Arial"/>
              <a:sym typeface="Arial"/>
            </a:endParaRPr>
          </a:p>
        </p:txBody>
      </p:sp>
      <p:sp>
        <p:nvSpPr>
          <p:cNvPr id="470" name="Google Shape;470;p5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5" name="Shape 475"/>
        <p:cNvGrpSpPr/>
        <p:nvPr/>
      </p:nvGrpSpPr>
      <p:grpSpPr>
        <a:xfrm>
          <a:off x="0" y="0"/>
          <a:ext cx="0" cy="0"/>
          <a:chOff x="0" y="0"/>
          <a:chExt cx="0" cy="0"/>
        </a:xfrm>
      </p:grpSpPr>
      <p:sp>
        <p:nvSpPr>
          <p:cNvPr id="476" name="Google Shape;476;p5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477" name="Google Shape;477;p53"/>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"any external materials or information provided … via a link" (p. 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Available: the link still works; content was not checked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ACM quality criteria: documented, consistent, complete, exercisable (pp. 4–5)</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Mostly says "replication"; re-running an artifact = our 2020 reproducibility</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Diffusion of Innovations: innovation, channels, time, social system (p. 5)</a:t>
            </a:r>
            <a:endParaRPr b="0" i="0" sz="2200" u="none" cap="none" strike="noStrike">
              <a:solidFill>
                <a:schemeClr val="dk1"/>
              </a:solidFill>
              <a:latin typeface="Arial"/>
              <a:ea typeface="Arial"/>
              <a:cs typeface="Arial"/>
              <a:sym typeface="Arial"/>
            </a:endParaRPr>
          </a:p>
        </p:txBody>
      </p:sp>
      <p:sp>
        <p:nvSpPr>
          <p:cNvPr id="478" name="Google Shape;478;p5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5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485" name="Google Shape;485;p54"/>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486" name="Google Shape;486;p5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5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493" name="Google Shape;493;p55"/>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55"/>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1434</a:t>
            </a:r>
            <a:endParaRPr b="0" i="0" sz="3600" u="none" cap="none" strike="noStrike">
              <a:solidFill>
                <a:schemeClr val="dk1"/>
              </a:solidFill>
              <a:latin typeface="Arial"/>
              <a:ea typeface="Arial"/>
              <a:cs typeface="Arial"/>
              <a:sym typeface="Arial"/>
            </a:endParaRPr>
          </a:p>
        </p:txBody>
      </p:sp>
      <p:sp>
        <p:nvSpPr>
          <p:cNvPr id="495" name="Google Shape;495;p55"/>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papers surveyed</a:t>
            </a:r>
            <a:endParaRPr b="0" i="0" sz="1800" u="none" cap="none" strike="noStrike">
              <a:solidFill>
                <a:schemeClr val="dk1"/>
              </a:solidFill>
              <a:latin typeface="Arial"/>
              <a:ea typeface="Arial"/>
              <a:cs typeface="Arial"/>
              <a:sym typeface="Arial"/>
            </a:endParaRPr>
          </a:p>
        </p:txBody>
      </p:sp>
      <p:sp>
        <p:nvSpPr>
          <p:cNvPr id="496" name="Google Shape;496;p55"/>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p55"/>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153</a:t>
            </a:r>
            <a:endParaRPr b="0" i="0" sz="3600" u="none" cap="none" strike="noStrike">
              <a:solidFill>
                <a:schemeClr val="dk1"/>
              </a:solidFill>
              <a:latin typeface="Arial"/>
              <a:ea typeface="Arial"/>
              <a:cs typeface="Arial"/>
              <a:sym typeface="Arial"/>
            </a:endParaRPr>
          </a:p>
        </p:txBody>
      </p:sp>
      <p:sp>
        <p:nvSpPr>
          <p:cNvPr id="498" name="Google Shape;498;p55"/>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authors answered</a:t>
            </a:r>
            <a:endParaRPr b="0" i="0" sz="1800" u="none" cap="none" strike="noStrike">
              <a:solidFill>
                <a:schemeClr val="dk1"/>
              </a:solidFill>
              <a:latin typeface="Arial"/>
              <a:ea typeface="Arial"/>
              <a:cs typeface="Arial"/>
              <a:sym typeface="Arial"/>
            </a:endParaRPr>
          </a:p>
        </p:txBody>
      </p:sp>
      <p:sp>
        <p:nvSpPr>
          <p:cNvPr id="499" name="Google Shape;499;p55"/>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0" name="Google Shape;500;p55"/>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32</a:t>
            </a:r>
            <a:endParaRPr b="0" i="0" sz="3600" u="none" cap="none" strike="noStrike">
              <a:solidFill>
                <a:schemeClr val="dk1"/>
              </a:solidFill>
              <a:latin typeface="Arial"/>
              <a:ea typeface="Arial"/>
              <a:cs typeface="Arial"/>
              <a:sym typeface="Arial"/>
            </a:endParaRPr>
          </a:p>
        </p:txBody>
      </p:sp>
      <p:sp>
        <p:nvSpPr>
          <p:cNvPr id="501" name="Google Shape;501;p55"/>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of them reviewers</a:t>
            </a:r>
            <a:endParaRPr b="0" i="0" sz="1800" u="none" cap="none" strike="noStrike">
              <a:solidFill>
                <a:schemeClr val="dk1"/>
              </a:solidFill>
              <a:latin typeface="Arial"/>
              <a:ea typeface="Arial"/>
              <a:cs typeface="Arial"/>
              <a:sym typeface="Arial"/>
            </a:endParaRPr>
          </a:p>
        </p:txBody>
      </p:sp>
      <p:sp>
        <p:nvSpPr>
          <p:cNvPr id="502" name="Google Shape;502;p55"/>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All technical papers at ICSE, FSE, ASE, EMSE 2014–2018; links found by regex, checked by hand</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Links checked once, January–February 2019</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744 authors of 2018 papers emailed; 153 answered (22 %)</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Descriptive and axial coding; shows the range of themes, not their prevalence (p. 9)</a:t>
            </a:r>
            <a:endParaRPr b="0" i="0" sz="2000" u="none" cap="none" strike="noStrike">
              <a:solidFill>
                <a:schemeClr val="dk1"/>
              </a:solidFill>
              <a:latin typeface="Arial"/>
              <a:ea typeface="Arial"/>
              <a:cs typeface="Arial"/>
              <a:sym typeface="Arial"/>
            </a:endParaRPr>
          </a:p>
        </p:txBody>
      </p:sp>
      <p:sp>
        <p:nvSpPr>
          <p:cNvPr id="503" name="Google Shape;503;p5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8" name="Shape 508"/>
        <p:cNvGrpSpPr/>
        <p:nvPr/>
      </p:nvGrpSpPr>
      <p:grpSpPr>
        <a:xfrm>
          <a:off x="0" y="0"/>
          <a:ext cx="0" cy="0"/>
          <a:chOff x="0" y="0"/>
          <a:chExt cx="0" cy="0"/>
        </a:xfrm>
      </p:grpSpPr>
      <p:sp>
        <p:nvSpPr>
          <p:cNvPr id="509" name="Google Shape;509;p5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510" name="Google Shape;510;p5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62.7 % of papers link an artifact, rising from 51 % to 69 %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About 14 % of links dead; 26 % for 2014 papers (Fig. 3, p. 20)</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FSE: 74 of 196 artifact papers submitted to AE, 64 accepted (Fig. 4)</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Top user problems: no usage instructions (103), artifact gone (81)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C1 "not worth it" and C10 "no reviewer incentives" drive the rest</a:t>
            </a:r>
            <a:endParaRPr b="0" i="0" sz="2200" u="none" cap="none" strike="noStrike">
              <a:solidFill>
                <a:schemeClr val="dk1"/>
              </a:solidFill>
              <a:latin typeface="Arial"/>
              <a:ea typeface="Arial"/>
              <a:cs typeface="Arial"/>
              <a:sym typeface="Arial"/>
            </a:endParaRPr>
          </a:p>
        </p:txBody>
      </p:sp>
      <p:sp>
        <p:nvSpPr>
          <p:cNvPr id="511" name="Google Shape;511;p5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6" name="Shape 516"/>
        <p:cNvGrpSpPr/>
        <p:nvPr/>
      </p:nvGrpSpPr>
      <p:grpSpPr>
        <a:xfrm>
          <a:off x="0" y="0"/>
          <a:ext cx="0" cy="0"/>
          <a:chOff x="0" y="0"/>
          <a:chExt cx="0" cy="0"/>
        </a:xfrm>
      </p:grpSpPr>
      <p:sp>
        <p:nvSpPr>
          <p:cNvPr id="517" name="Google Shape;517;p5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518" name="Google Shape;518;p57"/>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Creators: describe the artifact, make it self-contained, plan from day one (R1–R3)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and organisers: rubrics, aligned expectations, cheaper reviewing (R4–R6)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Community leaders: count artifacts in hiring, promotion and grants (R7–R8)</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Threats: links ≠ usable artifacts; authors not contacted; 2018 authors only (pp. 10–11)</a:t>
            </a:r>
            <a:endParaRPr b="0" i="0" sz="2200" u="none" cap="none" strike="noStrike">
              <a:solidFill>
                <a:schemeClr val="dk1"/>
              </a:solidFill>
              <a:latin typeface="Arial"/>
              <a:ea typeface="Arial"/>
              <a:cs typeface="Arial"/>
              <a:sym typeface="Arial"/>
            </a:endParaRPr>
          </a:p>
        </p:txBody>
      </p:sp>
      <p:sp>
        <p:nvSpPr>
          <p:cNvPr id="519" name="Google Shape;519;p5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4" name="Shape 524"/>
        <p:cNvGrpSpPr/>
        <p:nvPr/>
      </p:nvGrpSpPr>
      <p:grpSpPr>
        <a:xfrm>
          <a:off x="0" y="0"/>
          <a:ext cx="0" cy="0"/>
          <a:chOff x="0" y="0"/>
          <a:chExt cx="0" cy="0"/>
        </a:xfrm>
      </p:grpSpPr>
      <p:sp>
        <p:nvSpPr>
          <p:cNvPr id="525" name="Google Shape;525;p5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26" name="Google Shape;526;p58"/>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 failed artifact evaluation be able to reject a paper?</a:t>
            </a:r>
            <a:endParaRPr b="0" i="0" sz="2600" u="none" cap="none" strike="noStrike">
              <a:solidFill>
                <a:schemeClr val="dk1"/>
              </a:solidFill>
              <a:latin typeface="Arial"/>
              <a:ea typeface="Arial"/>
              <a:cs typeface="Arial"/>
              <a:sym typeface="Arial"/>
            </a:endParaRPr>
          </a:p>
        </p:txBody>
      </p:sp>
      <p:sp>
        <p:nvSpPr>
          <p:cNvPr id="527" name="Google Shape;527;p58"/>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8" name="Google Shape;528;p58"/>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Timperley et al. say artifacts should be part of paper review (p. 28). "The evaluations do not determine if the paper is accepted, so I didn't pay much attention" (Hermann, id 79, p. 478).</a:t>
            </a:r>
            <a:endParaRPr b="0" i="0" sz="1800" u="none" cap="none" strike="noStrike">
              <a:solidFill>
                <a:schemeClr val="dk1"/>
              </a:solidFill>
              <a:latin typeface="Arial"/>
              <a:ea typeface="Arial"/>
              <a:cs typeface="Arial"/>
              <a:sym typeface="Arial"/>
            </a:endParaRPr>
          </a:p>
        </p:txBody>
      </p:sp>
      <p:sp>
        <p:nvSpPr>
          <p:cNvPr id="529" name="Google Shape;529;p58"/>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58"/>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Yes</a:t>
            </a:r>
            <a:endParaRPr b="0" i="0" sz="2200" u="none" cap="none" strike="noStrike">
              <a:solidFill>
                <a:schemeClr val="dk1"/>
              </a:solidFill>
              <a:latin typeface="Arial"/>
              <a:ea typeface="Arial"/>
              <a:cs typeface="Arial"/>
              <a:sym typeface="Arial"/>
            </a:endParaRPr>
          </a:p>
        </p:txBody>
      </p:sp>
      <p:sp>
        <p:nvSpPr>
          <p:cNvPr id="531" name="Google Shape;531;p58"/>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AE is optional decoration.</a:t>
            </a:r>
            <a:endParaRPr b="0" i="0" sz="2000" u="none" cap="none" strike="noStrike">
              <a:solidFill>
                <a:schemeClr val="dk1"/>
              </a:solidFill>
              <a:latin typeface="Arial"/>
              <a:ea typeface="Arial"/>
              <a:cs typeface="Arial"/>
              <a:sym typeface="Arial"/>
            </a:endParaRPr>
          </a:p>
        </p:txBody>
      </p:sp>
      <p:sp>
        <p:nvSpPr>
          <p:cNvPr id="532" name="Google Shape;532;p58"/>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3" name="Google Shape;533;p58"/>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No</a:t>
            </a:r>
            <a:endParaRPr b="0" i="0" sz="2200" u="none" cap="none" strike="noStrike">
              <a:solidFill>
                <a:schemeClr val="dk1"/>
              </a:solidFill>
              <a:latin typeface="Arial"/>
              <a:ea typeface="Arial"/>
              <a:cs typeface="Arial"/>
              <a:sym typeface="Arial"/>
            </a:endParaRPr>
          </a:p>
        </p:txBody>
      </p:sp>
      <p:sp>
        <p:nvSpPr>
          <p:cNvPr id="534" name="Google Shape;534;p58"/>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Clashes with double-blind review (C8) and penalises industry papers (C9).</a:t>
            </a:r>
            <a:endParaRPr b="0" i="0" sz="2000" u="none" cap="none" strike="noStrike">
              <a:solidFill>
                <a:schemeClr val="dk1"/>
              </a:solidFill>
              <a:latin typeface="Arial"/>
              <a:ea typeface="Arial"/>
              <a:cs typeface="Arial"/>
              <a:sym typeface="Arial"/>
            </a:endParaRPr>
          </a:p>
        </p:txBody>
      </p:sp>
      <p:sp>
        <p:nvSpPr>
          <p:cNvPr id="535" name="Google Shape;535;p5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0" name="Shape 540"/>
        <p:cNvGrpSpPr/>
        <p:nvPr/>
      </p:nvGrpSpPr>
      <p:grpSpPr>
        <a:xfrm>
          <a:off x="0" y="0"/>
          <a:ext cx="0" cy="0"/>
          <a:chOff x="0" y="0"/>
          <a:chExt cx="0" cy="0"/>
        </a:xfrm>
      </p:grpSpPr>
      <p:sp>
        <p:nvSpPr>
          <p:cNvPr id="541" name="Google Shape;541;p5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42" name="Google Shape;542;p59"/>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keeps an artifact alive after the PhD?</a:t>
            </a:r>
            <a:endParaRPr b="0" i="0" sz="2600" u="none" cap="none" strike="noStrike">
              <a:solidFill>
                <a:schemeClr val="dk1"/>
              </a:solidFill>
              <a:latin typeface="Arial"/>
              <a:ea typeface="Arial"/>
              <a:cs typeface="Arial"/>
              <a:sym typeface="Arial"/>
            </a:endParaRPr>
          </a:p>
        </p:txBody>
      </p:sp>
      <p:sp>
        <p:nvSpPr>
          <p:cNvPr id="543" name="Google Shape;543;p59"/>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59"/>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C3 maintenance (p. 16). R3 asks advisors for transition plans and a Zenodo snapshot (p. 32).</a:t>
            </a:r>
            <a:endParaRPr b="0" i="0" sz="1800" u="none" cap="none" strike="noStrike">
              <a:solidFill>
                <a:schemeClr val="dk1"/>
              </a:solidFill>
              <a:latin typeface="Arial"/>
              <a:ea typeface="Arial"/>
              <a:cs typeface="Arial"/>
              <a:sym typeface="Arial"/>
            </a:endParaRPr>
          </a:p>
        </p:txBody>
      </p:sp>
      <p:sp>
        <p:nvSpPr>
          <p:cNvPr id="545" name="Google Shape;545;p59"/>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6" name="Google Shape;546;p59"/>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Snapshot is enough</a:t>
            </a:r>
            <a:endParaRPr b="0" i="0" sz="2200" u="none" cap="none" strike="noStrike">
              <a:solidFill>
                <a:schemeClr val="dk1"/>
              </a:solidFill>
              <a:latin typeface="Arial"/>
              <a:ea typeface="Arial"/>
              <a:cs typeface="Arial"/>
              <a:sym typeface="Arial"/>
            </a:endParaRPr>
          </a:p>
        </p:txBody>
      </p:sp>
      <p:sp>
        <p:nvSpPr>
          <p:cNvPr id="547" name="Google Shape;547;p59"/>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Archive it, mark it unmaintained, move on.</a:t>
            </a:r>
            <a:endParaRPr b="0" i="0" sz="2000" u="none" cap="none" strike="noStrike">
              <a:solidFill>
                <a:schemeClr val="dk1"/>
              </a:solidFill>
              <a:latin typeface="Arial"/>
              <a:ea typeface="Arial"/>
              <a:cs typeface="Arial"/>
              <a:sym typeface="Arial"/>
            </a:endParaRPr>
          </a:p>
        </p:txBody>
      </p:sp>
      <p:sp>
        <p:nvSpPr>
          <p:cNvPr id="548" name="Google Shape;548;p59"/>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9" name="Google Shape;549;p59"/>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Ongoing upkeep</a:t>
            </a:r>
            <a:endParaRPr b="0" i="0" sz="2200" u="none" cap="none" strike="noStrike">
              <a:solidFill>
                <a:schemeClr val="dk1"/>
              </a:solidFill>
              <a:latin typeface="Arial"/>
              <a:ea typeface="Arial"/>
              <a:cs typeface="Arial"/>
              <a:sym typeface="Arial"/>
            </a:endParaRPr>
          </a:p>
        </p:txBody>
      </p:sp>
      <p:sp>
        <p:nvSpPr>
          <p:cNvPr id="550" name="Google Shape;550;p59"/>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Research software is infrastructure and needs funding (P102, p. 19).</a:t>
            </a:r>
            <a:endParaRPr b="0" i="0" sz="2000" u="none" cap="none" strike="noStrike">
              <a:solidFill>
                <a:schemeClr val="dk1"/>
              </a:solidFill>
              <a:latin typeface="Arial"/>
              <a:ea typeface="Arial"/>
              <a:cs typeface="Arial"/>
              <a:sym typeface="Arial"/>
            </a:endParaRPr>
          </a:p>
        </p:txBody>
      </p:sp>
      <p:sp>
        <p:nvSpPr>
          <p:cNvPr id="551" name="Google Shape;551;p5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6" name="Shape 556"/>
        <p:cNvGrpSpPr/>
        <p:nvPr/>
      </p:nvGrpSpPr>
      <p:grpSpPr>
        <a:xfrm>
          <a:off x="0" y="0"/>
          <a:ext cx="0" cy="0"/>
          <a:chOff x="0" y="0"/>
          <a:chExt cx="0" cy="0"/>
        </a:xfrm>
      </p:grpSpPr>
      <p:sp>
        <p:nvSpPr>
          <p:cNvPr id="557" name="Google Shape;557;p6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558" name="Google Shape;558;p60"/>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Students as artifact reviewers: training opportunity or devaluation?</a:t>
            </a:r>
            <a:endParaRPr b="0" i="0" sz="2600" u="none" cap="none" strike="noStrike">
              <a:solidFill>
                <a:schemeClr val="dk1"/>
              </a:solidFill>
              <a:latin typeface="Arial"/>
              <a:ea typeface="Arial"/>
              <a:cs typeface="Arial"/>
              <a:sym typeface="Arial"/>
            </a:endParaRPr>
          </a:p>
        </p:txBody>
      </p:sp>
      <p:sp>
        <p:nvSpPr>
          <p:cNvPr id="559" name="Google Shape;559;p60"/>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0" name="Google Shape;560;p60"/>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"We usually just make students do AEC … it reinforces the idea that artifacts are not a primary thing" (P64, p. 23).</a:t>
            </a:r>
            <a:endParaRPr b="0" i="0" sz="1800" u="none" cap="none" strike="noStrike">
              <a:solidFill>
                <a:schemeClr val="dk1"/>
              </a:solidFill>
              <a:latin typeface="Arial"/>
              <a:ea typeface="Arial"/>
              <a:cs typeface="Arial"/>
              <a:sym typeface="Arial"/>
            </a:endParaRPr>
          </a:p>
        </p:txBody>
      </p:sp>
      <p:sp>
        <p:nvSpPr>
          <p:cNvPr id="561" name="Google Shape;561;p60"/>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2" name="Google Shape;562;p60"/>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Training</a:t>
            </a:r>
            <a:endParaRPr b="0" i="0" sz="2200" u="none" cap="none" strike="noStrike">
              <a:solidFill>
                <a:schemeClr val="dk1"/>
              </a:solidFill>
              <a:latin typeface="Arial"/>
              <a:ea typeface="Arial"/>
              <a:cs typeface="Arial"/>
              <a:sym typeface="Arial"/>
            </a:endParaRPr>
          </a:p>
        </p:txBody>
      </p:sp>
      <p:sp>
        <p:nvSpPr>
          <p:cNvPr id="563" name="Google Shape;563;p60"/>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Students learn what good artifacts look like.</a:t>
            </a:r>
            <a:endParaRPr b="0" i="0" sz="2000" u="none" cap="none" strike="noStrike">
              <a:solidFill>
                <a:schemeClr val="dk1"/>
              </a:solidFill>
              <a:latin typeface="Arial"/>
              <a:ea typeface="Arial"/>
              <a:cs typeface="Arial"/>
              <a:sym typeface="Arial"/>
            </a:endParaRPr>
          </a:p>
        </p:txBody>
      </p:sp>
      <p:sp>
        <p:nvSpPr>
          <p:cNvPr id="564" name="Google Shape;564;p60"/>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5" name="Google Shape;565;p60"/>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Devaluation</a:t>
            </a:r>
            <a:endParaRPr b="0" i="0" sz="2200" u="none" cap="none" strike="noStrike">
              <a:solidFill>
                <a:schemeClr val="dk1"/>
              </a:solidFill>
              <a:latin typeface="Arial"/>
              <a:ea typeface="Arial"/>
              <a:cs typeface="Arial"/>
              <a:sym typeface="Arial"/>
            </a:endParaRPr>
          </a:p>
        </p:txBody>
      </p:sp>
      <p:sp>
        <p:nvSpPr>
          <p:cNvPr id="566" name="Google Shape;566;p60"/>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Signals that artifact work is second-class.</a:t>
            </a:r>
            <a:endParaRPr b="0" i="0" sz="2000" u="none" cap="none" strike="noStrike">
              <a:solidFill>
                <a:schemeClr val="dk1"/>
              </a:solidFill>
              <a:latin typeface="Arial"/>
              <a:ea typeface="Arial"/>
              <a:cs typeface="Arial"/>
              <a:sym typeface="Arial"/>
            </a:endParaRPr>
          </a:p>
        </p:txBody>
      </p:sp>
      <p:sp>
        <p:nvSpPr>
          <p:cNvPr id="567" name="Google Shape;567;p6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2" name="Shape 572"/>
        <p:cNvGrpSpPr/>
        <p:nvPr/>
      </p:nvGrpSpPr>
      <p:grpSpPr>
        <a:xfrm>
          <a:off x="0" y="0"/>
          <a:ext cx="0" cy="0"/>
          <a:chOff x="0" y="0"/>
          <a:chExt cx="0" cy="0"/>
        </a:xfrm>
      </p:grpSpPr>
      <p:sp>
        <p:nvSpPr>
          <p:cNvPr id="573" name="Google Shape;573;p61"/>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574" name="Google Shape;574;p61"/>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9" name="Shape 579"/>
        <p:cNvGrpSpPr/>
        <p:nvPr/>
      </p:nvGrpSpPr>
      <p:grpSpPr>
        <a:xfrm>
          <a:off x="0" y="0"/>
          <a:ext cx="0" cy="0"/>
          <a:chOff x="0" y="0"/>
          <a:chExt cx="0" cy="0"/>
        </a:xfrm>
      </p:grpSpPr>
      <p:sp>
        <p:nvSpPr>
          <p:cNvPr id="580" name="Google Shape;580;p6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graphicFrame>
        <p:nvGraphicFramePr>
          <p:cNvPr id="581" name="Google Shape;581;p62"/>
          <p:cNvGraphicFramePr/>
          <p:nvPr/>
        </p:nvGraphicFramePr>
        <p:xfrm>
          <a:off x="640080" y="1554480"/>
          <a:ext cx="3000000" cy="3000000"/>
        </p:xfrm>
        <a:graphic>
          <a:graphicData uri="http://schemas.openxmlformats.org/drawingml/2006/table">
            <a:tbl>
              <a:tblPr>
                <a:noFill/>
                <a:tableStyleId>{86CE9DF0-B079-444F-8531-439F84C1735D}</a:tableStyleId>
              </a:tblPr>
              <a:tblGrid>
                <a:gridCol w="3637175"/>
                <a:gridCol w="3637175"/>
                <a:gridCol w="3637175"/>
              </a:tblGrid>
              <a:tr h="640075">
                <a:tc>
                  <a:txBody>
                    <a:bodyPr/>
                    <a:lstStyle/>
                    <a:p>
                      <a:pPr indent="0" lvl="0" marL="0" marR="0" rtl="0" algn="l">
                        <a:spcBef>
                          <a:spcPts val="0"/>
                        </a:spcBef>
                        <a:spcAft>
                          <a:spcPts val="0"/>
                        </a:spcAft>
                        <a:buClr>
                          <a:schemeClr val="dk1"/>
                        </a:buClr>
                        <a:buSzPts val="2000"/>
                        <a:buFont typeface="Arial"/>
                        <a:buNone/>
                      </a:pPr>
                      <a:r>
                        <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Hermann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Timperley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Asked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Reviewers (AEC members)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Authors (few reviewers)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Field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and programming languages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only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Diagnosis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Unclear purpose and standards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Misaligned incentives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Proposal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Standards per community in the calls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R1–R8 for each group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bl>
          </a:graphicData>
        </a:graphic>
      </p:graphicFrame>
      <p:sp>
        <p:nvSpPr>
          <p:cNvPr id="582" name="Google Shape;582;p62"/>
          <p:cNvSpPr txBox="1"/>
          <p:nvPr/>
        </p:nvSpPr>
        <p:spPr>
          <a:xfrm>
            <a:off x="640080" y="507492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Timperley et al. build three recommendations on Hermann et al.</a:t>
            </a:r>
            <a:endParaRPr b="0" i="0" sz="1800" u="none" cap="none" strike="noStrike">
              <a:solidFill>
                <a:schemeClr val="dk1"/>
              </a:solidFill>
              <a:latin typeface="Arial"/>
              <a:ea typeface="Arial"/>
              <a:cs typeface="Arial"/>
              <a:sym typeface="Arial"/>
            </a:endParaRPr>
          </a:p>
        </p:txBody>
      </p:sp>
      <p:sp>
        <p:nvSpPr>
          <p:cNvPr id="583" name="Google Shape;583;p6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6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590" name="Google Shape;590;p63"/>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No agreed quality threshold (Hermann p. 478; Timperley C6, p. 16)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are inexperienced and under-rewarded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Both lean towards coupling AE to paper acceptance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Neither opens an artifact or tests whether badges mean better artifacts</a:t>
            </a:r>
            <a:endParaRPr b="0" i="0" sz="2200" u="none" cap="none" strike="noStrike">
              <a:solidFill>
                <a:schemeClr val="dk1"/>
              </a:solidFill>
              <a:latin typeface="Arial"/>
              <a:ea typeface="Arial"/>
              <a:cs typeface="Arial"/>
              <a:sym typeface="Arial"/>
            </a:endParaRPr>
          </a:p>
        </p:txBody>
      </p:sp>
      <p:sp>
        <p:nvSpPr>
          <p:cNvPr id="591" name="Google Shape;591;p6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6" name="Shape 596"/>
        <p:cNvGrpSpPr/>
        <p:nvPr/>
      </p:nvGrpSpPr>
      <p:grpSpPr>
        <a:xfrm>
          <a:off x="0" y="0"/>
          <a:ext cx="0" cy="0"/>
          <a:chOff x="0" y="0"/>
          <a:chExt cx="0" cy="0"/>
        </a:xfrm>
      </p:grpSpPr>
      <p:sp>
        <p:nvSpPr>
          <p:cNvPr id="597" name="Google Shape;597;p64"/>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598" name="Google Shape;598;p64"/>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Fix the definitions first, or the incentives?</a:t>
            </a:r>
            <a:endParaRPr b="0" i="0" sz="2600" u="none" cap="none" strike="noStrike">
              <a:solidFill>
                <a:schemeClr val="dk1"/>
              </a:solidFill>
              <a:latin typeface="Arial"/>
              <a:ea typeface="Arial"/>
              <a:cs typeface="Arial"/>
              <a:sym typeface="Arial"/>
            </a:endParaRPr>
          </a:p>
        </p:txBody>
      </p:sp>
      <p:sp>
        <p:nvSpPr>
          <p:cNvPr id="599" name="Google Shape;599;p64"/>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0" name="Google Shape;600;p64"/>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Hermann: purpose, criteria and terms (p. 479). Timperley: "not worth it" (C1) and rewards in hiring and grants (R7, p. 34).</a:t>
            </a:r>
            <a:endParaRPr b="0" i="0" sz="1800" u="none" cap="none" strike="noStrike">
              <a:solidFill>
                <a:schemeClr val="dk1"/>
              </a:solidFill>
              <a:latin typeface="Arial"/>
              <a:ea typeface="Arial"/>
              <a:cs typeface="Arial"/>
              <a:sym typeface="Arial"/>
            </a:endParaRPr>
          </a:p>
        </p:txBody>
      </p:sp>
      <p:sp>
        <p:nvSpPr>
          <p:cNvPr id="601" name="Google Shape;601;p64"/>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2" name="Google Shape;602;p64"/>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Standards first</a:t>
            </a:r>
            <a:endParaRPr b="0" i="0" sz="2200" u="none" cap="none" strike="noStrike">
              <a:solidFill>
                <a:schemeClr val="dk1"/>
              </a:solidFill>
              <a:latin typeface="Arial"/>
              <a:ea typeface="Arial"/>
              <a:cs typeface="Arial"/>
              <a:sym typeface="Arial"/>
            </a:endParaRPr>
          </a:p>
        </p:txBody>
      </p:sp>
      <p:sp>
        <p:nvSpPr>
          <p:cNvPr id="603" name="Google Shape;603;p64"/>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You cannot reward what you cannot measure.</a:t>
            </a:r>
            <a:endParaRPr b="0" i="0" sz="2000" u="none" cap="none" strike="noStrike">
              <a:solidFill>
                <a:schemeClr val="dk1"/>
              </a:solidFill>
              <a:latin typeface="Arial"/>
              <a:ea typeface="Arial"/>
              <a:cs typeface="Arial"/>
              <a:sym typeface="Arial"/>
            </a:endParaRPr>
          </a:p>
        </p:txBody>
      </p:sp>
      <p:sp>
        <p:nvSpPr>
          <p:cNvPr id="604" name="Google Shape;604;p64"/>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64"/>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Incentives first</a:t>
            </a:r>
            <a:endParaRPr b="0" i="0" sz="2200" u="none" cap="none" strike="noStrike">
              <a:solidFill>
                <a:schemeClr val="dk1"/>
              </a:solidFill>
              <a:latin typeface="Arial"/>
              <a:ea typeface="Arial"/>
              <a:cs typeface="Arial"/>
              <a:sym typeface="Arial"/>
            </a:endParaRPr>
          </a:p>
        </p:txBody>
      </p:sp>
      <p:sp>
        <p:nvSpPr>
          <p:cNvPr id="606" name="Google Shape;606;p64"/>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Perfect criteria change nothing if nobody submits.</a:t>
            </a:r>
            <a:endParaRPr b="0" i="0" sz="2000" u="none" cap="none" strike="noStrike">
              <a:solidFill>
                <a:schemeClr val="dk1"/>
              </a:solidFill>
              <a:latin typeface="Arial"/>
              <a:ea typeface="Arial"/>
              <a:cs typeface="Arial"/>
              <a:sym typeface="Arial"/>
            </a:endParaRPr>
          </a:p>
        </p:txBody>
      </p:sp>
      <p:sp>
        <p:nvSpPr>
          <p:cNvPr id="607" name="Google Shape;607;p64"/>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6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614" name="Google Shape;614;p65"/>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Run the authors' scripts, or try to break them?</a:t>
            </a:r>
            <a:endParaRPr b="0" i="0" sz="2600" u="none" cap="none" strike="noStrike">
              <a:solidFill>
                <a:schemeClr val="dk1"/>
              </a:solidFill>
              <a:latin typeface="Arial"/>
              <a:ea typeface="Arial"/>
              <a:cs typeface="Arial"/>
              <a:sym typeface="Arial"/>
            </a:endParaRPr>
          </a:p>
        </p:txBody>
      </p:sp>
      <p:sp>
        <p:nvSpPr>
          <p:cNvPr id="615" name="Google Shape;615;p65"/>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6" name="Google Shape;616;p65"/>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"AECs, by asking for replicable scripts, are likely to replicate the same mistake" (Timperley P25, p. 22). Hermann: hard-coded outputs found only by reading code (p. 477).</a:t>
            </a:r>
            <a:endParaRPr b="0" i="0" sz="1800" u="none" cap="none" strike="noStrike">
              <a:solidFill>
                <a:schemeClr val="dk1"/>
              </a:solidFill>
              <a:latin typeface="Arial"/>
              <a:ea typeface="Arial"/>
              <a:cs typeface="Arial"/>
              <a:sym typeface="Arial"/>
            </a:endParaRPr>
          </a:p>
        </p:txBody>
      </p:sp>
      <p:sp>
        <p:nvSpPr>
          <p:cNvPr id="617" name="Google Shape;617;p65"/>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8" name="Google Shape;618;p65"/>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Run scripts</a:t>
            </a:r>
            <a:endParaRPr b="0" i="0" sz="2200" u="none" cap="none" strike="noStrike">
              <a:solidFill>
                <a:schemeClr val="dk1"/>
              </a:solidFill>
              <a:latin typeface="Arial"/>
              <a:ea typeface="Arial"/>
              <a:cs typeface="Arial"/>
              <a:sym typeface="Arial"/>
            </a:endParaRPr>
          </a:p>
        </p:txBody>
      </p:sp>
      <p:sp>
        <p:nvSpPr>
          <p:cNvPr id="619" name="Google Shape;619;p65"/>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Cheap, scalable: exactly 2020 reproducibility.</a:t>
            </a:r>
            <a:endParaRPr b="0" i="0" sz="2000" u="none" cap="none" strike="noStrike">
              <a:solidFill>
                <a:schemeClr val="dk1"/>
              </a:solidFill>
              <a:latin typeface="Arial"/>
              <a:ea typeface="Arial"/>
              <a:cs typeface="Arial"/>
              <a:sym typeface="Arial"/>
            </a:endParaRPr>
          </a:p>
        </p:txBody>
      </p:sp>
      <p:sp>
        <p:nvSpPr>
          <p:cNvPr id="620" name="Google Shape;620;p65"/>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1" name="Google Shape;621;p65"/>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Probe</a:t>
            </a:r>
            <a:endParaRPr b="0" i="0" sz="2200" u="none" cap="none" strike="noStrike">
              <a:solidFill>
                <a:schemeClr val="dk1"/>
              </a:solidFill>
              <a:latin typeface="Arial"/>
              <a:ea typeface="Arial"/>
              <a:cs typeface="Arial"/>
              <a:sym typeface="Arial"/>
            </a:endParaRPr>
          </a:p>
        </p:txBody>
      </p:sp>
      <p:sp>
        <p:nvSpPr>
          <p:cNvPr id="622" name="Google Shape;622;p65"/>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 badge certifies a repeatable bug.</a:t>
            </a:r>
            <a:endParaRPr b="0" i="0" sz="2000" u="none" cap="none" strike="noStrike">
              <a:solidFill>
                <a:schemeClr val="dk1"/>
              </a:solidFill>
              <a:latin typeface="Arial"/>
              <a:ea typeface="Arial"/>
              <a:cs typeface="Arial"/>
              <a:sym typeface="Arial"/>
            </a:endParaRPr>
          </a:p>
        </p:txBody>
      </p:sp>
      <p:sp>
        <p:nvSpPr>
          <p:cNvPr id="623" name="Google Shape;623;p6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8" name="Shape 628"/>
        <p:cNvGrpSpPr/>
        <p:nvPr/>
      </p:nvGrpSpPr>
      <p:grpSpPr>
        <a:xfrm>
          <a:off x="0" y="0"/>
          <a:ext cx="0" cy="0"/>
          <a:chOff x="0" y="0"/>
          <a:chExt cx="0" cy="0"/>
        </a:xfrm>
      </p:grpSpPr>
      <p:sp>
        <p:nvSpPr>
          <p:cNvPr id="629" name="Google Shape;629;p66"/>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630" name="Google Shape;630;p66"/>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6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1</a:t>
            </a:r>
            <a:endParaRPr b="0" i="0" sz="4000" u="none" cap="none" strike="noStrike">
              <a:solidFill>
                <a:schemeClr val="dk1"/>
              </a:solidFill>
              <a:latin typeface="Arial"/>
              <a:ea typeface="Arial"/>
              <a:cs typeface="Arial"/>
              <a:sym typeface="Arial"/>
            </a:endParaRPr>
          </a:p>
        </p:txBody>
      </p:sp>
      <p:sp>
        <p:nvSpPr>
          <p:cNvPr id="637" name="Google Shape;637;p67"/>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authors who never submit are missing</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125 PL vs 36 SE respondents; SE counts often single digits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257 started, 124 finished; each question has a different sample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Card-sort counts look precise but depend on one labeller</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PL/SE totals differ between sections (p. 472 vs p. 474)</a:t>
            </a:r>
            <a:endParaRPr b="0" i="0" sz="2200" u="none" cap="none" strike="noStrike">
              <a:solidFill>
                <a:schemeClr val="dk1"/>
              </a:solidFill>
              <a:latin typeface="Arial"/>
              <a:ea typeface="Arial"/>
              <a:cs typeface="Arial"/>
              <a:sym typeface="Arial"/>
            </a:endParaRPr>
          </a:p>
        </p:txBody>
      </p:sp>
      <p:sp>
        <p:nvSpPr>
          <p:cNvPr id="638" name="Google Shape;638;p6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3" name="Shape 643"/>
        <p:cNvGrpSpPr/>
        <p:nvPr/>
      </p:nvGrpSpPr>
      <p:grpSpPr>
        <a:xfrm>
          <a:off x="0" y="0"/>
          <a:ext cx="0" cy="0"/>
          <a:chOff x="0" y="0"/>
          <a:chExt cx="0" cy="0"/>
        </a:xfrm>
      </p:grpSpPr>
      <p:sp>
        <p:nvSpPr>
          <p:cNvPr id="644" name="Google Shape;644;p6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2</a:t>
            </a:r>
            <a:endParaRPr b="0" i="0" sz="4000" u="none" cap="none" strike="noStrike">
              <a:solidFill>
                <a:schemeClr val="dk1"/>
              </a:solidFill>
              <a:latin typeface="Arial"/>
              <a:ea typeface="Arial"/>
              <a:cs typeface="Arial"/>
              <a:sym typeface="Arial"/>
            </a:endParaRPr>
          </a:p>
        </p:txBody>
      </p:sp>
      <p:sp>
        <p:nvSpPr>
          <p:cNvPr id="645" name="Google Shape;645;p68"/>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link counts as an artifact; a live link counts as available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"value" rests on link counts and quotes from willing respondents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Fig. 4: 26.33 % is 74 of all 281 papers; of 196 artifact papers it is 38 %</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Small inconsistencies: 81 vs 82, 60 vs 62; Table 6 cites an undefined C13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recommendations still ask creators and reviewers for more work</a:t>
            </a:r>
            <a:endParaRPr b="0" i="0" sz="2200" u="none" cap="none" strike="noStrike">
              <a:solidFill>
                <a:schemeClr val="dk1"/>
              </a:solidFill>
              <a:latin typeface="Arial"/>
              <a:ea typeface="Arial"/>
              <a:cs typeface="Arial"/>
              <a:sym typeface="Arial"/>
            </a:endParaRPr>
          </a:p>
        </p:txBody>
      </p:sp>
      <p:sp>
        <p:nvSpPr>
          <p:cNvPr id="646" name="Google Shape;646;p6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6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653" name="Google Shape;653;p6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654" name="Google Shape;654;p6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70"/>
          <p:cNvSpPr txBox="1"/>
          <p:nvPr/>
        </p:nvSpPr>
        <p:spPr>
          <a:xfrm>
            <a:off x="640080" y="2560320"/>
            <a:ext cx="10911535"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ACM badges (policy v1.1, 2020; lecture slide 9)</a:t>
            </a:r>
          </a:p>
        </p:txBody>
      </p:sp>
      <p:graphicFrame>
        <p:nvGraphicFramePr>
          <p:cNvPr id="135" name="Table 134"/>
          <p:cNvGraphicFramePr>
            <a:graphicFrameLocks noGrp="1"/>
          </p:cNvGraphicFramePr>
          <p:nvPr/>
        </p:nvGraphicFramePr>
        <p:xfrm>
          <a:off x="640080" y="1554480"/>
          <a:ext cx="10908792" cy="2743200"/>
        </p:xfrm>
        <a:graphic>
          <a:graphicData uri="http://schemas.openxmlformats.org/drawingml/2006/table">
            <a:tbl>
              <a:tblPr firstRow="1" bandRow="1">
                <a:tableStyleId>{5C22544A-7EE6-4342-B048-85BDC9FD1C3A}</a:tableStyleId>
              </a:tblPr>
              <a:tblGrid>
                <a:gridCol w="2651760"/>
                <a:gridCol w="2926080"/>
                <a:gridCol w="5330952"/>
              </a:tblGrid>
              <a:tr h="457200">
                <a:tc>
                  <a:txBody>
                    <a:bodyPr/>
                    <a:lstStyle/>
                    <a:p>
                      <a:r>
                        <a:rPr sz="1700" b="1">
                          <a:solidFill>
                            <a:srgbClr val="FFFFFF"/>
                          </a:solidFill>
                          <a:latin typeface="Arial"/>
                        </a:rPr>
                        <a:t>Question</a:t>
                      </a:r>
                    </a:p>
                  </a:txBody>
                  <a:tcPr marL="91440" marR="91440">
                    <a:solidFill>
                      <a:srgbClr val="00883A"/>
                    </a:solidFill>
                  </a:tcPr>
                </a:tc>
                <a:tc>
                  <a:txBody>
                    <a:bodyPr/>
                    <a:lstStyle/>
                    <a:p>
                      <a:r>
                        <a:rPr sz="1700" b="1">
                          <a:solidFill>
                            <a:srgbClr val="FFFFFF"/>
                          </a:solidFill>
                          <a:latin typeface="Arial"/>
                        </a:rPr>
                        <a:t>Badge</a:t>
                      </a:r>
                    </a:p>
                  </a:txBody>
                  <a:tcPr marL="91440" marR="91440">
                    <a:solidFill>
                      <a:srgbClr val="00883A"/>
                    </a:solidFill>
                  </a:tcPr>
                </a:tc>
                <a:tc>
                  <a:txBody>
                    <a:bodyPr/>
                    <a:lstStyle/>
                    <a:p>
                      <a:r>
                        <a:rPr sz="1700" b="1">
                          <a:solidFill>
                            <a:srgbClr val="FFFFFF"/>
                          </a:solidFill>
                          <a:latin typeface="Arial"/>
                        </a:rPr>
                        <a:t>Required</a:t>
                      </a:r>
                    </a:p>
                  </a:txBody>
                  <a:tcPr marL="91440" marR="91440">
                    <a:solidFill>
                      <a:srgbClr val="00883A"/>
                    </a:solidFill>
                  </a:tcPr>
                </a:tc>
              </a:tr>
              <a:tr h="457200">
                <a:tc>
                  <a:txBody>
                    <a:bodyPr/>
                    <a:lstStyle/>
                    <a:p>
                      <a:r>
                        <a:rPr sz="1700" b="0">
                          <a:solidFill>
                            <a:srgbClr val="1A1A1A"/>
                          </a:solidFill>
                          <a:latin typeface="Arial"/>
                        </a:rPr>
                        <a:t>Does it work?</a:t>
                      </a:r>
                    </a:p>
                  </a:txBody>
                  <a:tcPr marL="91440" marR="91440">
                    <a:solidFill>
                      <a:srgbClr val="F1F3F2"/>
                    </a:solidFill>
                  </a:tcPr>
                </a:tc>
                <a:tc>
                  <a:txBody>
                    <a:bodyPr/>
                    <a:lstStyle/>
                    <a:p>
                      <a:r>
                        <a:rPr sz="1700" b="1">
                          <a:solidFill>
                            <a:srgbClr val="1A1A1A"/>
                          </a:solidFill>
                          <a:latin typeface="Arial"/>
                        </a:rPr>
                        <a:t>Evaluated – Functional</a:t>
                      </a:r>
                    </a:p>
                  </a:txBody>
                  <a:tcPr marL="91440" marR="91440">
                    <a:solidFill>
                      <a:srgbClr val="F1F3F2"/>
                    </a:solidFill>
                  </a:tcPr>
                </a:tc>
                <a:tc>
                  <a:txBody>
                    <a:bodyPr/>
                    <a:lstStyle/>
                    <a:p>
                      <a:r>
                        <a:rPr sz="1700" b="0">
                          <a:solidFill>
                            <a:srgbClr val="1A1A1A"/>
                          </a:solidFill>
                          <a:latin typeface="Arial"/>
                        </a:rPr>
                        <a:t>documented, consistent, complete, exercisable</a:t>
                      </a:r>
                    </a:p>
                  </a:txBody>
                  <a:tcPr marL="91440" marR="91440">
                    <a:solidFill>
                      <a:srgbClr val="F1F3F2"/>
                    </a:solidFill>
                  </a:tcPr>
                </a:tc>
              </a:tr>
              <a:tr h="457200">
                <a:tc>
                  <a:txBody>
                    <a:bodyPr/>
                    <a:lstStyle/>
                    <a:p>
                      <a:r>
                        <a:rPr sz="1700" b="0">
                          <a:solidFill>
                            <a:srgbClr val="1A1A1A"/>
                          </a:solidFill>
                          <a:latin typeface="Arial"/>
                        </a:rPr>
                        <a:t/>
                      </a:r>
                    </a:p>
                  </a:txBody>
                  <a:tcPr marL="91440" marR="91440">
                    <a:solidFill>
                      <a:srgbClr val="FFFFFF"/>
                    </a:solidFill>
                  </a:tcPr>
                </a:tc>
                <a:tc>
                  <a:txBody>
                    <a:bodyPr/>
                    <a:lstStyle/>
                    <a:p>
                      <a:r>
                        <a:rPr sz="1700" b="1">
                          <a:solidFill>
                            <a:srgbClr val="1A1A1A"/>
                          </a:solidFill>
                          <a:latin typeface="Arial"/>
                        </a:rPr>
                        <a:t>Evaluated – Reusable</a:t>
                      </a:r>
                    </a:p>
                  </a:txBody>
                  <a:tcPr marL="91440" marR="91440">
                    <a:solidFill>
                      <a:srgbClr val="FFFFFF"/>
                    </a:solidFill>
                  </a:tcPr>
                </a:tc>
                <a:tc>
                  <a:txBody>
                    <a:bodyPr/>
                    <a:lstStyle/>
                    <a:p>
                      <a:r>
                        <a:rPr sz="1700" b="0">
                          <a:solidFill>
                            <a:srgbClr val="1A1A1A"/>
                          </a:solidFill>
                          <a:latin typeface="Arial"/>
                        </a:rPr>
                        <a:t>Functional + well structured and documented for reuse</a:t>
                      </a:r>
                    </a:p>
                  </a:txBody>
                  <a:tcPr marL="91440" marR="91440">
                    <a:solidFill>
                      <a:srgbClr val="FFFFFF"/>
                    </a:solidFill>
                  </a:tcPr>
                </a:tc>
              </a:tr>
              <a:tr h="457200">
                <a:tc>
                  <a:txBody>
                    <a:bodyPr/>
                    <a:lstStyle/>
                    <a:p>
                      <a:r>
                        <a:rPr sz="1700" b="0">
                          <a:solidFill>
                            <a:srgbClr val="1A1A1A"/>
                          </a:solidFill>
                          <a:latin typeface="Arial"/>
                        </a:rPr>
                        <a:t>Permanently available?</a:t>
                      </a:r>
                    </a:p>
                  </a:txBody>
                  <a:tcPr marL="91440" marR="91440">
                    <a:solidFill>
                      <a:srgbClr val="F1F3F2"/>
                    </a:solidFill>
                  </a:tcPr>
                </a:tc>
                <a:tc>
                  <a:txBody>
                    <a:bodyPr/>
                    <a:lstStyle/>
                    <a:p>
                      <a:r>
                        <a:rPr sz="1700" b="1">
                          <a:solidFill>
                            <a:srgbClr val="1A1A1A"/>
                          </a:solidFill>
                          <a:latin typeface="Arial"/>
                        </a:rPr>
                        <a:t>Available</a:t>
                      </a:r>
                    </a:p>
                  </a:txBody>
                  <a:tcPr marL="91440" marR="91440">
                    <a:solidFill>
                      <a:srgbClr val="F1F3F2"/>
                    </a:solidFill>
                  </a:tcPr>
                </a:tc>
                <a:tc>
                  <a:txBody>
                    <a:bodyPr/>
                    <a:lstStyle/>
                    <a:p>
                      <a:r>
                        <a:rPr sz="1700" b="0">
                          <a:solidFill>
                            <a:srgbClr val="1A1A1A"/>
                          </a:solidFill>
                          <a:latin typeface="Arial"/>
                        </a:rPr>
                        <a:t>public archival repository with DOI (Zenodo, Software Heritage …); GitHub alone not enough; no evaluation</a:t>
                      </a:r>
                    </a:p>
                  </a:txBody>
                  <a:tcPr marL="91440" marR="91440">
                    <a:solidFill>
                      <a:srgbClr val="F1F3F2"/>
                    </a:solidFill>
                  </a:tcPr>
                </a:tc>
              </a:tr>
              <a:tr h="457200">
                <a:tc>
                  <a:txBody>
                    <a:bodyPr/>
                    <a:lstStyle/>
                    <a:p>
                      <a:r>
                        <a:rPr sz="1700" b="0">
                          <a:solidFill>
                            <a:srgbClr val="1A1A1A"/>
                          </a:solidFill>
                          <a:latin typeface="Arial"/>
                        </a:rPr>
                        <a:t>Results confirmed?</a:t>
                      </a:r>
                    </a:p>
                  </a:txBody>
                  <a:tcPr marL="91440" marR="91440">
                    <a:solidFill>
                      <a:srgbClr val="FFFFFF"/>
                    </a:solidFill>
                  </a:tcPr>
                </a:tc>
                <a:tc>
                  <a:txBody>
                    <a:bodyPr/>
                    <a:lstStyle/>
                    <a:p>
                      <a:r>
                        <a:rPr sz="1700" b="1">
                          <a:solidFill>
                            <a:srgbClr val="1A1A1A"/>
                          </a:solidFill>
                          <a:latin typeface="Arial"/>
                        </a:rPr>
                        <a:t>Results Reproduced</a:t>
                      </a:r>
                    </a:p>
                  </a:txBody>
                  <a:tcPr marL="91440" marR="91440">
                    <a:solidFill>
                      <a:srgbClr val="FFFFFF"/>
                    </a:solidFill>
                  </a:tcPr>
                </a:tc>
                <a:tc>
                  <a:txBody>
                    <a:bodyPr/>
                    <a:lstStyle/>
                    <a:p>
                      <a:r>
                        <a:rPr sz="1700" b="0">
                          <a:solidFill>
                            <a:srgbClr val="1A1A1A"/>
                          </a:solidFill>
                          <a:latin typeface="Arial"/>
                        </a:rPr>
                        <a:t>other team gets main results with the authors’ artifacts</a:t>
                      </a:r>
                    </a:p>
                  </a:txBody>
                  <a:tcPr marL="91440" marR="91440">
                    <a:solidFill>
                      <a:srgbClr val="FFFFFF"/>
                    </a:solidFill>
                  </a:tcPr>
                </a:tc>
              </a:tr>
              <a:tr h="457200">
                <a:tc>
                  <a:txBody>
                    <a:bodyPr/>
                    <a:lstStyle/>
                    <a:p>
                      <a:r>
                        <a:rPr sz="1700" b="0">
                          <a:solidFill>
                            <a:srgbClr val="1A1A1A"/>
                          </a:solidFill>
                          <a:latin typeface="Arial"/>
                        </a:rPr>
                        <a:t/>
                      </a:r>
                    </a:p>
                  </a:txBody>
                  <a:tcPr marL="91440" marR="91440">
                    <a:solidFill>
                      <a:srgbClr val="F1F3F2"/>
                    </a:solidFill>
                  </a:tcPr>
                </a:tc>
                <a:tc>
                  <a:txBody>
                    <a:bodyPr/>
                    <a:lstStyle/>
                    <a:p>
                      <a:r>
                        <a:rPr sz="1700" b="1">
                          <a:solidFill>
                            <a:srgbClr val="1A1A1A"/>
                          </a:solidFill>
                          <a:latin typeface="Arial"/>
                        </a:rPr>
                        <a:t>Results Replicated</a:t>
                      </a:r>
                    </a:p>
                  </a:txBody>
                  <a:tcPr marL="91440" marR="91440">
                    <a:solidFill>
                      <a:srgbClr val="F1F3F2"/>
                    </a:solidFill>
                  </a:tcPr>
                </a:tc>
                <a:tc>
                  <a:txBody>
                    <a:bodyPr/>
                    <a:lstStyle/>
                    <a:p>
                      <a:r>
                        <a:rPr sz="1700" b="0">
                          <a:solidFill>
                            <a:srgbClr val="1A1A1A"/>
                          </a:solidFill>
                          <a:latin typeface="Arial"/>
                        </a:rPr>
                        <a:t>other team gets main results without them</a:t>
                      </a:r>
                    </a:p>
                  </a:txBody>
                  <a:tcPr marL="91440" marR="91440">
                    <a:solidFill>
                      <a:srgbClr val="F1F3F2"/>
                    </a:solidFill>
                  </a:tcPr>
                </a:tc>
              </a:tr>
            </a:tbl>
          </a:graphicData>
        </a:graphic>
      </p:graphicFrame>
      <p:sp>
        <p:nvSpPr>
          <p:cNvPr id="136" name="TextBox 135"/>
          <p:cNvSpPr txBox="1"/>
          <p:nvPr/>
        </p:nvSpPr>
        <p:spPr>
          <a:xfrm>
            <a:off x="640080" y="5029200"/>
            <a:ext cx="10908792" cy="548640"/>
          </a:xfrm>
          <a:prstGeom prst="rect">
            <a:avLst/>
          </a:prstGeom>
          <a:noFill/>
        </p:spPr>
        <p:txBody>
          <a:bodyPr wrap="square">
            <a:spAutoFit/>
          </a:bodyPr>
          <a:lstStyle/>
          <a:p>
            <a:pPr>
              <a:spcAft>
                <a:spcPts val="600"/>
              </a:spcAft>
            </a:pPr>
            <a:r>
              <a:rPr sz="1500" b="0" i="0">
                <a:solidFill>
                  <a:srgbClr val="5F6368"/>
                </a:solidFill>
                <a:latin typeface="Arial"/>
              </a:rPr>
              <a:t>Paper (p. 4): "Available, Evaluated, Results Validated". ACM only defines the badges; each conference’s AEC sets its own concrete rules.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Diffusion of Innovations (DoI): how new ideas and practices spread (p. 5)</a:t>
            </a:r>
          </a:p>
        </p:txBody>
      </p:sp>
      <p:sp>
        <p:nvSpPr>
          <p:cNvPr id="135" name="Rounded Rectangle 134"/>
          <p:cNvSpPr/>
          <p:nvPr/>
        </p:nvSpPr>
        <p:spPr>
          <a:xfrm>
            <a:off x="640080" y="1645920"/>
            <a:ext cx="2587752" cy="219456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777240" y="1783080"/>
            <a:ext cx="2313432" cy="1920240"/>
          </a:xfrm>
          <a:prstGeom prst="rect">
            <a:avLst/>
          </a:prstGeom>
          <a:noFill/>
        </p:spPr>
        <p:txBody>
          <a:bodyPr wrap="square">
            <a:spAutoFit/>
          </a:bodyPr>
          <a:lstStyle/>
          <a:p>
            <a:pPr>
              <a:spcAft>
                <a:spcPts val="1000"/>
              </a:spcAft>
            </a:pPr>
            <a:r>
              <a:rPr sz="2000" b="1" i="0">
                <a:solidFill>
                  <a:srgbClr val="00883A"/>
                </a:solidFill>
                <a:latin typeface="Arial"/>
              </a:rPr>
              <a:t>Innovation</a:t>
            </a:r>
          </a:p>
          <a:p>
            <a:pPr>
              <a:spcAft>
                <a:spcPts val="1000"/>
              </a:spcAft>
            </a:pPr>
            <a:r>
              <a:rPr sz="1700" b="0" i="0">
                <a:solidFill>
                  <a:srgbClr val="1A1A1A"/>
                </a:solidFill>
                <a:latin typeface="Arial"/>
              </a:rPr>
              <a:t>each artifact</a:t>
            </a:r>
          </a:p>
        </p:txBody>
      </p:sp>
      <p:sp>
        <p:nvSpPr>
          <p:cNvPr id="137" name="Rounded Rectangle 136"/>
          <p:cNvSpPr/>
          <p:nvPr/>
        </p:nvSpPr>
        <p:spPr>
          <a:xfrm>
            <a:off x="3410711" y="1645920"/>
            <a:ext cx="2587752" cy="219456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3547871" y="1783080"/>
            <a:ext cx="2313432" cy="1920240"/>
          </a:xfrm>
          <a:prstGeom prst="rect">
            <a:avLst/>
          </a:prstGeom>
          <a:noFill/>
        </p:spPr>
        <p:txBody>
          <a:bodyPr wrap="square">
            <a:spAutoFit/>
          </a:bodyPr>
          <a:lstStyle/>
          <a:p>
            <a:pPr>
              <a:spcAft>
                <a:spcPts val="1000"/>
              </a:spcAft>
            </a:pPr>
            <a:r>
              <a:rPr sz="2000" b="1" i="0">
                <a:solidFill>
                  <a:srgbClr val="00883A"/>
                </a:solidFill>
                <a:latin typeface="Arial"/>
              </a:rPr>
              <a:t>Communication channels</a:t>
            </a:r>
          </a:p>
          <a:p>
            <a:pPr>
              <a:spcAft>
                <a:spcPts val="1000"/>
              </a:spcAft>
            </a:pPr>
            <a:r>
              <a:rPr sz="1700" b="0" i="0">
                <a:solidFill>
                  <a:srgbClr val="1A1A1A"/>
                </a:solidFill>
                <a:latin typeface="Arial"/>
              </a:rPr>
              <a:t>links, AECs, badges</a:t>
            </a:r>
          </a:p>
        </p:txBody>
      </p:sp>
      <p:sp>
        <p:nvSpPr>
          <p:cNvPr id="139" name="Rounded Rectangle 138"/>
          <p:cNvSpPr/>
          <p:nvPr/>
        </p:nvSpPr>
        <p:spPr>
          <a:xfrm>
            <a:off x="6181344" y="1645920"/>
            <a:ext cx="2587752" cy="219456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6318504" y="1783080"/>
            <a:ext cx="2313432" cy="1920240"/>
          </a:xfrm>
          <a:prstGeom prst="rect">
            <a:avLst/>
          </a:prstGeom>
          <a:noFill/>
        </p:spPr>
        <p:txBody>
          <a:bodyPr wrap="square">
            <a:spAutoFit/>
          </a:bodyPr>
          <a:lstStyle/>
          <a:p>
            <a:pPr>
              <a:spcAft>
                <a:spcPts val="1000"/>
              </a:spcAft>
            </a:pPr>
            <a:r>
              <a:rPr sz="2000" b="1" i="0">
                <a:solidFill>
                  <a:srgbClr val="00883A"/>
                </a:solidFill>
                <a:latin typeface="Arial"/>
              </a:rPr>
              <a:t>Time</a:t>
            </a:r>
          </a:p>
          <a:p>
            <a:pPr>
              <a:spcAft>
                <a:spcPts val="1000"/>
              </a:spcAft>
            </a:pPr>
            <a:r>
              <a:rPr sz="1700" b="0" i="0">
                <a:solidFill>
                  <a:srgbClr val="1A1A1A"/>
                </a:solidFill>
                <a:latin typeface="Arial"/>
              </a:rPr>
              <a:t>availability and usability over time</a:t>
            </a:r>
          </a:p>
        </p:txBody>
      </p:sp>
      <p:sp>
        <p:nvSpPr>
          <p:cNvPr id="141" name="Rounded Rectangle 140"/>
          <p:cNvSpPr/>
          <p:nvPr/>
        </p:nvSpPr>
        <p:spPr>
          <a:xfrm>
            <a:off x="8951976" y="1645920"/>
            <a:ext cx="2587752" cy="2194560"/>
          </a:xfrm>
          <a:prstGeom prst="roundRect">
            <a:avLst>
              <a:gd name="adj" fmla="val 8000"/>
            </a:avLst>
          </a:prstGeom>
          <a:solidFill>
            <a:srgbClr val="E3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9089136" y="1783080"/>
            <a:ext cx="2313432" cy="1920240"/>
          </a:xfrm>
          <a:prstGeom prst="rect">
            <a:avLst/>
          </a:prstGeom>
          <a:noFill/>
        </p:spPr>
        <p:txBody>
          <a:bodyPr wrap="square">
            <a:spAutoFit/>
          </a:bodyPr>
          <a:lstStyle/>
          <a:p>
            <a:pPr>
              <a:spcAft>
                <a:spcPts val="1000"/>
              </a:spcAft>
            </a:pPr>
            <a:r>
              <a:rPr sz="2000" b="1" i="0">
                <a:solidFill>
                  <a:srgbClr val="00883A"/>
                </a:solidFill>
                <a:latin typeface="Arial"/>
              </a:rPr>
              <a:t>Social system</a:t>
            </a:r>
          </a:p>
          <a:p>
            <a:pPr>
              <a:spcAft>
                <a:spcPts val="1000"/>
              </a:spcAft>
            </a:pPr>
            <a:r>
              <a:rPr sz="1700" b="0" i="0">
                <a:solidFill>
                  <a:srgbClr val="1A1A1A"/>
                </a:solidFill>
                <a:latin typeface="Arial"/>
              </a:rPr>
              <a:t>SE research community, its norms and values</a:t>
            </a:r>
          </a:p>
        </p:txBody>
      </p:sp>
      <p:sp>
        <p:nvSpPr>
          <p:cNvPr id="143" name="TextBox 142"/>
          <p:cNvSpPr txBox="1"/>
          <p:nvPr/>
        </p:nvSpPr>
        <p:spPr>
          <a:xfrm>
            <a:off x="640080" y="4114800"/>
            <a:ext cx="10908792" cy="457200"/>
          </a:xfrm>
          <a:prstGeom prst="rect">
            <a:avLst/>
          </a:prstGeom>
          <a:noFill/>
        </p:spPr>
        <p:txBody>
          <a:bodyPr wrap="square">
            <a:spAutoFit/>
          </a:bodyPr>
          <a:lstStyle/>
          <a:p>
            <a:pPr>
              <a:spcAft>
                <a:spcPts val="600"/>
              </a:spcAft>
            </a:pPr>
            <a:r>
              <a:rPr sz="1800" b="1" i="0">
                <a:solidFill>
                  <a:srgbClr val="00883A"/>
                </a:solidFill>
                <a:latin typeface="Arial"/>
              </a:rPr>
              <a:t>Used here: </a:t>
            </a:r>
            <a:r>
              <a:rPr sz="1800" b="0" i="0">
                <a:solidFill>
                  <a:srgbClr val="1A1A1A"/>
                </a:solidFill>
                <a:latin typeface="Arial"/>
              </a:rPr>
              <a:t>analytical lens to link the findings of the two studies (§5)</a:t>
            </a:r>
          </a:p>
        </p:txBody>
      </p:sp>
      <p:sp>
        <p:nvSpPr>
          <p:cNvPr id="144" name="Rounded Rectangle 143"/>
          <p:cNvSpPr/>
          <p:nvPr/>
        </p:nvSpPr>
        <p:spPr>
          <a:xfrm>
            <a:off x="640080" y="4846320"/>
            <a:ext cx="1090879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822960" y="4937760"/>
            <a:ext cx="10515600" cy="1005840"/>
          </a:xfrm>
          <a:prstGeom prst="rect">
            <a:avLst/>
          </a:prstGeom>
          <a:noFill/>
        </p:spPr>
        <p:txBody>
          <a:bodyPr wrap="square" anchor="ctr">
            <a:spAutoFit/>
          </a:bodyPr>
          <a:lstStyle/>
          <a:p>
            <a:pPr>
              <a:spcAft>
                <a:spcPts val="600"/>
              </a:spcAft>
            </a:pPr>
            <a:r>
              <a:rPr sz="1800" b="1" i="0">
                <a:solidFill>
                  <a:srgbClr val="00883A"/>
                </a:solidFill>
                <a:latin typeface="Arial"/>
              </a:rPr>
              <a:t>Implementation Science (IS): </a:t>
            </a:r>
            <a:r>
              <a:rPr sz="1800" b="0" i="0">
                <a:solidFill>
                  <a:srgbClr val="1A1A1A"/>
                </a:solidFill>
                <a:latin typeface="Arial"/>
              </a:rPr>
              <a:t>iterative, evidence-based way of moving research into practice (from medicine): practices identified, trialled, observed, improved (p. 6). Used to shape the recommendations.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Rounded Rectangle 133"/>
          <p:cNvSpPr/>
          <p:nvPr/>
        </p:nvSpPr>
        <p:spPr>
          <a:xfrm>
            <a:off x="640080" y="1463040"/>
            <a:ext cx="5212080" cy="457200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822959" y="1554480"/>
            <a:ext cx="4846320" cy="4389120"/>
          </a:xfrm>
          <a:prstGeom prst="rect">
            <a:avLst/>
          </a:prstGeom>
          <a:noFill/>
        </p:spPr>
        <p:txBody>
          <a:bodyPr wrap="square">
            <a:spAutoFit/>
          </a:bodyPr>
          <a:lstStyle/>
          <a:p>
            <a:pPr>
              <a:spcAft>
                <a:spcPts val="1200"/>
              </a:spcAft>
            </a:pPr>
            <a:r>
              <a:rPr sz="2100" b="1" i="0">
                <a:solidFill>
                  <a:srgbClr val="00883A"/>
                </a:solidFill>
                <a:latin typeface="Arial"/>
              </a:rPr>
              <a:t>§3.1 Publication survey (p. 7)</a:t>
            </a:r>
          </a:p>
          <a:p>
            <a:pPr>
              <a:spcAft>
                <a:spcPts val="1200"/>
              </a:spcAft>
            </a:pPr>
            <a:r>
              <a:rPr sz="1800" b="0" i="0">
                <a:solidFill>
                  <a:srgbClr val="1A1A1A"/>
                </a:solidFill>
                <a:latin typeface="Arial"/>
              </a:rPr>
              <a:t>• URLs extracted from paper PDFs, then checked by hand</a:t>
            </a:r>
          </a:p>
          <a:p>
            <a:pPr>
              <a:spcAft>
                <a:spcPts val="1200"/>
              </a:spcAft>
            </a:pPr>
            <a:r>
              <a:rPr sz="1800" b="0" i="0">
                <a:solidFill>
                  <a:srgbClr val="1A1A1A"/>
                </a:solidFill>
                <a:latin typeface="Arial"/>
              </a:rPr>
              <a:t>• artifact = any linked material</a:t>
            </a:r>
          </a:p>
          <a:p>
            <a:pPr>
              <a:spcAft>
                <a:spcPts val="1200"/>
              </a:spcAft>
            </a:pPr>
            <a:r>
              <a:rPr sz="1800" b="0" i="0">
                <a:solidFill>
                  <a:srgbClr val="1A1A1A"/>
                </a:solidFill>
                <a:latin typeface="Arial"/>
              </a:rPr>
              <a:t>• available = URL reachable at one check (early 2019)</a:t>
            </a:r>
          </a:p>
          <a:p>
            <a:pPr>
              <a:spcAft>
                <a:spcPts val="1200"/>
              </a:spcAft>
            </a:pPr>
            <a:r>
              <a:rPr sz="1800" b="0" i="0">
                <a:solidFill>
                  <a:srgbClr val="1A1A1A"/>
                </a:solidFill>
                <a:latin typeface="Arial"/>
              </a:rPr>
              <a:t>• FSE AEC chairs asked for submission and acceptance data</a:t>
            </a:r>
          </a:p>
        </p:txBody>
      </p:sp>
      <p:sp>
        <p:nvSpPr>
          <p:cNvPr id="136" name="Rounded Rectangle 135"/>
          <p:cNvSpPr/>
          <p:nvPr/>
        </p:nvSpPr>
        <p:spPr>
          <a:xfrm>
            <a:off x="6336792" y="1463040"/>
            <a:ext cx="5212080" cy="457200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519672" y="1554480"/>
            <a:ext cx="4846320" cy="4389120"/>
          </a:xfrm>
          <a:prstGeom prst="rect">
            <a:avLst/>
          </a:prstGeom>
          <a:noFill/>
        </p:spPr>
        <p:txBody>
          <a:bodyPr wrap="square">
            <a:spAutoFit/>
          </a:bodyPr>
          <a:lstStyle/>
          <a:p>
            <a:pPr>
              <a:spcAft>
                <a:spcPts val="1200"/>
              </a:spcAft>
            </a:pPr>
            <a:r>
              <a:rPr sz="2100" b="1" i="0">
                <a:solidFill>
                  <a:srgbClr val="00883A"/>
                </a:solidFill>
                <a:latin typeface="Arial"/>
              </a:rPr>
              <a:t>§3.2 Author survey (pp. 7-9)</a:t>
            </a:r>
          </a:p>
          <a:p>
            <a:pPr>
              <a:spcAft>
                <a:spcPts val="1200"/>
              </a:spcAft>
            </a:pPr>
            <a:r>
              <a:rPr sz="1800" b="0" i="0">
                <a:solidFill>
                  <a:srgbClr val="1A1A1A"/>
                </a:solidFill>
                <a:latin typeface="Arial"/>
              </a:rPr>
              <a:t>• closed + open questions; branching shows role-specific parts</a:t>
            </a:r>
          </a:p>
          <a:p>
            <a:pPr>
              <a:spcAft>
                <a:spcPts val="1200"/>
              </a:spcAft>
            </a:pPr>
            <a:r>
              <a:rPr sz="1800" b="0" i="0">
                <a:solidFill>
                  <a:srgbClr val="1A1A1A"/>
                </a:solidFill>
                <a:latin typeface="Arial"/>
              </a:rPr>
              <a:t>• questions grouped by RQ: value · creating · using · reviewing</a:t>
            </a:r>
          </a:p>
          <a:p>
            <a:pPr>
              <a:spcAft>
                <a:spcPts val="1200"/>
              </a:spcAft>
            </a:pPr>
            <a:r>
              <a:rPr sz="1800" b="0" i="0">
                <a:solidFill>
                  <a:srgbClr val="1A1A1A"/>
                </a:solidFill>
                <a:latin typeface="Arial"/>
              </a:rPr>
              <a:t>• descriptive, then axial coding by 3 domain experts + 1 methodologist</a:t>
            </a:r>
          </a:p>
          <a:p>
            <a:pPr>
              <a:spcAft>
                <a:spcPts val="1200"/>
              </a:spcAft>
            </a:pPr>
            <a:r>
              <a:rPr sz="1800" b="0" i="0">
                <a:solidFill>
                  <a:srgbClr val="1A1A1A"/>
                </a:solidFill>
                <a:latin typeface="Arial"/>
              </a:rPr>
              <a:t>• themes show the range of experiences, not how common they are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RQ2 · Challenges of creating, sharing, using and reviewing (Table 4, pp. 14-15)</a:t>
            </a:r>
          </a:p>
        </p:txBody>
      </p:sp>
      <p:sp>
        <p:nvSpPr>
          <p:cNvPr id="135" name="Rounded Rectangle 134"/>
          <p:cNvSpPr/>
          <p:nvPr/>
        </p:nvSpPr>
        <p:spPr>
          <a:xfrm>
            <a:off x="640080" y="16002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749808" y="1673352"/>
            <a:ext cx="2377440" cy="1051560"/>
          </a:xfrm>
          <a:prstGeom prst="rect">
            <a:avLst/>
          </a:prstGeom>
          <a:noFill/>
        </p:spPr>
        <p:txBody>
          <a:bodyPr wrap="square">
            <a:spAutoFit/>
          </a:bodyPr>
          <a:lstStyle/>
          <a:p>
            <a:pPr>
              <a:spcAft>
                <a:spcPts val="400"/>
              </a:spcAft>
            </a:pPr>
            <a:r>
              <a:rPr sz="1800" b="1" i="0">
                <a:solidFill>
                  <a:srgbClr val="00883A"/>
                </a:solidFill>
                <a:latin typeface="Arial"/>
              </a:rPr>
              <a:t>C1 </a:t>
            </a:r>
            <a:r>
              <a:rPr sz="1700" b="0" i="0">
                <a:solidFill>
                  <a:srgbClr val="1A1A1A"/>
                </a:solidFill>
                <a:latin typeface="Arial"/>
              </a:rPr>
              <a:t>Not worth it</a:t>
            </a:r>
          </a:p>
          <a:p>
            <a:pPr>
              <a:spcAft>
                <a:spcPts val="400"/>
              </a:spcAft>
            </a:pPr>
            <a:r>
              <a:rPr sz="1800" b="1" i="0">
                <a:solidFill>
                  <a:srgbClr val="00883A"/>
                </a:solidFill>
                <a:latin typeface="Arial"/>
              </a:rPr>
              <a:t>■ </a:t>
            </a:r>
          </a:p>
        </p:txBody>
      </p:sp>
      <p:sp>
        <p:nvSpPr>
          <p:cNvPr id="137" name="Rounded Rectangle 136"/>
          <p:cNvSpPr/>
          <p:nvPr/>
        </p:nvSpPr>
        <p:spPr>
          <a:xfrm>
            <a:off x="3410711" y="16002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3520439" y="1673352"/>
            <a:ext cx="2377440" cy="1051560"/>
          </a:xfrm>
          <a:prstGeom prst="rect">
            <a:avLst/>
          </a:prstGeom>
          <a:noFill/>
        </p:spPr>
        <p:txBody>
          <a:bodyPr wrap="square">
            <a:spAutoFit/>
          </a:bodyPr>
          <a:lstStyle/>
          <a:p>
            <a:pPr>
              <a:spcAft>
                <a:spcPts val="400"/>
              </a:spcAft>
            </a:pPr>
            <a:r>
              <a:rPr sz="1800" b="1" i="0">
                <a:solidFill>
                  <a:srgbClr val="00883A"/>
                </a:solidFill>
                <a:latin typeface="Arial"/>
              </a:rPr>
              <a:t>C2 </a:t>
            </a:r>
            <a:r>
              <a:rPr sz="1700" b="0" i="0">
                <a:solidFill>
                  <a:srgbClr val="1A1A1A"/>
                </a:solidFill>
                <a:latin typeface="Arial"/>
              </a:rPr>
              <a:t>Portability</a:t>
            </a:r>
          </a:p>
          <a:p>
            <a:pPr>
              <a:spcAft>
                <a:spcPts val="400"/>
              </a:spcAft>
            </a:pPr>
            <a:r>
              <a:rPr sz="1800" b="1" i="0">
                <a:solidFill>
                  <a:srgbClr val="00883A"/>
                </a:solidFill>
                <a:latin typeface="Arial"/>
              </a:rPr>
              <a:t>■ </a:t>
            </a:r>
            <a:r>
              <a:rPr sz="1800" b="1" i="0">
                <a:solidFill>
                  <a:srgbClr val="5F6368"/>
                </a:solidFill>
                <a:latin typeface="Arial"/>
              </a:rPr>
              <a:t>▲ </a:t>
            </a:r>
            <a:r>
              <a:rPr sz="1800" b="1" i="0">
                <a:solidFill>
                  <a:srgbClr val="1A1A1A"/>
                </a:solidFill>
                <a:latin typeface="Arial"/>
              </a:rPr>
              <a:t>★ </a:t>
            </a:r>
          </a:p>
        </p:txBody>
      </p:sp>
      <p:sp>
        <p:nvSpPr>
          <p:cNvPr id="139" name="Rounded Rectangle 138"/>
          <p:cNvSpPr/>
          <p:nvPr/>
        </p:nvSpPr>
        <p:spPr>
          <a:xfrm>
            <a:off x="6181344" y="16002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TextBox 139"/>
          <p:cNvSpPr txBox="1"/>
          <p:nvPr/>
        </p:nvSpPr>
        <p:spPr>
          <a:xfrm>
            <a:off x="6291072" y="1673352"/>
            <a:ext cx="2377440" cy="1051560"/>
          </a:xfrm>
          <a:prstGeom prst="rect">
            <a:avLst/>
          </a:prstGeom>
          <a:noFill/>
        </p:spPr>
        <p:txBody>
          <a:bodyPr wrap="square">
            <a:spAutoFit/>
          </a:bodyPr>
          <a:lstStyle/>
          <a:p>
            <a:pPr>
              <a:spcAft>
                <a:spcPts val="400"/>
              </a:spcAft>
            </a:pPr>
            <a:r>
              <a:rPr sz="1800" b="1" i="0">
                <a:solidFill>
                  <a:srgbClr val="00883A"/>
                </a:solidFill>
                <a:latin typeface="Arial"/>
              </a:rPr>
              <a:t>C3 </a:t>
            </a:r>
            <a:r>
              <a:rPr sz="1700" b="0" i="0">
                <a:solidFill>
                  <a:srgbClr val="1A1A1A"/>
                </a:solidFill>
                <a:latin typeface="Arial"/>
              </a:rPr>
              <a:t>Maintenance</a:t>
            </a:r>
          </a:p>
          <a:p>
            <a:pPr>
              <a:spcAft>
                <a:spcPts val="400"/>
              </a:spcAft>
            </a:pPr>
            <a:r>
              <a:rPr sz="1800" b="1" i="0">
                <a:solidFill>
                  <a:srgbClr val="00883A"/>
                </a:solidFill>
                <a:latin typeface="Arial"/>
              </a:rPr>
              <a:t>■ </a:t>
            </a:r>
            <a:r>
              <a:rPr sz="1800" b="1" i="0">
                <a:solidFill>
                  <a:srgbClr val="5F6368"/>
                </a:solidFill>
                <a:latin typeface="Arial"/>
              </a:rPr>
              <a:t>▲ </a:t>
            </a:r>
          </a:p>
        </p:txBody>
      </p:sp>
      <p:sp>
        <p:nvSpPr>
          <p:cNvPr id="141" name="Rounded Rectangle 140"/>
          <p:cNvSpPr/>
          <p:nvPr/>
        </p:nvSpPr>
        <p:spPr>
          <a:xfrm>
            <a:off x="8951976" y="16002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9061703" y="1673352"/>
            <a:ext cx="2377440" cy="1051560"/>
          </a:xfrm>
          <a:prstGeom prst="rect">
            <a:avLst/>
          </a:prstGeom>
          <a:noFill/>
        </p:spPr>
        <p:txBody>
          <a:bodyPr wrap="square">
            <a:spAutoFit/>
          </a:bodyPr>
          <a:lstStyle/>
          <a:p>
            <a:pPr>
              <a:spcAft>
                <a:spcPts val="400"/>
              </a:spcAft>
            </a:pPr>
            <a:r>
              <a:rPr sz="1800" b="1" i="0">
                <a:solidFill>
                  <a:srgbClr val="00883A"/>
                </a:solidFill>
                <a:latin typeface="Arial"/>
              </a:rPr>
              <a:t>C4 </a:t>
            </a:r>
            <a:r>
              <a:rPr sz="1700" b="0" i="0">
                <a:solidFill>
                  <a:srgbClr val="1A1A1A"/>
                </a:solidFill>
                <a:latin typeface="Arial"/>
              </a:rPr>
              <a:t>Tacit knowledge</a:t>
            </a:r>
          </a:p>
          <a:p>
            <a:pPr>
              <a:spcAft>
                <a:spcPts val="400"/>
              </a:spcAft>
            </a:pPr>
            <a:r>
              <a:rPr sz="1800" b="1" i="0">
                <a:solidFill>
                  <a:srgbClr val="00883A"/>
                </a:solidFill>
                <a:latin typeface="Arial"/>
              </a:rPr>
              <a:t>■ </a:t>
            </a:r>
            <a:r>
              <a:rPr sz="1800" b="1" i="0">
                <a:solidFill>
                  <a:srgbClr val="5F6368"/>
                </a:solidFill>
                <a:latin typeface="Arial"/>
              </a:rPr>
              <a:t>▲ </a:t>
            </a:r>
            <a:r>
              <a:rPr sz="1800" b="1" i="0">
                <a:solidFill>
                  <a:srgbClr val="1A1A1A"/>
                </a:solidFill>
                <a:latin typeface="Arial"/>
              </a:rPr>
              <a:t>★ </a:t>
            </a:r>
          </a:p>
        </p:txBody>
      </p:sp>
      <p:sp>
        <p:nvSpPr>
          <p:cNvPr id="143" name="Rounded Rectangle 142"/>
          <p:cNvSpPr/>
          <p:nvPr/>
        </p:nvSpPr>
        <p:spPr>
          <a:xfrm>
            <a:off x="640080" y="29718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TextBox 143"/>
          <p:cNvSpPr txBox="1"/>
          <p:nvPr/>
        </p:nvSpPr>
        <p:spPr>
          <a:xfrm>
            <a:off x="749808" y="3044952"/>
            <a:ext cx="2377440" cy="1051560"/>
          </a:xfrm>
          <a:prstGeom prst="rect">
            <a:avLst/>
          </a:prstGeom>
          <a:noFill/>
        </p:spPr>
        <p:txBody>
          <a:bodyPr wrap="square">
            <a:spAutoFit/>
          </a:bodyPr>
          <a:lstStyle/>
          <a:p>
            <a:pPr>
              <a:spcAft>
                <a:spcPts val="400"/>
              </a:spcAft>
            </a:pPr>
            <a:r>
              <a:rPr sz="1800" b="1" i="0">
                <a:solidFill>
                  <a:srgbClr val="00883A"/>
                </a:solidFill>
                <a:latin typeface="Arial"/>
              </a:rPr>
              <a:t>C5 </a:t>
            </a:r>
            <a:r>
              <a:rPr sz="1700" b="0" i="0">
                <a:solidFill>
                  <a:srgbClr val="1A1A1A"/>
                </a:solidFill>
                <a:latin typeface="Arial"/>
              </a:rPr>
              <a:t>Doesn’t fit purpose</a:t>
            </a:r>
          </a:p>
          <a:p>
            <a:pPr>
              <a:spcAft>
                <a:spcPts val="400"/>
              </a:spcAft>
            </a:pPr>
            <a:r>
              <a:rPr sz="1800" b="1" i="0">
                <a:solidFill>
                  <a:srgbClr val="5F6368"/>
                </a:solidFill>
                <a:latin typeface="Arial"/>
              </a:rPr>
              <a:t>▲ </a:t>
            </a:r>
          </a:p>
        </p:txBody>
      </p:sp>
      <p:sp>
        <p:nvSpPr>
          <p:cNvPr id="145" name="Rounded Rectangle 144"/>
          <p:cNvSpPr/>
          <p:nvPr/>
        </p:nvSpPr>
        <p:spPr>
          <a:xfrm>
            <a:off x="3410711" y="29718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3520439" y="3044952"/>
            <a:ext cx="2377440" cy="1051560"/>
          </a:xfrm>
          <a:prstGeom prst="rect">
            <a:avLst/>
          </a:prstGeom>
          <a:noFill/>
        </p:spPr>
        <p:txBody>
          <a:bodyPr wrap="square">
            <a:spAutoFit/>
          </a:bodyPr>
          <a:lstStyle/>
          <a:p>
            <a:pPr>
              <a:spcAft>
                <a:spcPts val="400"/>
              </a:spcAft>
            </a:pPr>
            <a:r>
              <a:rPr sz="1800" b="1" i="0">
                <a:solidFill>
                  <a:srgbClr val="00883A"/>
                </a:solidFill>
                <a:latin typeface="Arial"/>
              </a:rPr>
              <a:t>C6 </a:t>
            </a:r>
            <a:r>
              <a:rPr sz="1700" b="0" i="0">
                <a:solidFill>
                  <a:srgbClr val="1A1A1A"/>
                </a:solidFill>
                <a:latin typeface="Arial"/>
              </a:rPr>
              <a:t>No standards / guidelines</a:t>
            </a:r>
          </a:p>
          <a:p>
            <a:pPr>
              <a:spcAft>
                <a:spcPts val="400"/>
              </a:spcAft>
            </a:pPr>
            <a:r>
              <a:rPr sz="1800" b="1" i="0">
                <a:solidFill>
                  <a:srgbClr val="00883A"/>
                </a:solidFill>
                <a:latin typeface="Arial"/>
              </a:rPr>
              <a:t>■ </a:t>
            </a:r>
            <a:r>
              <a:rPr sz="1800" b="1" i="0">
                <a:solidFill>
                  <a:srgbClr val="1A1A1A"/>
                </a:solidFill>
                <a:latin typeface="Arial"/>
              </a:rPr>
              <a:t>★ </a:t>
            </a:r>
          </a:p>
        </p:txBody>
      </p:sp>
      <p:sp>
        <p:nvSpPr>
          <p:cNvPr id="147" name="Rounded Rectangle 146"/>
          <p:cNvSpPr/>
          <p:nvPr/>
        </p:nvSpPr>
        <p:spPr>
          <a:xfrm>
            <a:off x="6181344" y="29718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TextBox 147"/>
          <p:cNvSpPr txBox="1"/>
          <p:nvPr/>
        </p:nvSpPr>
        <p:spPr>
          <a:xfrm>
            <a:off x="6291072" y="3044952"/>
            <a:ext cx="2377440" cy="1051560"/>
          </a:xfrm>
          <a:prstGeom prst="rect">
            <a:avLst/>
          </a:prstGeom>
          <a:noFill/>
        </p:spPr>
        <p:txBody>
          <a:bodyPr wrap="square">
            <a:spAutoFit/>
          </a:bodyPr>
          <a:lstStyle/>
          <a:p>
            <a:pPr>
              <a:spcAft>
                <a:spcPts val="400"/>
              </a:spcAft>
            </a:pPr>
            <a:r>
              <a:rPr sz="1800" b="1" i="0">
                <a:solidFill>
                  <a:srgbClr val="00883A"/>
                </a:solidFill>
                <a:latin typeface="Arial"/>
              </a:rPr>
              <a:t>C7 </a:t>
            </a:r>
            <a:r>
              <a:rPr sz="1700" b="0" i="0">
                <a:solidFill>
                  <a:srgbClr val="1A1A1A"/>
                </a:solidFill>
                <a:latin typeface="Arial"/>
              </a:rPr>
              <a:t>Hosting</a:t>
            </a:r>
          </a:p>
          <a:p>
            <a:pPr>
              <a:spcAft>
                <a:spcPts val="400"/>
              </a:spcAft>
            </a:pPr>
            <a:r>
              <a:rPr sz="1800" b="1" i="0">
                <a:solidFill>
                  <a:srgbClr val="00883A"/>
                </a:solidFill>
                <a:latin typeface="Arial"/>
              </a:rPr>
              <a:t>■ </a:t>
            </a:r>
            <a:r>
              <a:rPr sz="1800" b="1" i="0">
                <a:solidFill>
                  <a:srgbClr val="5F6368"/>
                </a:solidFill>
                <a:latin typeface="Arial"/>
              </a:rPr>
              <a:t>▲ </a:t>
            </a:r>
          </a:p>
        </p:txBody>
      </p:sp>
      <p:sp>
        <p:nvSpPr>
          <p:cNvPr id="149" name="Rounded Rectangle 148"/>
          <p:cNvSpPr/>
          <p:nvPr/>
        </p:nvSpPr>
        <p:spPr>
          <a:xfrm>
            <a:off x="8951976" y="29718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9061703" y="3044952"/>
            <a:ext cx="2377440" cy="1051560"/>
          </a:xfrm>
          <a:prstGeom prst="rect">
            <a:avLst/>
          </a:prstGeom>
          <a:noFill/>
        </p:spPr>
        <p:txBody>
          <a:bodyPr wrap="square">
            <a:spAutoFit/>
          </a:bodyPr>
          <a:lstStyle/>
          <a:p>
            <a:pPr>
              <a:spcAft>
                <a:spcPts val="400"/>
              </a:spcAft>
            </a:pPr>
            <a:r>
              <a:rPr sz="1800" b="1" i="0">
                <a:solidFill>
                  <a:srgbClr val="00883A"/>
                </a:solidFill>
                <a:latin typeface="Arial"/>
              </a:rPr>
              <a:t>C8 </a:t>
            </a:r>
            <a:r>
              <a:rPr sz="1700" b="0" i="0">
                <a:solidFill>
                  <a:srgbClr val="1A1A1A"/>
                </a:solidFill>
                <a:latin typeface="Arial"/>
              </a:rPr>
              <a:t>Double-blind review</a:t>
            </a:r>
          </a:p>
          <a:p>
            <a:pPr>
              <a:spcAft>
                <a:spcPts val="400"/>
              </a:spcAft>
            </a:pPr>
            <a:r>
              <a:rPr sz="1800" b="1" i="0">
                <a:solidFill>
                  <a:srgbClr val="00883A"/>
                </a:solidFill>
                <a:latin typeface="Arial"/>
              </a:rPr>
              <a:t>■ </a:t>
            </a:r>
          </a:p>
        </p:txBody>
      </p:sp>
      <p:sp>
        <p:nvSpPr>
          <p:cNvPr id="151" name="Rounded Rectangle 150"/>
          <p:cNvSpPr/>
          <p:nvPr/>
        </p:nvSpPr>
        <p:spPr>
          <a:xfrm>
            <a:off x="640080" y="43434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749808" y="4416552"/>
            <a:ext cx="2377440" cy="1051560"/>
          </a:xfrm>
          <a:prstGeom prst="rect">
            <a:avLst/>
          </a:prstGeom>
          <a:noFill/>
        </p:spPr>
        <p:txBody>
          <a:bodyPr wrap="square">
            <a:spAutoFit/>
          </a:bodyPr>
          <a:lstStyle/>
          <a:p>
            <a:pPr>
              <a:spcAft>
                <a:spcPts val="400"/>
              </a:spcAft>
            </a:pPr>
            <a:r>
              <a:rPr sz="1800" b="1" i="0">
                <a:solidFill>
                  <a:srgbClr val="00883A"/>
                </a:solidFill>
                <a:latin typeface="Arial"/>
              </a:rPr>
              <a:t>C9 </a:t>
            </a:r>
            <a:r>
              <a:rPr sz="1700" b="0" i="0">
                <a:solidFill>
                  <a:srgbClr val="1A1A1A"/>
                </a:solidFill>
                <a:latin typeface="Arial"/>
              </a:rPr>
              <a:t>External constraints</a:t>
            </a:r>
          </a:p>
          <a:p>
            <a:pPr>
              <a:spcAft>
                <a:spcPts val="400"/>
              </a:spcAft>
            </a:pPr>
            <a:r>
              <a:rPr sz="1800" b="1" i="0">
                <a:solidFill>
                  <a:srgbClr val="00883A"/>
                </a:solidFill>
                <a:latin typeface="Arial"/>
              </a:rPr>
              <a:t>■ </a:t>
            </a:r>
            <a:r>
              <a:rPr sz="1800" b="1" i="0">
                <a:solidFill>
                  <a:srgbClr val="5F6368"/>
                </a:solidFill>
                <a:latin typeface="Arial"/>
              </a:rPr>
              <a:t>▲ </a:t>
            </a:r>
            <a:r>
              <a:rPr sz="1800" b="1" i="0">
                <a:solidFill>
                  <a:srgbClr val="1A1A1A"/>
                </a:solidFill>
                <a:latin typeface="Arial"/>
              </a:rPr>
              <a:t>★ </a:t>
            </a:r>
          </a:p>
        </p:txBody>
      </p:sp>
      <p:sp>
        <p:nvSpPr>
          <p:cNvPr id="153" name="Rounded Rectangle 152"/>
          <p:cNvSpPr/>
          <p:nvPr/>
        </p:nvSpPr>
        <p:spPr>
          <a:xfrm>
            <a:off x="3410711" y="43434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TextBox 153"/>
          <p:cNvSpPr txBox="1"/>
          <p:nvPr/>
        </p:nvSpPr>
        <p:spPr>
          <a:xfrm>
            <a:off x="3520439" y="4416552"/>
            <a:ext cx="2377440" cy="1051560"/>
          </a:xfrm>
          <a:prstGeom prst="rect">
            <a:avLst/>
          </a:prstGeom>
          <a:noFill/>
        </p:spPr>
        <p:txBody>
          <a:bodyPr wrap="square">
            <a:spAutoFit/>
          </a:bodyPr>
          <a:lstStyle/>
          <a:p>
            <a:pPr>
              <a:spcAft>
                <a:spcPts val="400"/>
              </a:spcAft>
            </a:pPr>
            <a:r>
              <a:rPr sz="1800" b="1" i="0">
                <a:solidFill>
                  <a:srgbClr val="00883A"/>
                </a:solidFill>
                <a:latin typeface="Arial"/>
              </a:rPr>
              <a:t>C10 </a:t>
            </a:r>
            <a:r>
              <a:rPr sz="1700" b="0" i="0">
                <a:solidFill>
                  <a:srgbClr val="1A1A1A"/>
                </a:solidFill>
                <a:latin typeface="Arial"/>
              </a:rPr>
              <a:t>No reviewer incentives</a:t>
            </a:r>
          </a:p>
          <a:p>
            <a:pPr>
              <a:spcAft>
                <a:spcPts val="400"/>
              </a:spcAft>
            </a:pPr>
            <a:r>
              <a:rPr sz="1800" b="1" i="0">
                <a:solidFill>
                  <a:srgbClr val="1A1A1A"/>
                </a:solidFill>
                <a:latin typeface="Arial"/>
              </a:rPr>
              <a:t>★ </a:t>
            </a:r>
          </a:p>
        </p:txBody>
      </p:sp>
      <p:sp>
        <p:nvSpPr>
          <p:cNvPr id="155" name="Rounded Rectangle 154"/>
          <p:cNvSpPr/>
          <p:nvPr/>
        </p:nvSpPr>
        <p:spPr>
          <a:xfrm>
            <a:off x="6181344" y="43434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4416552"/>
            <a:ext cx="2377440" cy="1051560"/>
          </a:xfrm>
          <a:prstGeom prst="rect">
            <a:avLst/>
          </a:prstGeom>
          <a:noFill/>
        </p:spPr>
        <p:txBody>
          <a:bodyPr wrap="square">
            <a:spAutoFit/>
          </a:bodyPr>
          <a:lstStyle/>
          <a:p>
            <a:pPr>
              <a:spcAft>
                <a:spcPts val="400"/>
              </a:spcAft>
            </a:pPr>
            <a:r>
              <a:rPr sz="1800" b="1" i="0">
                <a:solidFill>
                  <a:srgbClr val="00883A"/>
                </a:solidFill>
                <a:latin typeface="Arial"/>
              </a:rPr>
              <a:t>C11 </a:t>
            </a:r>
            <a:r>
              <a:rPr sz="1700" b="0" i="0">
                <a:solidFill>
                  <a:srgbClr val="1A1A1A"/>
                </a:solidFill>
                <a:latin typeface="Arial"/>
              </a:rPr>
              <a:t>Technical obstacles</a:t>
            </a:r>
          </a:p>
          <a:p>
            <a:pPr>
              <a:spcAft>
                <a:spcPts val="400"/>
              </a:spcAft>
            </a:pPr>
            <a:r>
              <a:rPr sz="1800" b="1" i="0">
                <a:solidFill>
                  <a:srgbClr val="1A1A1A"/>
                </a:solidFill>
                <a:latin typeface="Arial"/>
              </a:rPr>
              <a:t>★ </a:t>
            </a:r>
          </a:p>
        </p:txBody>
      </p:sp>
      <p:sp>
        <p:nvSpPr>
          <p:cNvPr id="157" name="Rounded Rectangle 156"/>
          <p:cNvSpPr/>
          <p:nvPr/>
        </p:nvSpPr>
        <p:spPr>
          <a:xfrm>
            <a:off x="8951976" y="4343400"/>
            <a:ext cx="2587752" cy="1188720"/>
          </a:xfrm>
          <a:prstGeom prst="roundRect">
            <a:avLst>
              <a:gd name="adj" fmla="val 8000"/>
            </a:avLst>
          </a:prstGeom>
          <a:solidFill>
            <a:srgbClr val="F1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9061703" y="4416552"/>
            <a:ext cx="2377440" cy="1051560"/>
          </a:xfrm>
          <a:prstGeom prst="rect">
            <a:avLst/>
          </a:prstGeom>
          <a:noFill/>
        </p:spPr>
        <p:txBody>
          <a:bodyPr wrap="square">
            <a:spAutoFit/>
          </a:bodyPr>
          <a:lstStyle/>
          <a:p>
            <a:pPr>
              <a:spcAft>
                <a:spcPts val="400"/>
              </a:spcAft>
            </a:pPr>
            <a:r>
              <a:rPr sz="1800" b="1" i="0">
                <a:solidFill>
                  <a:srgbClr val="00883A"/>
                </a:solidFill>
                <a:latin typeface="Arial"/>
              </a:rPr>
              <a:t>C12 </a:t>
            </a:r>
            <a:r>
              <a:rPr sz="1700" b="0" i="0">
                <a:solidFill>
                  <a:srgbClr val="1A1A1A"/>
                </a:solidFill>
                <a:latin typeface="Arial"/>
              </a:rPr>
              <a:t>Limited communication</a:t>
            </a:r>
          </a:p>
          <a:p>
            <a:pPr>
              <a:spcAft>
                <a:spcPts val="400"/>
              </a:spcAft>
            </a:pPr>
            <a:r>
              <a:rPr sz="1800" b="1" i="0">
                <a:solidFill>
                  <a:srgbClr val="1A1A1A"/>
                </a:solidFill>
                <a:latin typeface="Arial"/>
              </a:rPr>
              <a:t>★ </a:t>
            </a:r>
          </a:p>
        </p:txBody>
      </p:sp>
      <p:sp>
        <p:nvSpPr>
          <p:cNvPr id="159" name="TextBox 158"/>
          <p:cNvSpPr txBox="1"/>
          <p:nvPr/>
        </p:nvSpPr>
        <p:spPr>
          <a:xfrm>
            <a:off x="640080" y="5806440"/>
            <a:ext cx="10908792" cy="457200"/>
          </a:xfrm>
          <a:prstGeom prst="rect">
            <a:avLst/>
          </a:prstGeom>
          <a:noFill/>
        </p:spPr>
        <p:txBody>
          <a:bodyPr wrap="square">
            <a:spAutoFit/>
          </a:bodyPr>
          <a:lstStyle/>
          <a:p>
            <a:pPr>
              <a:spcAft>
                <a:spcPts val="600"/>
              </a:spcAft>
            </a:pPr>
            <a:r>
              <a:rPr sz="1600" b="1" i="0">
                <a:solidFill>
                  <a:srgbClr val="00883A"/>
                </a:solidFill>
                <a:latin typeface="Arial"/>
              </a:rPr>
              <a:t>■ </a:t>
            </a:r>
            <a:r>
              <a:rPr sz="1600" b="0" i="0">
                <a:solidFill>
                  <a:srgbClr val="5F6368"/>
                </a:solidFill>
                <a:latin typeface="Arial"/>
              </a:rPr>
              <a:t>creator   </a:t>
            </a:r>
            <a:r>
              <a:rPr sz="1600" b="1" i="0">
                <a:solidFill>
                  <a:srgbClr val="5F6368"/>
                </a:solidFill>
                <a:latin typeface="Arial"/>
              </a:rPr>
              <a:t>▲ </a:t>
            </a:r>
            <a:r>
              <a:rPr sz="1600" b="0" i="0">
                <a:solidFill>
                  <a:srgbClr val="5F6368"/>
                </a:solidFill>
                <a:latin typeface="Arial"/>
              </a:rPr>
              <a:t>user   </a:t>
            </a:r>
            <a:r>
              <a:rPr sz="1600" b="1" i="0">
                <a:solidFill>
                  <a:srgbClr val="1A1A1A"/>
                </a:solidFill>
                <a:latin typeface="Arial"/>
              </a:rPr>
              <a:t>★ </a:t>
            </a:r>
            <a:r>
              <a:rPr sz="1600" b="0" i="0">
                <a:solidFill>
                  <a:srgbClr val="5F6368"/>
                </a:solidFill>
                <a:latin typeface="Arial"/>
              </a:rPr>
              <a:t>reviewer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RQ2 · C1-C3</a:t>
            </a:r>
          </a:p>
        </p:txBody>
      </p:sp>
      <p:sp>
        <p:nvSpPr>
          <p:cNvPr id="135" name="TextBox 134"/>
          <p:cNvSpPr txBox="1"/>
          <p:nvPr/>
        </p:nvSpPr>
        <p:spPr>
          <a:xfrm>
            <a:off x="7863840" y="1097280"/>
            <a:ext cx="3657600" cy="365760"/>
          </a:xfrm>
          <a:prstGeom prst="rect">
            <a:avLst/>
          </a:prstGeom>
          <a:noFill/>
        </p:spPr>
        <p:txBody>
          <a:bodyPr wrap="square">
            <a:spAutoFit/>
          </a:bodyPr>
          <a:lstStyle/>
          <a:p>
            <a:pPr algn="r">
              <a:spcAft>
                <a:spcPts val="600"/>
              </a:spcAft>
            </a:pPr>
            <a:r>
              <a:rPr sz="1400" b="1" i="0">
                <a:solidFill>
                  <a:srgbClr val="00883A"/>
                </a:solidFill>
                <a:latin typeface="Arial"/>
              </a:rPr>
              <a:t>■ </a:t>
            </a:r>
            <a:r>
              <a:rPr sz="1400" b="0" i="0">
                <a:solidFill>
                  <a:srgbClr val="5F6368"/>
                </a:solidFill>
                <a:latin typeface="Arial"/>
              </a:rPr>
              <a:t>creator  </a:t>
            </a:r>
            <a:r>
              <a:rPr sz="1400" b="1" i="0">
                <a:solidFill>
                  <a:srgbClr val="5F6368"/>
                </a:solidFill>
                <a:latin typeface="Arial"/>
              </a:rPr>
              <a:t>▲ </a:t>
            </a:r>
            <a:r>
              <a:rPr sz="1400" b="0" i="0">
                <a:solidFill>
                  <a:srgbClr val="5F6368"/>
                </a:solidFill>
                <a:latin typeface="Arial"/>
              </a:rPr>
              <a:t>user  </a:t>
            </a:r>
            <a:r>
              <a:rPr sz="1400" b="1" i="0">
                <a:solidFill>
                  <a:srgbClr val="1A1A1A"/>
                </a:solidFill>
                <a:latin typeface="Arial"/>
              </a:rPr>
              <a:t>★ </a:t>
            </a:r>
            <a:r>
              <a:rPr sz="1400" b="0" i="0">
                <a:solidFill>
                  <a:srgbClr val="5F6368"/>
                </a:solidFill>
                <a:latin typeface="Arial"/>
              </a:rPr>
              <a:t>reviewer</a:t>
            </a:r>
          </a:p>
        </p:txBody>
      </p:sp>
      <p:graphicFrame>
        <p:nvGraphicFramePr>
          <p:cNvPr id="136" name="Table 135"/>
          <p:cNvGraphicFramePr>
            <a:graphicFrameLocks noGrp="1"/>
          </p:cNvGraphicFramePr>
          <p:nvPr/>
        </p:nvGraphicFramePr>
        <p:xfrm>
          <a:off x="640080" y="1554480"/>
          <a:ext cx="10908792" cy="1645920"/>
        </p:xfrm>
        <a:graphic>
          <a:graphicData uri="http://schemas.openxmlformats.org/drawingml/2006/table">
            <a:tbl>
              <a:tblPr firstRow="1" bandRow="1">
                <a:tableStyleId>{5C22544A-7EE6-4342-B048-85BDC9FD1C3A}</a:tableStyleId>
              </a:tblPr>
              <a:tblGrid>
                <a:gridCol w="2468880"/>
                <a:gridCol w="8439912"/>
              </a:tblGrid>
              <a:tr h="411480">
                <a:tc>
                  <a:txBody>
                    <a:bodyPr/>
                    <a:lstStyle/>
                    <a:p>
                      <a:r>
                        <a:rPr sz="1700" b="1">
                          <a:solidFill>
                            <a:srgbClr val="FFFFFF"/>
                          </a:solidFill>
                          <a:latin typeface="Arial"/>
                        </a:rPr>
                        <a:t>Challenge</a:t>
                      </a:r>
                    </a:p>
                  </a:txBody>
                  <a:tcPr>
                    <a:solidFill>
                      <a:srgbClr val="00883A"/>
                    </a:solidFill>
                  </a:tcPr>
                </a:tc>
                <a:tc>
                  <a:txBody>
                    <a:bodyPr/>
                    <a:lstStyle/>
                    <a:p>
                      <a:r>
                        <a:rPr sz="1700" b="1">
                          <a:solidFill>
                            <a:srgbClr val="FFFFFF"/>
                          </a:solidFill>
                          <a:latin typeface="Arial"/>
                        </a:rPr>
                        <a:t>Points raised</a:t>
                      </a:r>
                    </a:p>
                  </a:txBody>
                  <a:tcPr>
                    <a:solidFill>
                      <a:srgbClr val="00883A"/>
                    </a:solidFill>
                  </a:tcPr>
                </a:tc>
              </a:tr>
              <a:tr h="411480">
                <a:tc>
                  <a:txBody>
                    <a:bodyPr/>
                    <a:lstStyle/>
                    <a:p>
                      <a:r>
                        <a:rPr sz="1700" b="1">
                          <a:solidFill>
                            <a:srgbClr val="00883A"/>
                          </a:solidFill>
                          <a:latin typeface="Arial"/>
                        </a:rPr>
                        <a:t>C1 </a:t>
                      </a:r>
                      <a:r>
                        <a:rPr sz="1700" b="1">
                          <a:solidFill>
                            <a:srgbClr val="1A1A1A"/>
                          </a:solidFill>
                          <a:latin typeface="Arial"/>
                        </a:rPr>
                        <a:t>Not worth it</a:t>
                      </a:r>
                    </a:p>
                    <a:p>
                      <a:r>
                        <a:rPr sz="1600" b="1">
                          <a:solidFill>
                            <a:srgbClr val="00883A"/>
                          </a:solidFill>
                          <a:latin typeface="Arial"/>
                        </a:rPr>
                        <a:t>■ </a:t>
                      </a:r>
                    </a:p>
                  </a:txBody>
                  <a:tcPr marT="36576" marB="36576">
                    <a:solidFill>
                      <a:srgbClr val="F1F3F2"/>
                    </a:solidFill>
                  </a:tcPr>
                </a:tc>
                <a:tc>
                  <a:txBody>
                    <a:bodyPr/>
                    <a:lstStyle/>
                    <a:p>
                      <a:pPr>
                        <a:spcAft>
                          <a:spcPts val="300"/>
                        </a:spcAft>
                      </a:pPr>
                      <a:r>
                        <a:rPr sz="1600" b="1">
                          <a:solidFill>
                            <a:srgbClr val="00883A"/>
                          </a:solidFill>
                          <a:latin typeface="Arial"/>
                        </a:rPr>
                        <a:t>■ </a:t>
                      </a:r>
                      <a:r>
                        <a:rPr sz="1600" b="0">
                          <a:solidFill>
                            <a:srgbClr val="1A1A1A"/>
                          </a:solidFill>
                          <a:latin typeface="Arial"/>
                        </a:rPr>
                        <a:t>costly; time better spent on papers; little career benefit (p. 13)</a:t>
                      </a:r>
                    </a:p>
                    <a:p>
                      <a:pPr>
                        <a:spcAft>
                          <a:spcPts val="300"/>
                        </a:spcAft>
                      </a:pPr>
                      <a:r>
                        <a:rPr sz="1600" b="1">
                          <a:solidFill>
                            <a:srgbClr val="00883A"/>
                          </a:solidFill>
                          <a:latin typeface="Arial"/>
                        </a:rPr>
                        <a:t>■ </a:t>
                      </a:r>
                      <a:r>
                        <a:rPr sz="1600" b="0">
                          <a:solidFill>
                            <a:srgbClr val="1A1A1A"/>
                          </a:solidFill>
                          <a:latin typeface="Arial"/>
                        </a:rPr>
                        <a:t>risks: reputation (code quality), scooping, mistakes found, maintenance burden, no users</a:t>
                      </a:r>
                    </a:p>
                    <a:p>
                      <a:pPr>
                        <a:spcAft>
                          <a:spcPts val="300"/>
                        </a:spcAft>
                      </a:pPr>
                      <a:r>
                        <a:rPr sz="1600" b="1">
                          <a:solidFill>
                            <a:srgbClr val="00883A"/>
                          </a:solidFill>
                          <a:latin typeface="Arial"/>
                        </a:rPr>
                        <a:t>■ </a:t>
                      </a:r>
                      <a:r>
                        <a:rPr sz="1600" b="0">
                          <a:solidFill>
                            <a:srgbClr val="1A1A1A"/>
                          </a:solidFill>
                          <a:latin typeface="Arial"/>
                        </a:rPr>
                        <a:t>held back for untapped publication value ("protect a PhD student"); limited audience</a:t>
                      </a:r>
                    </a:p>
                    <a:p>
                      <a:pPr>
                        <a:spcAft>
                          <a:spcPts val="300"/>
                        </a:spcAft>
                      </a:pPr>
                      <a:r>
                        <a:rPr sz="1600" b="1">
                          <a:solidFill>
                            <a:srgbClr val="00883A"/>
                          </a:solidFill>
                          <a:latin typeface="Arial"/>
                        </a:rPr>
                        <a:t>■ </a:t>
                      </a:r>
                      <a:r>
                        <a:rPr sz="1600" b="0">
                          <a:solidFill>
                            <a:srgbClr val="1A1A1A"/>
                          </a:solidFill>
                          <a:latin typeface="Arial"/>
                        </a:rPr>
                        <a:t>counterpoint: whole research areas died for lack of artifacts (p. 15)</a:t>
                      </a:r>
                    </a:p>
                  </a:txBody>
                  <a:tcPr marT="36576" marB="36576">
                    <a:solidFill>
                      <a:srgbClr val="F1F3F2"/>
                    </a:solidFill>
                  </a:tcPr>
                </a:tc>
              </a:tr>
              <a:tr h="411480">
                <a:tc>
                  <a:txBody>
                    <a:bodyPr/>
                    <a:lstStyle/>
                    <a:p>
                      <a:r>
                        <a:rPr sz="1700" b="1">
                          <a:solidFill>
                            <a:srgbClr val="00883A"/>
                          </a:solidFill>
                          <a:latin typeface="Arial"/>
                        </a:rPr>
                        <a:t>C2 </a:t>
                      </a:r>
                      <a:r>
                        <a:rPr sz="1700" b="1">
                          <a:solidFill>
                            <a:srgbClr val="1A1A1A"/>
                          </a:solidFill>
                          <a:latin typeface="Arial"/>
                        </a:rPr>
                        <a:t>Portability</a:t>
                      </a:r>
                    </a:p>
                    <a:p>
                      <a:r>
                        <a:rPr sz="1600" b="1">
                          <a:solidFill>
                            <a:srgbClr val="00883A"/>
                          </a:solidFill>
                          <a:latin typeface="Arial"/>
                        </a:rPr>
                        <a:t>■ </a:t>
                      </a:r>
                      <a:r>
                        <a:rPr sz="1600" b="1">
                          <a:solidFill>
                            <a:srgbClr val="5F6368"/>
                          </a:solidFill>
                          <a:latin typeface="Arial"/>
                        </a:rPr>
                        <a:t>▲ </a:t>
                      </a:r>
                      <a:r>
                        <a:rPr sz="1600" b="1">
                          <a:solidFill>
                            <a:srgbClr val="1A1A1A"/>
                          </a:solidFill>
                          <a:latin typeface="Arial"/>
                        </a:rPr>
                        <a:t>★ </a:t>
                      </a:r>
                    </a:p>
                  </a:txBody>
                  <a:tcPr marT="36576" marB="36576">
                    <a:solidFill>
                      <a:srgbClr val="FFFFFF"/>
                    </a:solidFill>
                  </a:tcPr>
                </a:tc>
                <a:tc>
                  <a:txBody>
                    <a:bodyPr/>
                    <a:lstStyle/>
                    <a:p>
                      <a:pPr>
                        <a:spcAft>
                          <a:spcPts val="300"/>
                        </a:spcAft>
                      </a:pPr>
                      <a:r>
                        <a:rPr sz="1600" b="1">
                          <a:solidFill>
                            <a:srgbClr val="00883A"/>
                          </a:solidFill>
                          <a:latin typeface="Arial"/>
                        </a:rPr>
                        <a:t>■ </a:t>
                      </a:r>
                      <a:r>
                        <a:rPr sz="1600" b="0">
                          <a:solidFill>
                            <a:srgbClr val="1A1A1A"/>
                          </a:solidFill>
                          <a:latin typeface="Arial"/>
                        </a:rPr>
                        <a:t>hard to anticipate environments; retrofit = refactor or VM/container, test elsewhere (p. 15)</a:t>
                      </a:r>
                    </a:p>
                    <a:p>
                      <a:pPr>
                        <a:spcAft>
                          <a:spcPts val="300"/>
                        </a:spcAft>
                      </a:pPr>
                      <a:r>
                        <a:rPr sz="1600" b="1">
                          <a:solidFill>
                            <a:srgbClr val="5F6368"/>
                          </a:solidFill>
                          <a:latin typeface="Arial"/>
                        </a:rPr>
                        <a:t>▲ </a:t>
                      </a:r>
                      <a:r>
                        <a:rPr sz="1600" b="0">
                          <a:solidFill>
                            <a:srgbClr val="1A1A1A"/>
                          </a:solidFill>
                          <a:latin typeface="Arial"/>
                        </a:rPr>
                        <a:t>hard-wired paths, root needed; build and run failures (p. 18)</a:t>
                      </a:r>
                    </a:p>
                    <a:p>
                      <a:pPr>
                        <a:spcAft>
                          <a:spcPts val="300"/>
                        </a:spcAft>
                      </a:pPr>
                      <a:r>
                        <a:rPr sz="1600" b="1">
                          <a:solidFill>
                            <a:srgbClr val="1A1A1A"/>
                          </a:solidFill>
                          <a:latin typeface="Arial"/>
                        </a:rPr>
                        <a:t>★ </a:t>
                      </a:r>
                      <a:r>
                        <a:rPr sz="1600" b="0">
                          <a:solidFill>
                            <a:srgbClr val="1A1A1A"/>
                          </a:solidFill>
                          <a:latin typeface="Arial"/>
                        </a:rPr>
                        <a:t>installing dependencies = main review hurdle; invasive libraries (p. 21)</a:t>
                      </a:r>
                    </a:p>
                    <a:p>
                      <a:pPr>
                        <a:spcAft>
                          <a:spcPts val="300"/>
                        </a:spcAft>
                      </a:pPr>
                      <a:r>
                        <a:rPr sz="1600" b="1">
                          <a:solidFill>
                            <a:srgbClr val="1A1A1A"/>
                          </a:solidFill>
                          <a:latin typeface="Arial"/>
                        </a:rPr>
                        <a:t>★ </a:t>
                      </a:r>
                      <a:r>
                        <a:rPr sz="1600" b="0">
                          <a:solidFill>
                            <a:srgbClr val="1A1A1A"/>
                          </a:solidFill>
                          <a:latin typeface="Arial"/>
                        </a:rPr>
                        <a:t>VMs: safe but huge, cross-OS issues, no performance check; containers don’t stop decay (p. 22)</a:t>
                      </a:r>
                    </a:p>
                  </a:txBody>
                  <a:tcPr marT="36576" marB="36576">
                    <a:solidFill>
                      <a:srgbClr val="FFFFFF"/>
                    </a:solidFill>
                  </a:tcPr>
                </a:tc>
              </a:tr>
              <a:tr h="411480">
                <a:tc>
                  <a:txBody>
                    <a:bodyPr/>
                    <a:lstStyle/>
                    <a:p>
                      <a:r>
                        <a:rPr sz="1700" b="1">
                          <a:solidFill>
                            <a:srgbClr val="00883A"/>
                          </a:solidFill>
                          <a:latin typeface="Arial"/>
                        </a:rPr>
                        <a:t>C3 </a:t>
                      </a:r>
                      <a:r>
                        <a:rPr sz="1700" b="1">
                          <a:solidFill>
                            <a:srgbClr val="1A1A1A"/>
                          </a:solidFill>
                          <a:latin typeface="Arial"/>
                        </a:rPr>
                        <a:t>Maintenance</a:t>
                      </a:r>
                    </a:p>
                    <a:p>
                      <a:r>
                        <a:rPr sz="1600" b="1">
                          <a:solidFill>
                            <a:srgbClr val="00883A"/>
                          </a:solidFill>
                          <a:latin typeface="Arial"/>
                        </a:rPr>
                        <a:t>■ </a:t>
                      </a:r>
                      <a:r>
                        <a:rPr sz="1600" b="1">
                          <a:solidFill>
                            <a:srgbClr val="5F6368"/>
                          </a:solidFill>
                          <a:latin typeface="Arial"/>
                        </a:rPr>
                        <a:t>▲ </a:t>
                      </a:r>
                    </a:p>
                  </a:txBody>
                  <a:tcPr marT="36576" marB="36576">
                    <a:solidFill>
                      <a:srgbClr val="F1F3F2"/>
                    </a:solidFill>
                  </a:tcPr>
                </a:tc>
                <a:tc>
                  <a:txBody>
                    <a:bodyPr/>
                    <a:lstStyle/>
                    <a:p>
                      <a:pPr>
                        <a:spcAft>
                          <a:spcPts val="300"/>
                        </a:spcAft>
                      </a:pPr>
                      <a:r>
                        <a:rPr sz="1600" b="1">
                          <a:solidFill>
                            <a:srgbClr val="00883A"/>
                          </a:solidFill>
                          <a:latin typeface="Arial"/>
                        </a:rPr>
                        <a:t>■ </a:t>
                      </a:r>
                      <a:r>
                        <a:rPr sz="1600" b="0">
                          <a:solidFill>
                            <a:srgbClr val="1A1A1A"/>
                          </a:solidFill>
                          <a:latin typeface="Arial"/>
                        </a:rPr>
                        <a:t>ongoing cost: bugs, changing use cases, bitrot (p. 16)</a:t>
                      </a:r>
                    </a:p>
                    <a:p>
                      <a:pPr>
                        <a:spcAft>
                          <a:spcPts val="300"/>
                        </a:spcAft>
                      </a:pPr>
                      <a:r>
                        <a:rPr sz="1600" b="1">
                          <a:solidFill>
                            <a:srgbClr val="00883A"/>
                          </a:solidFill>
                          <a:latin typeface="Arial"/>
                        </a:rPr>
                        <a:t>■ </a:t>
                      </a:r>
                      <a:r>
                        <a:rPr sz="1600" b="0">
                          <a:solidFill>
                            <a:srgbClr val="1A1A1A"/>
                          </a:solidFill>
                          <a:latin typeface="Arial"/>
                        </a:rPr>
                        <a:t>students maintain artifacts, then graduate</a:t>
                      </a:r>
                    </a:p>
                    <a:p>
                      <a:pPr>
                        <a:spcAft>
                          <a:spcPts val="300"/>
                        </a:spcAft>
                      </a:pPr>
                      <a:r>
                        <a:rPr sz="1600" b="1">
                          <a:solidFill>
                            <a:srgbClr val="5F6368"/>
                          </a:solidFill>
                          <a:latin typeface="Arial"/>
                        </a:rPr>
                        <a:t>▲ </a:t>
                      </a:r>
                      <a:r>
                        <a:rPr sz="1600" b="0">
                          <a:solidFill>
                            <a:srgbClr val="1A1A1A"/>
                          </a:solidFill>
                          <a:latin typeface="Arial"/>
                        </a:rPr>
                        <a:t>unmaintained artifacts need old libraries that are ever harder to get (p. 19)</a:t>
                      </a:r>
                    </a:p>
                  </a:txBody>
                  <a:tcPr marT="36576" marB="36576">
                    <a:solidFill>
                      <a:srgbClr val="F1F3F2"/>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RQ2 · C4-C6</a:t>
            </a:r>
          </a:p>
        </p:txBody>
      </p:sp>
      <p:sp>
        <p:nvSpPr>
          <p:cNvPr id="135" name="TextBox 134"/>
          <p:cNvSpPr txBox="1"/>
          <p:nvPr/>
        </p:nvSpPr>
        <p:spPr>
          <a:xfrm>
            <a:off x="7863840" y="1097280"/>
            <a:ext cx="3657600" cy="365760"/>
          </a:xfrm>
          <a:prstGeom prst="rect">
            <a:avLst/>
          </a:prstGeom>
          <a:noFill/>
        </p:spPr>
        <p:txBody>
          <a:bodyPr wrap="square">
            <a:spAutoFit/>
          </a:bodyPr>
          <a:lstStyle/>
          <a:p>
            <a:pPr algn="r">
              <a:spcAft>
                <a:spcPts val="600"/>
              </a:spcAft>
            </a:pPr>
            <a:r>
              <a:rPr sz="1400" b="1" i="0">
                <a:solidFill>
                  <a:srgbClr val="00883A"/>
                </a:solidFill>
                <a:latin typeface="Arial"/>
              </a:rPr>
              <a:t>■ </a:t>
            </a:r>
            <a:r>
              <a:rPr sz="1400" b="0" i="0">
                <a:solidFill>
                  <a:srgbClr val="5F6368"/>
                </a:solidFill>
                <a:latin typeface="Arial"/>
              </a:rPr>
              <a:t>creator  </a:t>
            </a:r>
            <a:r>
              <a:rPr sz="1400" b="1" i="0">
                <a:solidFill>
                  <a:srgbClr val="5F6368"/>
                </a:solidFill>
                <a:latin typeface="Arial"/>
              </a:rPr>
              <a:t>▲ </a:t>
            </a:r>
            <a:r>
              <a:rPr sz="1400" b="0" i="0">
                <a:solidFill>
                  <a:srgbClr val="5F6368"/>
                </a:solidFill>
                <a:latin typeface="Arial"/>
              </a:rPr>
              <a:t>user  </a:t>
            </a:r>
            <a:r>
              <a:rPr sz="1400" b="1" i="0">
                <a:solidFill>
                  <a:srgbClr val="1A1A1A"/>
                </a:solidFill>
                <a:latin typeface="Arial"/>
              </a:rPr>
              <a:t>★ </a:t>
            </a:r>
            <a:r>
              <a:rPr sz="1400" b="0" i="0">
                <a:solidFill>
                  <a:srgbClr val="5F6368"/>
                </a:solidFill>
                <a:latin typeface="Arial"/>
              </a:rPr>
              <a:t>reviewer</a:t>
            </a:r>
          </a:p>
        </p:txBody>
      </p:sp>
      <p:graphicFrame>
        <p:nvGraphicFramePr>
          <p:cNvPr id="136" name="Table 135"/>
          <p:cNvGraphicFramePr>
            <a:graphicFrameLocks noGrp="1"/>
          </p:cNvGraphicFramePr>
          <p:nvPr/>
        </p:nvGraphicFramePr>
        <p:xfrm>
          <a:off x="640080" y="1554480"/>
          <a:ext cx="10908792" cy="1645920"/>
        </p:xfrm>
        <a:graphic>
          <a:graphicData uri="http://schemas.openxmlformats.org/drawingml/2006/table">
            <a:tbl>
              <a:tblPr firstRow="1" bandRow="1">
                <a:tableStyleId>{5C22544A-7EE6-4342-B048-85BDC9FD1C3A}</a:tableStyleId>
              </a:tblPr>
              <a:tblGrid>
                <a:gridCol w="2468880"/>
                <a:gridCol w="8439912"/>
              </a:tblGrid>
              <a:tr h="411480">
                <a:tc>
                  <a:txBody>
                    <a:bodyPr/>
                    <a:lstStyle/>
                    <a:p>
                      <a:r>
                        <a:rPr sz="1700" b="1">
                          <a:solidFill>
                            <a:srgbClr val="FFFFFF"/>
                          </a:solidFill>
                          <a:latin typeface="Arial"/>
                        </a:rPr>
                        <a:t>Challenge</a:t>
                      </a:r>
                    </a:p>
                  </a:txBody>
                  <a:tcPr>
                    <a:solidFill>
                      <a:srgbClr val="00883A"/>
                    </a:solidFill>
                  </a:tcPr>
                </a:tc>
                <a:tc>
                  <a:txBody>
                    <a:bodyPr/>
                    <a:lstStyle/>
                    <a:p>
                      <a:r>
                        <a:rPr sz="1700" b="1">
                          <a:solidFill>
                            <a:srgbClr val="FFFFFF"/>
                          </a:solidFill>
                          <a:latin typeface="Arial"/>
                        </a:rPr>
                        <a:t>Points raised</a:t>
                      </a:r>
                    </a:p>
                  </a:txBody>
                  <a:tcPr>
                    <a:solidFill>
                      <a:srgbClr val="00883A"/>
                    </a:solidFill>
                  </a:tcPr>
                </a:tc>
              </a:tr>
              <a:tr h="411480">
                <a:tc>
                  <a:txBody>
                    <a:bodyPr/>
                    <a:lstStyle/>
                    <a:p>
                      <a:r>
                        <a:rPr sz="1700" b="1">
                          <a:solidFill>
                            <a:srgbClr val="00883A"/>
                          </a:solidFill>
                          <a:latin typeface="Arial"/>
                        </a:rPr>
                        <a:t>C4 </a:t>
                      </a:r>
                      <a:r>
                        <a:rPr sz="1700" b="1">
                          <a:solidFill>
                            <a:srgbClr val="1A1A1A"/>
                          </a:solidFill>
                          <a:latin typeface="Arial"/>
                        </a:rPr>
                        <a:t>Tacit knowledge</a:t>
                      </a:r>
                    </a:p>
                    <a:p>
                      <a:r>
                        <a:rPr sz="1600" b="1">
                          <a:solidFill>
                            <a:srgbClr val="00883A"/>
                          </a:solidFill>
                          <a:latin typeface="Arial"/>
                        </a:rPr>
                        <a:t>■ </a:t>
                      </a:r>
                      <a:r>
                        <a:rPr sz="1600" b="1">
                          <a:solidFill>
                            <a:srgbClr val="5F6368"/>
                          </a:solidFill>
                          <a:latin typeface="Arial"/>
                        </a:rPr>
                        <a:t>▲ </a:t>
                      </a:r>
                      <a:r>
                        <a:rPr sz="1600" b="1">
                          <a:solidFill>
                            <a:srgbClr val="1A1A1A"/>
                          </a:solidFill>
                          <a:latin typeface="Arial"/>
                        </a:rPr>
                        <a:t>★ </a:t>
                      </a:r>
                    </a:p>
                  </a:txBody>
                  <a:tcPr marT="36576" marB="36576">
                    <a:solidFill>
                      <a:srgbClr val="F1F3F2"/>
                    </a:solidFill>
                  </a:tcPr>
                </a:tc>
                <a:tc>
                  <a:txBody>
                    <a:bodyPr/>
                    <a:lstStyle/>
                    <a:p>
                      <a:pPr>
                        <a:spcAft>
                          <a:spcPts val="300"/>
                        </a:spcAft>
                      </a:pPr>
                      <a:r>
                        <a:rPr sz="1600" b="1">
                          <a:solidFill>
                            <a:srgbClr val="00883A"/>
                          </a:solidFill>
                          <a:latin typeface="Arial"/>
                        </a:rPr>
                        <a:t>■ </a:t>
                      </a:r>
                      <a:r>
                        <a:rPr sz="1600" b="0">
                          <a:solidFill>
                            <a:srgbClr val="1A1A1A"/>
                          </a:solidFill>
                          <a:latin typeface="Arial"/>
                        </a:rPr>
                        <a:t>documentation and refactoring burdensome; know-how "in developers’ heads"; prototypes change fast (p. 16)</a:t>
                      </a:r>
                    </a:p>
                    <a:p>
                      <a:pPr>
                        <a:spcAft>
                          <a:spcPts val="300"/>
                        </a:spcAft>
                      </a:pPr>
                      <a:r>
                        <a:rPr sz="1600" b="1">
                          <a:solidFill>
                            <a:srgbClr val="5F6368"/>
                          </a:solidFill>
                          <a:latin typeface="Arial"/>
                        </a:rPr>
                        <a:t>▲ </a:t>
                      </a:r>
                      <a:r>
                        <a:rPr sz="1600" b="0">
                          <a:solidFill>
                            <a:srgbClr val="1A1A1A"/>
                          </a:solidFill>
                          <a:latin typeface="Arial"/>
                        </a:rPr>
                        <a:t>missing usage and build instructions = most common user problems (Table 5)</a:t>
                      </a:r>
                    </a:p>
                    <a:p>
                      <a:pPr>
                        <a:spcAft>
                          <a:spcPts val="300"/>
                        </a:spcAft>
                      </a:pPr>
                      <a:r>
                        <a:rPr sz="1600" b="1">
                          <a:solidFill>
                            <a:srgbClr val="1A1A1A"/>
                          </a:solidFill>
                          <a:latin typeface="Arial"/>
                        </a:rPr>
                        <a:t>★ </a:t>
                      </a:r>
                      <a:r>
                        <a:rPr sz="1600" b="0">
                          <a:solidFill>
                            <a:srgbClr val="1A1A1A"/>
                          </a:solidFill>
                          <a:latin typeface="Arial"/>
                        </a:rPr>
                        <a:t>instructions incomplete, had to read the paper to fill gaps (p. 22)</a:t>
                      </a:r>
                    </a:p>
                    <a:p>
                      <a:pPr>
                        <a:spcAft>
                          <a:spcPts val="300"/>
                        </a:spcAft>
                      </a:pPr>
                      <a:r>
                        <a:rPr sz="1600" b="1">
                          <a:solidFill>
                            <a:srgbClr val="1A1A1A"/>
                          </a:solidFill>
                          <a:latin typeface="Arial"/>
                        </a:rPr>
                        <a:t>★ </a:t>
                      </a:r>
                      <a:r>
                        <a:rPr sz="1600" b="0">
                          <a:solidFill>
                            <a:srgbClr val="1A1A1A"/>
                          </a:solidFill>
                          <a:latin typeface="Arial"/>
                        </a:rPr>
                        <a:t>scripts no panacea: black box, may repeat authors’ mistakes; docs still needed (p. 22)</a:t>
                      </a:r>
                    </a:p>
                  </a:txBody>
                  <a:tcPr marT="36576" marB="36576">
                    <a:solidFill>
                      <a:srgbClr val="F1F3F2"/>
                    </a:solidFill>
                  </a:tcPr>
                </a:tc>
              </a:tr>
              <a:tr h="411480">
                <a:tc>
                  <a:txBody>
                    <a:bodyPr/>
                    <a:lstStyle/>
                    <a:p>
                      <a:r>
                        <a:rPr sz="1700" b="1">
                          <a:solidFill>
                            <a:srgbClr val="00883A"/>
                          </a:solidFill>
                          <a:latin typeface="Arial"/>
                        </a:rPr>
                        <a:t>C5 </a:t>
                      </a:r>
                      <a:r>
                        <a:rPr sz="1700" b="1">
                          <a:solidFill>
                            <a:srgbClr val="1A1A1A"/>
                          </a:solidFill>
                          <a:latin typeface="Arial"/>
                        </a:rPr>
                        <a:t>Doesn’t fit purpose</a:t>
                      </a:r>
                    </a:p>
                    <a:p>
                      <a:r>
                        <a:rPr sz="1600" b="1">
                          <a:solidFill>
                            <a:srgbClr val="5F6368"/>
                          </a:solidFill>
                          <a:latin typeface="Arial"/>
                        </a:rPr>
                        <a:t>▲ </a:t>
                      </a:r>
                    </a:p>
                  </a:txBody>
                  <a:tcPr marT="36576" marB="36576">
                    <a:solidFill>
                      <a:srgbClr val="FFFFFF"/>
                    </a:solidFill>
                  </a:tcPr>
                </a:tc>
                <a:tc>
                  <a:txBody>
                    <a:bodyPr/>
                    <a:lstStyle/>
                    <a:p>
                      <a:pPr>
                        <a:spcAft>
                          <a:spcPts val="300"/>
                        </a:spcAft>
                      </a:pPr>
                      <a:r>
                        <a:rPr sz="1600" b="1">
                          <a:solidFill>
                            <a:srgbClr val="5F6368"/>
                          </a:solidFill>
                          <a:latin typeface="Arial"/>
                        </a:rPr>
                        <a:t>▲ </a:t>
                      </a:r>
                      <a:r>
                        <a:rPr sz="1600" b="0">
                          <a:solidFill>
                            <a:srgbClr val="1A1A1A"/>
                          </a:solidFill>
                          <a:latin typeface="Arial"/>
                        </a:rPr>
                        <a:t>doesn’t serve the purpose stated in the paper; very narrow use cases (p. 19)</a:t>
                      </a:r>
                    </a:p>
                    <a:p>
                      <a:pPr>
                        <a:spcAft>
                          <a:spcPts val="300"/>
                        </a:spcAft>
                      </a:pPr>
                      <a:r>
                        <a:rPr sz="1600" b="1">
                          <a:solidFill>
                            <a:srgbClr val="5F6368"/>
                          </a:solidFill>
                          <a:latin typeface="Arial"/>
                        </a:rPr>
                        <a:t>▲ </a:t>
                      </a:r>
                      <a:r>
                        <a:rPr sz="1600" b="0">
                          <a:solidFill>
                            <a:srgbClr val="1A1A1A"/>
                          </a:solidFill>
                          <a:latin typeface="Arial"/>
                        </a:rPr>
                        <a:t>users end up modifying or reimplementing</a:t>
                      </a:r>
                    </a:p>
                  </a:txBody>
                  <a:tcPr marT="36576" marB="36576">
                    <a:solidFill>
                      <a:srgbClr val="FFFFFF"/>
                    </a:solidFill>
                  </a:tcPr>
                </a:tc>
              </a:tr>
              <a:tr h="411480">
                <a:tc>
                  <a:txBody>
                    <a:bodyPr/>
                    <a:lstStyle/>
                    <a:p>
                      <a:r>
                        <a:rPr sz="1700" b="1">
                          <a:solidFill>
                            <a:srgbClr val="00883A"/>
                          </a:solidFill>
                          <a:latin typeface="Arial"/>
                        </a:rPr>
                        <a:t>C6 </a:t>
                      </a:r>
                      <a:r>
                        <a:rPr sz="1700" b="1">
                          <a:solidFill>
                            <a:srgbClr val="1A1A1A"/>
                          </a:solidFill>
                          <a:latin typeface="Arial"/>
                        </a:rPr>
                        <a:t>No standards / guidelines</a:t>
                      </a:r>
                    </a:p>
                    <a:p>
                      <a:r>
                        <a:rPr sz="1600" b="1">
                          <a:solidFill>
                            <a:srgbClr val="00883A"/>
                          </a:solidFill>
                          <a:latin typeface="Arial"/>
                        </a:rPr>
                        <a:t>■ </a:t>
                      </a:r>
                      <a:r>
                        <a:rPr sz="1600" b="1">
                          <a:solidFill>
                            <a:srgbClr val="1A1A1A"/>
                          </a:solidFill>
                          <a:latin typeface="Arial"/>
                        </a:rPr>
                        <a:t>★ </a:t>
                      </a:r>
                    </a:p>
                  </a:txBody>
                  <a:tcPr marT="36576" marB="36576">
                    <a:solidFill>
                      <a:srgbClr val="F1F3F2"/>
                    </a:solidFill>
                  </a:tcPr>
                </a:tc>
                <a:tc>
                  <a:txBody>
                    <a:bodyPr/>
                    <a:lstStyle/>
                    <a:p>
                      <a:pPr>
                        <a:spcAft>
                          <a:spcPts val="300"/>
                        </a:spcAft>
                      </a:pPr>
                      <a:r>
                        <a:rPr sz="1600" b="1">
                          <a:solidFill>
                            <a:srgbClr val="00883A"/>
                          </a:solidFill>
                          <a:latin typeface="Arial"/>
                        </a:rPr>
                        <a:t>■ </a:t>
                      </a:r>
                      <a:r>
                        <a:rPr sz="1600" b="0">
                          <a:solidFill>
                            <a:srgbClr val="1A1A1A"/>
                          </a:solidFill>
                          <a:latin typeface="Arial"/>
                        </a:rPr>
                        <a:t>unclear packaging, contents, quality; how to handle existing datasets (p. 16)</a:t>
                      </a:r>
                    </a:p>
                    <a:p>
                      <a:pPr>
                        <a:spcAft>
                          <a:spcPts val="300"/>
                        </a:spcAft>
                      </a:pPr>
                      <a:r>
                        <a:rPr sz="1600" b="1">
                          <a:solidFill>
                            <a:srgbClr val="00883A"/>
                          </a:solidFill>
                          <a:latin typeface="Arial"/>
                        </a:rPr>
                        <a:t>■ </a:t>
                      </a:r>
                      <a:r>
                        <a:rPr sz="1600" b="0">
                          <a:solidFill>
                            <a:srgbClr val="1A1A1A"/>
                          </a:solidFill>
                          <a:latin typeface="Arial"/>
                        </a:rPr>
                        <a:t>no guidance on setup instructions, contribution guides, docs</a:t>
                      </a:r>
                    </a:p>
                    <a:p>
                      <a:pPr>
                        <a:spcAft>
                          <a:spcPts val="300"/>
                        </a:spcAft>
                      </a:pPr>
                      <a:r>
                        <a:rPr sz="1600" b="1">
                          <a:solidFill>
                            <a:srgbClr val="1A1A1A"/>
                          </a:solidFill>
                          <a:latin typeface="Arial"/>
                        </a:rPr>
                        <a:t>★ </a:t>
                      </a:r>
                      <a:r>
                        <a:rPr sz="1600" b="0">
                          <a:solidFill>
                            <a:srgbClr val="1A1A1A"/>
                          </a:solidFill>
                          <a:latin typeface="Arial"/>
                        </a:rPr>
                        <a:t>review criteria and ACM badge text vague, "too general" (p. 22)</a:t>
                      </a:r>
                    </a:p>
                    <a:p>
                      <a:pPr>
                        <a:spcAft>
                          <a:spcPts val="300"/>
                        </a:spcAft>
                      </a:pPr>
                      <a:r>
                        <a:rPr sz="1600" b="1">
                          <a:solidFill>
                            <a:srgbClr val="1A1A1A"/>
                          </a:solidFill>
                          <a:latin typeface="Arial"/>
                        </a:rPr>
                        <a:t>★ </a:t>
                      </a:r>
                      <a:r>
                        <a:rPr sz="1600" b="0">
                          <a:solidFill>
                            <a:srgbClr val="1A1A1A"/>
                          </a:solidFill>
                          <a:latin typeface="Arial"/>
                        </a:rPr>
                        <a:t>unclear purpose (run scripts vs. deep dive) and link to paper acceptance: reject or "rubber stamp"? (pp. 22-23)</a:t>
                      </a:r>
                    </a:p>
                  </a:txBody>
                  <a:tcPr marT="36576" marB="36576">
                    <a:solidFill>
                      <a:srgbClr val="F1F3F2"/>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RQ2 · C7-C9</a:t>
            </a:r>
          </a:p>
        </p:txBody>
      </p:sp>
      <p:sp>
        <p:nvSpPr>
          <p:cNvPr id="135" name="TextBox 134"/>
          <p:cNvSpPr txBox="1"/>
          <p:nvPr/>
        </p:nvSpPr>
        <p:spPr>
          <a:xfrm>
            <a:off x="7863840" y="1097280"/>
            <a:ext cx="3657600" cy="365760"/>
          </a:xfrm>
          <a:prstGeom prst="rect">
            <a:avLst/>
          </a:prstGeom>
          <a:noFill/>
        </p:spPr>
        <p:txBody>
          <a:bodyPr wrap="square">
            <a:spAutoFit/>
          </a:bodyPr>
          <a:lstStyle/>
          <a:p>
            <a:pPr algn="r">
              <a:spcAft>
                <a:spcPts val="600"/>
              </a:spcAft>
            </a:pPr>
            <a:r>
              <a:rPr sz="1400" b="1" i="0">
                <a:solidFill>
                  <a:srgbClr val="00883A"/>
                </a:solidFill>
                <a:latin typeface="Arial"/>
              </a:rPr>
              <a:t>■ </a:t>
            </a:r>
            <a:r>
              <a:rPr sz="1400" b="0" i="0">
                <a:solidFill>
                  <a:srgbClr val="5F6368"/>
                </a:solidFill>
                <a:latin typeface="Arial"/>
              </a:rPr>
              <a:t>creator  </a:t>
            </a:r>
            <a:r>
              <a:rPr sz="1400" b="1" i="0">
                <a:solidFill>
                  <a:srgbClr val="5F6368"/>
                </a:solidFill>
                <a:latin typeface="Arial"/>
              </a:rPr>
              <a:t>▲ </a:t>
            </a:r>
            <a:r>
              <a:rPr sz="1400" b="0" i="0">
                <a:solidFill>
                  <a:srgbClr val="5F6368"/>
                </a:solidFill>
                <a:latin typeface="Arial"/>
              </a:rPr>
              <a:t>user  </a:t>
            </a:r>
            <a:r>
              <a:rPr sz="1400" b="1" i="0">
                <a:solidFill>
                  <a:srgbClr val="1A1A1A"/>
                </a:solidFill>
                <a:latin typeface="Arial"/>
              </a:rPr>
              <a:t>★ </a:t>
            </a:r>
            <a:r>
              <a:rPr sz="1400" b="0" i="0">
                <a:solidFill>
                  <a:srgbClr val="5F6368"/>
                </a:solidFill>
                <a:latin typeface="Arial"/>
              </a:rPr>
              <a:t>reviewer</a:t>
            </a:r>
          </a:p>
        </p:txBody>
      </p:sp>
      <p:graphicFrame>
        <p:nvGraphicFramePr>
          <p:cNvPr id="136" name="Table 135"/>
          <p:cNvGraphicFramePr>
            <a:graphicFrameLocks noGrp="1"/>
          </p:cNvGraphicFramePr>
          <p:nvPr/>
        </p:nvGraphicFramePr>
        <p:xfrm>
          <a:off x="640080" y="1554480"/>
          <a:ext cx="10908792" cy="1645920"/>
        </p:xfrm>
        <a:graphic>
          <a:graphicData uri="http://schemas.openxmlformats.org/drawingml/2006/table">
            <a:tbl>
              <a:tblPr firstRow="1" bandRow="1">
                <a:tableStyleId>{5C22544A-7EE6-4342-B048-85BDC9FD1C3A}</a:tableStyleId>
              </a:tblPr>
              <a:tblGrid>
                <a:gridCol w="2468880"/>
                <a:gridCol w="8439912"/>
              </a:tblGrid>
              <a:tr h="411480">
                <a:tc>
                  <a:txBody>
                    <a:bodyPr/>
                    <a:lstStyle/>
                    <a:p>
                      <a:r>
                        <a:rPr sz="1700" b="1">
                          <a:solidFill>
                            <a:srgbClr val="FFFFFF"/>
                          </a:solidFill>
                          <a:latin typeface="Arial"/>
                        </a:rPr>
                        <a:t>Challenge</a:t>
                      </a:r>
                    </a:p>
                  </a:txBody>
                  <a:tcPr>
                    <a:solidFill>
                      <a:srgbClr val="00883A"/>
                    </a:solidFill>
                  </a:tcPr>
                </a:tc>
                <a:tc>
                  <a:txBody>
                    <a:bodyPr/>
                    <a:lstStyle/>
                    <a:p>
                      <a:r>
                        <a:rPr sz="1700" b="1">
                          <a:solidFill>
                            <a:srgbClr val="FFFFFF"/>
                          </a:solidFill>
                          <a:latin typeface="Arial"/>
                        </a:rPr>
                        <a:t>Points raised</a:t>
                      </a:r>
                    </a:p>
                  </a:txBody>
                  <a:tcPr>
                    <a:solidFill>
                      <a:srgbClr val="00883A"/>
                    </a:solidFill>
                  </a:tcPr>
                </a:tc>
              </a:tr>
              <a:tr h="411480">
                <a:tc>
                  <a:txBody>
                    <a:bodyPr/>
                    <a:lstStyle/>
                    <a:p>
                      <a:r>
                        <a:rPr sz="1700" b="1">
                          <a:solidFill>
                            <a:srgbClr val="00883A"/>
                          </a:solidFill>
                          <a:latin typeface="Arial"/>
                        </a:rPr>
                        <a:t>C7 </a:t>
                      </a:r>
                      <a:r>
                        <a:rPr sz="1700" b="1">
                          <a:solidFill>
                            <a:srgbClr val="1A1A1A"/>
                          </a:solidFill>
                          <a:latin typeface="Arial"/>
                        </a:rPr>
                        <a:t>Hosting</a:t>
                      </a:r>
                    </a:p>
                    <a:p>
                      <a:r>
                        <a:rPr sz="1600" b="1">
                          <a:solidFill>
                            <a:srgbClr val="00883A"/>
                          </a:solidFill>
                          <a:latin typeface="Arial"/>
                        </a:rPr>
                        <a:t>■ </a:t>
                      </a:r>
                      <a:r>
                        <a:rPr sz="1600" b="1">
                          <a:solidFill>
                            <a:srgbClr val="5F6368"/>
                          </a:solidFill>
                          <a:latin typeface="Arial"/>
                        </a:rPr>
                        <a:t>▲ </a:t>
                      </a:r>
                    </a:p>
                  </a:txBody>
                  <a:tcPr marT="36576" marB="36576">
                    <a:solidFill>
                      <a:srgbClr val="F1F3F2"/>
                    </a:solidFill>
                  </a:tcPr>
                </a:tc>
                <a:tc>
                  <a:txBody>
                    <a:bodyPr/>
                    <a:lstStyle/>
                    <a:p>
                      <a:pPr>
                        <a:spcAft>
                          <a:spcPts val="300"/>
                        </a:spcAft>
                      </a:pPr>
                      <a:r>
                        <a:rPr sz="1600" b="1">
                          <a:solidFill>
                            <a:srgbClr val="00883A"/>
                          </a:solidFill>
                          <a:latin typeface="Arial"/>
                        </a:rPr>
                        <a:t>■ </a:t>
                      </a:r>
                      <a:r>
                        <a:rPr sz="1600" b="0">
                          <a:solidFill>
                            <a:srgbClr val="1A1A1A"/>
                          </a:solidFill>
                          <a:latin typeface="Arial"/>
                        </a:rPr>
                        <a:t>needs indefinite, large, free hosting; GitHub, Drive, Dropbox aren’t archives (p. 17)</a:t>
                      </a:r>
                    </a:p>
                    <a:p>
                      <a:pPr>
                        <a:spcAft>
                          <a:spcPts val="300"/>
                        </a:spcAft>
                      </a:pPr>
                      <a:r>
                        <a:rPr sz="1600" b="1">
                          <a:solidFill>
                            <a:srgbClr val="5F6368"/>
                          </a:solidFill>
                          <a:latin typeface="Arial"/>
                        </a:rPr>
                        <a:t>▲ </a:t>
                      </a:r>
                      <a:r>
                        <a:rPr sz="1600" b="0">
                          <a:solidFill>
                            <a:srgbClr val="1A1A1A"/>
                          </a:solidFill>
                          <a:latin typeface="Arial"/>
                        </a:rPr>
                        <a:t>inaccessible artifacts = 2nd most common user problem; dead links rise with age (Fig. 3, p. 20)</a:t>
                      </a:r>
                    </a:p>
                  </a:txBody>
                  <a:tcPr marT="36576" marB="36576">
                    <a:solidFill>
                      <a:srgbClr val="F1F3F2"/>
                    </a:solidFill>
                  </a:tcPr>
                </a:tc>
              </a:tr>
              <a:tr h="411480">
                <a:tc>
                  <a:txBody>
                    <a:bodyPr/>
                    <a:lstStyle/>
                    <a:p>
                      <a:r>
                        <a:rPr sz="1700" b="1">
                          <a:solidFill>
                            <a:srgbClr val="00883A"/>
                          </a:solidFill>
                          <a:latin typeface="Arial"/>
                        </a:rPr>
                        <a:t>C8 </a:t>
                      </a:r>
                      <a:r>
                        <a:rPr sz="1700" b="1">
                          <a:solidFill>
                            <a:srgbClr val="1A1A1A"/>
                          </a:solidFill>
                          <a:latin typeface="Arial"/>
                        </a:rPr>
                        <a:t>Double-blind review</a:t>
                      </a:r>
                    </a:p>
                    <a:p>
                      <a:r>
                        <a:rPr sz="1600" b="1">
                          <a:solidFill>
                            <a:srgbClr val="00883A"/>
                          </a:solidFill>
                          <a:latin typeface="Arial"/>
                        </a:rPr>
                        <a:t>■ </a:t>
                      </a:r>
                    </a:p>
                  </a:txBody>
                  <a:tcPr marT="36576" marB="36576">
                    <a:solidFill>
                      <a:srgbClr val="FFFFFF"/>
                    </a:solidFill>
                  </a:tcPr>
                </a:tc>
                <a:tc>
                  <a:txBody>
                    <a:bodyPr/>
                    <a:lstStyle/>
                    <a:p>
                      <a:pPr>
                        <a:spcAft>
                          <a:spcPts val="300"/>
                        </a:spcAft>
                      </a:pPr>
                      <a:r>
                        <a:rPr sz="1600" b="1">
                          <a:solidFill>
                            <a:srgbClr val="00883A"/>
                          </a:solidFill>
                          <a:latin typeface="Arial"/>
                        </a:rPr>
                        <a:t>■ </a:t>
                      </a:r>
                      <a:r>
                        <a:rPr sz="1600" b="0">
                          <a:solidFill>
                            <a:srgbClr val="1A1A1A"/>
                          </a:solidFill>
                          <a:latin typeface="Arial"/>
                        </a:rPr>
                        <a:t>artifact must be anonymised; anonymous hosting hard to find (p. 17)</a:t>
                      </a:r>
                    </a:p>
                  </a:txBody>
                  <a:tcPr marT="36576" marB="36576">
                    <a:solidFill>
                      <a:srgbClr val="FFFFFF"/>
                    </a:solidFill>
                  </a:tcPr>
                </a:tc>
              </a:tr>
              <a:tr h="411480">
                <a:tc>
                  <a:txBody>
                    <a:bodyPr/>
                    <a:lstStyle/>
                    <a:p>
                      <a:r>
                        <a:rPr sz="1700" b="1">
                          <a:solidFill>
                            <a:srgbClr val="00883A"/>
                          </a:solidFill>
                          <a:latin typeface="Arial"/>
                        </a:rPr>
                        <a:t>C9 </a:t>
                      </a:r>
                      <a:r>
                        <a:rPr sz="1700" b="1">
                          <a:solidFill>
                            <a:srgbClr val="1A1A1A"/>
                          </a:solidFill>
                          <a:latin typeface="Arial"/>
                        </a:rPr>
                        <a:t>External constraints</a:t>
                      </a:r>
                    </a:p>
                    <a:p>
                      <a:r>
                        <a:rPr sz="1600" b="1">
                          <a:solidFill>
                            <a:srgbClr val="00883A"/>
                          </a:solidFill>
                          <a:latin typeface="Arial"/>
                        </a:rPr>
                        <a:t>■ </a:t>
                      </a:r>
                      <a:r>
                        <a:rPr sz="1600" b="1">
                          <a:solidFill>
                            <a:srgbClr val="5F6368"/>
                          </a:solidFill>
                          <a:latin typeface="Arial"/>
                        </a:rPr>
                        <a:t>▲ </a:t>
                      </a:r>
                      <a:r>
                        <a:rPr sz="1600" b="1">
                          <a:solidFill>
                            <a:srgbClr val="1A1A1A"/>
                          </a:solidFill>
                          <a:latin typeface="Arial"/>
                        </a:rPr>
                        <a:t>★ </a:t>
                      </a:r>
                    </a:p>
                  </a:txBody>
                  <a:tcPr marT="36576" marB="36576">
                    <a:solidFill>
                      <a:srgbClr val="F1F3F2"/>
                    </a:solidFill>
                  </a:tcPr>
                </a:tc>
                <a:tc>
                  <a:txBody>
                    <a:bodyPr/>
                    <a:lstStyle/>
                    <a:p>
                      <a:pPr>
                        <a:spcAft>
                          <a:spcPts val="300"/>
                        </a:spcAft>
                      </a:pPr>
                      <a:r>
                        <a:rPr sz="1600" b="1">
                          <a:solidFill>
                            <a:srgbClr val="00883A"/>
                          </a:solidFill>
                          <a:latin typeface="Arial"/>
                        </a:rPr>
                        <a:t>■ </a:t>
                      </a:r>
                      <a:r>
                        <a:rPr sz="1600" b="0">
                          <a:solidFill>
                            <a:srgbClr val="1A1A1A"/>
                          </a:solidFill>
                          <a:latin typeface="Arial"/>
                        </a:rPr>
                        <a:t>IP and contracts, liability fears, privacy (re-identifiable qualitative data), larger ecosystems (pp. 17-18)</a:t>
                      </a:r>
                    </a:p>
                    <a:p>
                      <a:pPr>
                        <a:spcAft>
                          <a:spcPts val="300"/>
                        </a:spcAft>
                      </a:pPr>
                      <a:r>
                        <a:rPr sz="1600" b="1">
                          <a:solidFill>
                            <a:srgbClr val="00883A"/>
                          </a:solidFill>
                          <a:latin typeface="Arial"/>
                        </a:rPr>
                        <a:t>■ </a:t>
                      </a:r>
                      <a:r>
                        <a:rPr sz="1600" b="0">
                          <a:solidFill>
                            <a:srgbClr val="1A1A1A"/>
                          </a:solidFill>
                          <a:latin typeface="Arial"/>
                        </a:rPr>
                        <a:t>criticised for unshared industry data: "ritualistic blanket argument" (P22)</a:t>
                      </a:r>
                    </a:p>
                    <a:p>
                      <a:pPr>
                        <a:spcAft>
                          <a:spcPts val="300"/>
                        </a:spcAft>
                      </a:pPr>
                      <a:r>
                        <a:rPr sz="1600" b="1">
                          <a:solidFill>
                            <a:srgbClr val="5F6368"/>
                          </a:solidFill>
                          <a:latin typeface="Arial"/>
                        </a:rPr>
                        <a:t>▲ </a:t>
                      </a:r>
                      <a:r>
                        <a:rPr sz="1600" b="0">
                          <a:solidFill>
                            <a:srgbClr val="1A1A1A"/>
                          </a:solidFill>
                          <a:latin typeface="Arial"/>
                        </a:rPr>
                        <a:t>licences block extension; decompiling; paid licences for tools (p. 20)</a:t>
                      </a:r>
                    </a:p>
                    <a:p>
                      <a:pPr>
                        <a:spcAft>
                          <a:spcPts val="300"/>
                        </a:spcAft>
                      </a:pPr>
                      <a:r>
                        <a:rPr sz="1600" b="1">
                          <a:solidFill>
                            <a:srgbClr val="1A1A1A"/>
                          </a:solidFill>
                          <a:latin typeface="Arial"/>
                        </a:rPr>
                        <a:t>★ </a:t>
                      </a:r>
                      <a:r>
                        <a:rPr sz="1600" b="0">
                          <a:solidFill>
                            <a:srgbClr val="1A1A1A"/>
                          </a:solidFill>
                          <a:latin typeface="Arial"/>
                        </a:rPr>
                        <a:t>reviewers lack licences; no pathway for proprietary components (p. 23)</a:t>
                      </a:r>
                    </a:p>
                  </a:txBody>
                  <a:tcPr marT="36576" marB="36576">
                    <a:solidFill>
                      <a:srgbClr val="F1F3F2"/>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1" name="Google Shape;131;p1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33" name="Google Shape;133;p1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4" name="TextBox 133"/>
          <p:cNvSpPr txBox="1"/>
          <p:nvPr/>
        </p:nvSpPr>
        <p:spPr>
          <a:xfrm>
            <a:off x="640080" y="1097280"/>
            <a:ext cx="9144000" cy="365760"/>
          </a:xfrm>
          <a:prstGeom prst="rect">
            <a:avLst/>
          </a:prstGeom>
          <a:noFill/>
        </p:spPr>
        <p:txBody>
          <a:bodyPr wrap="square">
            <a:spAutoFit/>
          </a:bodyPr>
          <a:lstStyle/>
          <a:p>
            <a:pPr>
              <a:spcAft>
                <a:spcPts val="600"/>
              </a:spcAft>
            </a:pPr>
            <a:r>
              <a:rPr sz="1600" b="1" i="0">
                <a:solidFill>
                  <a:srgbClr val="5F6368"/>
                </a:solidFill>
                <a:latin typeface="Arial"/>
              </a:rPr>
              <a:t>RQ2 · C10-C12</a:t>
            </a:r>
          </a:p>
        </p:txBody>
      </p:sp>
      <p:sp>
        <p:nvSpPr>
          <p:cNvPr id="135" name="TextBox 134"/>
          <p:cNvSpPr txBox="1"/>
          <p:nvPr/>
        </p:nvSpPr>
        <p:spPr>
          <a:xfrm>
            <a:off x="7863840" y="1097280"/>
            <a:ext cx="3657600" cy="365760"/>
          </a:xfrm>
          <a:prstGeom prst="rect">
            <a:avLst/>
          </a:prstGeom>
          <a:noFill/>
        </p:spPr>
        <p:txBody>
          <a:bodyPr wrap="square">
            <a:spAutoFit/>
          </a:bodyPr>
          <a:lstStyle/>
          <a:p>
            <a:pPr algn="r">
              <a:spcAft>
                <a:spcPts val="600"/>
              </a:spcAft>
            </a:pPr>
            <a:r>
              <a:rPr sz="1400" b="1" i="0">
                <a:solidFill>
                  <a:srgbClr val="00883A"/>
                </a:solidFill>
                <a:latin typeface="Arial"/>
              </a:rPr>
              <a:t>■ </a:t>
            </a:r>
            <a:r>
              <a:rPr sz="1400" b="0" i="0">
                <a:solidFill>
                  <a:srgbClr val="5F6368"/>
                </a:solidFill>
                <a:latin typeface="Arial"/>
              </a:rPr>
              <a:t>creator  </a:t>
            </a:r>
            <a:r>
              <a:rPr sz="1400" b="1" i="0">
                <a:solidFill>
                  <a:srgbClr val="5F6368"/>
                </a:solidFill>
                <a:latin typeface="Arial"/>
              </a:rPr>
              <a:t>▲ </a:t>
            </a:r>
            <a:r>
              <a:rPr sz="1400" b="0" i="0">
                <a:solidFill>
                  <a:srgbClr val="5F6368"/>
                </a:solidFill>
                <a:latin typeface="Arial"/>
              </a:rPr>
              <a:t>user  </a:t>
            </a:r>
            <a:r>
              <a:rPr sz="1400" b="1" i="0">
                <a:solidFill>
                  <a:srgbClr val="1A1A1A"/>
                </a:solidFill>
                <a:latin typeface="Arial"/>
              </a:rPr>
              <a:t>★ </a:t>
            </a:r>
            <a:r>
              <a:rPr sz="1400" b="0" i="0">
                <a:solidFill>
                  <a:srgbClr val="5F6368"/>
                </a:solidFill>
                <a:latin typeface="Arial"/>
              </a:rPr>
              <a:t>reviewer</a:t>
            </a:r>
          </a:p>
        </p:txBody>
      </p:sp>
      <p:graphicFrame>
        <p:nvGraphicFramePr>
          <p:cNvPr id="136" name="Table 135"/>
          <p:cNvGraphicFramePr>
            <a:graphicFrameLocks noGrp="1"/>
          </p:cNvGraphicFramePr>
          <p:nvPr/>
        </p:nvGraphicFramePr>
        <p:xfrm>
          <a:off x="640080" y="1554480"/>
          <a:ext cx="10908792" cy="1645920"/>
        </p:xfrm>
        <a:graphic>
          <a:graphicData uri="http://schemas.openxmlformats.org/drawingml/2006/table">
            <a:tbl>
              <a:tblPr firstRow="1" bandRow="1">
                <a:tableStyleId>{5C22544A-7EE6-4342-B048-85BDC9FD1C3A}</a:tableStyleId>
              </a:tblPr>
              <a:tblGrid>
                <a:gridCol w="2468880"/>
                <a:gridCol w="8439912"/>
              </a:tblGrid>
              <a:tr h="411480">
                <a:tc>
                  <a:txBody>
                    <a:bodyPr/>
                    <a:lstStyle/>
                    <a:p>
                      <a:r>
                        <a:rPr sz="1700" b="1">
                          <a:solidFill>
                            <a:srgbClr val="FFFFFF"/>
                          </a:solidFill>
                          <a:latin typeface="Arial"/>
                        </a:rPr>
                        <a:t>Challenge</a:t>
                      </a:r>
                    </a:p>
                  </a:txBody>
                  <a:tcPr>
                    <a:solidFill>
                      <a:srgbClr val="00883A"/>
                    </a:solidFill>
                  </a:tcPr>
                </a:tc>
                <a:tc>
                  <a:txBody>
                    <a:bodyPr/>
                    <a:lstStyle/>
                    <a:p>
                      <a:r>
                        <a:rPr sz="1700" b="1">
                          <a:solidFill>
                            <a:srgbClr val="FFFFFF"/>
                          </a:solidFill>
                          <a:latin typeface="Arial"/>
                        </a:rPr>
                        <a:t>Points raised</a:t>
                      </a:r>
                    </a:p>
                  </a:txBody>
                  <a:tcPr>
                    <a:solidFill>
                      <a:srgbClr val="00883A"/>
                    </a:solidFill>
                  </a:tcPr>
                </a:tc>
              </a:tr>
              <a:tr h="411480">
                <a:tc>
                  <a:txBody>
                    <a:bodyPr/>
                    <a:lstStyle/>
                    <a:p>
                      <a:r>
                        <a:rPr sz="1700" b="1">
                          <a:solidFill>
                            <a:srgbClr val="00883A"/>
                          </a:solidFill>
                          <a:latin typeface="Arial"/>
                        </a:rPr>
                        <a:t>C10 </a:t>
                      </a:r>
                      <a:r>
                        <a:rPr sz="1700" b="1">
                          <a:solidFill>
                            <a:srgbClr val="1A1A1A"/>
                          </a:solidFill>
                          <a:latin typeface="Arial"/>
                        </a:rPr>
                        <a:t>No reviewer incentives</a:t>
                      </a:r>
                    </a:p>
                    <a:p>
                      <a:r>
                        <a:rPr sz="1600" b="1">
                          <a:solidFill>
                            <a:srgbClr val="1A1A1A"/>
                          </a:solidFill>
                          <a:latin typeface="Arial"/>
                        </a:rPr>
                        <a:t>★ </a:t>
                      </a:r>
                    </a:p>
                  </a:txBody>
                  <a:tcPr marT="36576" marB="36576">
                    <a:solidFill>
                      <a:srgbClr val="F1F3F2"/>
                    </a:solidFill>
                  </a:tcPr>
                </a:tc>
                <a:tc>
                  <a:txBody>
                    <a:bodyPr/>
                    <a:lstStyle/>
                    <a:p>
                      <a:pPr>
                        <a:spcAft>
                          <a:spcPts val="300"/>
                        </a:spcAft>
                      </a:pPr>
                      <a:r>
                        <a:rPr sz="1600" b="1">
                          <a:solidFill>
                            <a:srgbClr val="1A1A1A"/>
                          </a:solidFill>
                          <a:latin typeface="Arial"/>
                        </a:rPr>
                        <a:t>★ </a:t>
                      </a:r>
                      <a:r>
                        <a:rPr sz="1600" b="0">
                          <a:solidFill>
                            <a:srgbClr val="1A1A1A"/>
                          </a:solidFill>
                          <a:latin typeface="Arial"/>
                        </a:rPr>
                        <a:t>time-consuming, not rewarded like paper review (p. 23)</a:t>
                      </a:r>
                    </a:p>
                    <a:p>
                      <a:pPr>
                        <a:spcAft>
                          <a:spcPts val="300"/>
                        </a:spcAft>
                      </a:pPr>
                      <a:r>
                        <a:rPr sz="1600" b="1">
                          <a:solidFill>
                            <a:srgbClr val="1A1A1A"/>
                          </a:solidFill>
                          <a:latin typeface="Arial"/>
                        </a:rPr>
                        <a:t>★ </a:t>
                      </a:r>
                      <a:r>
                        <a:rPr sz="1600" b="0">
                          <a:solidFill>
                            <a:srgbClr val="1A1A1A"/>
                          </a:solidFill>
                          <a:latin typeface="Arial"/>
                        </a:rPr>
                        <a:t>"we usually just make students do AEC": training, but signals artifacts are secondary</a:t>
                      </a:r>
                    </a:p>
                    <a:p>
                      <a:pPr>
                        <a:spcAft>
                          <a:spcPts val="300"/>
                        </a:spcAft>
                      </a:pPr>
                      <a:r>
                        <a:rPr sz="1600" b="1">
                          <a:solidFill>
                            <a:srgbClr val="1A1A1A"/>
                          </a:solidFill>
                          <a:latin typeface="Arial"/>
                        </a:rPr>
                        <a:t>★ </a:t>
                      </a:r>
                      <a:r>
                        <a:rPr sz="1600" b="0">
                          <a:solidFill>
                            <a:srgbClr val="1A1A1A"/>
                          </a:solidFill>
                          <a:latin typeface="Arial"/>
                        </a:rPr>
                        <a:t>→ inconsistent, low-quality reviews</a:t>
                      </a:r>
                    </a:p>
                  </a:txBody>
                  <a:tcPr marT="36576" marB="36576">
                    <a:solidFill>
                      <a:srgbClr val="F1F3F2"/>
                    </a:solidFill>
                  </a:tcPr>
                </a:tc>
              </a:tr>
              <a:tr h="411480">
                <a:tc>
                  <a:txBody>
                    <a:bodyPr/>
                    <a:lstStyle/>
                    <a:p>
                      <a:r>
                        <a:rPr sz="1700" b="1">
                          <a:solidFill>
                            <a:srgbClr val="00883A"/>
                          </a:solidFill>
                          <a:latin typeface="Arial"/>
                        </a:rPr>
                        <a:t>C11 </a:t>
                      </a:r>
                      <a:r>
                        <a:rPr sz="1700" b="1">
                          <a:solidFill>
                            <a:srgbClr val="1A1A1A"/>
                          </a:solidFill>
                          <a:latin typeface="Arial"/>
                        </a:rPr>
                        <a:t>Technical obstacles</a:t>
                      </a:r>
                    </a:p>
                    <a:p>
                      <a:r>
                        <a:rPr sz="1600" b="1">
                          <a:solidFill>
                            <a:srgbClr val="1A1A1A"/>
                          </a:solidFill>
                          <a:latin typeface="Arial"/>
                        </a:rPr>
                        <a:t>★ </a:t>
                      </a:r>
                    </a:p>
                  </a:txBody>
                  <a:tcPr marT="36576" marB="36576">
                    <a:solidFill>
                      <a:srgbClr val="FFFFFF"/>
                    </a:solidFill>
                  </a:tcPr>
                </a:tc>
                <a:tc>
                  <a:txBody>
                    <a:bodyPr/>
                    <a:lstStyle/>
                    <a:p>
                      <a:pPr>
                        <a:spcAft>
                          <a:spcPts val="300"/>
                        </a:spcAft>
                      </a:pPr>
                      <a:r>
                        <a:rPr sz="1600" b="1">
                          <a:solidFill>
                            <a:srgbClr val="1A1A1A"/>
                          </a:solidFill>
                          <a:latin typeface="Arial"/>
                        </a:rPr>
                        <a:t>★ </a:t>
                      </a:r>
                      <a:r>
                        <a:rPr sz="1600" b="0">
                          <a:solidFill>
                            <a:srgbClr val="1A1A1A"/>
                          </a:solidFill>
                          <a:latin typeface="Arial"/>
                        </a:rPr>
                        <a:t>long runtimes, little compute; what if &gt; 1 day per artifact? (p. 23)</a:t>
                      </a:r>
                    </a:p>
                    <a:p>
                      <a:pPr>
                        <a:spcAft>
                          <a:spcPts val="300"/>
                        </a:spcAft>
                      </a:pPr>
                      <a:r>
                        <a:rPr sz="1600" b="1">
                          <a:solidFill>
                            <a:srgbClr val="1A1A1A"/>
                          </a:solidFill>
                          <a:latin typeface="Arial"/>
                        </a:rPr>
                        <a:t>★ </a:t>
                      </a:r>
                      <a:r>
                        <a:rPr sz="1600" b="0">
                          <a:solidFill>
                            <a:srgbClr val="1A1A1A"/>
                          </a:solidFill>
                          <a:latin typeface="Arial"/>
                        </a:rPr>
                        <a:t>huge VM images vs. disk space and slow downloads</a:t>
                      </a:r>
                    </a:p>
                    <a:p>
                      <a:pPr>
                        <a:spcAft>
                          <a:spcPts val="300"/>
                        </a:spcAft>
                      </a:pPr>
                      <a:r>
                        <a:rPr sz="1600" b="1">
                          <a:solidFill>
                            <a:srgbClr val="1A1A1A"/>
                          </a:solidFill>
                          <a:latin typeface="Arial"/>
                        </a:rPr>
                        <a:t>★ </a:t>
                      </a:r>
                      <a:r>
                        <a:rPr sz="1600" b="0">
                          <a:solidFill>
                            <a:srgbClr val="1A1A1A"/>
                          </a:solidFill>
                          <a:latin typeface="Arial"/>
                        </a:rPr>
                        <a:t>some experiments infeasible to re-run: cloud, fuzzing, program repair (pp. 23-24)</a:t>
                      </a:r>
                    </a:p>
                  </a:txBody>
                  <a:tcPr marT="36576" marB="36576">
                    <a:solidFill>
                      <a:srgbClr val="FFFFFF"/>
                    </a:solidFill>
                  </a:tcPr>
                </a:tc>
              </a:tr>
              <a:tr h="411480">
                <a:tc>
                  <a:txBody>
                    <a:bodyPr/>
                    <a:lstStyle/>
                    <a:p>
                      <a:r>
                        <a:rPr sz="1700" b="1">
                          <a:solidFill>
                            <a:srgbClr val="00883A"/>
                          </a:solidFill>
                          <a:latin typeface="Arial"/>
                        </a:rPr>
                        <a:t>C12 </a:t>
                      </a:r>
                      <a:r>
                        <a:rPr sz="1700" b="1">
                          <a:solidFill>
                            <a:srgbClr val="1A1A1A"/>
                          </a:solidFill>
                          <a:latin typeface="Arial"/>
                        </a:rPr>
                        <a:t>Limited communication</a:t>
                      </a:r>
                    </a:p>
                    <a:p>
                      <a:r>
                        <a:rPr sz="1600" b="1">
                          <a:solidFill>
                            <a:srgbClr val="1A1A1A"/>
                          </a:solidFill>
                          <a:latin typeface="Arial"/>
                        </a:rPr>
                        <a:t>★ </a:t>
                      </a:r>
                    </a:p>
                  </a:txBody>
                  <a:tcPr marT="36576" marB="36576">
                    <a:solidFill>
                      <a:srgbClr val="F1F3F2"/>
                    </a:solidFill>
                  </a:tcPr>
                </a:tc>
                <a:tc>
                  <a:txBody>
                    <a:bodyPr/>
                    <a:lstStyle/>
                    <a:p>
                      <a:pPr>
                        <a:spcAft>
                          <a:spcPts val="300"/>
                        </a:spcAft>
                      </a:pPr>
                      <a:r>
                        <a:rPr sz="1600" b="1">
                          <a:solidFill>
                            <a:srgbClr val="1A1A1A"/>
                          </a:solidFill>
                          <a:latin typeface="Arial"/>
                        </a:rPr>
                        <a:t>★ </a:t>
                      </a:r>
                      <a:r>
                        <a:rPr sz="1600" b="0">
                          <a:solidFill>
                            <a:srgbClr val="1A1A1A"/>
                          </a:solidFill>
                          <a:latin typeface="Arial"/>
                        </a:rPr>
                        <a:t>single-round reviews: minor install glitch shouldn’t mean rejection (p. 24)</a:t>
                      </a:r>
                    </a:p>
                    <a:p>
                      <a:pPr>
                        <a:spcAft>
                          <a:spcPts val="300"/>
                        </a:spcAft>
                      </a:pPr>
                      <a:r>
                        <a:rPr sz="1600" b="1">
                          <a:solidFill>
                            <a:srgbClr val="1A1A1A"/>
                          </a:solidFill>
                          <a:latin typeface="Arial"/>
                        </a:rPr>
                        <a:t>★ </a:t>
                      </a:r>
                      <a:r>
                        <a:rPr sz="1600" b="0">
                          <a:solidFill>
                            <a:srgbClr val="1A1A1A"/>
                          </a:solidFill>
                          <a:latin typeface="Arial"/>
                        </a:rPr>
                        <a:t>authors willing to help matter most; unresponsive authors leave reviewers waiting days</a:t>
                      </a:r>
                    </a:p>
                  </a:txBody>
                  <a:tcPr marT="36576" marB="36576">
                    <a:solidFill>
                      <a:srgbClr val="F1F3F2"/>
                    </a:solidFill>
                  </a:tcPr>
                </a:tc>
              </a:tr>
            </a:tbl>
          </a:graphicData>
        </a:graphic>
      </p:graphicFrame>
      <p:sp>
        <p:nvSpPr>
          <p:cNvPr id="137" name="TextBox 136"/>
          <p:cNvSpPr txBox="1"/>
          <p:nvPr/>
        </p:nvSpPr>
        <p:spPr>
          <a:xfrm>
            <a:off x="640080" y="5989320"/>
            <a:ext cx="10908792" cy="411480"/>
          </a:xfrm>
          <a:prstGeom prst="rect">
            <a:avLst/>
          </a:prstGeom>
          <a:noFill/>
        </p:spPr>
        <p:txBody>
          <a:bodyPr wrap="square">
            <a:spAutoFit/>
          </a:bodyPr>
          <a:lstStyle/>
          <a:p>
            <a:pPr>
              <a:spcAft>
                <a:spcPts val="600"/>
              </a:spcAft>
            </a:pPr>
            <a:r>
              <a:rPr sz="1400" b="0" i="0">
                <a:solidFill>
                  <a:srgbClr val="5F6368"/>
                </a:solidFill>
                <a:latin typeface="Arial"/>
              </a:rPr>
              <a:t>Context (Fig. 4, p. 21): few artifact papers are submitted to AE (FSE 2015-18: 74 of 196), and most of those pass (86 %); some reviewers are happy with the process.</a:t>
            </a:r>
          </a:p>
        </p:txBody>
      </p:sp>
    </p:spTree>
  </p:cSld>
  <p:clrMapOvr>
    <a:masterClrMapping/>
  </p:clrMapOvr>
</p:sld>
</file>

<file path=ppt/theme/theme1.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