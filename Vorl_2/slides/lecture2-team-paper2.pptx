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334" r:id="rId97"/>
    <p:sldId id="335" r:id="rId98"/>
    <p:sldId id="336" r:id="rId99"/>
    <p:sldId id="337" r:id="rId100"/>
    <p:sldId id="338" r:id="rId101"/>
    <p:sldId id="339" r:id="rId102"/>
    <p:sldId id="340" r:id="rId103"/>
    <p:sldId id="341" r:id="rId104"/>
    <p:sldId id="342" r:id="rId105"/>
    <p:sldId id="343" r:id="rId106"/>
    <p:sldId id="344" r:id="rId107"/>
    <p:sldId id="345" r:id="rId108"/>
    <p:sldId id="346" r:id="rId109"/>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y="6858000" cx="12192000"/>
  <p:notesSz cx="6858000" cy="12192000"/>
  <p:embeddedFontLst>
    <p:embeddedFont>
      <p:font typeface="Roboto"/>
      <p:regular r:id="rId85"/>
      <p:bold r:id="rId86"/>
      <p:italic r:id="rId87"/>
      <p:boldItalic r:id="rId88"/>
    </p:embeddedFont>
    <p:embeddedFont>
      <p:font typeface="Playfair Display"/>
      <p:regular r:id="rId89"/>
      <p:bold r:id="rId90"/>
      <p:italic r:id="rId91"/>
      <p:boldItalic r:id="rId92"/>
    </p:embeddedFont>
    <p:embeddedFont>
      <p:font typeface="DM Sans"/>
      <p:regular r:id="rId93"/>
      <p:bold r:id="rId94"/>
      <p:italic r:id="rId95"/>
      <p:boldItalic r:id="rId9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Mark-André Duesin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5C218A-C812-41D7-858A-F7E590C31D0C}">
  <a:tblStyle styleId="{945C218A-C812-41D7-858A-F7E590C31D0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BA0399A1-FE9B-46BE-AC09-F5867CF7C7D4}"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a:tcStyle>
        <a:fill>
          <a:solidFill>
            <a:srgbClr val="CAD9CD"/>
          </a:solidFill>
        </a:fill>
      </a:tcStyle>
    </a:band1H>
    <a:band2H>
      <a:tcTxStyle/>
    </a:band2H>
    <a:band1V>
      <a:tcTxStyle/>
      <a:tcStyle>
        <a:fill>
          <a:solidFill>
            <a:srgbClr val="CAD9CD"/>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font" Target="fonts/Roboto-regular.fntdata"/><Relationship Id="rId86" Type="http://schemas.openxmlformats.org/officeDocument/2006/relationships/font" Target="fonts/Roboto-bold.fntdata"/><Relationship Id="rId87" Type="http://schemas.openxmlformats.org/officeDocument/2006/relationships/font" Target="fonts/Roboto-italic.fntdata"/><Relationship Id="rId88" Type="http://schemas.openxmlformats.org/officeDocument/2006/relationships/font" Target="fonts/Roboto-boldItalic.fntdata"/><Relationship Id="rId89" Type="http://schemas.openxmlformats.org/officeDocument/2006/relationships/font" Target="fonts/PlayfairDisplay-regular.fntdata"/><Relationship Id="rId90" Type="http://schemas.openxmlformats.org/officeDocument/2006/relationships/font" Target="fonts/PlayfairDisplay-bold.fntdata"/><Relationship Id="rId91" Type="http://schemas.openxmlformats.org/officeDocument/2006/relationships/font" Target="fonts/PlayfairDisplay-italic.fntdata"/><Relationship Id="rId92" Type="http://schemas.openxmlformats.org/officeDocument/2006/relationships/font" Target="fonts/PlayfairDisplay-boldItalic.fntdata"/><Relationship Id="rId93" Type="http://schemas.openxmlformats.org/officeDocument/2006/relationships/font" Target="fonts/DMSans-regular.fntdata"/><Relationship Id="rId94" Type="http://schemas.openxmlformats.org/officeDocument/2006/relationships/font" Target="fonts/DMSans-bold.fntdata"/><Relationship Id="rId95" Type="http://schemas.openxmlformats.org/officeDocument/2006/relationships/font" Target="fonts/DMSans-italic.fntdata"/><Relationship Id="rId96" Type="http://schemas.openxmlformats.org/officeDocument/2006/relationships/font" Target="fonts/DMSans-boldItalic.fntdata"/><Relationship Id="rId97" Type="http://schemas.openxmlformats.org/officeDocument/2006/relationships/slide" Target="slides/slide79.xml"/><Relationship Id="rId98" Type="http://schemas.openxmlformats.org/officeDocument/2006/relationships/slide" Target="slides/slide80.xml"/><Relationship Id="rId99" Type="http://schemas.openxmlformats.org/officeDocument/2006/relationships/slide" Target="slides/slide81.xml"/><Relationship Id="rId100" Type="http://schemas.openxmlformats.org/officeDocument/2006/relationships/slide" Target="slides/slide82.xml"/><Relationship Id="rId101" Type="http://schemas.openxmlformats.org/officeDocument/2006/relationships/slide" Target="slides/slide83.xml"/><Relationship Id="rId102" Type="http://schemas.openxmlformats.org/officeDocument/2006/relationships/slide" Target="slides/slide84.xml"/><Relationship Id="rId103" Type="http://schemas.openxmlformats.org/officeDocument/2006/relationships/slide" Target="slides/slide85.xml"/><Relationship Id="rId104" Type="http://schemas.openxmlformats.org/officeDocument/2006/relationships/slide" Target="slides/slide86.xml"/><Relationship Id="rId105" Type="http://schemas.openxmlformats.org/officeDocument/2006/relationships/slide" Target="slides/slide87.xml"/><Relationship Id="rId106" Type="http://schemas.openxmlformats.org/officeDocument/2006/relationships/slide" Target="slides/slide88.xml"/><Relationship Id="rId107" Type="http://schemas.openxmlformats.org/officeDocument/2006/relationships/slide" Target="slides/slide89.xml"/><Relationship Id="rId108" Type="http://schemas.openxmlformats.org/officeDocument/2006/relationships/slide" Target="slides/slide90.xml"/><Relationship Id="rId109" Type="http://schemas.openxmlformats.org/officeDocument/2006/relationships/slide" Target="slides/slide9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5T13:05:55.373">
    <p:pos x="403" y="921"/>
    <p:text>Wolltest du diesen Teil noch bei dir einbringen, oder er als Fragen-Vorschlag für meinen Abschnitt?
Wenn ich diese übernehmen würde, müsste ich noch etwas recherchieren um schonmal Antwortfortschläge zu haben. Muss schaunen ob ich die Zeit finde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6" name="Google Shape;116;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0eab59c8bb0d465_5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0eab59c8bb0d465_5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Abstract p. 1; intro pp. 2-3. Issues stem from four areas: communication, social system (reward), time (bitrot), technical aspects (p. 3). Collberg et al.'s earlier work and its controversy show there are no clear community standards (p. 2). Secondary analysis (§5) and recommendations (§6) are presented by a teammate.</a:t>
            </a:r>
            <a:endParaRPr/>
          </a:p>
        </p:txBody>
      </p:sp>
      <p:sp>
        <p:nvSpPr>
          <p:cNvPr id="131" name="Google Shape;131;h20eab59c8bb0d465_5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0eab59c8bb0d465_5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0eab59c8bb0d465_5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Motivations for sharing: let others replicate, reproduce or build upon work (p. 4). First AEC at FSE 2011, ICSE from 2019 (p. 4). Badge processes assess claims, uncover usability issues, signal quality; met with praise and criticism (p. 2).</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cut Artifact!</a:t>
            </a:r>
            <a:endParaRPr/>
          </a:p>
          <a:p>
            <a:pPr indent="-228600" lvl="0" marL="457200" marR="0" rtl="0" algn="l">
              <a:lnSpc>
                <a:spcPct val="100000"/>
              </a:lnSpc>
              <a:spcBef>
                <a:spcPts val="0"/>
              </a:spcBef>
              <a:spcAft>
                <a:spcPts val="0"/>
              </a:spcAft>
              <a:buSzPts val="1400"/>
              <a:buNone/>
            </a:pPr>
            <a:r>
              <a:rPr lang="en-US"/>
              <a:t>and the others if my questions arent based around that</a:t>
            </a:r>
            <a:endParaRPr/>
          </a:p>
        </p:txBody>
      </p:sp>
      <p:sp>
        <p:nvSpPr>
          <p:cNvPr id="140" name="Google Shape;140;h20eab59c8bb0d465_5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h20eab59c8bb0d465_5_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h20eab59c8bb0d465_5_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endParaRPr/>
          </a:p>
        </p:txBody>
      </p:sp>
      <p:sp>
        <p:nvSpPr>
          <p:cNvPr id="159" name="Google Shape;159;h20eab59c8bb0d465_5_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20eab59c8bb0d465_5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20eab59c8bb0d465_5_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DoI p. 5-6; IS p. 6. Coding terms (p. 8-9): descriptive coding = label each answer segment; axial coding = organise codes, find dominant themes and improvement opportunities; thematic analysis shows the range of themes, not how common they are.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Cut out!</a:t>
            </a:r>
            <a:endParaRPr/>
          </a:p>
        </p:txBody>
      </p:sp>
      <p:sp>
        <p:nvSpPr>
          <p:cNvPr id="169" name="Google Shape;169;h20eab59c8bb0d465_5_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h20eab59c8bb0d465_5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h20eab59c8bb0d465_5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 6.</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RQ1 establishes a baseline for RQ2</a:t>
            </a:r>
            <a:endParaRPr/>
          </a:p>
        </p:txBody>
      </p:sp>
      <p:sp>
        <p:nvSpPr>
          <p:cNvPr id="188" name="Google Shape;188;h20eab59c8bb0d465_5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20eab59c8bb0d465_5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20eab59c8bb0d465_5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could </a:t>
            </a:r>
            <a:r>
              <a:rPr lang="en-US"/>
              <a:t>probably</a:t>
            </a:r>
            <a:r>
              <a:rPr lang="en-US"/>
              <a:t> be cut, just say they did a publication and author survey, unless they </a:t>
            </a:r>
            <a:endParaRPr/>
          </a:p>
        </p:txBody>
      </p:sp>
      <p:sp>
        <p:nvSpPr>
          <p:cNvPr id="196" name="Google Shape;196;h20eab59c8bb0d465_5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0eab59c8bb0d465_5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h20eab59c8bb0d465_5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62.69% of papers at ASE, EMSE, FSE, ICSE 2014-2018 contain an artifact, rising from 50.56% (2014) to 69.47% (2018) (Fig. 2, pp. 11-12). Quotes: "a big fan of sharing" (P89), "sharing is essential" (P20).</a:t>
            </a:r>
            <a:endParaRPr/>
          </a:p>
        </p:txBody>
      </p:sp>
      <p:sp>
        <p:nvSpPr>
          <p:cNvPr id="209" name="Google Shape;209;h20eab59c8bb0d465_5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20eab59c8bb0d465_5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h20eab59c8bb0d465_5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228" name="Google Shape;228;h20eab59c8bb0d465_5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20eab59c8bb0d465_5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h20eab59c8bb0d465_5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endParaRPr/>
          </a:p>
        </p:txBody>
      </p:sp>
      <p:sp>
        <p:nvSpPr>
          <p:cNvPr id="261" name="Google Shape;261;h20eab59c8bb0d465_5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h20eab59c8bb0d465_5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h20eab59c8bb0d465_5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endParaRPr/>
          </a:p>
        </p:txBody>
      </p:sp>
      <p:sp>
        <p:nvSpPr>
          <p:cNvPr id="271" name="Google Shape;271;h20eab59c8bb0d465_5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h20eab59c8bb0d465_5_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 name="Google Shape;280;h20eab59c8bb0d465_5_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endParaRPr/>
          </a:p>
        </p:txBody>
      </p:sp>
      <p:sp>
        <p:nvSpPr>
          <p:cNvPr id="281" name="Google Shape;281;h20eab59c8bb0d465_5_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20eab59c8bb0d465_5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h20eab59c8bb0d465_5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Reviewers face the same issues as users (portability, docs) and as creators (guidelines, incentives) (p. 21). Research: MobiSys allows reduced representative experiments; IISWC has authors provide remote access; no SE venue provides compute.</a:t>
            </a:r>
            <a:endParaRPr/>
          </a:p>
        </p:txBody>
      </p:sp>
      <p:sp>
        <p:nvSpPr>
          <p:cNvPr id="291" name="Google Shape;291;h20eab59c8bb0d465_5_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20eab59c8bb0d465_5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h20eab59c8bb0d465_5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§3.5 pp. 10-11. External mitigation: authors sampled from several top conferences and a leading journal. Design mitigation: parallel-convergent mixed methods.</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can be cut? consider if actually needed</a:t>
            </a:r>
            <a:endParaRPr/>
          </a:p>
          <a:p>
            <a:pPr indent="-228600" lvl="0" marL="457200" marR="0" rtl="0" algn="l">
              <a:lnSpc>
                <a:spcPct val="100000"/>
              </a:lnSpc>
              <a:spcBef>
                <a:spcPts val="0"/>
              </a:spcBef>
              <a:spcAft>
                <a:spcPts val="0"/>
              </a:spcAft>
              <a:buSzPts val="1400"/>
              <a:buNone/>
            </a:pPr>
            <a:r>
              <a:rPr lang="en-US"/>
              <a:t>-&gt; will I keep methodology questions</a:t>
            </a:r>
            <a:endParaRPr/>
          </a:p>
        </p:txBody>
      </p:sp>
      <p:sp>
        <p:nvSpPr>
          <p:cNvPr id="302" name="Google Shape;302;h20eab59c8bb0d465_5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24" name="Google Shape;324;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50">
                <a:solidFill>
                  <a:srgbClr val="000000"/>
                </a:solidFill>
                <a:highlight>
                  <a:srgbClr val="FFFFFF"/>
                </a:highlight>
                <a:latin typeface="Roboto"/>
                <a:ea typeface="Roboto"/>
                <a:cs typeface="Roboto"/>
                <a:sym typeface="Roboto"/>
              </a:rPr>
              <a:t>62.69 % is far above Heumüller's 47.8 % linked. Which number better describes the state of SE?</a:t>
            </a:r>
            <a:r>
              <a:rPr lang="en-US" sz="1100">
                <a:solidFill>
                  <a:srgbClr val="000000"/>
                </a:solidFill>
              </a:rPr>
              <a:t> </a:t>
            </a:r>
            <a:endParaRPr sz="1100">
              <a:solidFill>
                <a:srgbClr val="000000"/>
              </a:solidFill>
            </a:endParaRPr>
          </a:p>
          <a:p>
            <a:pPr indent="-301625" lvl="0" marL="457200" rtl="0" algn="l">
              <a:lnSpc>
                <a:spcPct val="115000"/>
              </a:lnSpc>
              <a:spcBef>
                <a:spcPts val="40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A: Heumüller, because runnable code is what matters.</a:t>
            </a:r>
            <a:endParaRPr sz="1150">
              <a:solidFill>
                <a:srgbClr val="000000"/>
              </a:solidFill>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solidFill>
                  <a:srgbClr val="000000"/>
                </a:solidFill>
                <a:highlight>
                  <a:srgbClr val="FFFFFF"/>
                </a:highlight>
                <a:latin typeface="Roboto"/>
                <a:ea typeface="Roboto"/>
                <a:cs typeface="Roboto"/>
                <a:sym typeface="Roboto"/>
              </a:rPr>
              <a:t>B: Timperley, because data and survey material are artifacts too.</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32" name="Google Shape;332;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340" name="Google Shape;340;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p:txBody>
      </p:sp>
      <p:sp>
        <p:nvSpPr>
          <p:cNvPr id="348" name="Google Shape;348;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356" name="Google Shape;356;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364" name="Google Shape;364;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72" name="Google Shape;372;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0" rtl="0" algn="l">
              <a:spcBef>
                <a:spcPts val="0"/>
              </a:spcBef>
              <a:spcAft>
                <a:spcPts val="0"/>
              </a:spcAft>
              <a:buNone/>
            </a:pPr>
            <a:r>
              <a:t/>
            </a:r>
            <a:endParaRPr sz="22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000">
                <a:solidFill>
                  <a:srgbClr val="000000"/>
                </a:solidFill>
                <a:highlight>
                  <a:srgbClr val="FF00FF"/>
                </a:highlight>
                <a:latin typeface="Roboto"/>
                <a:ea typeface="Roboto"/>
                <a:cs typeface="Roboto"/>
                <a:sym typeface="Roboto"/>
              </a:rPr>
              <a:t>Recommendations:</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target group would change the most if it acted: creators, advisors, reviewers, organisers or community leaders? </a:t>
            </a:r>
            <a:endParaRPr sz="1000">
              <a:solidFill>
                <a:srgbClr val="000000"/>
              </a:solidFill>
              <a:highlight>
                <a:srgbClr val="FF00FF"/>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solidFill>
                  <a:srgbClr val="000000"/>
                </a:solidFill>
                <a:highlight>
                  <a:srgbClr val="FF00FF"/>
                </a:highlight>
                <a:latin typeface="Roboto"/>
                <a:ea typeface="Roboto"/>
                <a:cs typeface="Roboto"/>
                <a:sym typeface="Roboto"/>
              </a:rPr>
              <a:t>Which DoI element do you think explains most of the problems: communication channels, time or the social system? </a:t>
            </a:r>
            <a:endParaRPr sz="1000">
              <a:solidFill>
                <a:srgbClr val="000000"/>
              </a:solidFill>
              <a:highlight>
                <a:srgbClr val="FF00FF"/>
              </a:highlight>
              <a:latin typeface="Roboto"/>
              <a:ea typeface="Roboto"/>
              <a:cs typeface="Roboto"/>
              <a:sym typeface="Roboto"/>
            </a:endParaRPr>
          </a:p>
        </p:txBody>
      </p:sp>
      <p:sp>
        <p:nvSpPr>
          <p:cNvPr id="388" name="Google Shape;388;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a:p>
        </p:txBody>
      </p:sp>
      <p:sp>
        <p:nvSpPr>
          <p:cNvPr id="396" name="Google Shape;396;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3" name="Google Shape;413;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9" name="Google Shape;419;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0" name="Google Shape;420;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9" name="Google Shape;42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6" name="Google Shape;43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437" name="Google Shape;43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4" name="Google Shape;44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5" name="Google Shape;44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452" name="Google Shape;45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9" name="Google Shape;45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460" name="Google Shape;46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468" name="Google Shape;46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1" name="Google Shape;481;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8" name="Google Shape;488;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9" name="Google Shape;489;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4" name="Google Shape;494;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8" name="Google Shape;498;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9" name="Google Shape;499;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504" name="Google Shape;50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2" name="Google Shape;51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0" name="Google Shape;54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7" name="Google Shape;54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548" name="Google Shape;54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557" name="Google Shape;5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565" name="Google Shape;5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582" name="Google Shape;58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9" name="Google Shape;58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590" name="Google Shape;59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598" name="Google Shape;5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3" name="Google Shape;61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614" name="Google Shape;61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630" name="Google Shape;6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5" name="Google Shape;64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6" name="Google Shape;64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653" name="Google Shape;65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661" name="Google Shape;661;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669" name="Google Shape;66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677" name="Google Shape;67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3" name="Google Shape;69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694" name="Google Shape;69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702" name="Google Shape;702;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9" name="Google Shape;7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710" name="Google Shape;7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726" name="Google Shape;726;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1" name="Google Shape;741;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742" name="Google Shape;742;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7" name="Google Shape;75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8" name="Google Shape;75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5" name="Google Shape;7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1" name="Shape 771"/>
        <p:cNvGrpSpPr/>
        <p:nvPr/>
      </p:nvGrpSpPr>
      <p:grpSpPr>
        <a:xfrm>
          <a:off x="0" y="0"/>
          <a:ext cx="0" cy="0"/>
          <a:chOff x="0" y="0"/>
          <a:chExt cx="0" cy="0"/>
        </a:xfrm>
      </p:grpSpPr>
      <p:sp>
        <p:nvSpPr>
          <p:cNvPr id="772" name="Google Shape;77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3" name="Google Shape;77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4" name="Google Shape;77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1" name="Google Shape;7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782" name="Google Shape;7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798" name="Google Shape;79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4" name="Google Shape;814;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821" name="Google Shape;8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829" name="Google Shape;82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837" name="Google Shape;837;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2" name="Shape 842"/>
        <p:cNvGrpSpPr/>
        <p:nvPr/>
      </p:nvGrpSpPr>
      <p:grpSpPr>
        <a:xfrm>
          <a:off x="0" y="0"/>
          <a:ext cx="0" cy="0"/>
          <a:chOff x="0" y="0"/>
          <a:chExt cx="0" cy="0"/>
        </a:xfrm>
      </p:grpSpPr>
      <p:sp>
        <p:nvSpPr>
          <p:cNvPr id="843" name="Google Shape;84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4" name="Google Shape;844;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5" name="Google Shape;845;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Not legitimate: errors found early are cheaper than errors found after others have built on them; hiding them only delays the damage.</a:t>
            </a:r>
          </a:p>
          <a:p>
            <a:r>
              <a:t>- Understandable: incentives punish visible mistakes (retraction, reputation), while unshared mistakes cost the author nothing.</a:t>
            </a:r>
          </a:p>
          <a:p>
            <a:r>
              <a:t>- Middle ground: an honest bug should be treated differently from a careless or misleading result, but today's system rarely makes that distinction.</a:t>
            </a:r>
          </a:p>
          <a:p/>
          <a:p>
            <a:r>
              <a:t>MY NOTES (background, not on slide)</a:t>
            </a:r>
          </a:p>
          <a:p>
            <a:r>
              <a:t>- Chang 2006: an inherited lab script flipped two data columns, leading to 5 retractions (3 in Science); treated as an honest error.</a:t>
            </a:r>
          </a:p>
          <a:p>
            <a:r>
              <a:t>- Hermann et al. (this week): an AEC found hard-coded outputs and the paper was withdrawn.</a:t>
            </a:r>
          </a:p>
          <a:p>
            <a:r>
              <a:t>- Reinhart &amp; Rogoff 2013: a student's request for the spreadsheet revealed a range error that changed the headline result.</a:t>
            </a:r>
          </a:p>
        </p:txBody>
      </p:sp>
      <p:sp>
        <p:nvSpPr>
          <p:cNvPr id="4" name="Slide Number Placeholder 3"/>
          <p:cNvSpPr>
            <a:spLocks noGrp="1"/>
          </p:cNvSpPr>
          <p:nvPr>
            <p:ph type="sldNum" idx="12"/>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Protect: a PhD has a fixed duration; being overtaken with your own tool is a real career risk.</a:t>
            </a:r>
          </a:p>
          <a:p>
            <a:r>
              <a:t>- Share: the paper already establishes priority, and withholding hides the evidence behind its claims.</a:t>
            </a:r>
          </a:p>
          <a:p>
            <a:r>
              <a:t>- Compromise: delaying release instead of withholding it (possible answer, not from the paper).</a:t>
            </a:r>
          </a:p>
          <a:p/>
          <a:p>
            <a:r>
              <a:t>MY NOTES (background, not on slide)</a:t>
            </a:r>
          </a:p>
          <a:p>
            <a:r>
              <a:t>- Data-heavy fields use embargoes: telescope data 12-18 months, NERC up to 2 years.</a:t>
            </a:r>
          </a:p>
          <a:p>
            <a:r>
              <a:t>- No measured rate of how often scooping actually happens; it is a perceived risk.</a:t>
            </a:r>
          </a:p>
          <a:p>
            <a:r>
              <a:t>- Week 1: Collberg &amp; Proebsting also listed competitors' advantage as a reason not to share.</a:t>
            </a:r>
          </a:p>
        </p:txBody>
      </p:sp>
      <p:sp>
        <p:nvSpPr>
          <p:cNvPr id="4" name="Slide Number Placeholder 3"/>
          <p:cNvSpPr>
            <a:spLocks noGrp="1"/>
          </p:cNvSpPr>
          <p:nvPr>
            <p:ph type="sldNum" idx="12"/>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Unavoidable: dependencies, compilers and operating systems change; you can slow decay, not stop it.</a:t>
            </a:r>
          </a:p>
          <a:p>
            <a:r>
              <a:t>- Limitable: archived VM or container images, pinned versions, few dependencies, handover when students leave.</a:t>
            </a:r>
          </a:p>
          <a:p>
            <a:r>
              <a:t>- Cost: the group or university (it is research infrastructure) vs. nobody (archive it and mark it unmaintained).</a:t>
            </a:r>
          </a:p>
          <a:p/>
          <a:p>
            <a:r>
              <a:t>MY NOTES (background, not on slide)</a:t>
            </a:r>
          </a:p>
          <a:p>
            <a:r>
              <a:t>- DFG: code and data behind a publication archived for at least 10 years; archived is not the same as runnable.</a:t>
            </a:r>
          </a:p>
          <a:p>
            <a:r>
              <a:t>- Research software engineers keep code alive inside institutions (Princeton, Aalto).</a:t>
            </a:r>
          </a:p>
          <a:p>
            <a:r>
              <a:t>- Maintenance funding (CZI open-source fund, DFG calls) runs in short cycles.</a:t>
            </a:r>
          </a:p>
          <a:p>
            <a:r>
              <a:t>- Week 1: costly constant maintenance; Docker may not exist in 40 years; source code may be the most stable format.</a:t>
            </a:r>
          </a:p>
        </p:txBody>
      </p:sp>
      <p:sp>
        <p:nvSpPr>
          <p:cNvPr id="4" name="Slide Number Placeholder 3"/>
          <p:cNvSpPr>
            <a:spLocks noGrp="1"/>
          </p:cNvSpPr>
          <p:nvPr>
            <p:ph type="sldNum" idx="12"/>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Good: anyone can re-run it without setup knowledge; without scripts many artifacts would not run at all.</a:t>
            </a:r>
          </a:p>
          <a:p>
            <a:r>
              <a:t>- Bad: the reviewer checks that the numbers come out, not whether the method behind them is sound, which creates false confidence.</a:t>
            </a:r>
          </a:p>
          <a:p>
            <a:r>
              <a:t>- What helps understanding: documented steps, small examples, a description of how each result is produced.</a:t>
            </a:r>
          </a:p>
          <a:p/>
          <a:p>
            <a:r>
              <a:t>MY NOTES (background, not on slide)</a:t>
            </a:r>
          </a:p>
          <a:p>
            <a:r>
              <a:t>- Python file-order case (2019): NMR scripts gave correct values on one OS and wrong ones on another; ~150 studies possibly affected.</a:t>
            </a:r>
          </a:p>
          <a:p>
            <a:r>
              <a:t>- Push-button replication is an established first step, followed by an independent re-implementation.</a:t>
            </a:r>
          </a:p>
        </p:txBody>
      </p:sp>
      <p:sp>
        <p:nvSpPr>
          <p:cNvPr id="4" name="Slide Number Placeholder 3"/>
          <p:cNvSpPr>
            <a:spLocks noGrp="1"/>
          </p:cNvSpPr>
          <p:nvPr>
            <p:ph type="sldNum" idx="12"/>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Allow criticism: readers cannot check the claims, so the evidence is weaker whatever the reason.</a:t>
            </a:r>
          </a:p>
          <a:p>
            <a:r>
              <a:t>- Don't: it punishes valuable industry collaboration for something the authors cannot control.</a:t>
            </a:r>
          </a:p>
          <a:p>
            <a:r>
              <a:t>- Middle: state the reason openly; offer proxy data or access for reviewers only.</a:t>
            </a:r>
          </a:p>
          <a:p/>
          <a:p>
            <a:r>
              <a:t>MY NOTES (background, not on slide)</a:t>
            </a:r>
          </a:p>
          <a:p>
            <a:r>
              <a:t>- ICSE: data sharing not required for acceptance, only a statement of why not.</a:t>
            </a:r>
          </a:p>
          <a:p>
            <a:r>
              <a:t>- ACM 'Complete' criterion allows proxies for proprietary data.</a:t>
            </a:r>
          </a:p>
          <a:p>
            <a:r>
              <a:t>- The Evaluated badges can be earned with reviewer-only access; Available needs public access.</a:t>
            </a:r>
          </a:p>
        </p:txBody>
      </p:sp>
      <p:sp>
        <p:nvSpPr>
          <p:cNvPr id="4" name="Slide Number Placeholder 3"/>
          <p:cNvSpPr>
            <a:spLocks noGrp="1"/>
          </p:cNvSpPr>
          <p:nvPr>
            <p:ph type="sldNum" idx="12"/>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Accept: much real-world SE happens on commercial platforms; excluding them biases research toward open tools.</a:t>
            </a:r>
          </a:p>
          <a:p>
            <a:r>
              <a:t>- Restrict: if others cannot run or check it, the artifact does not serve its purpose.</a:t>
            </a:r>
          </a:p>
          <a:p>
            <a:r>
              <a:t>- It depends: is the commercial tool the subject of the research, or a replaceable helper?</a:t>
            </a:r>
          </a:p>
          <a:p/>
          <a:p>
            <a:r>
              <a:t>MY NOTES (background, not on slide)</a:t>
            </a:r>
          </a:p>
          <a:p>
            <a:r>
              <a:t>- CAV, FORMATS and QEST handle it case by case: authors contact the chairs; FORMATS 2022 accepted MATLAB Online.</a:t>
            </a:r>
          </a:p>
          <a:p>
            <a:r>
              <a:t>- Reviewers are not expected to buy licences.</a:t>
            </a:r>
          </a:p>
          <a:p>
            <a:r>
              <a:t>- Paper: one user decompiled a tool to extend it and then could not share the extension because of licences.</a:t>
            </a:r>
          </a:p>
        </p:txBody>
      </p:sp>
      <p:sp>
        <p:nvSpPr>
          <p:cNvPr id="4" name="Slide Number Placeholder 3"/>
          <p:cNvSpPr>
            <a:spLocks noGrp="1"/>
          </p:cNvSpPr>
          <p:nvPr>
            <p:ph type="sldNum" idx="12"/>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Meaningful: checking that an artifact runs and matches the paper does not need seniority; students are close to the code and typical future users.</a:t>
            </a:r>
          </a:p>
          <a:p>
            <a:r>
              <a:t>- Weak: without experience and time, students may not judge the methodology or dare to reject; badges certify "it ran once".</a:t>
            </a:r>
          </a:p>
          <a:p/>
          <a:p>
            <a:r>
              <a:t>MY NOTES (background, not on slide)</a:t>
            </a:r>
          </a:p>
          <a:p>
            <a:r>
              <a:t>- Students chosen deliberately from ECOOP/OOPSLA 2013: familiar with current tools, and trains the next generation.</a:t>
            </a:r>
          </a:p>
          <a:p>
            <a:r>
              <a:t>- Time budget about 8-20 hours per artifact (SOSP 2021, APLAS 2022).</a:t>
            </a:r>
          </a:p>
          <a:p>
            <a:r>
              <a:t>- Hermann et al.: most AEC members serve only once.</a:t>
            </a:r>
          </a:p>
        </p:txBody>
      </p:sp>
      <p:sp>
        <p:nvSpPr>
          <p:cNvPr id="4" name="Slide Number Placeholder 3"/>
          <p:cNvSpPr>
            <a:spLocks noGrp="1"/>
          </p:cNvSpPr>
          <p:nvPr>
            <p:ph type="sldNum" idx="12"/>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Same badge: the review fixed the problems, so later users benefit too.</a:t>
            </a:r>
          </a:p>
          <a:p>
            <a:r>
              <a:t>- No badge: a badge should mean "works for a stranger"; support disappears when the student graduates.</a:t>
            </a:r>
          </a:p>
          <a:p>
            <a:r>
              <a:t>- Separate badge: honest and rewards responsive authors, but may encourage relying on support instead of fixing documentation.</a:t>
            </a:r>
          </a:p>
          <a:p/>
          <a:p>
            <a:r>
              <a:t>MY NOTES (background, not on slide)</a:t>
            </a:r>
          </a:p>
          <a:p>
            <a:r>
              <a:t>- Most venues have a 'kick the tires' phase and response windows (SLE: 5 days); ICSE 2026 requires answers within 72 h.</a:t>
            </a:r>
          </a:p>
        </p:txBody>
      </p:sp>
      <p:sp>
        <p:nvSpPr>
          <p:cNvPr id="4" name="Slide Number Placeholder 3"/>
          <p:cNvSpPr>
            <a:spLocks noGrp="1"/>
          </p:cNvSpPr>
          <p:nvPr>
            <p:ph type="sldNum" idx="12"/>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Check trends instead of exact numbers vs. leave performance out and certify only functionality.</a:t>
            </a:r>
          </a:p>
          <a:p/>
          <a:p>
            <a:r>
              <a:t>MY NOTES (background, not on slide)</a:t>
            </a:r>
          </a:p>
          <a:p>
            <a:r>
              <a:t>- SPLASH 2026 asks authors to say how reviewers on other hardware can recognise the high-level results.</a:t>
            </a:r>
          </a:p>
          <a:p>
            <a:r>
              <a:t>- Containers run near native speed; VMs are slower (Felter et al. 2014).</a:t>
            </a:r>
          </a:p>
        </p:txBody>
      </p:sp>
      <p:sp>
        <p:nvSpPr>
          <p:cNvPr id="4" name="Slide Number Placeholder 3"/>
          <p:cNvSpPr>
            <a:spLocks noGrp="1"/>
          </p:cNvSpPr>
          <p:nvPr>
            <p:ph type="sldNum" idx="12"/>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Yes, safety first vs. then system-level research becomes unevaluable.</a:t>
            </a:r>
          </a:p>
          <a:p/>
          <a:p>
            <a:r>
              <a:t>MY NOTES (background, not on slide)</a:t>
            </a:r>
          </a:p>
          <a:p>
            <a:r>
              <a:t>- POPL recommends VM images partly to protect reviewers' machines.</a:t>
            </a:r>
          </a:p>
        </p:txBody>
      </p:sp>
      <p:sp>
        <p:nvSpPr>
          <p:cNvPr id="4" name="Slide Number Placeholder 3"/>
          <p:cNvSpPr>
            <a:spLocks noGrp="1"/>
          </p:cNvSpPr>
          <p:nvPr>
            <p:ph type="sldNum" idx="12"/>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Weaker badge for what could be checked vs. a different kind of evaluation.</a:t>
            </a:r>
          </a:p>
          <a:p/>
          <a:p>
            <a:r>
              <a:t>MY NOTES (background, not on slide)</a:t>
            </a:r>
          </a:p>
          <a:p>
            <a:r>
              <a:t>- MobiSys: reviewers and authors agree on a reduced but representative scope; IISWC: authors provide remote access. Avoid 'who provides compute' (teammate's recommendations).</a:t>
            </a:r>
          </a:p>
        </p:txBody>
      </p:sp>
      <p:sp>
        <p:nvSpPr>
          <p:cNvPr id="4" name="Slide Number Placeholder 3"/>
          <p:cNvSpPr>
            <a:spLocks noGrp="1"/>
          </p:cNvSpPr>
          <p:nvPr>
            <p:ph type="sldNum" idx="12"/>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Keeps badges honest vs. nobody has the mandate or budget.</a:t>
            </a:r>
          </a:p>
          <a:p/>
          <a:p>
            <a:r>
              <a:t>MY NOTES (background, not on slide)</a:t>
            </a:r>
          </a:p>
          <a:p>
            <a:r>
              <a:t>- Klein et al. 2014: 13-22 % of web references in articles suffer link rot.</a:t>
            </a:r>
          </a:p>
        </p:txBody>
      </p:sp>
      <p:sp>
        <p:nvSpPr>
          <p:cNvPr id="4" name="Slide Number Placeholder 3"/>
          <p:cNvSpPr>
            <a:spLocks noGrp="1"/>
          </p:cNvSpPr>
          <p:nvPr>
            <p:ph type="sldNum" idx="12"/>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ANSWERS</a:t>
            </a:r>
          </a:p>
          <a:p>
            <a:r>
              <a:t>- Career credit (hiring, citations) vs. direct benefit (users, collaborations).</a:t>
            </a:r>
          </a:p>
          <a:p/>
          <a:p>
            <a:r>
              <a:t>MY NOTES (background, not on slide)</a:t>
            </a:r>
          </a:p>
          <a:p>
            <a:r>
              <a:t>- JOSS: citable software papers. Possible overlap with the teammate's recommendations.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comments" Target="../comments/commen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{945C218A-C812-41D7-858A-F7E590C31D0C}</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r>
              <a:rPr lang="en-US" sz="1800">
                <a:solidFill>
                  <a:srgbClr val="1A1A1A"/>
                </a:solidFill>
              </a:rPr>
              <a:t>Do you think RQ1–RQ3 actually tackle the root problem of Artifact Evaluation, or is there a missing RQ4 that the authors should have added?</a:t>
            </a:r>
            <a:endParaRPr sz="1800">
              <a:solidFill>
                <a:srgbClr val="1A1A1A"/>
              </a:solidFil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b="1" lang="en-US" sz="2000">
                <a:solidFill>
                  <a:schemeClr val="dk2"/>
                </a:solidFill>
              </a:rPr>
              <a:t>Questions: </a:t>
            </a:r>
            <a:endParaRPr b="1" sz="2000">
              <a:solidFill>
                <a:schemeClr val="dk2"/>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1" name="Google Shape;111;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112" name="Google Shape;112;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9" name="Google Shape;119;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20" name="Google Shape;120;p14"/>
          <p:cNvSpPr txBox="1"/>
          <p:nvPr/>
        </p:nvSpPr>
        <p:spPr>
          <a:xfrm>
            <a:off x="640075" y="1475375"/>
            <a:ext cx="10769100" cy="47223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0" lvl="0" marL="0" marR="0" rtl="0" algn="l">
              <a:spcBef>
                <a:spcPts val="1000"/>
              </a:spcBef>
              <a:spcAft>
                <a:spcPts val="0"/>
              </a:spcAft>
              <a:buNone/>
            </a:pPr>
            <a:r>
              <a:rPr lang="en-US" sz="2200">
                <a:solidFill>
                  <a:srgbClr val="1A1A1A"/>
                </a:solidFill>
              </a:rPr>
              <a:t>The Paper shows that evaluators expect artifacts to be functional, well-documented, and reusable, and suggest clearer conference guidelines will help achieve this. Put yourself in the shoes of a </a:t>
            </a:r>
            <a:r>
              <a:rPr b="1" lang="en-US" sz="2200">
                <a:solidFill>
                  <a:schemeClr val="dk2"/>
                </a:solidFill>
              </a:rPr>
              <a:t>stressed PhD(Master) student</a:t>
            </a:r>
            <a:r>
              <a:rPr lang="en-US" sz="2200">
                <a:solidFill>
                  <a:srgbClr val="1A1A1A"/>
                </a:solidFill>
              </a:rPr>
              <a:t> a week before a deadline:</a:t>
            </a:r>
            <a:endParaRPr sz="2200">
              <a:solidFill>
                <a:srgbClr val="1A1A1A"/>
              </a:solidFill>
            </a:endParaRPr>
          </a:p>
          <a:p>
            <a:pPr indent="0" lvl="0" marL="0" marR="0" rtl="0" algn="l">
              <a:spcBef>
                <a:spcPts val="1000"/>
              </a:spcBef>
              <a:spcAft>
                <a:spcPts val="0"/>
              </a:spcAft>
              <a:buNone/>
            </a:pPr>
            <a:r>
              <a:rPr lang="en-US" sz="2200">
                <a:solidFill>
                  <a:srgbClr val="1A1A1A"/>
                </a:solidFill>
              </a:rPr>
              <a:t>If a conference writes the most perfectly standardized Call-for-Artifacts in history,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7" name="Google Shape;127;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Google Shape;135;p16"/>
          <p:cNvSpPr txBox="1"/>
          <p:nvPr/>
        </p:nvSpPr>
        <p:spPr>
          <a:xfrm>
            <a:off x="640080" y="1600200"/>
            <a:ext cx="3017400" cy="217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400" u="none" cap="none" strike="noStrike">
                <a:solidFill>
                  <a:srgbClr val="00883A"/>
                </a:solidFill>
                <a:latin typeface="Arial"/>
                <a:ea typeface="Arial"/>
                <a:cs typeface="Arial"/>
                <a:sym typeface="Arial"/>
              </a:rPr>
              <a:t>Why is making good artifacts hard?</a:t>
            </a:r>
            <a:endParaRPr/>
          </a:p>
          <a:p>
            <a:pPr indent="0" lvl="0" marL="0" marR="0" rtl="0" algn="l">
              <a:lnSpc>
                <a:spcPct val="100000"/>
              </a:lnSpc>
              <a:spcBef>
                <a:spcPts val="1800"/>
              </a:spcBef>
              <a:spcAft>
                <a:spcPts val="0"/>
              </a:spcAft>
              <a:buNone/>
            </a:pPr>
            <a:r>
              <a:rPr b="1" i="0" lang="en-US" sz="2400" u="none" cap="none" strike="noStrike">
                <a:solidFill>
                  <a:srgbClr val="00883A"/>
                </a:solidFill>
                <a:latin typeface="Arial"/>
                <a:ea typeface="Arial"/>
                <a:cs typeface="Arial"/>
                <a:sym typeface="Arial"/>
              </a:rPr>
              <a:t>Potential solutions to this?</a:t>
            </a:r>
            <a:endParaRPr/>
          </a:p>
        </p:txBody>
      </p:sp>
      <p:sp>
        <p:nvSpPr>
          <p:cNvPr id="136" name="Google Shape;136;p16"/>
          <p:cNvSpPr txBox="1"/>
          <p:nvPr/>
        </p:nvSpPr>
        <p:spPr>
          <a:xfrm>
            <a:off x="3968496" y="1463040"/>
            <a:ext cx="7589400" cy="3924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1A1A1A"/>
                </a:solidFill>
                <a:latin typeface="Arial"/>
                <a:ea typeface="Arial"/>
                <a:cs typeface="Arial"/>
                <a:sym typeface="Arial"/>
              </a:rPr>
              <a:t>Problem: </a:t>
            </a:r>
            <a:r>
              <a:rPr b="0" i="0" lang="en-US" sz="1900" u="none" cap="none" strike="noStrike">
                <a:solidFill>
                  <a:srgbClr val="1A1A1A"/>
                </a:solidFill>
                <a:latin typeface="Arial"/>
                <a:ea typeface="Arial"/>
                <a:cs typeface="Arial"/>
                <a:sym typeface="Arial"/>
              </a:rPr>
              <a:t>artifacts (tools, benchmarks, data) should back claims and enable future research, but in practice fall short</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Approach: </a:t>
            </a:r>
            <a:r>
              <a:rPr b="0" i="0" lang="en-US" sz="1900" u="none" cap="none" strike="noStrike">
                <a:solidFill>
                  <a:srgbClr val="1A1A1A"/>
                </a:solidFill>
                <a:latin typeface="Arial"/>
                <a:ea typeface="Arial"/>
                <a:cs typeface="Arial"/>
                <a:sym typeface="Arial"/>
              </a:rPr>
              <a:t>mixed methods: survey of artifacts in top SE publications + online survey of SE researchers; creator, user and reviewer views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Findings: </a:t>
            </a:r>
            <a:r>
              <a:rPr b="0" i="0" lang="en-US" sz="1900" u="none" cap="none" strike="noStrike">
                <a:solidFill>
                  <a:srgbClr val="1A1A1A"/>
                </a:solidFill>
                <a:latin typeface="Arial"/>
                <a:ea typeface="Arial"/>
                <a:cs typeface="Arial"/>
                <a:sym typeface="Arial"/>
              </a:rPr>
              <a:t>sharing is valued and widespread, but 12 challenges stand in the way; key issues are mismatched expectations and too little reward for creators and reviewers</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Analysis: </a:t>
            </a:r>
            <a:r>
              <a:rPr b="0" i="0" lang="en-US" sz="1900" u="none" cap="none" strike="noStrike">
                <a:solidFill>
                  <a:srgbClr val="1A1A1A"/>
                </a:solidFill>
                <a:latin typeface="Arial"/>
                <a:ea typeface="Arial"/>
                <a:cs typeface="Arial"/>
                <a:sym typeface="Arial"/>
              </a:rPr>
              <a:t>Diffusion of Innovations links the challenges via communication, time and the social system</a:t>
            </a:r>
            <a:endParaRPr/>
          </a:p>
          <a:p>
            <a:pPr indent="0" lvl="0" marL="0" marR="0" rtl="0" algn="l">
              <a:lnSpc>
                <a:spcPct val="100000"/>
              </a:lnSpc>
              <a:spcBef>
                <a:spcPts val="1200"/>
              </a:spcBef>
              <a:spcAft>
                <a:spcPts val="0"/>
              </a:spcAft>
              <a:buNone/>
            </a:pPr>
            <a:r>
              <a:rPr b="1" i="0" lang="en-US" sz="1900" u="none" cap="none" strike="noStrike">
                <a:solidFill>
                  <a:srgbClr val="1A1A1A"/>
                </a:solidFill>
                <a:latin typeface="Arial"/>
                <a:ea typeface="Arial"/>
                <a:cs typeface="Arial"/>
                <a:sym typeface="Arial"/>
              </a:rPr>
              <a:t>Solutions: </a:t>
            </a:r>
            <a:r>
              <a:rPr b="0" i="0" lang="en-US" sz="1900" u="none" cap="none" strike="noStrike">
                <a:solidFill>
                  <a:srgbClr val="1A1A1A"/>
                </a:solidFill>
                <a:latin typeface="Arial"/>
                <a:ea typeface="Arial"/>
                <a:cs typeface="Arial"/>
                <a:sym typeface="Arial"/>
              </a:rPr>
              <a:t>8 recommendations for creators, reviewers, organisers and community leaders; AECs are well placed to raise artifact quality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3" name="Google Shape;143;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4" name="Google Shape;144;p17"/>
          <p:cNvSpPr/>
          <p:nvPr/>
        </p:nvSpPr>
        <p:spPr>
          <a:xfrm>
            <a:off x="640080" y="146304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17"/>
          <p:cNvSpPr txBox="1"/>
          <p:nvPr/>
        </p:nvSpPr>
        <p:spPr>
          <a:xfrm>
            <a:off x="822960" y="155448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(this paper)</a:t>
            </a:r>
            <a:endParaRPr/>
          </a:p>
        </p:txBody>
      </p:sp>
      <p:sp>
        <p:nvSpPr>
          <p:cNvPr id="146" name="Google Shape;146;p17"/>
          <p:cNvSpPr txBox="1"/>
          <p:nvPr/>
        </p:nvSpPr>
        <p:spPr>
          <a:xfrm>
            <a:off x="3566160" y="155448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any external material linked from a paper: tools, code, data, replication packages, companion sites, survey instruments, proofs</a:t>
            </a:r>
            <a:endParaRPr/>
          </a:p>
        </p:txBody>
      </p:sp>
      <p:sp>
        <p:nvSpPr>
          <p:cNvPr id="147" name="Google Shape;147;p17"/>
          <p:cNvSpPr/>
          <p:nvPr/>
        </p:nvSpPr>
        <p:spPr>
          <a:xfrm>
            <a:off x="640080" y="265176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17"/>
          <p:cNvSpPr txBox="1"/>
          <p:nvPr/>
        </p:nvSpPr>
        <p:spPr>
          <a:xfrm>
            <a:off x="822960" y="274320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Artifact (ACM)</a:t>
            </a:r>
            <a:endParaRPr/>
          </a:p>
        </p:txBody>
      </p:sp>
      <p:sp>
        <p:nvSpPr>
          <p:cNvPr id="149" name="Google Shape;149;p17"/>
          <p:cNvSpPr txBox="1"/>
          <p:nvPr/>
        </p:nvSpPr>
        <p:spPr>
          <a:xfrm>
            <a:off x="3566160" y="2743200"/>
            <a:ext cx="78639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digital object created for the study or generated by it</a:t>
            </a:r>
            <a:endParaRPr/>
          </a:p>
        </p:txBody>
      </p:sp>
      <p:sp>
        <p:nvSpPr>
          <p:cNvPr id="150" name="Google Shape;150;p17"/>
          <p:cNvSpPr/>
          <p:nvPr/>
        </p:nvSpPr>
        <p:spPr>
          <a:xfrm>
            <a:off x="640080" y="384048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17"/>
          <p:cNvSpPr txBox="1"/>
          <p:nvPr/>
        </p:nvSpPr>
        <p:spPr>
          <a:xfrm>
            <a:off x="822960" y="393192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AEC</a:t>
            </a:r>
            <a:endParaRPr/>
          </a:p>
        </p:txBody>
      </p:sp>
      <p:sp>
        <p:nvSpPr>
          <p:cNvPr id="152" name="Google Shape;152;p17"/>
          <p:cNvSpPr txBox="1"/>
          <p:nvPr/>
        </p:nvSpPr>
        <p:spPr>
          <a:xfrm>
            <a:off x="3566160" y="393192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Evaluation Committee: reviews artifacts of accepted papers; opt-in, after acceptance, cannot reject a paper</a:t>
            </a:r>
            <a:endParaRPr/>
          </a:p>
        </p:txBody>
      </p:sp>
      <p:sp>
        <p:nvSpPr>
          <p:cNvPr id="153" name="Google Shape;153;p17"/>
          <p:cNvSpPr/>
          <p:nvPr/>
        </p:nvSpPr>
        <p:spPr>
          <a:xfrm>
            <a:off x="640080" y="5029200"/>
            <a:ext cx="10908900" cy="1051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17"/>
          <p:cNvSpPr txBox="1"/>
          <p:nvPr/>
        </p:nvSpPr>
        <p:spPr>
          <a:xfrm>
            <a:off x="822960" y="5120640"/>
            <a:ext cx="27432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ACM quality criteria</a:t>
            </a:r>
            <a:endParaRPr/>
          </a:p>
        </p:txBody>
      </p:sp>
      <p:sp>
        <p:nvSpPr>
          <p:cNvPr id="155" name="Google Shape;155;p17"/>
          <p:cNvSpPr txBox="1"/>
          <p:nvPr/>
        </p:nvSpPr>
        <p:spPr>
          <a:xfrm>
            <a:off x="3566160" y="5120640"/>
            <a:ext cx="78639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documented · consistent (supports main results) · complete (proprietary parts may be replaced by proxies) · exercisable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62" name="Google Shape;162;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3" name="Google Shape;163;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ACM badges [1, 2]</a:t>
            </a:r>
            <a:endParaRPr/>
          </a:p>
        </p:txBody>
      </p:sp>
      <p:graphicFrame>
        <p:nvGraphicFramePr>
          <p:cNvPr id="164" name="Google Shape;164;p18"/>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651750"/>
                <a:gridCol w="2926075"/>
                <a:gridCol w="5330950"/>
              </a:tblGrid>
              <a:tr h="457200">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Question</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Badge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Required</a:t>
                      </a:r>
                      <a:endParaRPr/>
                    </a:p>
                  </a:txBody>
                  <a:tcPr marT="45725" marB="45725" marR="91450" marL="91450">
                    <a:solidFill>
                      <a:srgbClr val="00883A"/>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Does it work?</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Functional</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documented, consistent, complete, exercisable</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Evaluated – Reusable</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Functional + well structured and documented for reuse</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Permanently 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Available</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public archival repository with DOI (Zenodo, Software Heritage …); GitHub alone not enough; no evaluation</a:t>
                      </a:r>
                      <a:endParaRPr/>
                    </a:p>
                  </a:txBody>
                  <a:tcPr marT="45725" marB="45725" marR="91450" marL="91450">
                    <a:solidFill>
                      <a:srgbClr val="F1F3F2"/>
                    </a:solidFill>
                  </a:tcPr>
                </a:tc>
              </a:tr>
              <a:tr h="457200">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Results confirmed?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Reproduced</a:t>
                      </a:r>
                      <a:endParaRPr/>
                    </a:p>
                  </a:txBody>
                  <a:tcPr marT="45725" marB="45725" marR="91450" marL="91450">
                    <a:solidFill>
                      <a:srgbClr val="FFFFFF"/>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 the authors’ artifacts</a:t>
                      </a:r>
                      <a:endParaRPr/>
                    </a:p>
                  </a:txBody>
                  <a:tcPr marT="45725" marB="45725" marR="91450" marL="91450">
                    <a:solidFill>
                      <a:srgbClr val="FFFFFF"/>
                    </a:solidFill>
                  </a:tcPr>
                </a:tc>
              </a:tr>
              <a:tr h="457200">
                <a:tc>
                  <a:txBody>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1" lang="en-US" sz="1700" u="none" cap="none" strike="noStrike">
                          <a:solidFill>
                            <a:srgbClr val="1A1A1A"/>
                          </a:solidFill>
                          <a:latin typeface="Arial"/>
                          <a:ea typeface="Arial"/>
                          <a:cs typeface="Arial"/>
                          <a:sym typeface="Arial"/>
                        </a:rPr>
                        <a:t>Results Replicated</a:t>
                      </a:r>
                      <a:endParaRPr/>
                    </a:p>
                  </a:txBody>
                  <a:tcPr marT="45725" marB="45725" marR="91450" marL="91450">
                    <a:solidFill>
                      <a:srgbClr val="F1F3F2"/>
                    </a:solidFill>
                  </a:tcPr>
                </a:tc>
                <a:tc>
                  <a:txBody>
                    <a:bodyPr/>
                    <a:lstStyle/>
                    <a:p>
                      <a:pPr indent="0" lvl="0" marL="0" marR="0" rtl="0" algn="l">
                        <a:lnSpc>
                          <a:spcPct val="100000"/>
                        </a:lnSpc>
                        <a:spcBef>
                          <a:spcPts val="0"/>
                        </a:spcBef>
                        <a:spcAft>
                          <a:spcPts val="0"/>
                        </a:spcAft>
                        <a:buNone/>
                      </a:pPr>
                      <a:r>
                        <a:rPr b="0" lang="en-US" sz="1700" u="none" cap="none" strike="noStrike">
                          <a:solidFill>
                            <a:srgbClr val="1A1A1A"/>
                          </a:solidFill>
                          <a:latin typeface="Arial"/>
                          <a:ea typeface="Arial"/>
                          <a:cs typeface="Arial"/>
                          <a:sym typeface="Arial"/>
                        </a:rPr>
                        <a:t>other team gets main results without them</a:t>
                      </a:r>
                      <a:endParaRPr/>
                    </a:p>
                  </a:txBody>
                  <a:tcPr marT="45725" marB="45725" marR="91450" marL="91450">
                    <a:solidFill>
                      <a:srgbClr val="F1F3F2"/>
                    </a:solidFill>
                  </a:tcPr>
                </a:tc>
              </a:tr>
            </a:tbl>
          </a:graphicData>
        </a:graphic>
      </p:graphicFrame>
      <p:sp>
        <p:nvSpPr>
          <p:cNvPr id="165" name="Google Shape;165;p18"/>
          <p:cNvSpPr txBox="1"/>
          <p:nvPr/>
        </p:nvSpPr>
        <p:spPr>
          <a:xfrm>
            <a:off x="640080" y="5029200"/>
            <a:ext cx="10908900" cy="32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500" u="none" cap="none" strike="noStrike">
                <a:solidFill>
                  <a:srgbClr val="5F6368"/>
                </a:solidFill>
                <a:latin typeface="Arial"/>
                <a:ea typeface="Arial"/>
                <a:cs typeface="Arial"/>
                <a:sym typeface="Arial"/>
              </a:rPr>
              <a:t>ACM only defines the badges; each conference’s AEC sets its own concrete rules [1, 3].</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72" name="Google Shape;172;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3" name="Google Shape;173;p19"/>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Diffusion of Innovations (DoI): how new ideas and practices spread</a:t>
            </a:r>
            <a:endParaRPr/>
          </a:p>
        </p:txBody>
      </p:sp>
      <p:sp>
        <p:nvSpPr>
          <p:cNvPr id="174" name="Google Shape;174;p19"/>
          <p:cNvSpPr/>
          <p:nvPr/>
        </p:nvSpPr>
        <p:spPr>
          <a:xfrm>
            <a:off x="640080"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19"/>
          <p:cNvSpPr txBox="1"/>
          <p:nvPr/>
        </p:nvSpPr>
        <p:spPr>
          <a:xfrm>
            <a:off x="777240" y="1783080"/>
            <a:ext cx="2313300" cy="79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Innovation</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each artifact</a:t>
            </a:r>
            <a:endParaRPr/>
          </a:p>
        </p:txBody>
      </p:sp>
      <p:sp>
        <p:nvSpPr>
          <p:cNvPr id="176" name="Google Shape;176;p19"/>
          <p:cNvSpPr/>
          <p:nvPr/>
        </p:nvSpPr>
        <p:spPr>
          <a:xfrm>
            <a:off x="3410711"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19"/>
          <p:cNvSpPr txBox="1"/>
          <p:nvPr/>
        </p:nvSpPr>
        <p:spPr>
          <a:xfrm>
            <a:off x="3547871" y="1783080"/>
            <a:ext cx="2313300" cy="109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Communication channels</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links, AECs, badges</a:t>
            </a:r>
            <a:endParaRPr/>
          </a:p>
        </p:txBody>
      </p:sp>
      <p:sp>
        <p:nvSpPr>
          <p:cNvPr id="178" name="Google Shape;178;p19"/>
          <p:cNvSpPr/>
          <p:nvPr/>
        </p:nvSpPr>
        <p:spPr>
          <a:xfrm>
            <a:off x="6181344"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19"/>
          <p:cNvSpPr txBox="1"/>
          <p:nvPr/>
        </p:nvSpPr>
        <p:spPr>
          <a:xfrm>
            <a:off x="6318504" y="178308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Time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availability and usability over time</a:t>
            </a:r>
            <a:endParaRPr/>
          </a:p>
        </p:txBody>
      </p:sp>
      <p:sp>
        <p:nvSpPr>
          <p:cNvPr id="180" name="Google Shape;180;p19"/>
          <p:cNvSpPr/>
          <p:nvPr/>
        </p:nvSpPr>
        <p:spPr>
          <a:xfrm>
            <a:off x="8951976" y="1645920"/>
            <a:ext cx="2587800" cy="21945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19"/>
          <p:cNvSpPr txBox="1"/>
          <p:nvPr/>
        </p:nvSpPr>
        <p:spPr>
          <a:xfrm>
            <a:off x="9089136" y="1783080"/>
            <a:ext cx="2313300" cy="1313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Social system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SE research community, its norms and values</a:t>
            </a:r>
            <a:endParaRPr/>
          </a:p>
        </p:txBody>
      </p:sp>
      <p:sp>
        <p:nvSpPr>
          <p:cNvPr id="182" name="Google Shape;182;p19"/>
          <p:cNvSpPr txBox="1"/>
          <p:nvPr/>
        </p:nvSpPr>
        <p:spPr>
          <a:xfrm>
            <a:off x="640080" y="411480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Used here: </a:t>
            </a:r>
            <a:r>
              <a:rPr b="0" i="0" lang="en-US" sz="1800" u="none" cap="none" strike="noStrike">
                <a:solidFill>
                  <a:srgbClr val="1A1A1A"/>
                </a:solidFill>
                <a:latin typeface="Arial"/>
                <a:ea typeface="Arial"/>
                <a:cs typeface="Arial"/>
                <a:sym typeface="Arial"/>
              </a:rPr>
              <a:t>analytical lens to link the findings of the two studies (§5)</a:t>
            </a:r>
            <a:endParaRPr/>
          </a:p>
        </p:txBody>
      </p:sp>
      <p:sp>
        <p:nvSpPr>
          <p:cNvPr id="183" name="Google Shape;183;p19"/>
          <p:cNvSpPr/>
          <p:nvPr/>
        </p:nvSpPr>
        <p:spPr>
          <a:xfrm>
            <a:off x="640080" y="4846320"/>
            <a:ext cx="109089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19"/>
          <p:cNvSpPr txBox="1"/>
          <p:nvPr/>
        </p:nvSpPr>
        <p:spPr>
          <a:xfrm>
            <a:off x="822960" y="4937760"/>
            <a:ext cx="10515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Implementation Science (IS): </a:t>
            </a:r>
            <a:r>
              <a:rPr b="0" i="0" lang="en-US" sz="1800" u="none" cap="none" strike="noStrike">
                <a:solidFill>
                  <a:srgbClr val="1A1A1A"/>
                </a:solidFill>
                <a:latin typeface="Arial"/>
                <a:ea typeface="Arial"/>
                <a:cs typeface="Arial"/>
                <a:sym typeface="Arial"/>
              </a:rPr>
              <a:t>iterative, evidence-based way of moving research into practice (from medicine): practices identified, trialled, observed, improved. Used to shape the recommendations.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91" name="Google Shape;191;p2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92" name="Google Shape;192;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99" name="Google Shape;199;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0" name="Google Shape;200;p21"/>
          <p:cNvSpPr txBox="1"/>
          <p:nvPr/>
        </p:nvSpPr>
        <p:spPr>
          <a:xfrm>
            <a:off x="640080" y="1234440"/>
            <a:ext cx="10908900" cy="677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Mixed methods, parallel-convergent: </a:t>
            </a:r>
            <a:r>
              <a:rPr b="0" i="0" lang="en-US" sz="1900" u="none" cap="none" strike="noStrike">
                <a:solidFill>
                  <a:srgbClr val="1A1A1A"/>
                </a:solidFill>
                <a:latin typeface="Arial"/>
                <a:ea typeface="Arial"/>
                <a:cs typeface="Arial"/>
                <a:sym typeface="Arial"/>
              </a:rPr>
              <a:t>two studies at the same time, analysed separately, then merged</a:t>
            </a:r>
            <a:endParaRPr/>
          </a:p>
        </p:txBody>
      </p:sp>
      <p:sp>
        <p:nvSpPr>
          <p:cNvPr id="201" name="Google Shape;201;p21"/>
          <p:cNvSpPr/>
          <p:nvPr/>
        </p:nvSpPr>
        <p:spPr>
          <a:xfrm>
            <a:off x="640080"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1"/>
          <p:cNvSpPr txBox="1"/>
          <p:nvPr/>
        </p:nvSpPr>
        <p:spPr>
          <a:xfrm>
            <a:off x="822959"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§3.1 Publication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all technical-track papers, ICSE · FSE · ASE · EMSE, 2014-2018</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links found in the papers, checked by hand</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artifact = any linked material; available = link still works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AEC chairs asked for submission and acceptance data</a:t>
            </a:r>
            <a:endParaRPr/>
          </a:p>
        </p:txBody>
      </p:sp>
      <p:sp>
        <p:nvSpPr>
          <p:cNvPr id="203" name="Google Shape;203;p21"/>
          <p:cNvSpPr/>
          <p:nvPr/>
        </p:nvSpPr>
        <p:spPr>
          <a:xfrm>
            <a:off x="6336792" y="1965960"/>
            <a:ext cx="5212200" cy="36576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6519672" y="2057400"/>
            <a:ext cx="4846200" cy="286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100" u="none" cap="none" strike="noStrike">
                <a:solidFill>
                  <a:srgbClr val="00883A"/>
                </a:solidFill>
                <a:latin typeface="Arial"/>
                <a:ea typeface="Arial"/>
                <a:cs typeface="Arial"/>
                <a:sym typeface="Arial"/>
              </a:rPr>
              <a:t>§3.2 Author survey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online questionnaire for authors of 2018 papers</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branching by role: creator, user, reviewer</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open answers coded into themes (range, not frequency)</a:t>
            </a:r>
            <a:endParaRPr/>
          </a:p>
          <a:p>
            <a:pPr indent="0" lvl="0" marL="0" marR="0" rtl="0" algn="l">
              <a:lnSpc>
                <a:spcPct val="100000"/>
              </a:lnSpc>
              <a:spcBef>
                <a:spcPts val="1000"/>
              </a:spcBef>
              <a:spcAft>
                <a:spcPts val="0"/>
              </a:spcAft>
              <a:buNone/>
            </a:pPr>
            <a:r>
              <a:rPr b="0" i="0" lang="en-US" sz="1800" u="none" cap="none" strike="noStrike">
                <a:solidFill>
                  <a:srgbClr val="1A1A1A"/>
                </a:solidFill>
                <a:latin typeface="Arial"/>
                <a:ea typeface="Arial"/>
                <a:cs typeface="Arial"/>
                <a:sym typeface="Arial"/>
              </a:rPr>
              <a:t>• questions mapped to RQ1 (value) and RQ2 (challenges)</a:t>
            </a:r>
            <a:endParaRPr/>
          </a:p>
        </p:txBody>
      </p:sp>
      <p:sp>
        <p:nvSpPr>
          <p:cNvPr id="205" name="Google Shape;205;p21"/>
          <p:cNvSpPr txBox="1"/>
          <p:nvPr/>
        </p:nvSpPr>
        <p:spPr>
          <a:xfrm>
            <a:off x="640080" y="5760720"/>
            <a:ext cx="109089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 </a:t>
            </a:r>
            <a:r>
              <a:rPr b="0" i="0" lang="en-US" sz="1800" u="none" cap="none" strike="noStrike">
                <a:solidFill>
                  <a:srgbClr val="1A1A1A"/>
                </a:solidFill>
                <a:latin typeface="Arial"/>
                <a:ea typeface="Arial"/>
                <a:cs typeface="Arial"/>
                <a:sym typeface="Arial"/>
              </a:rPr>
              <a:t>merged into the results: RQ1 value · RQ2 challenges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2" name="Google Shape;212;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3" name="Google Shape;213;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RQ1 · Does the community value artifacts?</a:t>
            </a:r>
            <a:endParaRPr/>
          </a:p>
        </p:txBody>
      </p:sp>
      <p:sp>
        <p:nvSpPr>
          <p:cNvPr id="214" name="Google Shape;214;p22"/>
          <p:cNvSpPr/>
          <p:nvPr/>
        </p:nvSpPr>
        <p:spPr>
          <a:xfrm>
            <a:off x="640080" y="1554480"/>
            <a:ext cx="10908900" cy="14631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2"/>
          <p:cNvSpPr txBox="1"/>
          <p:nvPr/>
        </p:nvSpPr>
        <p:spPr>
          <a:xfrm>
            <a:off x="822960" y="1600200"/>
            <a:ext cx="10515600" cy="1339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1900" u="none" cap="none" strike="noStrike">
                <a:solidFill>
                  <a:srgbClr val="00883A"/>
                </a:solidFill>
                <a:latin typeface="Arial"/>
                <a:ea typeface="Arial"/>
                <a:cs typeface="Arial"/>
                <a:sym typeface="Arial"/>
              </a:rPr>
              <a:t>Yes: </a:t>
            </a:r>
            <a:r>
              <a:rPr b="0" i="0" lang="en-US" sz="1900" u="none" cap="none" strike="noStrike">
                <a:solidFill>
                  <a:srgbClr val="1A1A1A"/>
                </a:solidFill>
                <a:latin typeface="Arial"/>
                <a:ea typeface="Arial"/>
                <a:cs typeface="Arial"/>
                <a:sym typeface="Arial"/>
              </a:rPr>
              <a:t>artifacts are seen as inherently valuable; sharing is an established and growing norm (most papers now link one)</a:t>
            </a:r>
            <a:endParaRPr/>
          </a:p>
          <a:p>
            <a:pPr indent="0" lvl="0" marL="0" marR="0" rtl="0" algn="l">
              <a:lnSpc>
                <a:spcPct val="100000"/>
              </a:lnSpc>
              <a:spcBef>
                <a:spcPts val="600"/>
              </a:spcBef>
              <a:spcAft>
                <a:spcPts val="0"/>
              </a:spcAft>
              <a:buNone/>
            </a:pPr>
            <a:r>
              <a:rPr b="0" i="0" lang="en-US" sz="1900" u="none" cap="none" strike="noStrike">
                <a:solidFill>
                  <a:srgbClr val="1A1A1A"/>
                </a:solidFill>
                <a:latin typeface="Arial"/>
                <a:ea typeface="Arial"/>
                <a:cs typeface="Arial"/>
                <a:sym typeface="Arial"/>
              </a:rPr>
              <a:t>Not every paper needs one, but sharing should be encouraged and rewarded; replication is hard and unreliable without artifacts</a:t>
            </a:r>
            <a:endParaRPr/>
          </a:p>
        </p:txBody>
      </p:sp>
      <p:sp>
        <p:nvSpPr>
          <p:cNvPr id="216" name="Google Shape;216;p22"/>
          <p:cNvSpPr txBox="1"/>
          <p:nvPr/>
        </p:nvSpPr>
        <p:spPr>
          <a:xfrm>
            <a:off x="640080" y="320040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Why authors share</a:t>
            </a:r>
            <a:endParaRPr/>
          </a:p>
        </p:txBody>
      </p:sp>
      <p:sp>
        <p:nvSpPr>
          <p:cNvPr id="217" name="Google Shape;217;p22"/>
          <p:cNvSpPr/>
          <p:nvPr/>
        </p:nvSpPr>
        <p:spPr>
          <a:xfrm>
            <a:off x="640080"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2"/>
          <p:cNvSpPr txBox="1"/>
          <p:nvPr/>
        </p:nvSpPr>
        <p:spPr>
          <a:xfrm>
            <a:off x="777240" y="3794760"/>
            <a:ext cx="2313300" cy="1359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Supporting evidence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backs the paper’s claims, builds trust</a:t>
            </a:r>
            <a:endParaRPr/>
          </a:p>
        </p:txBody>
      </p:sp>
      <p:sp>
        <p:nvSpPr>
          <p:cNvPr id="219" name="Google Shape;219;p22"/>
          <p:cNvSpPr/>
          <p:nvPr/>
        </p:nvSpPr>
        <p:spPr>
          <a:xfrm>
            <a:off x="3410711"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2"/>
          <p:cNvSpPr txBox="1"/>
          <p:nvPr/>
        </p:nvSpPr>
        <p:spPr>
          <a:xfrm>
            <a:off x="3547871"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Community norm</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"good practice" that benefits all</a:t>
            </a:r>
            <a:endParaRPr/>
          </a:p>
        </p:txBody>
      </p:sp>
      <p:sp>
        <p:nvSpPr>
          <p:cNvPr id="221" name="Google Shape;221;p22"/>
          <p:cNvSpPr/>
          <p:nvPr/>
        </p:nvSpPr>
        <p:spPr>
          <a:xfrm>
            <a:off x="6181344"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2"/>
          <p:cNvSpPr txBox="1"/>
          <p:nvPr/>
        </p:nvSpPr>
        <p:spPr>
          <a:xfrm>
            <a:off x="6318504"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Reuse</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tools and data others can extend</a:t>
            </a:r>
            <a:endParaRPr/>
          </a:p>
        </p:txBody>
      </p:sp>
      <p:sp>
        <p:nvSpPr>
          <p:cNvPr id="223" name="Google Shape;223;p22"/>
          <p:cNvSpPr/>
          <p:nvPr/>
        </p:nvSpPr>
        <p:spPr>
          <a:xfrm>
            <a:off x="8951976" y="3657600"/>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2"/>
          <p:cNvSpPr txBox="1"/>
          <p:nvPr/>
        </p:nvSpPr>
        <p:spPr>
          <a:xfrm>
            <a:off x="9089136" y="3794760"/>
            <a:ext cx="23133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Understanding</a:t>
            </a:r>
            <a:endParaRPr/>
          </a:p>
          <a:p>
            <a:pPr indent="0" lvl="0" marL="0" marR="0" rtl="0" algn="l">
              <a:lnSpc>
                <a:spcPct val="100000"/>
              </a:lnSpc>
              <a:spcBef>
                <a:spcPts val="1000"/>
              </a:spcBef>
              <a:spcAft>
                <a:spcPts val="0"/>
              </a:spcAft>
              <a:buNone/>
            </a:pPr>
            <a:r>
              <a:rPr b="0" i="0" lang="en-US" sz="1700" u="none" cap="none" strike="noStrike">
                <a:solidFill>
                  <a:srgbClr val="1A1A1A"/>
                </a:solidFill>
                <a:latin typeface="Arial"/>
                <a:ea typeface="Arial"/>
                <a:cs typeface="Arial"/>
                <a:sym typeface="Arial"/>
              </a:rPr>
              <a:t>details that don’t fit in a paper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31" name="Google Shape;231;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32" name="Google Shape;232;p23"/>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Challenges of creating, sharing, using and reviewing</a:t>
            </a:r>
            <a:endParaRPr/>
          </a:p>
        </p:txBody>
      </p:sp>
      <p:sp>
        <p:nvSpPr>
          <p:cNvPr id="233" name="Google Shape;233;p23"/>
          <p:cNvSpPr/>
          <p:nvPr/>
        </p:nvSpPr>
        <p:spPr>
          <a:xfrm>
            <a:off x="640080"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txBox="1"/>
          <p:nvPr/>
        </p:nvSpPr>
        <p:spPr>
          <a:xfrm>
            <a:off x="749808"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35" name="Google Shape;235;p23"/>
          <p:cNvSpPr/>
          <p:nvPr/>
        </p:nvSpPr>
        <p:spPr>
          <a:xfrm>
            <a:off x="3410711"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txBox="1"/>
          <p:nvPr/>
        </p:nvSpPr>
        <p:spPr>
          <a:xfrm>
            <a:off x="3520439"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37" name="Google Shape;237;p23"/>
          <p:cNvSpPr/>
          <p:nvPr/>
        </p:nvSpPr>
        <p:spPr>
          <a:xfrm>
            <a:off x="6181344"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txBox="1"/>
          <p:nvPr/>
        </p:nvSpPr>
        <p:spPr>
          <a:xfrm>
            <a:off x="6291072"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39" name="Google Shape;239;p23"/>
          <p:cNvSpPr/>
          <p:nvPr/>
        </p:nvSpPr>
        <p:spPr>
          <a:xfrm>
            <a:off x="8951976" y="16002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23"/>
          <p:cNvSpPr txBox="1"/>
          <p:nvPr/>
        </p:nvSpPr>
        <p:spPr>
          <a:xfrm>
            <a:off x="9061703" y="16733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1" name="Google Shape;241;p23"/>
          <p:cNvSpPr/>
          <p:nvPr/>
        </p:nvSpPr>
        <p:spPr>
          <a:xfrm>
            <a:off x="640080"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23"/>
          <p:cNvSpPr txBox="1"/>
          <p:nvPr/>
        </p:nvSpPr>
        <p:spPr>
          <a:xfrm>
            <a:off x="749808"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400"/>
              </a:spcBef>
              <a:spcAft>
                <a:spcPts val="0"/>
              </a:spcAft>
              <a:buNone/>
            </a:pPr>
            <a:r>
              <a:rPr b="1" i="0" lang="en-US" sz="1800" u="none" cap="none" strike="noStrike">
                <a:solidFill>
                  <a:srgbClr val="5F6368"/>
                </a:solidFill>
                <a:latin typeface="Arial"/>
                <a:ea typeface="Arial"/>
                <a:cs typeface="Arial"/>
                <a:sym typeface="Arial"/>
              </a:rPr>
              <a:t>▲ </a:t>
            </a:r>
            <a:endParaRPr/>
          </a:p>
        </p:txBody>
      </p:sp>
      <p:sp>
        <p:nvSpPr>
          <p:cNvPr id="243" name="Google Shape;243;p23"/>
          <p:cNvSpPr/>
          <p:nvPr/>
        </p:nvSpPr>
        <p:spPr>
          <a:xfrm>
            <a:off x="3410711"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520439"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45" name="Google Shape;245;p23"/>
          <p:cNvSpPr/>
          <p:nvPr/>
        </p:nvSpPr>
        <p:spPr>
          <a:xfrm>
            <a:off x="6181344"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23"/>
          <p:cNvSpPr txBox="1"/>
          <p:nvPr/>
        </p:nvSpPr>
        <p:spPr>
          <a:xfrm>
            <a:off x="6291072" y="3044952"/>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a:p>
        </p:txBody>
      </p:sp>
      <p:sp>
        <p:nvSpPr>
          <p:cNvPr id="247" name="Google Shape;247;p23"/>
          <p:cNvSpPr/>
          <p:nvPr/>
        </p:nvSpPr>
        <p:spPr>
          <a:xfrm>
            <a:off x="8951976" y="29718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23"/>
          <p:cNvSpPr txBox="1"/>
          <p:nvPr/>
        </p:nvSpPr>
        <p:spPr>
          <a:xfrm>
            <a:off x="9061703" y="30449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endParaRPr/>
          </a:p>
        </p:txBody>
      </p:sp>
      <p:sp>
        <p:nvSpPr>
          <p:cNvPr id="249" name="Google Shape;249;p23"/>
          <p:cNvSpPr/>
          <p:nvPr/>
        </p:nvSpPr>
        <p:spPr>
          <a:xfrm>
            <a:off x="640080"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23"/>
          <p:cNvSpPr txBox="1"/>
          <p:nvPr/>
        </p:nvSpPr>
        <p:spPr>
          <a:xfrm>
            <a:off x="749808"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400"/>
              </a:spcBef>
              <a:spcAft>
                <a:spcPts val="0"/>
              </a:spcAft>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a:p>
        </p:txBody>
      </p:sp>
      <p:sp>
        <p:nvSpPr>
          <p:cNvPr id="251" name="Google Shape;251;p23"/>
          <p:cNvSpPr/>
          <p:nvPr/>
        </p:nvSpPr>
        <p:spPr>
          <a:xfrm>
            <a:off x="3410711"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23"/>
          <p:cNvSpPr txBox="1"/>
          <p:nvPr/>
        </p:nvSpPr>
        <p:spPr>
          <a:xfrm>
            <a:off x="3520439"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3" name="Google Shape;253;p23"/>
          <p:cNvSpPr/>
          <p:nvPr/>
        </p:nvSpPr>
        <p:spPr>
          <a:xfrm>
            <a:off x="6181344"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23"/>
          <p:cNvSpPr txBox="1"/>
          <p:nvPr/>
        </p:nvSpPr>
        <p:spPr>
          <a:xfrm>
            <a:off x="6291072"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5" name="Google Shape;255;p23"/>
          <p:cNvSpPr/>
          <p:nvPr/>
        </p:nvSpPr>
        <p:spPr>
          <a:xfrm>
            <a:off x="8951976" y="4343400"/>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23"/>
          <p:cNvSpPr txBox="1"/>
          <p:nvPr/>
        </p:nvSpPr>
        <p:spPr>
          <a:xfrm>
            <a:off x="9061703" y="4416552"/>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400"/>
              </a:spcBef>
              <a:spcAft>
                <a:spcPts val="0"/>
              </a:spcAft>
              <a:buNone/>
            </a:pPr>
            <a:r>
              <a:rPr b="1" i="0" lang="en-US" sz="1800" u="none" cap="none" strike="noStrike">
                <a:solidFill>
                  <a:srgbClr val="1A1A1A"/>
                </a:solidFill>
                <a:latin typeface="Arial"/>
                <a:ea typeface="Arial"/>
                <a:cs typeface="Arial"/>
                <a:sym typeface="Arial"/>
              </a:rPr>
              <a:t>★ </a:t>
            </a:r>
            <a:endParaRPr/>
          </a:p>
        </p:txBody>
      </p:sp>
      <p:sp>
        <p:nvSpPr>
          <p:cNvPr id="257" name="Google Shape;257;p23"/>
          <p:cNvSpPr txBox="1"/>
          <p:nvPr/>
        </p:nvSpPr>
        <p:spPr>
          <a:xfrm>
            <a:off x="640080" y="580644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64" name="Google Shape;264;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5" name="Google Shape;265;p24"/>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C1-C3</a:t>
            </a:r>
            <a:endParaRPr/>
          </a:p>
        </p:txBody>
      </p:sp>
      <p:sp>
        <p:nvSpPr>
          <p:cNvPr id="266" name="Google Shape;266;p24"/>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67" name="Google Shape;267;p24"/>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a:p>
                  </a:txBody>
                  <a:tcPr marT="36575" marB="36575" marR="91450" marL="91450">
                    <a:solidFill>
                      <a:srgbClr val="F1F3F2"/>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74" name="Google Shape;27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5" name="Google Shape;275;p25"/>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C4-C6</a:t>
            </a:r>
            <a:endParaRPr/>
          </a:p>
        </p:txBody>
      </p:sp>
      <p:sp>
        <p:nvSpPr>
          <p:cNvPr id="276" name="Google Shape;276;p25"/>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77" name="Google Shape;277;p25"/>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a:p>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a:p>
                  </a:txBody>
                  <a:tcPr marT="36575" marB="36575" marR="91450" marL="91450">
                    <a:solidFill>
                      <a:srgbClr val="F1F3F2"/>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84" name="Google Shape;284;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85" name="Google Shape;285;p26"/>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C7-C9</a:t>
            </a:r>
            <a:endParaRPr/>
          </a:p>
        </p:txBody>
      </p:sp>
      <p:sp>
        <p:nvSpPr>
          <p:cNvPr id="286" name="Google Shape;286;p26"/>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87" name="Google Shape;287;p26"/>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a:p>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a:p>
                    <a:p>
                      <a:pPr indent="0" lvl="0" marL="0" marR="0" rtl="0" algn="l">
                        <a:lnSpc>
                          <a:spcPct val="100000"/>
                        </a:lnSpc>
                        <a:spcBef>
                          <a:spcPts val="300"/>
                        </a:spcBef>
                        <a:spcAft>
                          <a:spcPts val="0"/>
                        </a:spcAft>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a:p>
                    <a:p>
                      <a:pPr indent="0" lvl="0" marL="0" marR="0" rtl="0" algn="l">
                        <a:lnSpc>
                          <a:spcPct val="100000"/>
                        </a:lnSpc>
                        <a:spcBef>
                          <a:spcPts val="300"/>
                        </a:spcBef>
                        <a:spcAft>
                          <a:spcPts val="0"/>
                        </a:spcAft>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a:p>
                  </a:txBody>
                  <a:tcPr marT="36575" marB="36575" marR="91450" marL="91450">
                    <a:solidFill>
                      <a:srgbClr val="F1F3F2"/>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94" name="Google Shape;294;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5" name="Google Shape;295;p27"/>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600" u="none" cap="none" strike="noStrike">
                <a:solidFill>
                  <a:srgbClr val="5F6368"/>
                </a:solidFill>
                <a:latin typeface="Arial"/>
                <a:ea typeface="Arial"/>
                <a:cs typeface="Arial"/>
                <a:sym typeface="Arial"/>
              </a:rPr>
              <a:t>RQ2 · C10-C12</a:t>
            </a:r>
            <a:endParaRPr/>
          </a:p>
        </p:txBody>
      </p:sp>
      <p:sp>
        <p:nvSpPr>
          <p:cNvPr id="296" name="Google Shape;296;p27"/>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a:p>
        </p:txBody>
      </p:sp>
      <p:graphicFrame>
        <p:nvGraphicFramePr>
          <p:cNvPr id="297" name="Google Shape;297;p27"/>
          <p:cNvGraphicFramePr/>
          <p:nvPr/>
        </p:nvGraphicFramePr>
        <p:xfrm>
          <a:off x="640080" y="1554480"/>
          <a:ext cx="3000000" cy="3000000"/>
        </p:xfrm>
        <a:graphic>
          <a:graphicData uri="http://schemas.openxmlformats.org/drawingml/2006/table">
            <a:tbl>
              <a:tblPr bandRow="1" firstRow="1">
                <a:noFill/>
                <a:tableStyleId>{BA0399A1-FE9B-46BE-AC09-F5867CF7C7D4}</a:tableStyleId>
              </a:tblPr>
              <a:tblGrid>
                <a:gridCol w="2468875"/>
                <a:gridCol w="8439900"/>
              </a:tblGrid>
              <a:tr h="411475">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Challenge</a:t>
                      </a:r>
                      <a:endParaRPr/>
                    </a:p>
                  </a:txBody>
                  <a:tcPr marT="45725" marB="45725" marR="91450" marL="91450">
                    <a:solidFill>
                      <a:srgbClr val="00883A"/>
                    </a:solidFill>
                  </a:tcPr>
                </a:tc>
                <a:tc>
                  <a:txBody>
                    <a:bodyPr/>
                    <a:lstStyle/>
                    <a:p>
                      <a:pPr indent="0" lvl="0" marL="0" marR="0" rtl="0" algn="l">
                        <a:lnSpc>
                          <a:spcPct val="100000"/>
                        </a:lnSpc>
                        <a:spcBef>
                          <a:spcPts val="0"/>
                        </a:spcBef>
                        <a:spcAft>
                          <a:spcPts val="0"/>
                        </a:spcAft>
                        <a:buNone/>
                      </a:pPr>
                      <a:r>
                        <a:rPr b="1" lang="en-US" sz="1700" u="none" cap="none" strike="noStrike">
                          <a:solidFill>
                            <a:srgbClr val="FFFFFF"/>
                          </a:solidFill>
                          <a:latin typeface="Arial"/>
                          <a:ea typeface="Arial"/>
                          <a:cs typeface="Arial"/>
                          <a:sym typeface="Arial"/>
                        </a:rPr>
                        <a:t>Points raised</a:t>
                      </a:r>
                      <a:endParaRPr/>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FFFFF"/>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a:p>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endParaRPr/>
                    </a:p>
                  </a:txBody>
                  <a:tcPr marT="36575" marB="36575" marR="91450" marL="91450">
                    <a:solidFill>
                      <a:srgbClr val="F1F3F2"/>
                    </a:solidFill>
                  </a:tcPr>
                </a:tc>
                <a:tc>
                  <a:txBody>
                    <a:bodyPr/>
                    <a:lstStyle/>
                    <a:p>
                      <a:pPr indent="0" lvl="0" marL="0" marR="0" rtl="0" algn="l">
                        <a:lnSpc>
                          <a:spcPct val="100000"/>
                        </a:lnSpc>
                        <a:spcBef>
                          <a:spcPts val="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a:p>
                    <a:p>
                      <a:pPr indent="0" lvl="0" marL="0" marR="0" rtl="0" algn="l">
                        <a:lnSpc>
                          <a:spcPct val="100000"/>
                        </a:lnSpc>
                        <a:spcBef>
                          <a:spcPts val="300"/>
                        </a:spcBef>
                        <a:spcAft>
                          <a:spcPts val="0"/>
                        </a:spcAft>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a:p>
                  </a:txBody>
                  <a:tcPr marT="36575" marB="36575" marR="91450" marL="91450">
                    <a:solidFill>
                      <a:srgbClr val="F1F3F2"/>
                    </a:solidFill>
                  </a:tcPr>
                </a:tc>
              </a:tr>
            </a:tbl>
          </a:graphicData>
        </a:graphic>
      </p:graphicFrame>
      <p:sp>
        <p:nvSpPr>
          <p:cNvPr id="298" name="Google Shape;298;p27"/>
          <p:cNvSpPr txBox="1"/>
          <p:nvPr/>
        </p:nvSpPr>
        <p:spPr>
          <a:xfrm>
            <a:off x="640080" y="598932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400" u="none" cap="none" strike="noStrike">
                <a:solidFill>
                  <a:srgbClr val="5F6368"/>
                </a:solidFill>
                <a:latin typeface="Arial"/>
                <a:ea typeface="Arial"/>
                <a:cs typeface="Arial"/>
                <a:sym typeface="Arial"/>
              </a:rPr>
              <a:t>Context: few artifact papers are submitted to AE (FSE 2015-18: 74 of 196), and most of those pass (86 %); some reviewers are happy with the process.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305" name="Google Shape;305;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06" name="Google Shape;306;p28"/>
          <p:cNvSpPr/>
          <p:nvPr/>
        </p:nvSpPr>
        <p:spPr>
          <a:xfrm>
            <a:off x="640080" y="1417320"/>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28"/>
          <p:cNvSpPr txBox="1"/>
          <p:nvPr/>
        </p:nvSpPr>
        <p:spPr>
          <a:xfrm>
            <a:off x="822960" y="1463040"/>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Replicability</a:t>
            </a:r>
            <a:endParaRPr/>
          </a:p>
        </p:txBody>
      </p:sp>
      <p:sp>
        <p:nvSpPr>
          <p:cNvPr id="308" name="Google Shape;308;p28"/>
          <p:cNvSpPr txBox="1"/>
          <p:nvPr/>
        </p:nvSpPr>
        <p:spPr>
          <a:xfrm>
            <a:off x="3200400" y="1463040"/>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data and scripts shared; qualitative answers kept confidential</a:t>
            </a:r>
            <a:endParaRPr/>
          </a:p>
        </p:txBody>
      </p:sp>
      <p:sp>
        <p:nvSpPr>
          <p:cNvPr id="309" name="Google Shape;309;p28"/>
          <p:cNvSpPr/>
          <p:nvPr/>
        </p:nvSpPr>
        <p:spPr>
          <a:xfrm>
            <a:off x="640080" y="2395728"/>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28"/>
          <p:cNvSpPr txBox="1"/>
          <p:nvPr/>
        </p:nvSpPr>
        <p:spPr>
          <a:xfrm>
            <a:off x="822960" y="2441448"/>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Construct</a:t>
            </a:r>
            <a:endParaRPr/>
          </a:p>
        </p:txBody>
      </p:sp>
      <p:sp>
        <p:nvSpPr>
          <p:cNvPr id="311" name="Google Shape;311;p28"/>
          <p:cNvSpPr txBox="1"/>
          <p:nvPr/>
        </p:nvSpPr>
        <p:spPr>
          <a:xfrm>
            <a:off x="3200400" y="2441448"/>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artifact = any link; unlinked artifacts missed; authors not contacted</a:t>
            </a:r>
            <a:endParaRPr/>
          </a:p>
        </p:txBody>
      </p:sp>
      <p:sp>
        <p:nvSpPr>
          <p:cNvPr id="312" name="Google Shape;312;p28"/>
          <p:cNvSpPr/>
          <p:nvPr/>
        </p:nvSpPr>
        <p:spPr>
          <a:xfrm>
            <a:off x="640080" y="3374136"/>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28"/>
          <p:cNvSpPr txBox="1"/>
          <p:nvPr/>
        </p:nvSpPr>
        <p:spPr>
          <a:xfrm>
            <a:off x="822960" y="3419856"/>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Internal</a:t>
            </a:r>
            <a:endParaRPr/>
          </a:p>
        </p:txBody>
      </p:sp>
      <p:sp>
        <p:nvSpPr>
          <p:cNvPr id="314" name="Google Shape;314;p28"/>
          <p:cNvSpPr txBox="1"/>
          <p:nvPr/>
        </p:nvSpPr>
        <p:spPr>
          <a:xfrm>
            <a:off x="3200400" y="3419856"/>
            <a:ext cx="8229600" cy="6465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survey bias from respondents and researchers; triangulation, documented coding</a:t>
            </a:r>
            <a:endParaRPr/>
          </a:p>
        </p:txBody>
      </p:sp>
      <p:sp>
        <p:nvSpPr>
          <p:cNvPr id="315" name="Google Shape;315;p28"/>
          <p:cNvSpPr/>
          <p:nvPr/>
        </p:nvSpPr>
        <p:spPr>
          <a:xfrm>
            <a:off x="640080" y="4352544"/>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8"/>
          <p:cNvSpPr txBox="1"/>
          <p:nvPr/>
        </p:nvSpPr>
        <p:spPr>
          <a:xfrm>
            <a:off x="822960" y="4398264"/>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"Available"</a:t>
            </a:r>
            <a:endParaRPr/>
          </a:p>
        </p:txBody>
      </p:sp>
      <p:sp>
        <p:nvSpPr>
          <p:cNvPr id="317" name="Google Shape;317;p28"/>
          <p:cNvSpPr txBox="1"/>
          <p:nvPr/>
        </p:nvSpPr>
        <p:spPr>
          <a:xfrm>
            <a:off x="3200400" y="4398264"/>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link still works; content and quality not checked</a:t>
            </a:r>
            <a:endParaRPr/>
          </a:p>
        </p:txBody>
      </p:sp>
      <p:sp>
        <p:nvSpPr>
          <p:cNvPr id="318" name="Google Shape;318;p28"/>
          <p:cNvSpPr/>
          <p:nvPr/>
        </p:nvSpPr>
        <p:spPr>
          <a:xfrm>
            <a:off x="640080" y="5330952"/>
            <a:ext cx="10908900" cy="8688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28"/>
          <p:cNvSpPr txBox="1"/>
          <p:nvPr/>
        </p:nvSpPr>
        <p:spPr>
          <a:xfrm>
            <a:off x="822960" y="5376672"/>
            <a:ext cx="2377500" cy="4002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rgbClr val="00883A"/>
                </a:solidFill>
                <a:latin typeface="Arial"/>
                <a:ea typeface="Arial"/>
                <a:cs typeface="Arial"/>
                <a:sym typeface="Arial"/>
              </a:rPr>
              <a:t>External</a:t>
            </a:r>
            <a:endParaRPr/>
          </a:p>
        </p:txBody>
      </p:sp>
      <p:sp>
        <p:nvSpPr>
          <p:cNvPr id="320" name="Google Shape;320;p28"/>
          <p:cNvSpPr txBox="1"/>
          <p:nvPr/>
        </p:nvSpPr>
        <p:spPr>
          <a:xfrm>
            <a:off x="3200400" y="5376672"/>
            <a:ext cx="8229600" cy="3693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None/>
            </a:pPr>
            <a:r>
              <a:rPr b="0" i="0" lang="en-US" sz="1800" u="none" cap="none" strike="noStrike">
                <a:solidFill>
                  <a:srgbClr val="1A1A1A"/>
                </a:solidFill>
                <a:latin typeface="Arial"/>
                <a:ea typeface="Arial"/>
                <a:cs typeface="Arial"/>
                <a:sym typeface="Arial"/>
              </a:rPr>
              <a:t>results describe only the SE research community</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 (Kevin)</a:t>
            </a:r>
            <a:endParaRPr b="0" i="0" sz="4000" u="none" cap="none" strike="noStrike">
              <a:solidFill>
                <a:schemeClr val="dk1"/>
              </a:solidFill>
              <a:latin typeface="Arial"/>
              <a:ea typeface="Arial"/>
              <a:cs typeface="Arial"/>
              <a:sym typeface="Arial"/>
            </a:endParaRPr>
          </a:p>
        </p:txBody>
      </p:sp>
      <p:sp>
        <p:nvSpPr>
          <p:cNvPr id="327" name="Google Shape;327;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8" name="Google Shape;328;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3" name="Shape 333"/>
        <p:cNvGrpSpPr/>
        <p:nvPr/>
      </p:nvGrpSpPr>
      <p:grpSpPr>
        <a:xfrm>
          <a:off x="0" y="0"/>
          <a:ext cx="0" cy="0"/>
          <a:chOff x="0" y="0"/>
          <a:chExt cx="0" cy="0"/>
        </a:xfrm>
      </p:grpSpPr>
      <p:sp>
        <p:nvSpPr>
          <p:cNvPr id="334" name="Google Shape;334;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5" name="Google Shape;335;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6" name="Google Shape;336;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sz="1000">
              <a:highlight>
                <a:srgbClr val="00FFFF"/>
              </a:highlight>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1" name="Shape 341"/>
        <p:cNvGrpSpPr/>
        <p:nvPr/>
      </p:nvGrpSpPr>
      <p:grpSpPr>
        <a:xfrm>
          <a:off x="0" y="0"/>
          <a:ext cx="0" cy="0"/>
          <a:chOff x="0" y="0"/>
          <a:chExt cx="0" cy="0"/>
        </a:xfrm>
      </p:grpSpPr>
      <p:sp>
        <p:nvSpPr>
          <p:cNvPr id="342" name="Google Shape;342;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3" name="Google Shape;343;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4" name="Google Shape;344;p31"/>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research tools that depend on paid commercial software be accepted as artifacts at all?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letting students do artifact evaluation a good training opportunity or a sign that artifacts aren't taken seriously? </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fails?</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 </a:t>
            </a:r>
            <a:r>
              <a:rPr lang="en-US" sz="1000">
                <a:highlight>
                  <a:srgbClr val="00FFFF"/>
                </a:highlight>
                <a:latin typeface="Roboto"/>
                <a:ea typeface="Roboto"/>
                <a:cs typeface="Roboto"/>
                <a:sym typeface="Roboto"/>
              </a:rPr>
              <a:t>-&gt; maybe too obvious an answer, see how I could rephrase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9" name="Shape 349"/>
        <p:cNvGrpSpPr/>
        <p:nvPr/>
      </p:nvGrpSpPr>
      <p:grpSpPr>
        <a:xfrm>
          <a:off x="0" y="0"/>
          <a:ext cx="0" cy="0"/>
          <a:chOff x="0" y="0"/>
          <a:chExt cx="0" cy="0"/>
        </a:xfrm>
      </p:grpSpPr>
      <p:sp>
        <p:nvSpPr>
          <p:cNvPr id="350" name="Google Shape;350;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1" name="Google Shape;351;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52" name="Google Shape;352;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can artifact reviewers accurately verify performance claims, if VMs distort timings and they rarely have the authors' hardware?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Is software decay unavoidable as technology moves on? What practical ways are there to limit it (archived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9" name="Google Shape;359;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0" name="Google Shape;360;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367" name="Google Shape;367;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368" name="Google Shape;368;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75" name="Google Shape;375;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76" name="Google Shape;376;p3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7" name="Google Shape;377;p3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8" name="Google Shape;378;p3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79" name="Google Shape;379;p3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380" name="Google Shape;380;p3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381" name="Google Shape;381;p3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382" name="Google Shape;382;p3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383" name="Google Shape;383;p3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384" name="Google Shape;384;p3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6"/>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R2 </a:t>
            </a:r>
            <a:r>
              <a:rPr lang="en-US" sz="2200">
                <a:solidFill>
                  <a:srgbClr val="1A1A1A"/>
                </a:solidFill>
              </a:rPr>
              <a:t> Make it self-contained or proof-of-concept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R6</a:t>
            </a:r>
            <a:r>
              <a:rPr lang="en-US" sz="2200">
                <a:solidFill>
                  <a:srgbClr val="1A1A1A"/>
                </a:solidFill>
              </a:rPr>
              <a:t>  Reduce review cost: two-way communication,  anonymizing mailbox,  "lazy second evaluation", best-reviewer award</a:t>
            </a:r>
            <a:endParaRPr sz="2200">
              <a:solidFill>
                <a:srgbClr val="1A1A1A"/>
              </a:solidFill>
            </a:endParaRPr>
          </a:p>
          <a:p>
            <a:pPr indent="0" lvl="0" marL="457200" rtl="0" algn="l">
              <a:lnSpc>
                <a:spcPct val="115000"/>
              </a:lnSpc>
              <a:spcBef>
                <a:spcPts val="0"/>
              </a:spcBef>
              <a:spcAft>
                <a:spcPts val="0"/>
              </a:spcAft>
              <a:buNone/>
            </a:pPr>
            <a:r>
              <a:rPr lang="en-US" sz="2200">
                <a:solidFill>
                  <a:schemeClr val="dk1"/>
                </a:solidFill>
              </a:rPr>
              <a:t>→ Should researchers share the entire implementation to get the badges?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R7</a:t>
            </a:r>
            <a:r>
              <a:rPr lang="en-US" sz="2200">
                <a:solidFill>
                  <a:srgbClr val="1A1A1A"/>
                </a:solidFill>
              </a:rPr>
              <a:t>  Recognize and fund artifact work (hiring, promotion, grant)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Agree/Disgree? Issues?</a:t>
            </a:r>
            <a:endParaRPr sz="2200">
              <a:solidFill>
                <a:srgbClr val="1A1A1A"/>
              </a:solidFill>
            </a:endParaRPr>
          </a:p>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spcBef>
                <a:spcPts val="0"/>
              </a:spcBef>
              <a:spcAft>
                <a:spcPts val="0"/>
              </a:spcAft>
              <a:buNone/>
            </a:pPr>
            <a:r>
              <a:rPr lang="en-US" sz="2200">
                <a:solidFill>
                  <a:srgbClr val="1A1A1A"/>
                </a:solidFill>
              </a:rPr>
              <a:t>→ Should there be a system in place where artifacts are 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391" name="Google Shape;391;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392" name="Google Shape;392;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399" name="Google Shape;399;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00" name="Google Shape;400;p37"/>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1" name="Google Shape;401;p37"/>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2" name="Google Shape;402;p37"/>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03" name="Google Shape;403;p37"/>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404" name="Google Shape;404;p37"/>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405" name="Google Shape;405;p37"/>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406" name="Google Shape;406;p37"/>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407" name="Google Shape;407;p37"/>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408" name="Google Shape;408;p37"/>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409" name="Google Shape;409;p37"/>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sp>
        <p:nvSpPr>
          <p:cNvPr id="415" name="Google Shape;415;p3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416" name="Google Shape;416;p3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423" name="Google Shape;423;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4" name="Google Shape;424;p3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25" name="Google Shape;425;p39"/>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432" name="Google Shape;432;p4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33" name="Google Shape;433;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440" name="Google Shape;440;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1" name="Google Shape;441;p4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42"/>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448" name="Google Shape;448;p42"/>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455" name="Google Shape;455;p4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56" name="Google Shape;456;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463" name="Google Shape;463;p4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464" name="Google Shape;464;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471" name="Google Shape;471;p45"/>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472" name="Google Shape;472;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46"/>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484" name="Google Shape;484;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5" name="Google Shape;485;p47"/>
          <p:cNvSpPr txBox="1"/>
          <p:nvPr/>
        </p:nvSpPr>
        <p:spPr>
          <a:xfrm>
            <a:off x="640080" y="1463040"/>
            <a:ext cx="10908900" cy="2113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1A1A1A"/>
                </a:solidFill>
                <a:latin typeface="Arial"/>
                <a:ea typeface="Arial"/>
                <a:cs typeface="Arial"/>
                <a:sym typeface="Arial"/>
              </a:rPr>
              <a:t>[1] </a:t>
            </a:r>
            <a:r>
              <a:rPr b="0" i="0" lang="en-US" sz="1800" u="none" cap="none" strike="noStrike">
                <a:solidFill>
                  <a:srgbClr val="1A1A1A"/>
                </a:solidFill>
                <a:latin typeface="Arial"/>
                <a:ea typeface="Arial"/>
                <a:cs typeface="Arial"/>
                <a:sym typeface="Arial"/>
              </a:rPr>
              <a:t>ACM: Artifact Review and Badging, Version 1.1 (2020). acm.org/publications/policies/artifact-review-and-badging-current</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[2] </a:t>
            </a:r>
            <a:r>
              <a:rPr b="0" i="0" lang="en-US" sz="1800" u="none" cap="none" strike="noStrike">
                <a:solidFill>
                  <a:srgbClr val="1A1A1A"/>
                </a:solidFill>
                <a:latin typeface="Arial"/>
                <a:ea typeface="Arial"/>
                <a:cs typeface="Arial"/>
                <a:sym typeface="Arial"/>
              </a:rPr>
              <a:t>Winter &amp; Beyer: Introductory Lecture, Reproducibility of Scientific Results in SE Research, LMU (slide 9)</a:t>
            </a:r>
            <a:endParaRPr/>
          </a:p>
          <a:p>
            <a:pPr indent="0" lvl="0" marL="0" marR="0" rtl="0" algn="l">
              <a:lnSpc>
                <a:spcPct val="100000"/>
              </a:lnSpc>
              <a:spcBef>
                <a:spcPts val="1400"/>
              </a:spcBef>
              <a:spcAft>
                <a:spcPts val="0"/>
              </a:spcAft>
              <a:buNone/>
            </a:pPr>
            <a:r>
              <a:rPr b="1" i="0" lang="en-US" sz="1800" u="none" cap="none" strike="noStrike">
                <a:solidFill>
                  <a:srgbClr val="1A1A1A"/>
                </a:solidFill>
                <a:latin typeface="Arial"/>
                <a:ea typeface="Arial"/>
                <a:cs typeface="Arial"/>
                <a:sym typeface="Arial"/>
              </a:rPr>
              <a:t>[3] </a:t>
            </a:r>
            <a:r>
              <a:rPr b="0" i="0" lang="en-US" sz="1800" u="none" cap="none" strike="noStrike">
                <a:solidFill>
                  <a:srgbClr val="1A1A1A"/>
                </a:solidFill>
                <a:latin typeface="Arial"/>
                <a:ea typeface="Arial"/>
                <a:cs typeface="Arial"/>
                <a:sym typeface="Arial"/>
              </a:rPr>
              <a:t>ICSE 2026 Artifact Evaluation track, call for submissions. conf.researchr.org/track/icse-2026/icse-2026-artifact-evaluation</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51"/>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507" name="Google Shape;507;p51"/>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508" name="Google Shape;508;p51"/>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515" name="Google Shape;515;p52"/>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516" name="Google Shape;516;p52"/>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517" name="Google Shape;517;p52"/>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518" name="Google Shape;518;p52"/>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519" name="Google Shape;519;p52"/>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520" name="Google Shape;520;p52"/>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521" name="Google Shape;521;p52"/>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522" name="Google Shape;522;p52"/>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523" name="Google Shape;523;p52"/>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524" name="Google Shape;524;p52"/>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525" name="Google Shape;525;p52"/>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526" name="Google Shape;526;p52"/>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527" name="Google Shape;527;p52"/>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528" name="Google Shape;528;p52"/>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529" name="Google Shape;529;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5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6" name="Google Shape;536;p5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43" name="Google Shape;543;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544" name="Google Shape;544;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551" name="Google Shape;551;p55"/>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552" name="Google Shape;552;p55"/>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553" name="Google Shape;55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560" name="Google Shape;56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561" name="Google Shape;56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568" name="Google Shape;568;p5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5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570" name="Google Shape;570;p5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571" name="Google Shape;571;p5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5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573" name="Google Shape;573;p5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574" name="Google Shape;574;p5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5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576" name="Google Shape;576;p5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577" name="Google Shape;577;p5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578" name="Google Shape;578;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85" name="Google Shape;585;p5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586" name="Google Shape;586;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93" name="Google Shape;593;p5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594" name="Google Shape;594;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01" name="Google Shape;601;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602" name="Google Shape;602;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604" name="Google Shape;604;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606" name="Google Shape;606;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607" name="Google Shape;607;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609" name="Google Shape;609;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610" name="Google Shape;610;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5" name="Shape 615"/>
        <p:cNvGrpSpPr/>
        <p:nvPr/>
      </p:nvGrpSpPr>
      <p:grpSpPr>
        <a:xfrm>
          <a:off x="0" y="0"/>
          <a:ext cx="0" cy="0"/>
          <a:chOff x="0" y="0"/>
          <a:chExt cx="0" cy="0"/>
        </a:xfrm>
      </p:grpSpPr>
      <p:sp>
        <p:nvSpPr>
          <p:cNvPr id="616" name="Google Shape;616;p6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17" name="Google Shape;617;p6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618" name="Google Shape;618;p6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620" name="Google Shape;620;p6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622" name="Google Shape;622;p6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623" name="Google Shape;623;p6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625" name="Google Shape;625;p6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626" name="Google Shape;626;p6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633" name="Google Shape;633;p6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634" name="Google Shape;634;p6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636" name="Google Shape;636;p6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638" name="Google Shape;638;p6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639" name="Google Shape;639;p6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641" name="Google Shape;641;p6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642" name="Google Shape;642;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6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649" name="Google Shape;649;p6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56" name="Google Shape;656;p6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657" name="Google Shape;65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4" name="Google Shape;664;p6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665" name="Google Shape;665;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672" name="Google Shape;672;p6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673" name="Google Shape;673;p6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680" name="Google Shape;680;p67"/>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7"/>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682" name="Google Shape;682;p67"/>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683" name="Google Shape;683;p67"/>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7"/>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685" name="Google Shape;685;p67"/>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686" name="Google Shape;686;p67"/>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7"/>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688" name="Google Shape;688;p67"/>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689" name="Google Shape;689;p67"/>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690" name="Google Shape;690;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697" name="Google Shape;697;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698" name="Google Shape;698;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05" name="Google Shape;705;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706" name="Google Shape;706;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13" name="Google Shape;713;p7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714" name="Google Shape;714;p7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7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716" name="Google Shape;716;p7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7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718" name="Google Shape;718;p7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719" name="Google Shape;719;p7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7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721" name="Google Shape;721;p7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722" name="Google Shape;722;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29" name="Google Shape;729;p7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730" name="Google Shape;730;p7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7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732" name="Google Shape;732;p7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7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734" name="Google Shape;734;p7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735" name="Google Shape;735;p7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7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737" name="Google Shape;737;p7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738" name="Google Shape;738;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745" name="Google Shape;745;p7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746" name="Google Shape;746;p7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7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748" name="Google Shape;748;p7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7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750" name="Google Shape;750;p7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751" name="Google Shape;751;p7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7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753" name="Google Shape;753;p7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754" name="Google Shape;754;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9" name="Shape 759"/>
        <p:cNvGrpSpPr/>
        <p:nvPr/>
      </p:nvGrpSpPr>
      <p:grpSpPr>
        <a:xfrm>
          <a:off x="0" y="0"/>
          <a:ext cx="0" cy="0"/>
          <a:chOff x="0" y="0"/>
          <a:chExt cx="0" cy="0"/>
        </a:xfrm>
      </p:grpSpPr>
      <p:sp>
        <p:nvSpPr>
          <p:cNvPr id="760" name="Google Shape;760;p73"/>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761" name="Google Shape;761;p73"/>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7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768" name="Google Shape;768;p74"/>
          <p:cNvGraphicFramePr/>
          <p:nvPr/>
        </p:nvGraphicFramePr>
        <p:xfrm>
          <a:off x="640080" y="1554480"/>
          <a:ext cx="3000000" cy="3000000"/>
        </p:xfrm>
        <a:graphic>
          <a:graphicData uri="http://schemas.openxmlformats.org/drawingml/2006/table">
            <a:tbl>
              <a:tblPr>
                <a:noFill/>
                <a:tableStyleId>{945C218A-C812-41D7-858A-F7E590C31D0C}</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769" name="Google Shape;769;p74"/>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770" name="Google Shape;770;p7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5" name="Shape 775"/>
        <p:cNvGrpSpPr/>
        <p:nvPr/>
      </p:nvGrpSpPr>
      <p:grpSpPr>
        <a:xfrm>
          <a:off x="0" y="0"/>
          <a:ext cx="0" cy="0"/>
          <a:chOff x="0" y="0"/>
          <a:chExt cx="0" cy="0"/>
        </a:xfrm>
      </p:grpSpPr>
      <p:sp>
        <p:nvSpPr>
          <p:cNvPr id="776" name="Google Shape;776;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777" name="Google Shape;777;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778" name="Google Shape;778;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785" name="Google Shape;785;p76"/>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786" name="Google Shape;786;p76"/>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76"/>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788" name="Google Shape;788;p76"/>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6"/>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790" name="Google Shape;790;p76"/>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791" name="Google Shape;791;p76"/>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6"/>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793" name="Google Shape;793;p76"/>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794" name="Google Shape;794;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801" name="Google Shape;801;p7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802" name="Google Shape;802;p7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7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804" name="Google Shape;804;p7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7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806" name="Google Shape;806;p7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807" name="Google Shape;807;p7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809" name="Google Shape;809;p7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810" name="Google Shape;810;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78"/>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817" name="Google Shape;817;p78"/>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p7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824" name="Google Shape;824;p7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825" name="Google Shape;825;p7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832" name="Google Shape;832;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833" name="Google Shape;833;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8" name="Shape 838"/>
        <p:cNvGrpSpPr/>
        <p:nvPr/>
      </p:nvGrpSpPr>
      <p:grpSpPr>
        <a:xfrm>
          <a:off x="0" y="0"/>
          <a:ext cx="0" cy="0"/>
          <a:chOff x="0" y="0"/>
          <a:chExt cx="0" cy="0"/>
        </a:xfrm>
      </p:grpSpPr>
      <p:sp>
        <p:nvSpPr>
          <p:cNvPr id="839" name="Google Shape;839;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840" name="Google Shape;840;p8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841" name="Google Shape;841;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82"/>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 Fear of mistakes being found</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Creators name the fear of mistakes in their analysis being discovered as a reason not to share. But isn't finding mistakes exactly the point of scientific review?</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How much personal accountability for their code and analysis should researchers expect to carry once it is public?</a:t>
            </a:r>
          </a:p>
          <a:p>
            <a:pPr>
              <a:spcAft>
                <a:spcPts val="600"/>
              </a:spcAft>
            </a:pPr>
            <a:r>
              <a:rPr sz="1900" b="1">
                <a:solidFill>
                  <a:srgbClr val="00883A"/>
                </a:solidFill>
                <a:latin typeface="Arial"/>
              </a:rPr>
              <a:t>↳ </a:t>
            </a:r>
            <a:r>
              <a:rPr sz="1900" b="0">
                <a:solidFill>
                  <a:srgbClr val="1A1A1A"/>
                </a:solidFill>
                <a:latin typeface="Arial"/>
              </a:rPr>
              <a:t>The paper lists this fear next to reputation damage from poor code quality. Does that weigh heavier on PhD students' prototype code?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 Holding back artifacts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200" b="1">
                <a:solidFill>
                  <a:srgbClr val="1A1A1A"/>
                </a:solidFill>
                <a:latin typeface="Arial"/>
              </a:rPr>
              <a:t>Some creators hold back artifacts that still have untapped publication value, e.g. to protect a PhD student from being scooped. Does this slow down research as a whole, and how far should researchers accept their work being built upon or undercut for scientific progress?</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One respondent says whole research areas died because early work had no artifacts available.</a:t>
            </a:r>
          </a:p>
          <a:p>
            <a:pPr>
              <a:spcAft>
                <a:spcPts val="600"/>
              </a:spcAft>
            </a:pPr>
            <a:r>
              <a:rPr sz="1900" b="1">
                <a:solidFill>
                  <a:srgbClr val="00883A"/>
                </a:solidFill>
                <a:latin typeface="Arial"/>
              </a:rPr>
              <a:t>↳ </a:t>
            </a:r>
            <a:r>
              <a:rPr sz="1900" b="0">
                <a:solidFill>
                  <a:srgbClr val="1A1A1A"/>
                </a:solidFill>
                <a:latin typeface="Arial"/>
              </a:rPr>
              <a:t>Others don't share because only a small group works on the topic. Is "nobody else will use it" a valid reason?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C3: Decay and maintenance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Bugs, changing use cases and "inevitable bit rot" mean artifacts need ongoing maintenance, usually by students who later leave. Is software decay unavoidable as technology moves on? What practical ways are there to limit it?</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Maintenance is an ongoing investment of time and resources, and respondents say only well-funded groups manage it. Who should carry that cost?</a:t>
            </a:r>
          </a:p>
          <a:p>
            <a:pPr>
              <a:spcAft>
                <a:spcPts val="600"/>
              </a:spcAft>
            </a:pPr>
            <a:r>
              <a:rPr sz="1900" b="1">
                <a:solidFill>
                  <a:srgbClr val="00883A"/>
                </a:solidFill>
                <a:latin typeface="Arial"/>
              </a:rPr>
              <a:t>↳ </a:t>
            </a:r>
            <a:r>
              <a:rPr sz="1900" b="0">
                <a:solidFill>
                  <a:srgbClr val="1A1A1A"/>
                </a:solidFill>
                <a:latin typeface="Arial"/>
              </a:rPr>
              <a:t>Should an artifact only have to work at publication and review time, or for a set period?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C4: One-click reproduction scripts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Some reviewers suggest automated scripts to get around tacit knowledge, while others warn that a script is a black box that can reproduce the authors' mistakes. Is a one-click reproduction script good or bad for scientific scrutiny?</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If a script does not help a reviewer understand why the results come out, what would?</a:t>
            </a:r>
          </a:p>
          <a:p>
            <a:pPr>
              <a:spcAft>
                <a:spcPts val="600"/>
              </a:spcAft>
            </a:pPr>
            <a:r>
              <a:rPr sz="1900" b="1">
                <a:solidFill>
                  <a:srgbClr val="00883A"/>
                </a:solidFill>
                <a:latin typeface="Arial"/>
              </a:rPr>
              <a:t>↳ </a:t>
            </a:r>
            <a:r>
              <a:rPr sz="1900" b="0">
                <a:solidFill>
                  <a:srgbClr val="1A1A1A"/>
                </a:solidFill>
                <a:latin typeface="Arial"/>
              </a:rPr>
              <a:t>One reviewer found it "easy to reproduce the experiments, but difficult to understand where should I add more case studies".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Unshareable industry data</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200" b="1">
                <a:solidFill>
                  <a:srgbClr val="1A1A1A"/>
                </a:solidFill>
                <a:latin typeface="Arial"/>
              </a:rPr>
              <a:t>One creator was criticised for not sharing data from an industry-track paper and called this a "ritualistic blanket argument" for judging papers. Should paper reviewers be allowed to criticise a paper for not sharing data that its industry partner won't release?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Should there be formal exceptions to sharing for such cases?</a:t>
            </a:r>
          </a:p>
          <a:p>
            <a:pPr>
              <a:spcAft>
                <a:spcPts val="600"/>
              </a:spcAft>
            </a:pPr>
            <a:r>
              <a:rPr sz="1900" b="1">
                <a:solidFill>
                  <a:srgbClr val="00883A"/>
                </a:solidFill>
                <a:latin typeface="Arial"/>
              </a:rPr>
              <a:t>↳ </a:t>
            </a:r>
            <a:r>
              <a:rPr sz="1900" b="0">
                <a:solidFill>
                  <a:srgbClr val="1A1A1A"/>
                </a:solidFill>
                <a:latin typeface="Arial"/>
              </a:rPr>
              <a:t>One partner refused even anonymised data, fearing liability lawsuits. What could a paper offer instead?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C9: Licensed software</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Users and reviewers report artifacts that need paid licences for auxiliary tools, or proprietary components such as Windows or a commercial IDE. Should research tools that depend on paid commercial software be accepted as artifacts at all?</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Example: your artifact needs MATLAB, and the reviewer has no licence. Whose problem is that?</a:t>
            </a:r>
          </a:p>
          <a:p>
            <a:pPr>
              <a:spcAft>
                <a:spcPts val="600"/>
              </a:spcAft>
            </a:pPr>
            <a:r>
              <a:rPr sz="1900" b="1">
                <a:solidFill>
                  <a:srgbClr val="00883A"/>
                </a:solidFill>
                <a:latin typeface="Arial"/>
              </a:rPr>
              <a:t>↳ </a:t>
            </a:r>
            <a:r>
              <a:rPr sz="1900" b="0">
                <a:solidFill>
                  <a:srgbClr val="1A1A1A"/>
                </a:solidFill>
                <a:latin typeface="Arial"/>
              </a:rPr>
              <a:t>Reviewers see "no obvious pathway" here. Is rejecting such artifacts fair, or should the reviewer or the conference arrange access?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C10: Students as reviewers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200" b="1">
                <a:solidFill>
                  <a:srgbClr val="1A1A1A"/>
                </a:solidFill>
                <a:latin typeface="Arial"/>
              </a:rPr>
              <a:t>Artifact review is time-consuming and poorly rewarded, so "we usually just make students do AEC". Is that a good training opportunity, or does leaving it to comparatively inexperienced students undermine how rigorous the badges are and how seriously they are taken?</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The paper warns this "may lead to inconsistent and low-quality reviews".</a:t>
            </a:r>
          </a:p>
          <a:p>
            <a:pPr>
              <a:spcAft>
                <a:spcPts val="600"/>
              </a:spcAft>
            </a:pPr>
            <a:r>
              <a:rPr sz="1900" b="1">
                <a:solidFill>
                  <a:srgbClr val="00883A"/>
                </a:solidFill>
                <a:latin typeface="Arial"/>
              </a:rPr>
              <a:t>↳ </a:t>
            </a:r>
            <a:r>
              <a:rPr sz="1900" b="0">
                <a:solidFill>
                  <a:srgbClr val="1A1A1A"/>
                </a:solidFill>
                <a:latin typeface="Arial"/>
              </a:rPr>
              <a:t>What would a badge need to certify for you to trust it when choosing a tool for your own work?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C12: Artifacts that need author support</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200" b="1">
                <a:solidFill>
                  <a:srgbClr val="1A1A1A"/>
                </a:solidFill>
                <a:latin typeface="Arial"/>
              </a:rPr>
              <a:t>Reviewers say a minor installation glitch shouldn't mean rejection, and that what matters is the authors' willingness to help resolve issues. If an artifact only works with help from its authors, does it deserve a badge, or should there be a separate category for artifacts that fail on their own but are actively supported?</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Support can't last forever: authors become unresponsive, students leave.</a:t>
            </a:r>
          </a:p>
          <a:p>
            <a:pPr>
              <a:spcAft>
                <a:spcPts val="600"/>
              </a:spcAft>
            </a:pPr>
            <a:r>
              <a:rPr sz="1900" b="1">
                <a:solidFill>
                  <a:srgbClr val="00883A"/>
                </a:solidFill>
                <a:latin typeface="Arial"/>
              </a:rPr>
              <a:t>↳ </a:t>
            </a:r>
            <a:r>
              <a:rPr sz="1900" b="0">
                <a:solidFill>
                  <a:srgbClr val="1A1A1A"/>
                </a:solidFill>
                <a:latin typeface="Arial"/>
              </a:rPr>
              <a:t>Should evaluation be a one-shot test or an iterative dialogue with the authors?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C2: Performance claims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Reviewers note that in a VM "it is not really possible to accurately assess performance", and containers don't always stop software from degrading. How can artifact reviewers verify performance claims if they rarely have the authors' hardware?</a:t>
            </a:r>
          </a:p>
        </p:txBody>
      </p:sp>
      <p:sp>
        <p:nvSpPr>
          <p:cNvPr id="137" name="Rounded Rectangle 136"/>
          <p:cNvSpPr/>
          <p:nvPr/>
        </p:nvSpPr>
        <p:spPr>
          <a:xfrm>
            <a:off x="640080" y="4709160"/>
            <a:ext cx="10908792" cy="15087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4800600"/>
            <a:ext cx="10515600" cy="132588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Example: the paper claims a 3x speed-up, and the reviewer runs it in a VM on a laptop. What should count as reproduced?</a:t>
            </a:r>
          </a:p>
          <a:p>
            <a:pPr>
              <a:spcAft>
                <a:spcPts val="600"/>
              </a:spcAft>
            </a:pPr>
            <a:r>
              <a:rPr sz="1900" b="1">
                <a:solidFill>
                  <a:srgbClr val="00883A"/>
                </a:solidFill>
                <a:latin typeface="Arial"/>
              </a:rPr>
              <a:t>↳ </a:t>
            </a:r>
            <a:r>
              <a:rPr sz="1900" b="0">
                <a:solidFill>
                  <a:srgbClr val="1A1A1A"/>
                </a:solidFill>
                <a:latin typeface="Arial"/>
              </a:rPr>
              <a:t>Should performance claims be left out of artifact evaluation?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C2: Running untrusted artifacts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Running untrusted artifacts is a security risk for reviewers. Should reviewers be allowed to refuse artifacts that need root access or invasive libraries?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C11: Artifacts too large or heavy to review</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Reviewers struggle when a VM image doesn't fit on their disk, and some experiments (cloud systems, fuzzers, program repair) need hardware they don't have. Are such artifacts simply unreviewable under the current process?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C7: Dead artifact links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About 14 % of artifact links were already dead, more for older papers. Should conferences re-check artifact links a few years after publication and mark dead ones?</a:t>
            </a:r>
          </a:p>
        </p:txBody>
      </p:sp>
      <p:sp>
        <p:nvSpPr>
          <p:cNvPr id="137" name="Rounded Rectangle 136"/>
          <p:cNvSpPr/>
          <p:nvPr/>
        </p:nvSpPr>
        <p:spPr>
          <a:xfrm>
            <a:off x="640080" y="5303520"/>
            <a:ext cx="10908792" cy="91440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22960" y="5394959"/>
            <a:ext cx="10515600" cy="731520"/>
          </a:xfrm>
          <a:prstGeom prst="rect">
            <a:avLst/>
          </a:prstGeom>
          <a:noFill/>
        </p:spPr>
        <p:txBody>
          <a:bodyPr wrap="square">
            <a:spAutoFit/>
          </a:bodyPr>
          <a:lstStyle/>
          <a:p>
            <a:pPr>
              <a:spcAft>
                <a:spcPts val="600"/>
              </a:spcAft>
            </a:pPr>
            <a:r>
              <a:rPr sz="1900" b="1">
                <a:solidFill>
                  <a:srgbClr val="00883A"/>
                </a:solidFill>
                <a:latin typeface="Arial"/>
              </a:rPr>
              <a:t>↳ </a:t>
            </a:r>
            <a:r>
              <a:rPr sz="1900" b="0">
                <a:solidFill>
                  <a:srgbClr val="1A1A1A"/>
                </a:solidFill>
                <a:latin typeface="Arial"/>
              </a:rPr>
              <a:t>How would you organise and pay for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33" name="Google Shape;133;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34" name="Google Shape;134;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5" name="TextBox 134"/>
          <p:cNvSpPr txBox="1"/>
          <p:nvPr/>
        </p:nvSpPr>
        <p:spPr>
          <a:xfrm>
            <a:off x="640080" y="1325880"/>
            <a:ext cx="10908792" cy="914400"/>
          </a:xfrm>
          <a:prstGeom prst="rect">
            <a:avLst/>
          </a:prstGeom>
          <a:noFill/>
        </p:spPr>
        <p:txBody>
          <a:bodyPr wrap="square">
            <a:spAutoFit/>
          </a:bodyPr>
          <a:lstStyle/>
          <a:p>
            <a:pPr>
              <a:spcAft>
                <a:spcPts val="400"/>
              </a:spcAft>
            </a:pPr>
            <a:r>
              <a:rPr sz="2800" b="1">
                <a:solidFill>
                  <a:srgbClr val="00883A"/>
                </a:solidFill>
                <a:latin typeface="Arial"/>
              </a:rPr>
              <a:t>RQ1: Rewards</a:t>
            </a:r>
          </a:p>
        </p:txBody>
      </p:sp>
      <p:sp>
        <p:nvSpPr>
          <p:cNvPr id="136" name="TextBox 135"/>
          <p:cNvSpPr txBox="1"/>
          <p:nvPr/>
        </p:nvSpPr>
        <p:spPr>
          <a:xfrm>
            <a:off x="640080" y="2057400"/>
            <a:ext cx="10908792" cy="2194560"/>
          </a:xfrm>
          <a:prstGeom prst="rect">
            <a:avLst/>
          </a:prstGeom>
          <a:noFill/>
        </p:spPr>
        <p:txBody>
          <a:bodyPr wrap="square">
            <a:spAutoFit/>
          </a:bodyPr>
          <a:lstStyle/>
          <a:p>
            <a:pPr>
              <a:spcAft>
                <a:spcPts val="400"/>
              </a:spcAft>
            </a:pPr>
            <a:r>
              <a:rPr sz="2400" b="1">
                <a:solidFill>
                  <a:srgbClr val="1A1A1A"/>
                </a:solidFill>
                <a:latin typeface="Arial"/>
              </a:rPr>
              <a:t>Respondents want sharing "encouraged and rewarded". What reward would most motivate you as a researcher?</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