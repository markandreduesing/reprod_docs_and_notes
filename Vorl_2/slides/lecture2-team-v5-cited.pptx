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Lst>
  <p:sldSz cy="6858000" cx="12192000"/>
  <p:notesSz cx="6858000" cy="12192000"/>
  <p:embeddedFontLst>
    <p:embeddedFont>
      <p:font typeface="Roboto"/>
      <p:regular r:id="rId100"/>
      <p:bold r:id="rId101"/>
      <p:italic r:id="rId102"/>
      <p:boldItalic r:id="rId103"/>
    </p:embeddedFont>
    <p:embeddedFont>
      <p:font typeface="Playfair Display"/>
      <p:regular r:id="rId104"/>
      <p:bold r:id="rId105"/>
      <p:italic r:id="rId106"/>
      <p:boldItalic r:id="rId107"/>
    </p:embeddedFont>
    <p:embeddedFont>
      <p:font typeface="DM Sans"/>
      <p:regular r:id="rId108"/>
      <p:bold r:id="rId109"/>
      <p:italic r:id="rId110"/>
      <p:boldItalic r:id="rId1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rk-André Duesing"/>
  <p:cmAuthor clrIdx="1" id="1" initials="" lastIdx="1" name="Minh Thi Nguy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A253EF-18A9-426E-A8DC-01BEB4598855}">
  <a:tblStyle styleId="{FAA253EF-18A9-426E-A8DC-01BEB459885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B463AE4-181B-482D-A1B9-4882C2EB6116}"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DE7"/>
          </a:solidFill>
        </a:fill>
      </a:tcStyle>
    </a:wholeTbl>
    <a:band1H>
      <a:tcTxStyle/>
      <a:tcStyle>
        <a:fill>
          <a:solidFill>
            <a:srgbClr val="CAD9CD"/>
          </a:solidFill>
        </a:fill>
      </a:tcStyle>
    </a:band1H>
    <a:band2H>
      <a:tcTxStyle/>
    </a:band2H>
    <a:band1V>
      <a:tcTxStyle/>
      <a:tcStyle>
        <a:fill>
          <a:solidFill>
            <a:srgbClr val="CAD9CD"/>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B210543A-7245-49F1-905D-CFC50E68E127}" styleName="Table_2">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DE7"/>
          </a:solidFill>
        </a:fill>
      </a:tcStyle>
    </a:wholeTbl>
    <a:band1H>
      <a:tcTxStyle b="off" i="off"/>
      <a:tcStyle>
        <a:fill>
          <a:solidFill>
            <a:srgbClr val="CAD9CD"/>
          </a:solidFill>
        </a:fill>
      </a:tcStyle>
    </a:band1H>
    <a:band2H>
      <a:tcTxStyle b="off" i="off"/>
    </a:band2H>
    <a:band1V>
      <a:tcTxStyle b="off" i="off"/>
      <a:tcStyle>
        <a:fill>
          <a:solidFill>
            <a:srgbClr val="CAD9CD"/>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font" Target="fonts/Roboto-regular.fntdata"/><Relationship Id="rId101" Type="http://schemas.openxmlformats.org/officeDocument/2006/relationships/font" Target="fonts/Roboto-bold.fntdata"/><Relationship Id="rId102" Type="http://schemas.openxmlformats.org/officeDocument/2006/relationships/font" Target="fonts/Roboto-italic.fntdata"/><Relationship Id="rId103" Type="http://schemas.openxmlformats.org/officeDocument/2006/relationships/font" Target="fonts/Roboto-boldItalic.fntdata"/><Relationship Id="rId104" Type="http://schemas.openxmlformats.org/officeDocument/2006/relationships/font" Target="fonts/PlayfairDisplay-regular.fntdata"/><Relationship Id="rId105" Type="http://schemas.openxmlformats.org/officeDocument/2006/relationships/font" Target="fonts/PlayfairDisplay-bold.fntdata"/><Relationship Id="rId106" Type="http://schemas.openxmlformats.org/officeDocument/2006/relationships/font" Target="fonts/PlayfairDisplay-italic.fntdata"/><Relationship Id="rId107" Type="http://schemas.openxmlformats.org/officeDocument/2006/relationships/font" Target="fonts/PlayfairDisplay-boldItalic.fntdata"/><Relationship Id="rId108" Type="http://schemas.openxmlformats.org/officeDocument/2006/relationships/font" Target="fonts/DMSans-regular.fntdata"/><Relationship Id="rId109" Type="http://schemas.openxmlformats.org/officeDocument/2006/relationships/font" Target="fonts/DMSans-bold.fntdata"/><Relationship Id="rId110" Type="http://schemas.openxmlformats.org/officeDocument/2006/relationships/font" Target="fonts/DMSans-italic.fntdata"/><Relationship Id="rId111" Type="http://schemas.openxmlformats.org/officeDocument/2006/relationships/font" Target="fonts/DMSans-bold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5T16:14:02.246">
    <p:pos x="403" y="921"/>
    <p:text>Wolltest du diesen Teil noch bei dir einbringen, oder er als Fragen-Vorschlag für meinen Abschnitt?
Wenn ich diese übernehmen würde, müsste ich noch etwas recherchieren um schonmal Antwortfortschläge zu haben. Muss schaunen ob ich die Zeit finde</p:text>
  </p:cm>
  <p:cm authorId="1" idx="1" dt="2026-10-25T14:34:06.541">
    <p:pos x="403" y="921"/>
    <p:text>ne nur so allgemein, falls er irgendwo be euc reinpasst. sosnt als backup für offene fragen am ende
1 total reaction
Mark-André Duesing reacted with 👍 at 10/25/2026, 4:14 PM UTC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h14a77dcaeeb36948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h14a77dcaeeb36948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22" name="Google Shape;22;h14a77dcaeeb36948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h14a77dcaeeb36948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h14a77dcaeeb36948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h14a77dcaeeb36948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14a77dcaeeb36948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h14a77dcaeeb36948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h14a77dcaeeb36948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14a77dcaeeb36948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h14a77dcaeeb36948_1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57" name="Google Shape;57;h14a77dcaeeb36948_1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14a77dcaeeb36948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h14a77dcaeeb36948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h14a77dcaeeb36948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14a77dcaeeb36948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h14a77dcaeeb36948_1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6" name="Google Shape;76;h14a77dcaeeb36948_1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14a77dcaeeb36948_1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h14a77dcaeeb36948_1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84" name="Google Shape;84;h14a77dcaeeb36948_1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14a77dcaeeb36948_1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h14a77dcaeeb36948_1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93" name="Google Shape;93;h14a77dcaeeb36948_1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14a77dcaeeb36948_1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h14a77dcaeeb36948_1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103" name="Google Shape;103;h14a77dcaeeb36948_1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14a77dcaeeb36948_1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h14a77dcaeeb36948_1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h14a77dcaeeb36948_1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2814f3dc255a7c9_0_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h2814f3dc255a7c9_0_0: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SPEAKING PROTOCOL (about 30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Link to last week: "Last week's papers asked why so few working artifacts exist. This paper asks why making good artifacts is hard, and what could be done about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Paper: "Timperley and colleagues from Carnegie Mellon, published in Empirical Software Engineering in 2021."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Did: "They did two studies in parallel: a publication survey, checking how many papers at top SE venues link an artifact and whether those links still work, and an author survey asking researchers about their experiences as creators, users and reviewers of artifacts."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Found: "First, the community does value artifacts, and sharing has become a norm. Second, there are many challenges along the way, in creating, sharing, using and reviewing artifacts. We'll go through them in a moment."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5. Analysed: "In a secondary analysis they look at why these challenges persist and how they connect."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6. Then: "From that they derive recommendations for </a:t>
            </a:r>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Creators:</a:t>
            </a:r>
            <a:r>
              <a:rPr lang="en-US" sz="1100">
                <a:solidFill>
                  <a:schemeClr val="dk1"/>
                </a:solidFill>
              </a:rPr>
              <a:t> primary researchers (often students and postdocs) and their </a:t>
            </a:r>
            <a:r>
              <a:rPr b="1" lang="en-US" sz="1100">
                <a:solidFill>
                  <a:schemeClr val="dk1"/>
                </a:solidFill>
              </a:rPr>
              <a:t>advisors and mentors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Reviewers:</a:t>
            </a:r>
            <a:r>
              <a:rPr lang="en-US" sz="1100">
                <a:solidFill>
                  <a:schemeClr val="dk1"/>
                </a:solidFill>
              </a:rPr>
              <a:t> AEC members, journal reviewers, programme committee members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Process organisers:</a:t>
            </a:r>
            <a:r>
              <a:rPr lang="en-US" sz="1100">
                <a:solidFill>
                  <a:schemeClr val="dk1"/>
                </a:solidFill>
              </a:rPr>
              <a:t> AEC chairs, conference chairs, journal editors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Community leaders:</a:t>
            </a:r>
            <a:r>
              <a:rPr lang="en-US" sz="1100">
                <a:solidFill>
                  <a:schemeClr val="dk1"/>
                </a:solidFill>
              </a:rPr>
              <a:t> steering committees, professional organisations, hiring and promotion committees, funding agencies</a:t>
            </a:r>
            <a:endParaRPr/>
          </a:p>
          <a:p>
            <a:pPr indent="0" lvl="0" marL="0" rtl="0" algn="l">
              <a:spcBef>
                <a:spcPts val="1200"/>
              </a:spcBef>
              <a:spcAft>
                <a:spcPts val="0"/>
              </a:spcAft>
              <a:buNone/>
            </a:pPr>
            <a:r>
              <a:rPr lang="en-US"/>
              <a:t>; [teammate] will present those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Hand-over: "First, some terms we need." (next slide: Terminology)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BACKGROUND IF ASKED</a:t>
            </a:r>
            <a:endParaRPr/>
          </a:p>
          <a:p>
            <a:pPr indent="0" lvl="0" marL="0" rtl="0" algn="l">
              <a:spcBef>
                <a:spcPts val="0"/>
              </a:spcBef>
              <a:spcAft>
                <a:spcPts val="0"/>
              </a:spcAft>
              <a:buNone/>
            </a:pPr>
            <a:r>
              <a:rPr lang="en-US"/>
              <a:t>- Publication survey: technical-track papers at ICSE, FSE, ASE and EMSE, 2014-2018; artifact = any linked material; available = link still works.</a:t>
            </a:r>
            <a:endParaRPr/>
          </a:p>
          <a:p>
            <a:pPr indent="0" lvl="0" marL="0" rtl="0" algn="l">
              <a:spcBef>
                <a:spcPts val="0"/>
              </a:spcBef>
              <a:spcAft>
                <a:spcPts val="0"/>
              </a:spcAft>
              <a:buNone/>
            </a:pPr>
            <a:r>
              <a:rPr lang="en-US"/>
              <a:t>- Author survey: authors of 2018 papers at those venues; open answers coded into themes.</a:t>
            </a:r>
            <a:endParaRPr/>
          </a:p>
          <a:p>
            <a:pPr indent="0" lvl="0" marL="0" rtl="0" algn="l">
              <a:spcBef>
                <a:spcPts val="0"/>
              </a:spcBef>
              <a:spcAft>
                <a:spcPts val="0"/>
              </a:spcAft>
              <a:buNone/>
            </a:pPr>
            <a:r>
              <a:rPr lang="en-US"/>
              <a:t>- 12 challenges (C1-C12); 8 recommendations (R1-R8).</a:t>
            </a:r>
            <a:endParaRPr/>
          </a:p>
        </p:txBody>
      </p:sp>
      <p:sp>
        <p:nvSpPr>
          <p:cNvPr id="118" name="Google Shape;118;h2814f3dc255a7c9_0_0:notes"/>
          <p:cNvSpPr txBox="1"/>
          <p:nvPr>
            <p:ph idx="12" type="sldNum"/>
          </p:nvPr>
        </p:nvSpPr>
        <p:spPr>
          <a:xfrm>
            <a:off x="0" y="0"/>
            <a:ext cx="3000000" cy="3999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20eab59c8bb0d465_5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h20eab59c8bb0d465_5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Motivations for sharing: let others replicate, reproduce or build upon work (p. 4). First AEC at FSE 2011, ICSE from 2019 (p. 4). Badge processes assess claims, uncover usability issues, signal quality; met with praise and criticism (p. 2).</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can cut Artifact! -&gt; or merge the defitions</a:t>
            </a:r>
            <a:endParaRPr/>
          </a:p>
          <a:p>
            <a:pPr indent="-228600" lvl="0" marL="457200" marR="0" rtl="0" algn="l">
              <a:lnSpc>
                <a:spcPct val="100000"/>
              </a:lnSpc>
              <a:spcBef>
                <a:spcPts val="0"/>
              </a:spcBef>
              <a:spcAft>
                <a:spcPts val="0"/>
              </a:spcAft>
              <a:buSzPts val="1400"/>
              <a:buNone/>
            </a:pPr>
            <a:r>
              <a:rPr lang="en-US"/>
              <a:t>and the others if my questions arent based around that</a:t>
            </a:r>
            <a:endParaRPr/>
          </a:p>
        </p:txBody>
      </p:sp>
      <p:sp>
        <p:nvSpPr>
          <p:cNvPr id="125" name="Google Shape;125;h20eab59c8bb0d465_5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20eab59c8bb0d465_5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h20eab59c8bb0d465_5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Added from research (timperley-research.md item 1). Badges are independent; only one Evaluated level. FSE and ICSE use ACM badges since July 2020; badges shown on front page and in ACM DL (p. 4). 2020 revision swapped Reproduced/Replicated to match NISO RP-31-2021. Example of concrete rules: ICSE 2026 30-min install limit, README structure, accepted archives.</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Do I use a different Reprod vs Repl definition from Kevin here</a:t>
            </a:r>
            <a:endParaRPr/>
          </a:p>
        </p:txBody>
      </p:sp>
      <p:sp>
        <p:nvSpPr>
          <p:cNvPr id="144" name="Google Shape;144;h20eab59c8bb0d465_5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20eab59c8bb0d465_5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h20eab59c8bb0d465_5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DoI p. 5-6; IS p. 6. Coding terms (p. 8-9): descriptive coding = label each answer segment; axial coding = organise codes, find dominant themes and improvement opportunities; thematic analysis shows the range of themes, not how common they are.</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Cut out!</a:t>
            </a:r>
            <a:endParaRPr/>
          </a:p>
        </p:txBody>
      </p:sp>
      <p:sp>
        <p:nvSpPr>
          <p:cNvPr id="154" name="Google Shape;154;h20eab59c8bb0d465_5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20eab59c8bb0d465_5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20eab59c8bb0d465_5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spcBef>
                <a:spcPts val="0"/>
              </a:spcBef>
              <a:spcAft>
                <a:spcPts val="0"/>
              </a:spcAft>
              <a:buSzPts val="1400"/>
              <a:buNone/>
            </a:pPr>
            <a:r>
              <a:rPr lang="en-US"/>
              <a:t>SPEAKING PROTOCOL (~30 s)</a:t>
            </a:r>
            <a:endParaRPr/>
          </a:p>
          <a:p>
            <a:pPr indent="-228600" lvl="0" marL="457200" rtl="0" algn="l">
              <a:spcBef>
                <a:spcPts val="0"/>
              </a:spcBef>
              <a:spcAft>
                <a:spcPts val="0"/>
              </a:spcAft>
              <a:buSzPts val="1400"/>
              <a:buNone/>
            </a:pPr>
            <a:r>
              <a:rPr lang="en-US"/>
              <a:t>- "Two research questions. RQ1 is the baseline: does the SE community see value in artifacts at all? Only if yes is it worth asking RQ2: what gets in the way?"</a:t>
            </a:r>
            <a:endParaRPr/>
          </a:p>
          <a:p>
            <a:pPr indent="-228600" lvl="0" marL="457200" rtl="0" algn="l">
              <a:spcBef>
                <a:spcPts val="0"/>
              </a:spcBef>
              <a:spcAft>
                <a:spcPts val="0"/>
              </a:spcAft>
              <a:buSzPts val="1400"/>
              <a:buNone/>
            </a:pPr>
            <a:r>
              <a:rPr lang="en-US"/>
              <a:t>- "RQ2 is split by perspective: creators who make artifacts, users who try to run or build on someone else's, and reviewers on artifact evaluation committees."</a:t>
            </a:r>
            <a:endParaRPr/>
          </a:p>
          <a:p>
            <a:pPr indent="-228600" lvl="0" marL="457200" rtl="0" algn="l">
              <a:spcBef>
                <a:spcPts val="0"/>
              </a:spcBef>
              <a:spcAft>
                <a:spcPts val="0"/>
              </a:spcAft>
              <a:buSzPts val="1400"/>
              <a:buNone/>
            </a:pPr>
            <a:r>
              <a:rPr lang="en-US"/>
              <a:t>- Point out: the same person can be all three; most respondents were creators and users, only about a fifth had reviewed artifacts.</a:t>
            </a:r>
            <a:endParaRPr/>
          </a:p>
          <a:p>
            <a:pPr indent="-228600" lvl="0" marL="457200" rtl="0" algn="l">
              <a:spcBef>
                <a:spcPts val="0"/>
              </a:spcBef>
              <a:spcAft>
                <a:spcPts val="0"/>
              </a:spcAft>
              <a:buSzPts val="1400"/>
              <a:buNone/>
            </a:pPr>
            <a:r>
              <a:rPr lang="en-US"/>
              <a:t>- Hand-over: "Let's start with RQ1." </a:t>
            </a:r>
            <a:endParaRPr/>
          </a:p>
          <a:p>
            <a:pPr indent="-228600" lvl="0" marL="457200" rtl="0" algn="l">
              <a:spcBef>
                <a:spcPts val="0"/>
              </a:spcBef>
              <a:spcAft>
                <a:spcPts val="0"/>
              </a:spcAft>
              <a:buSzPts val="1400"/>
              <a:buNone/>
            </a:pPr>
            <a:r>
              <a:t/>
            </a:r>
            <a:endParaRPr/>
          </a:p>
          <a:p>
            <a:pPr indent="-228600" lvl="0" marL="457200" rtl="0" algn="l">
              <a:spcBef>
                <a:spcPts val="0"/>
              </a:spcBef>
              <a:spcAft>
                <a:spcPts val="0"/>
              </a:spcAft>
              <a:buSzPts val="1400"/>
              <a:buNone/>
            </a:pPr>
            <a:r>
              <a:rPr lang="en-US"/>
              <a:t>EARLIER NOTES</a:t>
            </a:r>
            <a:endParaRPr/>
          </a:p>
          <a:p>
            <a:pPr indent="-228600" lvl="0" marL="457200" rtl="0" algn="l">
              <a:spcBef>
                <a:spcPts val="0"/>
              </a:spcBef>
              <a:spcAft>
                <a:spcPts val="0"/>
              </a:spcAft>
              <a:buSzPts val="1400"/>
              <a:buNone/>
            </a:pPr>
            <a:r>
              <a:rPr lang="en-US"/>
              <a:t>p. 6.</a:t>
            </a:r>
            <a:endParaRPr/>
          </a:p>
          <a:p>
            <a:pPr indent="-228600" lvl="0" marL="457200" rtl="0" algn="l">
              <a:spcBef>
                <a:spcPts val="0"/>
              </a:spcBef>
              <a:spcAft>
                <a:spcPts val="0"/>
              </a:spcAft>
              <a:buSzPts val="1400"/>
              <a:buNone/>
            </a:pPr>
            <a:r>
              <a:t/>
            </a:r>
            <a:endParaRPr/>
          </a:p>
          <a:p>
            <a:pPr indent="-228600" lvl="0" marL="457200" rtl="0" algn="l">
              <a:spcBef>
                <a:spcPts val="0"/>
              </a:spcBef>
              <a:spcAft>
                <a:spcPts val="0"/>
              </a:spcAft>
              <a:buSzPts val="1400"/>
              <a:buNone/>
            </a:pPr>
            <a:r>
              <a:rPr lang="en-US"/>
              <a:t>RQ1 establishes a baseline for RQ2</a:t>
            </a:r>
            <a:endParaRPr/>
          </a:p>
          <a:p>
            <a:pPr indent="0" lvl="0" marL="0" rtl="0" algn="l">
              <a:lnSpc>
                <a:spcPct val="100000"/>
              </a:lnSpc>
              <a:spcBef>
                <a:spcPts val="0"/>
              </a:spcBef>
              <a:spcAft>
                <a:spcPts val="0"/>
              </a:spcAft>
              <a:buSzPts val="1400"/>
              <a:buNone/>
            </a:pPr>
            <a:r>
              <a:t/>
            </a:r>
            <a:endParaRPr/>
          </a:p>
        </p:txBody>
      </p:sp>
      <p:sp>
        <p:nvSpPr>
          <p:cNvPr id="173" name="Google Shape;173;h20eab59c8bb0d465_5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20eab59c8bb0d465_5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h20eab59c8bb0d465_5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Fig. 1 p. 7; §3.1 p. 7; §3.2 pp. 7-9; design p. 10. 899 artifacts in 1434 papers; availability checked 29 Jan - 6 Feb 2019. 744 authors emailed, 153 of 698 delivered completed (22%); 91% academic; creators 137, users 129, reviewers 32. Coding: descriptive then axial, 3 domain experts + 1 methodologist. Secondary analysis and recommendations covered by a teammate.</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could </a:t>
            </a:r>
            <a:r>
              <a:rPr lang="en-US"/>
              <a:t>probably</a:t>
            </a:r>
            <a:r>
              <a:rPr lang="en-US"/>
              <a:t> be cut, just say they did a publication and author survey, unless they </a:t>
            </a:r>
            <a:endParaRPr/>
          </a:p>
        </p:txBody>
      </p:sp>
      <p:sp>
        <p:nvSpPr>
          <p:cNvPr id="181" name="Google Shape;181;h20eab59c8bb0d465_5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c3d4f7e0d1c292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c3d4f7e0d1c292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(~45 s)</a:t>
            </a:r>
          </a:p>
          <a:p>
            <a:r>
              <a:t>- "Short answer to RQ1: yes. Respondents see artifacts as valuable, say not every paper needs one, but that sharing should be encouraged and rewarded."</a:t>
            </a:r>
          </a:p>
          <a:p>
            <a:r>
              <a:t>- "Their main argument: without the artifact, replicating a study is hard and unreliable, and you cannot meaningfully evaluate the approach."</a:t>
            </a:r>
          </a:p>
          <a:p>
            <a:r>
              <a:t>- Backed by the publication survey: almost two thirds of papers at ICSE, FSE, ASE and EMSE (2014-2018) link an artifact, rising from about half to about 70 % over the five years.</a:t>
            </a:r>
          </a:p>
          <a:p>
            <a:r>
              <a:t>- Walk through the 4 tiles briefly: supporting evidence (readers trust the claims more), community norm ("it's good practice"), reuse (tools/data others extend), understanding (details that don't fit in a paper).</a:t>
            </a:r>
          </a:p>
          <a:p>
            <a:r>
              <a:t>- Worth saying out loud: "artifact" here means any linked material, so this counts companion websites and survey sheets too, which is why the share is higher than last week's numbers (Heumüller: 48 % of ICSE papers linked runnable software [5]).</a:t>
            </a:r>
          </a:p>
          <a:p>
            <a:r>
              <a:t>- Bridge: "So people value artifacts. Why are they still often missing or unusable? That's RQ2." </a:t>
            </a:r>
          </a:p>
          <a:p/>
          <a:p>
            <a:r>
              <a:t>EARLIER NOTES</a:t>
            </a:r>
          </a:p>
          <a:p>
            <a:r>
              <a:t>62.69% of papers at ASE, EMSE, FSE, ICSE 2014-2018 contain an artifact, rising from 50.56% (2014) to 69.47% (2018) (Fig. 2, pp. 11-12). Quotes: "a big fan of sharing" (P89), "sharing is essential" (P20).</a:t>
            </a:r>
          </a:p>
          <a:p/>
          <a:p>
            <a:r>
              <a:t>CITED SOURCES</a:t>
            </a:r>
          </a:p>
          <a:p>
            <a:r>
              <a:t>[5] Heumüller et al. (2020, last week): of ICSE papers 2007-2017, 76.6 % built software, but only 47.8 % linked it and many links were dead by 2019. Counted runnable software only, so its numbers are lower than Timperley's 'any linked material'.</a:t>
            </a:r>
          </a:p>
        </p:txBody>
      </p:sp>
      <p:sp>
        <p:nvSpPr>
          <p:cNvPr id="194" name="Google Shape;194;gc3d4f7e0d1c292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c3d4f7e0d1c2925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c3d4f7e0d1c2925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(~40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"These are the 12 challenges they found. They come from a thematic analysis of the open survey answers: so this shows which problems exist, not how often each occurs."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Explain the symbols: square = creators mention it, triangle = users, star = reviewers.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Point out the pattern: portability, tacit knowledge and external constraints hit all three groups; the last three (incentives, technical obstacles, communication) are reviewer-only; 'not worth it' and double-blind review are creator-only.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Optional framing from the paper: the problems boil down to communication, reward/social system, time ('bitrot') and the technical side of the artifacts.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"I'll go through them in groups of three, focusing on what's new or surprising." </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Themes from thematic analysis: they show which challenges exist, not how common each is (p. 9). Overall: issues stem from communication, social system, time and technical aspects.</a:t>
            </a:r>
            <a:endParaRPr/>
          </a:p>
        </p:txBody>
      </p:sp>
      <p:sp>
        <p:nvSpPr>
          <p:cNvPr id="213" name="Google Shape;213;gc3d4f7e0d1c2925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c3d4f7e0d1c2925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c3d4f7e0d1c2925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C1 Not worth it</a:t>
            </a:r>
          </a:p>
          <a:p>
            <a:r>
              <a:t>- "Biggest creator issue: preparing an artifact costs time that could go into the next paper, and it does little for your career."</a:t>
            </a:r>
          </a:p>
          <a:p>
            <a:r>
              <a:t>- List the risks quickly: bad code hurts reputation, being scooped, mistakes being found, maintenance burden, nobody using it.</a:t>
            </a:r>
          </a:p>
          <a:p>
            <a:r>
              <a:t>- Mention the counterpoint from a respondent: whole research areas have died because early work had no artifacts and re-implementing it was too costly.</a:t>
            </a:r>
          </a:p>
          <a:p>
            <a:r>
              <a:t>C2 Portability</a:t>
            </a:r>
          </a:p>
          <a:p>
            <a:r>
              <a:t>- "It works on my machine": creators can't foresee every environment; users find hard-wired paths and dependencies that no longer exist (building and missing dependencies are among the most common user problems).</a:t>
            </a:r>
          </a:p>
          <a:p>
            <a:r>
              <a:t>- Reviewers: installing is the biggest hurdle. VMs protect the reviewer's machine but are huge and distort performance; containers help, but don't stop software from decaying over time.</a:t>
            </a:r>
          </a:p>
          <a:p>
            <a:r>
              <a:t>C3 Maintenance</a:t>
            </a:r>
          </a:p>
          <a:p>
            <a:r>
              <a:t>- "Artifacts need ongoing care: bugs, changing use cases, bit rot. Usually a PhD student maintains it, and then graduates."</a:t>
            </a:r>
          </a:p>
          <a:p>
            <a:r>
              <a:t>- Users see the result: old library versions that are harder and harder to get.</a:t>
            </a:r>
          </a:p>
          <a:p>
            <a:r>
              <a:t>BACKGROUND worth saying if time</a:t>
            </a:r>
          </a:p>
          <a:p>
            <a:r>
              <a:t>- Container vs VM: containers run almost at native speed; VMs are slower, which matters for performance claims [8].</a:t>
            </a:r>
          </a:p>
          <a:p>
            <a:r>
              <a:t>- Germany's DFG expects code and data behind a publication to be archived for 10 years, but archived is not the same as still runnable [9].</a:t>
            </a:r>
          </a:p>
          <a:p/>
          <a:p>
            <a:r>
              <a:t>EARLIER NOTES</a:t>
            </a:r>
          </a:p>
          <a:p>
            <a:r>
              <a:t>C1: opportunity cost highest when submitting to an AEC (P1, P23, p. 13). P87: no time, scared the analysis is wrong, wanted to save it for the next paper. C2 Table 5: no build instructions 79, unavailable dependency 69, missing dependency 66, modified source 60, run-time error 55, reimplemented 28. C3: users sympathetic; P20: only well-funded groups maintain artifacts well (p. 19).</a:t>
            </a:r>
          </a:p>
          <a:p/>
          <a:p>
            <a:r>
              <a:t>shorten down the points to my paper highlight notes</a:t>
            </a:r>
          </a:p>
          <a:p/>
          <a:p>
            <a:r>
              <a:t>CITED SOURCES</a:t>
            </a:r>
          </a:p>
          <a:p>
            <a:r>
              <a:t>[8] Felter et al. (IBM, 2014): containers matched or beat virtual machines in almost all benchmarks, with negligible CPU/memory overhead compared to bare metal; both need tuning for heavy I/O. Implication: performance measured in a VM is not representative; in a container it is close to native.</a:t>
            </a:r>
          </a:p>
          <a:p>
            <a:r>
              <a:t>[9] DFG Code of Conduct (Germany): research data and the software behind a publication should be archived for at least ten years; universities make this binding (e.g. Potsdam, Max Planck). Archiving keeps the files, not their ability to run.</a:t>
            </a:r>
          </a:p>
        </p:txBody>
      </p:sp>
      <p:sp>
        <p:nvSpPr>
          <p:cNvPr id="246" name="Google Shape;246;gc3d4f7e0d1c2925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c3d4f7e0d1c2925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c3d4f7e0d1c2925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C4 Tacit knowledge</a:t>
            </a:r>
          </a:p>
          <a:p>
            <a:r>
              <a:t>- "Know-how that only lives in the developer's head: which order to run the scripts, which paths to change, which parameters matter."</a:t>
            </a:r>
          </a:p>
          <a:p>
            <a:r>
              <a:t>- Users: missing usage and build instructions are the most and third-most common problems.</a:t>
            </a:r>
          </a:p>
          <a:p>
            <a:r>
              <a:t>- Reviewers: some had to read the paper to fill gaps in the instructions. One-click scripts help, but act as a black box and may reproduce the authors' mistakes.</a:t>
            </a:r>
          </a:p>
          <a:p>
            <a:r>
              <a:t>C5 Doesn't fit purpose</a:t>
            </a:r>
          </a:p>
          <a:p>
            <a:r>
              <a:t>- Users only: the artifact doesn't do what the paper claims or only works for very narrow cases, so people end up modifying or re-implementing it.</a:t>
            </a:r>
          </a:p>
          <a:p>
            <a:r>
              <a:t>C6 No standards / guidelines</a:t>
            </a:r>
          </a:p>
          <a:p>
            <a:r>
              <a:t>- Creators don't know what to include or how to package it. Reviewers find the criteria and ACM badge descriptions vague.</a:t>
            </a:r>
          </a:p>
          <a:p>
            <a:r>
              <a:t>- Key open question: should reviewers just run the scripts or dig deep into the code? And should a broken artifact affect the paper's acceptance, or is artifact review just a "rubber stamp"?</a:t>
            </a:r>
          </a:p>
          <a:p>
            <a:r>
              <a:t>BACKGROUND worth saying</a:t>
            </a:r>
          </a:p>
          <a:p>
            <a:r>
              <a:t>- ACM only defines the badges (Functional, Reusable, Available, Reproduced, Replicated); each conference's AEC sets its own concrete rules, which is exactly why standards differ [1, 6].</a:t>
            </a:r>
          </a:p>
          <a:p/>
          <a:p>
            <a:r>
              <a:t>EARLIER NOTES</a:t>
            </a:r>
          </a:p>
          <a:p>
            <a:r>
              <a:t>C4 Table 5: no usage instructions 103 (most common), no build instructions 79 (third). P25: AECs asking for replicable scripts are likely to replicate the authors’ mistakes. P52: easy to reproduce, hard to know where to add case studies. C6: P6 deep dives take days, "if the AEC doesn’t do it, will anybody ever?"; P11 evaluate as part of paper; P124/P146 mandatory; P143 rubber stamp.</a:t>
            </a:r>
          </a:p>
          <a:p/>
          <a:p>
            <a:r>
              <a:t>shorten down the points to my paper highlight notes</a:t>
            </a:r>
          </a:p>
          <a:p/>
          <a:p>
            <a:r>
              <a:t>CITED SOURCES</a:t>
            </a:r>
          </a:p>
          <a:p>
            <a: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p>
          <a:p>
            <a:r>
              <a:t>[6] Hermann, Winter &amp; Siegmund (2020, Paper 1 today): survey of artifact evaluation committee members. Found no shared quality threshold, badges meaning different things per conference, most reviewers serving only once, and some reviewers preferring availability over quality ('enforcing quality criteria only means that some authors will not publish their code').</a:t>
            </a:r>
          </a:p>
        </p:txBody>
      </p:sp>
      <p:sp>
        <p:nvSpPr>
          <p:cNvPr id="256" name="Google Shape;256;gc3d4f7e0d1c2925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c3d4f7e0d1c2925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c3d4f7e0d1c2925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C7 Hosting</a:t>
            </a:r>
          </a:p>
          <a:p>
            <a:r>
              <a:t>- "Where do you put an artifact so it's still there in ten years, can hold large data, and is free? GitHub, Dropbox or Google Drive are not archives."</a:t>
            </a:r>
          </a:p>
          <a:p>
            <a:r>
              <a:t>- Users: dead links are the second most common problem. In the publication survey about 14 % of links were already dead in 2019, about a quarter for 2014 papers.</a:t>
            </a:r>
          </a:p>
          <a:p>
            <a:r>
              <a:t>C8 Double-blind review</a:t>
            </a:r>
          </a:p>
          <a:p>
            <a:r>
              <a:t>- Sharing with the submission means anonymising the artifact and finding anonymous hosting: extra hassle, so some skip sharing.</a:t>
            </a:r>
          </a:p>
          <a:p>
            <a:r>
              <a:t>C9 External constraints</a:t>
            </a:r>
          </a:p>
          <a:p>
            <a:r>
              <a:t>- Things authors can't control: IP and contracts with industry partners, fear of liability, privacy (even anonymised interview data can be re-identified).</a:t>
            </a:r>
          </a:p>
          <a:p>
            <a:r>
              <a:t>- One author was criticised for not sharing industry data and called that a "ritualistic blanket argument".</a:t>
            </a:r>
          </a:p>
          <a:p>
            <a:r>
              <a:t>- Users: licences block extending tools; some need paid licences. Reviewers: no licence for e.g. Windows or a commercial IDE, and no clear rule what to do.</a:t>
            </a:r>
          </a:p>
          <a:p>
            <a:r>
              <a:t>BACKGROUND worth saying</a:t>
            </a:r>
          </a:p>
          <a:p>
            <a:r>
              <a:t>- Zenodo (run by CERN) is free, gives a DOI, holds up to 50 GB per record, and can archive GitHub releases automatically [4]; ICSE now requires such an archive for the Available badge [3].</a:t>
            </a:r>
          </a:p>
          <a:p>
            <a:r>
              <a:t>- Anonymous GitHub mirrors a repository without names for review, but its links expire afterwards [10].</a:t>
            </a:r>
          </a:p>
          <a:p>
            <a:r>
              <a:t>- ACM allows proxy data in place of proprietary data [1].</a:t>
            </a:r>
          </a:p>
          <a:p/>
          <a:p>
            <a:r>
              <a:t>EARLIER NOTES</a:t>
            </a:r>
          </a:p>
          <a:p>
            <a:r>
              <a:t>C7: ~14% of artifact links dead in early 2019: 26.47% for 2014 papers, 5.43% for 2018 (Fig. 3). Research: Zenodo free, DOI, 50-200 GB, GitHub release integration; ICSE now requires an archive for Available. C8: research: Anonymous GitHub hides names but links expire. C9: ACM "Complete" allows proxies for proprietary data.</a:t>
            </a:r>
          </a:p>
          <a:p/>
          <a:p>
            <a:r>
              <a:t>shorten down the points to my paper highlight notes</a:t>
            </a:r>
          </a:p>
          <a:p/>
          <a:p>
            <a:r>
              <a:t>CITED SOURCES</a:t>
            </a:r>
          </a:p>
          <a:p>
            <a: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p>
          <a:p>
            <a: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p>
          <a:p>
            <a:r>
              <a:t>[4] Zenodo (run by CERN): free, gives a DOI per upload, 50 GB per record (one-time increase up to 200 GB on request), can archive each GitHub release automatically. Records are kept 'for the lifetime of the repository', i.e. of CERN, whose programme is planned for at least 20 more years. Only bit-level preservation: files stay intact, but nothing guarantees they still run.</a:t>
            </a:r>
          </a:p>
          <a:p>
            <a:r>
              <a:t>[10] Anonymous GitHub (anonymous.4open.science): mirrors a repository with author and organisation names replaced, so reviewers can browse code during double-blind review. Links expire after the review period, so it is not an archive; authors remain responsible for leaks such as commit history.</a:t>
            </a:r>
          </a:p>
        </p:txBody>
      </p:sp>
      <p:sp>
        <p:nvSpPr>
          <p:cNvPr id="266" name="Google Shape;266;gc3d4f7e0d1c2925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c3d4f7e0d1c2925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c3d4f7e0d1c2925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Start with the context line: "First some numbers: at FSE 2015-2018, only about a third of papers with artifacts were submitted to artifact evaluation, and 86 % of those passed. So participation is low, and passing is easy."</a:t>
            </a:r>
          </a:p>
          <a:p>
            <a:r>
              <a:t>C10 No reviewer incentives</a:t>
            </a:r>
          </a:p>
          <a:p>
            <a:r>
              <a:t>- Reviewing artifacts takes a lot of time and counts less than paper reviewing. "We usually just make students do AEC": good training, but it signals artifacts are secondary, and may lead to inconsistent reviews.</a:t>
            </a:r>
          </a:p>
          <a:p>
            <a:r>
              <a:t>C11 Technical obstacles</a:t>
            </a:r>
          </a:p>
          <a:p>
            <a:r>
              <a:t>- Long runtimes and little compute (reviewers have roughly a day per artifact), huge VM images that don't fit on a laptop, and some experiments (cloud systems, fuzzing, program repair) are practically impossible to re-run.</a:t>
            </a:r>
          </a:p>
          <a:p>
            <a:r>
              <a:t>C12 Limited communication</a:t>
            </a:r>
          </a:p>
          <a:p>
            <a:r>
              <a:t>- Some AECs review in a single round, so a typo in the install instructions can mean rejection. Reviewers value authors who help; unresponsive authors leave them waiting for days.</a:t>
            </a:r>
          </a:p>
          <a:p>
            <a:r>
              <a:t>Wrap-up line: "Reviewers face the same problems as users (portability, docs) and as creators (no guidelines, no reward). That's the end of the results; next, the discussion."</a:t>
            </a:r>
          </a:p>
          <a:p>
            <a:r>
              <a:t>BACKGROUND worth saying</a:t>
            </a:r>
          </a:p>
          <a:p>
            <a:r>
              <a:t>- Artifact committees were deliberately staffed with senior PhD students from 2013 on (familiar with current tools, training the next generation) [11].</a:t>
            </a:r>
          </a:p>
          <a:p>
            <a:r>
              <a:t>- Typical review budget is about 8-20 hours per artifact [12]; ICSE's 30-minute rule only covers setup [3].</a:t>
            </a:r>
          </a:p>
          <a:p>
            <a:r>
              <a:t>- Most venues have a "kick the tires" phase where reviewers and authors can fix setup problems [13].</a:t>
            </a:r>
          </a:p>
          <a:p/>
          <a:p>
            <a:r>
              <a:t>EARLIER NOTES</a:t>
            </a:r>
          </a:p>
          <a:p>
            <a:r>
              <a:t>Reviewers face the same issues as users (portability, docs) and as creators (guidelines, incentives) (p. 21). Research: MobiSys allows reduced representative experiments; IISWC has authors provide remote access; no SE venue provides compute.</a:t>
            </a:r>
          </a:p>
          <a:p/>
          <a:p>
            <a:r>
              <a:t>shorten down the points to my paper highlight notes</a:t>
            </a:r>
          </a:p>
          <a:p/>
          <a:p>
            <a:r>
              <a:t>CITED SOURCES</a:t>
            </a:r>
          </a:p>
          <a:p>
            <a: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p>
          <a:p>
            <a:r>
              <a:t>[11] History of artifact committees: from ECOOP and OOPSLA 2013, AECs were deliberately filled with senior PhD students, because they know current tools and so the next generation learns about artifact evaluation (organisers' nomination letter; Krishnamurthi's memo on artifact evaluation, which started at FSE 2011).</a:t>
            </a:r>
          </a:p>
          <a:p>
            <a:r>
              <a:t>[12] Reviewer time budgets: SOSP 2021 estimated 10-20 hours per artifact with 2-4 artifacts per member; APLAS 2022 about 8 hours with 3-4 per member. So a reviewer typically has about one working day per artifact.</a:t>
            </a:r>
          </a:p>
          <a:p>
            <a:r>
              <a:t>[13] SLE 2025 artifact evaluation: a 'kick the tires' phase first checks that the artifact runs at all, followed by a 5-day window in which reviewers and authors can talk and fix setup problems; only then the full review. Most PL/SE venues have a similar phase.</a:t>
            </a:r>
          </a:p>
        </p:txBody>
      </p:sp>
      <p:sp>
        <p:nvSpPr>
          <p:cNvPr id="276" name="Google Shape;276;gc3d4f7e0d1c2925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20eab59c8bb0d465_5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h20eab59c8bb0d465_5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§3.5 pp. 10-11. External mitigation: authors sampled from several top conferences and a leading journal. Design mitigation: parallel-convergent mixed methods.</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can be cut? consider if actually needed</a:t>
            </a:r>
            <a:endParaRPr/>
          </a:p>
          <a:p>
            <a:pPr indent="-228600" lvl="0" marL="457200" marR="0" rtl="0" algn="l">
              <a:lnSpc>
                <a:spcPct val="100000"/>
              </a:lnSpc>
              <a:spcBef>
                <a:spcPts val="0"/>
              </a:spcBef>
              <a:spcAft>
                <a:spcPts val="0"/>
              </a:spcAft>
              <a:buSzPts val="1400"/>
              <a:buNone/>
            </a:pPr>
            <a:r>
              <a:rPr lang="en-US"/>
              <a:t>-&gt; will I keep methodology questions</a:t>
            </a:r>
            <a:endParaRPr/>
          </a:p>
        </p:txBody>
      </p:sp>
      <p:sp>
        <p:nvSpPr>
          <p:cNvPr id="286" name="Google Shape;286;h20eab59c8bb0d465_5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20eab59c8bb0d465_5_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h20eab59c8bb0d465_5_2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More willing: proportionate consequences for honest errors; messy code accepted.</a:t>
            </a:r>
          </a:p>
          <a:p>
            <a:r>
              <a:t>- Less willing: as long as any visible mistake can cost a paper or reputation.</a:t>
            </a:r>
          </a:p>
          <a:p/>
          <a:p>
            <a:r>
              <a:t>MY NOTES (background, not on slide)</a:t>
            </a:r>
          </a:p>
          <a:p>
            <a:r>
              <a:t>- Chang 2006: inherited script flipped two columns, 5 retractions, treated as honest error [14].</a:t>
            </a:r>
          </a:p>
          <a:p>
            <a:r>
              <a:t>- Reinhart &amp; Rogoff 2013: spreadsheet error found after the data was shared [15].</a:t>
            </a:r>
          </a:p>
          <a:p>
            <a:r>
              <a:t>- Hermann et al.: some reviewers prefer availability over quality [6].</a:t>
            </a:r>
          </a:p>
          <a:p/>
          <a:p>
            <a:r>
              <a:t>CITED SOURCES</a:t>
            </a:r>
          </a:p>
          <a:p>
            <a:r>
              <a:t>[6] Hermann, Winter &amp; Siegmund (2020, Paper 1 today): survey of artifact evaluation committee members. Found no shared quality threshold, badges meaning different things per conference, most reviewers serving only once, and some reviewers preferring availability over quality ('enforcing quality criteria only means that some authors will not publish their code').</a:t>
            </a:r>
          </a:p>
          <a:p>
            <a:r>
              <a:t>[14] Chang case (Science news, 2006): a lab-inherited analysis program flipped two data columns, inverting protein structures; this led to five retractions (three in Science) over five years of work. Treated as an honest error; found because another group's results contradicted it.</a:t>
            </a:r>
          </a:p>
          <a:p>
            <a:r>
              <a:t>[15] Reinhart &amp; Rogoff (2013): a student, Herndon, asked for the spreadsheet behind an influential austerity paper after failing to replicate it; a range error left out five countries, and corrected, average growth for high-debt countries changed from -0.1 % to 2.2 %.</a:t>
            </a:r>
          </a:p>
        </p:txBody>
      </p:sp>
      <p:sp>
        <p:nvSpPr>
          <p:cNvPr id="308" name="Google Shape;308;h20eab59c8bb0d465_5_2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h20eab59c8bb0d465_5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h20eab59c8bb0d465_5_3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Protect: a PhD has fixed time; being overtaken with your own tool is a real risk.</a:t>
            </a:r>
          </a:p>
          <a:p>
            <a:r>
              <a:t>- Share: the paper already establishes priority; whole research areas died without artifacts.</a:t>
            </a:r>
          </a:p>
          <a:p/>
          <a:p>
            <a:r>
              <a:t>MY NOTES (background, not on slide)</a:t>
            </a:r>
          </a:p>
          <a:p>
            <a:r>
              <a:t>- Embargoes in data-heavy fields (telescope data 12-18 months); no measured scooping rate [24].</a:t>
            </a:r>
          </a:p>
          <a:p/>
          <a:p>
            <a:r>
              <a:t>CITED SOURCES</a:t>
            </a:r>
          </a:p>
          <a:p>
            <a:r>
              <a:t>[24] Embargo norms: data-heavy fields let the producing team publish first, e.g. telescope data 12-18 months exclusive, UK NERC up to 2 years after collection. No study measures how often scooping actually happens; it is a perceived risk.</a:t>
            </a:r>
          </a:p>
        </p:txBody>
      </p:sp>
      <p:sp>
        <p:nvSpPr>
          <p:cNvPr id="320" name="Google Shape;320;h20eab59c8bb0d465_5_3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20eab59c8bb0d465_5_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20eab59c8bb0d465_5_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Yes: safety first; authors must package safely (VM, container).</a:t>
            </a:r>
          </a:p>
          <a:p>
            <a:r>
              <a:t>- No: system-level research (OS, drivers, security tools) would become unevaluable.</a:t>
            </a:r>
          </a:p>
          <a:p/>
          <a:p>
            <a:r>
              <a:t>MY NOTES (background, not on slide)</a:t>
            </a:r>
          </a:p>
          <a:p>
            <a:r>
              <a:t>- POPL recommends VM images partly to protect reviewers' machines [17].</a:t>
            </a:r>
          </a:p>
          <a:p/>
          <a:p>
            <a:r>
              <a:t>CITED SOURCES</a:t>
            </a:r>
          </a:p>
          <a:p>
            <a:r>
              <a:t>[17] POPL 2023 artifact evaluation call: recommends packaging artifacts as VM images, partly because VMs 'protect reviewers from malfunctioning artifacts damaging their computer'.</a:t>
            </a:r>
          </a:p>
        </p:txBody>
      </p:sp>
      <p:sp>
        <p:nvSpPr>
          <p:cNvPr id="332" name="Google Shape;332;h20eab59c8bb0d465_5_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h20eab59c8bb0d465_5_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h20eab59c8bb0d465_5_3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Unavoidable: you can slow decay, not stop it.</a:t>
            </a:r>
          </a:p>
          <a:p>
            <a:r>
              <a:t>- Limitable: a frozen image runs as long as it can be executed.</a:t>
            </a:r>
          </a:p>
          <a:p>
            <a:r>
              <a:t>- Cost: group or university vs. nobody (archive and mark unmaintained).</a:t>
            </a:r>
          </a:p>
          <a:p/>
          <a:p>
            <a:r>
              <a:t>MY NOTES (background, not on slide)</a:t>
            </a:r>
          </a:p>
          <a:p>
            <a:r>
              <a:t>- Paper's own suggestions (teammate): maintenance plans, long-term archives.</a:t>
            </a:r>
          </a:p>
          <a:p>
            <a:r>
              <a:t>- DFG: archive code and data 10 years; archived is not runnable [9].</a:t>
            </a:r>
          </a:p>
          <a:p>
            <a:r>
              <a:t>- Research software engineers; short-cycle maintenance funding [25].</a:t>
            </a:r>
          </a:p>
          <a:p>
            <a:r>
              <a:t>- Week 1: Docker may not exist in 40 years; source code most stable (week-1 discussion, not a source).</a:t>
            </a:r>
          </a:p>
          <a:p/>
          <a:p>
            <a:r>
              <a:t>CITED SOURCES</a:t>
            </a:r>
          </a:p>
          <a:p>
            <a:r>
              <a:t>[9] DFG Code of Conduct (Germany): research data and the software behind a publication should be archived for at least ten years; universities make this binding (e.g. Potsdam, Max Planck). Archiving keeps the files, not their ability to run.</a:t>
            </a:r>
          </a:p>
          <a:p>
            <a:r>
              <a:t>[25] Research software engineers (RSEs): permanent staff (e.g. Princeton, Aalto) who maintain research code so knowledge stays when students leave. Maintenance funding (e.g. CZI open-source grants, DFG calls) runs in short cycles.</a:t>
            </a:r>
          </a:p>
        </p:txBody>
      </p:sp>
      <p:sp>
        <p:nvSpPr>
          <p:cNvPr id="344" name="Google Shape;344;h20eab59c8bb0d465_5_3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h20eab59c8bb0d465_5_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h20eab59c8bb0d465_5_3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Good: anyone can re-run it.</a:t>
            </a:r>
          </a:p>
          <a:p>
            <a:r>
              <a:t>- Bad: checks the numbers, not the method.</a:t>
            </a:r>
          </a:p>
          <a:p/>
          <a:p>
            <a:r>
              <a:t>MY NOTES (background, not on slide)</a:t>
            </a:r>
          </a:p>
          <a:p>
            <a:r>
              <a:t>- Python file-order case (2019): scripts correct on one OS, wrong on another [16].</a:t>
            </a:r>
          </a:p>
          <a:p/>
          <a:p>
            <a:r>
              <a:t>CITED SOURCES</a:t>
            </a:r>
          </a:p>
          <a:p>
            <a:r>
              <a:t>[16] NMR script bug (2019): Python's glob returns files in an operating-system-dependent order; widely used chemistry scripts gave correct results on Windows and older macOS but wrong ones on newer macOS and Ubuntu, possibly affecting about 150 studies. Fixed by sorting the file list.</a:t>
            </a:r>
          </a:p>
        </p:txBody>
      </p:sp>
      <p:sp>
        <p:nvSpPr>
          <p:cNvPr id="356" name="Google Shape;356;h20eab59c8bb0d465_5_3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h20eab59c8bb0d465_5_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h20eab59c8bb0d465_5_3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Mostly capturable with checklists and a run-all script.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Not fully: some know-how only transfers by talking to the author.</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t>
            </a:r>
            <a:endParaRPr/>
          </a:p>
        </p:txBody>
      </p:sp>
      <p:sp>
        <p:nvSpPr>
          <p:cNvPr id="368" name="Google Shape;368;h20eab59c8bb0d465_5_3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h20eab59c8bb0d465_5_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h20eab59c8bb0d465_5_3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Little: it should work for a stranger.</a:t>
            </a:r>
          </a:p>
          <a:p>
            <a:r>
              <a:t>- More: reviewers are often the only ones who ever try.</a:t>
            </a:r>
          </a:p>
          <a:p/>
          <a:p>
            <a:r>
              <a:t>MY NOTES (background, not on slide)</a:t>
            </a:r>
          </a:p>
          <a:p>
            <a:r>
              <a:t>- Typical budget 8-20 h per artifact [12].</a:t>
            </a:r>
          </a:p>
          <a:p/>
          <a:p>
            <a:r>
              <a:t>CITED SOURCES</a:t>
            </a:r>
          </a:p>
          <a:p>
            <a:r>
              <a:t>[12] Reviewer time budgets: SOSP 2021 estimated 10-20 hours per artifact with 2-4 artifacts per member; APLAS 2022 about 8 hours with 3-4 per member. So a reviewer typically has about one working day per artifact.</a:t>
            </a:r>
          </a:p>
        </p:txBody>
      </p:sp>
      <p:sp>
        <p:nvSpPr>
          <p:cNvPr id="380" name="Google Shape;380;h20eab59c8bb0d465_5_3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h20eab59c8bb0d465_5_3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h20eab59c8bb0d465_5_3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a badge should describe the current state.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it certifies what was checked at review time.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Who organises and pays for re-checks?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Klein et al. 2014: 13-22 % of web references suffer link rot.</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Duplicate with Minh Thi’s question</a:t>
            </a:r>
            <a:endParaRPr/>
          </a:p>
        </p:txBody>
      </p:sp>
      <p:sp>
        <p:nvSpPr>
          <p:cNvPr id="392" name="Google Shape;392;h20eab59c8bb0d465_5_3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h20eab59c8bb0d465_5_3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h20eab59c8bb0d465_5_3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A representative subset plus scripts to regenerate the rest.</a:t>
            </a:r>
          </a:p>
          <a:p>
            <a:r>
              <a:t>- Institutional repositories; share the generator, not the data.</a:t>
            </a:r>
          </a:p>
          <a:p/>
          <a:p>
            <a:r>
              <a:t>MY NOTES (background, not on slide)</a:t>
            </a:r>
          </a:p>
          <a:p>
            <a:r>
              <a:t>- Zenodo: 50 GB per record, up to 200 GB on request [1].</a:t>
            </a:r>
          </a:p>
          <a:p>
            <a:r>
              <a:t>- Overlaps with the paper's proof-of-concept recommendation (teammate).</a:t>
            </a:r>
          </a:p>
          <a:p/>
          <a:p>
            <a:r>
              <a:t>CITED SOURCES</a:t>
            </a:r>
          </a:p>
          <a:p>
            <a:r>
              <a:t>[1] Zenodo (run by CERN): free, gives a DOI per upload, 50 GB per record (one-time increase up to 200 GB on request), can archive each GitHub release automatically. Records are kept 'for the lifetime of the repository', i.e. of CERN, whose programme is planned for at least 20 more years. Only bit-level preservation: files stay intact, but nothing guarantees they still run.</a:t>
            </a:r>
          </a:p>
        </p:txBody>
      </p:sp>
      <p:sp>
        <p:nvSpPr>
          <p:cNvPr id="404" name="Google Shape;404;h20eab59c8bb0d465_5_3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h20eab59c8bb0d465_5_3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h20eab59c8bb0d465_5_3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Yes: readers cannot check the claims either way.</a:t>
            </a:r>
          </a:p>
          <a:p>
            <a:r>
              <a:t>- No: it punishes industry collaboration.</a:t>
            </a:r>
          </a:p>
          <a:p/>
          <a:p>
            <a:r>
              <a:t>MY NOTES (background, not on slide)</a:t>
            </a:r>
          </a:p>
          <a:p>
            <a:r>
              <a:t>- ICSE: sharing not required for acceptance, only a statement of why not [18].</a:t>
            </a:r>
          </a:p>
          <a:p/>
          <a:p>
            <a:r>
              <a:t>CITED SOURCES</a:t>
            </a:r>
          </a:p>
          <a:p>
            <a:r>
              <a:t>[18] ICSE open science policy: sharing data is not required for submission or acceptance; authors who cannot share (e.g. confidential industry data) state why in a data availability section and the submission form.</a:t>
            </a:r>
          </a:p>
        </p:txBody>
      </p:sp>
      <p:sp>
        <p:nvSpPr>
          <p:cNvPr id="416" name="Google Shape;416;h20eab59c8bb0d465_5_3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h20eab59c8bb0d465_5_4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h20eab59c8bb0d465_5_4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Yes: someone independent has checked it.</a:t>
            </a:r>
          </a:p>
          <a:p>
            <a:r>
              <a:t>- No: a check nobody can repeat adds little.</a:t>
            </a:r>
          </a:p>
          <a:p/>
          <a:p>
            <a:r>
              <a:t>MY NOTES (background, not on slide)</a:t>
            </a:r>
          </a:p>
          <a:p>
            <a:r>
              <a:t>- ACM: Evaluated badges with reviewer-only access; Available needs a public archive. Proxies allowed for proprietary data [1, 3].</a:t>
            </a:r>
          </a:p>
          <a:p/>
          <a:p>
            <a:r>
              <a:t>CITED SOURCES</a:t>
            </a:r>
          </a:p>
          <a:p>
            <a: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p>
          <a:p>
            <a: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p>
        </p:txBody>
      </p:sp>
      <p:sp>
        <p:nvSpPr>
          <p:cNvPr id="428" name="Google Shape;428;h20eab59c8bb0d465_5_4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h20eab59c8bb0d465_5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h20eab59c8bb0d465_5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Fully open: publicly funded research belongs to the public.</a:t>
            </a:r>
          </a:p>
          <a:p>
            <a:r>
              <a:t>- Limits: personal data, partner contracts, commercial plans.</a:t>
            </a:r>
          </a:p>
          <a:p/>
          <a:p>
            <a:r>
              <a:t>MY NOTES (background, not on slide)</a:t>
            </a:r>
          </a:p>
          <a:p>
            <a:r>
              <a:t>- Horizon Europe: open data mandatory, exceptions justified in a data management plan [19].</a:t>
            </a:r>
          </a:p>
          <a:p/>
          <a:p>
            <a:r>
              <a:t>CITED SOURCES</a:t>
            </a:r>
          </a:p>
          <a:p>
            <a:r>
              <a:t>[19] Horizon Europe (EU research funding): open access to research data is mandatory under 'as open as possible, as closed as necessary'; exceptions (commercial exploitation, data protection, confidentiality, security, IP) must be justified in a mandatory data management plan.</a:t>
            </a:r>
          </a:p>
        </p:txBody>
      </p:sp>
      <p:sp>
        <p:nvSpPr>
          <p:cNvPr id="440" name="Google Shape;440;h20eab59c8bb0d465_5_4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20eab59c8bb0d465_5_4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h20eab59c8bb0d465_5_4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Accept: much real-world SE runs on commercial platforms.</a:t>
            </a:r>
          </a:p>
          <a:p>
            <a:r>
              <a:t>- Restrict: if others cannot run it, it misses its purpose.</a:t>
            </a:r>
          </a:p>
          <a:p/>
          <a:p>
            <a:r>
              <a:t>MY NOTES (background, not on slide)</a:t>
            </a:r>
          </a:p>
          <a:p>
            <a:r>
              <a:t>- ACM policy is silent on reviewer licences; each AEC decides [1]. CAV/FORMATS/QEST: case by case, e.g. MATLAB Online [20].</a:t>
            </a:r>
          </a:p>
          <a:p/>
          <a:p>
            <a:r>
              <a:t>CITED SOURCES</a:t>
            </a:r>
          </a:p>
          <a:p>
            <a: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p>
          <a:p>
            <a:r>
              <a:t>[20] Formal-methods conferences CAV, FORMATS and QEST: no blanket rule for licensed software; authors who need e.g. MATLAB contact the AE chairs for a case-by-case solution; FORMATS 2022 accepted a shared folder runnable in MATLAB Online.</a:t>
            </a:r>
          </a:p>
        </p:txBody>
      </p:sp>
      <p:sp>
        <p:nvSpPr>
          <p:cNvPr id="452" name="Google Shape;452;h20eab59c8bb0d465_5_4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h20eab59c8bb0d465_5_4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h20eab59c8bb0d465_5_4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Meaningful: checking that it runs needs no seniority.</a:t>
            </a:r>
          </a:p>
          <a:p>
            <a:r>
              <a:t>- Weak: students may not judge methods or dare to reject.</a:t>
            </a:r>
          </a:p>
          <a:p/>
          <a:p>
            <a:r>
              <a:t>MY NOTES (background, not on slide)</a:t>
            </a:r>
          </a:p>
          <a:p>
            <a:r>
              <a:t>- Students chosen deliberately from ECOOP/OOPSLA 2013 [11]; most AEC members serve once [6].</a:t>
            </a:r>
          </a:p>
          <a:p/>
          <a:p>
            <a:r>
              <a:t>CITED SOURCES</a:t>
            </a:r>
          </a:p>
          <a:p>
            <a:r>
              <a:t>[6] Hermann, Winter &amp; Siegmund (2020, Paper 1 today): survey of artifact evaluation committee members. Found no shared quality threshold, badges meaning different things per conference, most reviewers serving only once, and some reviewers preferring availability over quality ('enforcing quality criteria only means that some authors will not publish their code').</a:t>
            </a:r>
          </a:p>
          <a:p>
            <a:r>
              <a:t>[11] History of artifact committees: from ECOOP and OOPSLA 2013, AECs were deliberately filled with senior PhD students, because they know current tools and so the next generation learns about artifact evaluation (organisers' nomination letter; Krishnamurthi's memo on artifact evaluation, which started at FSE 2011).</a:t>
            </a:r>
          </a:p>
        </p:txBody>
      </p:sp>
      <p:sp>
        <p:nvSpPr>
          <p:cNvPr id="464" name="Google Shape;464;h20eab59c8bb0d465_5_4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h20eab59c8bb0d465_5_4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h20eab59c8bb0d465_5_4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Fair: future users won't invest more either.</a:t>
            </a:r>
          </a:p>
          <a:p>
            <a:r>
              <a:t>- Unfair: penalises inherently heavy research.</a:t>
            </a:r>
          </a:p>
          <a:p/>
          <a:p>
            <a:r>
              <a:t>MY NOTES (background, not on slide)</a:t>
            </a:r>
          </a:p>
          <a:p>
            <a:r>
              <a:t>- ICSE 2026: setup over 30 min makes acceptance unlikely [2]; MobiSys allows a reduced representative scope [21].</a:t>
            </a:r>
          </a:p>
          <a:p/>
          <a:p>
            <a:r>
              <a:t>CITED SOURCES</a:t>
            </a:r>
          </a:p>
          <a:p>
            <a:r>
              <a:t>[2]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p>
          <a:p>
            <a:r>
              <a:t>[21] MobiSys 2026: for experiments with heavy computation or data, reviewers and authors may agree on a reduced but representative set of experiments. IISWC 2026: most artifacts should run on a laptop; otherwise authors must provide (anonymised) remote access to suitable machines.</a:t>
            </a:r>
          </a:p>
        </p:txBody>
      </p:sp>
      <p:sp>
        <p:nvSpPr>
          <p:cNvPr id="476" name="Google Shape;476;h20eab59c8bb0d465_5_4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h20eab59c8bb0d465_5_4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h20eab59c8bb0d465_5_4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Yes: otherwise resource-rich labs are favoured.</a:t>
            </a:r>
          </a:p>
          <a:p>
            <a:r>
              <a:t>- No: costly; authors should provide access or a smaller run.</a:t>
            </a:r>
          </a:p>
          <a:p/>
          <a:p>
            <a:r>
              <a:t>MY NOTES (background, not on slide)</a:t>
            </a:r>
          </a:p>
          <a:p>
            <a:r>
              <a:t>- Paper recommends compute funding (teammate's section): keep it short and hand over.</a:t>
            </a:r>
          </a:p>
          <a:p>
            <a:r>
              <a:t>- SOSP 2019 Azure credits proved hard to use [22]; IISWC has authors provide remote access [21].</a:t>
            </a:r>
          </a:p>
          <a:p/>
          <a:p>
            <a:r>
              <a:t>CITED SOURCES</a:t>
            </a:r>
          </a:p>
          <a:p>
            <a:r>
              <a:t>[21] MobiSys 2026: for experiments with heavy computation or data, reviewers and authors may agree on a reduced but representative set of experiments. IISWC 2026: most artifacts should run on a laptop; otherwise authors must provide (anonymised) remote access to suitable machines.</a:t>
            </a:r>
          </a:p>
          <a:p>
            <a:r>
              <a:t>[22] SOSP 2019 (reported for OSDI 2020): Microsoft donated Azure cloud credits for artifact evaluation, but organisers found them hard to use for exactly the artifacts that needed them most; later calls let authors pay for cloud use.</a:t>
            </a:r>
          </a:p>
        </p:txBody>
      </p:sp>
      <p:sp>
        <p:nvSpPr>
          <p:cNvPr id="488" name="Google Shape;488;h20eab59c8bb0d465_5_4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h20eab59c8bb0d465_5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h20eab59c8bb0d465_5_4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Dialogue: fixes help every later user.</a:t>
            </a:r>
          </a:p>
          <a:p>
            <a:r>
              <a:t>- One-shot: a badge should mean it works without the authors.</a:t>
            </a:r>
          </a:p>
          <a:p/>
          <a:p>
            <a:r>
              <a:t>MY NOTES (background, not on slide)</a:t>
            </a:r>
          </a:p>
          <a:p>
            <a:r>
              <a:t>- Most venues have a 'kick the tires' phase [13]; ICSE 2026: answers within 72 h [3].</a:t>
            </a:r>
          </a:p>
          <a:p/>
          <a:p>
            <a:r>
              <a:t>CITED SOURCES</a:t>
            </a:r>
          </a:p>
          <a:p>
            <a: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p>
          <a:p>
            <a:r>
              <a:t>[13] SLE 2025 artifact evaluation: a 'kick the tires' phase first checks that the artifact runs at all, followed by a 5-day window in which reviewers and authors can talk and fix setup problems; only then the full review. Most PL/SE venues have a similar phase.</a:t>
            </a:r>
          </a:p>
        </p:txBody>
      </p:sp>
      <p:sp>
        <p:nvSpPr>
          <p:cNvPr id="500" name="Google Shape;500;h20eab59c8bb0d465_5_4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20eab59c8bb0d465_5_4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h20eab59c8bb0d465_5_4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for a stated period.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archive it and say it is unsupported.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Overlaps with C3.</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512" name="Google Shape;512;h20eab59c8bb0d465_5_4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h20eab59c8bb0d465_5_4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h20eab59c8bb0d465_5_4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Career credit.</a:t>
            </a:r>
          </a:p>
          <a:p>
            <a:r>
              <a:t>- Direct benefit: users, collaborations.</a:t>
            </a:r>
          </a:p>
          <a:p/>
          <a:p>
            <a:r>
              <a:t>MY NOTES (background, not on slide)</a:t>
            </a:r>
          </a:p>
          <a:p>
            <a:r>
              <a:t>- JOSS [23]; possible overlap with the teammate's recommendations.</a:t>
            </a:r>
          </a:p>
          <a:p/>
          <a:p>
            <a:r>
              <a:t>CITED SOURCES</a:t>
            </a:r>
          </a:p>
          <a:p>
            <a:r>
              <a:t>[23] Journal of Open Source Software (JOSS): publishes short papers about research software with a DOI, reviewed openly on GitHub (docs, tests, licence), so software work becomes citable and counts for careers.</a:t>
            </a:r>
          </a:p>
        </p:txBody>
      </p:sp>
      <p:sp>
        <p:nvSpPr>
          <p:cNvPr id="524" name="Google Shape;524;h20eab59c8bb0d465_5_4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h14a77dcaeeb36948_1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h14a77dcaeeb36948_1_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536" name="Google Shape;536;h14a77dcaeeb36948_1_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h20eab59c8bb0d465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h20eab59c8bb0d465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a:p>
            <a:pPr indent="0" lvl="0" marL="0" rtl="0" algn="l">
              <a:spcBef>
                <a:spcPts val="0"/>
              </a:spcBef>
              <a:spcAft>
                <a:spcPts val="0"/>
              </a:spcAft>
              <a:buNone/>
            </a:pPr>
            <a:r>
              <a:t/>
            </a:r>
            <a:endParaRPr sz="1100">
              <a:solidFill>
                <a:srgbClr val="000000"/>
              </a:solidFill>
            </a:endParaRPr>
          </a:p>
        </p:txBody>
      </p:sp>
      <p:sp>
        <p:nvSpPr>
          <p:cNvPr id="544" name="Google Shape;544;h20eab59c8bb0d465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h20eab59c8bb0d465_5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h20eab59c8bb0d465_5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Should probably try to have one question per challenge, at least in the back pocket</a:t>
            </a:r>
            <a:endParaRPr sz="1100">
              <a:solidFill>
                <a:srgbClr val="000000"/>
              </a:solidFill>
            </a:endParaRPr>
          </a:p>
        </p:txBody>
      </p:sp>
      <p:sp>
        <p:nvSpPr>
          <p:cNvPr id="552" name="Google Shape;552;h20eab59c8bb0d465_5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h20eab59c8bb0d465_5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h20eab59c8bb0d465_5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C1 questions and C9 licence question maybe too open to really do. Have one clear answer?</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C3 software decay question in conjunction with point about extra costs</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running out of time to research C2, might have to leave out</a:t>
            </a:r>
            <a:endParaRPr sz="1100">
              <a:solidFill>
                <a:srgbClr val="000000"/>
              </a:solidFill>
            </a:endParaRPr>
          </a:p>
        </p:txBody>
      </p:sp>
      <p:sp>
        <p:nvSpPr>
          <p:cNvPr id="560" name="Google Shape;560;h20eab59c8bb0d465_5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h456e3c7019817545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h456e3c7019817545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568" name="Google Shape;568;h456e3c7019817545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h76656c63b9505f1e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h76656c63b9505f1e_2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do these challenges persist? In a second analysis the authors explore how the challenges connect and why they remain unresolved.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based on Diffusion of Innovation Theory (so how well something spreads), the authors show that artifacts are hard to adopt because they often lack familiar conventions, clear documentation, easy setup, and benefits beyond the paper itself.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communication between creators, reviewers, and users is limited, documentation is often missing, and badge standards vary across conferences, leading to misunderstandings and confusion on what an artifact looks like and how to pass the evaluation.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Artifacts, as we know, deteriorate over time but consistent maintenance costs too much effort And because artifact creation is not well rewarded and review is less valued, it leads to low-quality artifacts and inconsistent evaluations.</a:t>
            </a:r>
            <a:endParaRPr/>
          </a:p>
        </p:txBody>
      </p:sp>
      <p:sp>
        <p:nvSpPr>
          <p:cNvPr id="576" name="Google Shape;576;h76656c63b9505f1e_2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h76656c63b9505f1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h76656c63b9505f1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rgbClr val="000000"/>
                </a:solidFill>
              </a:rPr>
              <a:t>So the article listed 8 Recommendation for all groups involved, so for the creators, the evaluation committees and the institutions.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R1: Firstly, since many problems arise because creators and users expect different things from an artifact, the creators should document the artifact clearly, for example in a README. This includes its contents, its purpose, how it supports the claims in the paper and even things like citation guidelines, and a license.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R2: They should also provide installation instructions, all dependencies and details about the development environment to make it as self-contained as possible. So containers like docker could help with running on other systems. For very expensive experiments, they should also offer a smaller proof-of-concept version.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R3: And the team should also plan at the start of the project what happens to the artifacts. This includes planning in time for documentation and a plan for long-term maintenance. And as we mentioned last week, services like Zenodo are better than Github or a university website.</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R4: Then for reviewers at a venue, it is often unclear who checks the artifacts: a separate artifact committee or only the paper reviewers. So reviewers should state which parts they check themselves and leave the rest to the committee. Whoever checks needs a clear rubric. If none exists, they should ask for one or write their own.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R5: Conferences and journals then should publish clear guidelines for the reviewers to work along. These should say what the review is for, how much gets checked, and by which criteria. Venues should also set deadlines for artifacts, so authors don’t have to rush them at the last minute.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R6: And since artifact review takes a lot of time and brings little recognition, the article also suggests providing compute resources and using a second review only when problems come up. And they stress that exchange between authors and reviewers and maybe even awards for good artifact reviewers could help.</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R7: And lastly recommendations for institutions. So right now sharing artifacts takes a lot of effort, yet it hardly counts for an academic career, so hiring and promotion committees should start rewarding it. Funding agencies can help too: so when researchers apply for a grant, they could be asked how they plan to share their artifacts, and the agency could then provide extra money to keep those artifacts maintained and archived for years.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R8: And editors and steering </a:t>
            </a:r>
            <a:r>
              <a:rPr lang="en-US">
                <a:solidFill>
                  <a:srgbClr val="000000"/>
                </a:solidFill>
              </a:rPr>
              <a:t>committees</a:t>
            </a:r>
            <a:r>
              <a:rPr lang="en-US">
                <a:solidFill>
                  <a:srgbClr val="000000"/>
                </a:solidFill>
              </a:rPr>
              <a:t> should set a long-term </a:t>
            </a:r>
            <a:r>
              <a:rPr lang="en-US">
                <a:solidFill>
                  <a:srgbClr val="000000"/>
                </a:solidFill>
              </a:rPr>
              <a:t>strategy</a:t>
            </a:r>
            <a:r>
              <a:rPr lang="en-US">
                <a:solidFill>
                  <a:srgbClr val="000000"/>
                </a:solidFill>
              </a:rPr>
              <a:t> for sharing and evaluating artifacts. So professional organisations like ACM should develop a standard format for artifact descriptions and review the evaluation process itself (like guidelines etc.) regularly.</a:t>
            </a:r>
            <a:endParaRPr>
              <a:solidFill>
                <a:srgbClr val="000000"/>
              </a:solidFill>
            </a:endParaRPr>
          </a:p>
          <a:p>
            <a:pPr indent="0" lvl="0" marL="0" rtl="0" algn="l">
              <a:spcBef>
                <a:spcPts val="1200"/>
              </a:spcBef>
              <a:spcAft>
                <a:spcPts val="0"/>
              </a:spcAft>
              <a:buNone/>
            </a:pPr>
            <a:r>
              <a:t/>
            </a:r>
            <a:endParaRPr sz="1300"/>
          </a:p>
          <a:p>
            <a:pPr indent="0" lvl="0" marL="0" rtl="0" algn="l">
              <a:spcBef>
                <a:spcPts val="0"/>
              </a:spcBef>
              <a:spcAft>
                <a:spcPts val="0"/>
              </a:spcAft>
              <a:buNone/>
            </a:pPr>
            <a:r>
              <a:t/>
            </a:r>
            <a:endParaRPr sz="1300"/>
          </a:p>
        </p:txBody>
      </p:sp>
      <p:sp>
        <p:nvSpPr>
          <p:cNvPr id="584" name="Google Shape;584;h76656c63b9505f1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h76656c63b9505f1e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h76656c63b9505f1e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The recommendations for the creators ask for better documentation, self-contained artifacts and more planning, so essentially more work for creators. Does it not worsen the 1st challenge of artifact sharing not being worth it? </a:t>
            </a:r>
            <a:endParaRPr/>
          </a:p>
          <a:p>
            <a:pPr indent="0" lvl="0" marL="457200" rtl="0" algn="l">
              <a:spcBef>
                <a:spcPts val="0"/>
              </a:spcBef>
              <a:spcAft>
                <a:spcPts val="0"/>
              </a:spcAft>
              <a:buNone/>
            </a:pPr>
            <a:r>
              <a:rPr lang="en-US"/>
              <a:t>→ For example, the paper says at a minimum, they should provide installation instructions, a dependency list, and a README. Do you think it is fair to ask that of them?</a:t>
            </a:r>
            <a:endParaRPr/>
          </a:p>
          <a:p>
            <a:pPr indent="0" lvl="0" marL="457200" rtl="0" algn="l">
              <a:spcBef>
                <a:spcPts val="0"/>
              </a:spcBef>
              <a:spcAft>
                <a:spcPts val="0"/>
              </a:spcAft>
              <a:buNone/>
            </a:pPr>
            <a:r>
              <a:rPr lang="en-US"/>
              <a:t>→ Do you feel like the might also benefit from these suggestions? If their documentation for example was clean from the get-go, they don’t have to deal with support emails? And</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Take Recommendation 2: Should researchers be expected to share the entire implementation of their work to get the badges? The article recommends providing proof-of-concept artifacts, so smaller self-contained artifacts with useful documentation, if full systems are too expensive. Do you agree with this? Do you think scientific confidence is hurt by doing this, since you’re only submitting a fraction of your whole code or system?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6: The current standard is double blind review (so the reviewers don’t know who the authors are and authors dk who the reviewers are), which makes artifact sharing harder, as the authors have to scrub the artifact clean as well as find an anonymous place to host it. This also limits communication as some people mentioned that they have a harder time asking authors for help. </a:t>
            </a:r>
            <a:endParaRPr/>
          </a:p>
          <a:p>
            <a:pPr indent="0" lvl="0" marL="0" rtl="0" algn="l">
              <a:spcBef>
                <a:spcPts val="0"/>
              </a:spcBef>
              <a:spcAft>
                <a:spcPts val="0"/>
              </a:spcAft>
              <a:buNone/>
            </a:pPr>
            <a:r>
              <a:rPr lang="en-US"/>
              <a:t>           → How important do you feel anonymity is?</a:t>
            </a:r>
            <a:endParaRPr/>
          </a:p>
          <a:p>
            <a:pPr indent="457200" lvl="0" marL="0" rtl="0" algn="l">
              <a:spcBef>
                <a:spcPts val="0"/>
              </a:spcBef>
              <a:spcAft>
                <a:spcPts val="0"/>
              </a:spcAft>
              <a:buNone/>
            </a:pPr>
            <a:r>
              <a:rPr lang="en-US"/>
              <a:t>→ Another practice could be single blind review (so the reviewer knows the authors’ names). So the challenged about scrubbing the artifact and finding an anonymous place to host would be </a:t>
            </a:r>
            <a:endParaRPr/>
          </a:p>
          <a:p>
            <a:pPr indent="0" lvl="0" marL="457200" rtl="0" algn="l">
              <a:spcBef>
                <a:spcPts val="0"/>
              </a:spcBef>
              <a:spcAft>
                <a:spcPts val="0"/>
              </a:spcAft>
              <a:buNone/>
            </a:pPr>
            <a:r>
              <a:rPr lang="en-US"/>
              <a:t>     resolved. Do you feel like that would suffice or might still introduce other issues (like bias)? Or do you feel like it’s worth it since the challenge is a bigger issue?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7: Should the hiring, promotion and funding process consider artifacts? Do you feel like there could be some issues</a:t>
            </a:r>
            <a:endParaRPr/>
          </a:p>
          <a:p>
            <a:pPr indent="457200" lvl="0" marL="0" rtl="0" algn="l">
              <a:spcBef>
                <a:spcPts val="0"/>
              </a:spcBef>
              <a:spcAft>
                <a:spcPts val="0"/>
              </a:spcAft>
              <a:buNone/>
            </a:pPr>
            <a:r>
              <a:rPr lang="en-US"/>
              <a:t>→ Like how would you assess that (how many artifacts this person has shared? How many badges he has gotten? maybe with how widely reused the artifact is?)</a:t>
            </a:r>
            <a:endParaRPr/>
          </a:p>
          <a:p>
            <a:pPr indent="0" lvl="0" marL="457200" rtl="0" algn="l">
              <a:spcBef>
                <a:spcPts val="0"/>
              </a:spcBef>
              <a:spcAft>
                <a:spcPts val="0"/>
              </a:spcAft>
              <a:buNone/>
            </a:pPr>
            <a:r>
              <a:rPr lang="en-US"/>
              <a:t>→ Do you feel like if artifacts are considered, people would spend more time on “farming” artifacts instead of focusing on the paper or on new research? Or would it make the research better      </a:t>
            </a:r>
            <a:endParaRPr/>
          </a:p>
          <a:p>
            <a:pPr indent="0" lvl="0" marL="457200" rtl="0" algn="l">
              <a:spcBef>
                <a:spcPts val="0"/>
              </a:spcBef>
              <a:spcAft>
                <a:spcPts val="0"/>
              </a:spcAft>
              <a:buNone/>
            </a:pPr>
            <a:r>
              <a:rPr lang="en-US"/>
              <a:t>     in the long run?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8: </a:t>
            </a:r>
            <a:r>
              <a:rPr lang="en-US"/>
              <a:t>The article recommended periodic review of the artifact evaluation itself. Do you feel like the artifacts themselves should also go through some sort of periodic evaluation? Since availability (because of unusably libraries, compilers, operating systems, bit rot!!) is an issue, should there be a system in place where artifacts are reevaluated regularly (e.g. every ten years)? Because if it doesn’t work anymore, shouldn’t the evaluation status change?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Another issue or reason that they mentioned was a part of why these challenges persist is because artifact review is not only time-consuming, but also seen as the more  “annoying” task that is given to students. Do you think this sentiment is justified? Why do you think the community feels this way?</a:t>
            </a:r>
            <a:endParaRPr/>
          </a:p>
          <a:p>
            <a:pPr indent="0" lvl="0" marL="0" rtl="0" algn="l">
              <a:spcBef>
                <a:spcPts val="0"/>
              </a:spcBef>
              <a:spcAft>
                <a:spcPts val="0"/>
              </a:spcAft>
              <a:buNone/>
            </a:pPr>
            <a:r>
              <a:rPr lang="en-US"/>
              <a:t>	→ Like would you rather want to do the technical, so paper review or an artifact review? </a:t>
            </a:r>
            <a:endParaRPr/>
          </a:p>
          <a:p>
            <a:pPr indent="0" lvl="0" marL="0" rtl="0" algn="l">
              <a:spcBef>
                <a:spcPts val="0"/>
              </a:spcBef>
              <a:spcAft>
                <a:spcPts val="0"/>
              </a:spcAft>
              <a:buNone/>
            </a:pPr>
            <a:r>
              <a:rPr lang="en-US"/>
              <a:t>	→ Do you feel like it can be justified as paper reviews usually do require broader knowledge and experience?</a:t>
            </a:r>
            <a:endParaRPr/>
          </a:p>
          <a:p>
            <a:pPr indent="0" lvl="0" marL="0" rtl="0" algn="l">
              <a:spcBef>
                <a:spcPts val="0"/>
              </a:spcBef>
              <a:spcAft>
                <a:spcPts val="0"/>
              </a:spcAft>
              <a:buNone/>
            </a:pPr>
            <a:r>
              <a:rPr lang="en-US"/>
              <a:t>	→ Can you think of any way to change this sentiment? So other than </a:t>
            </a:r>
            <a:r>
              <a:rPr lang="en-US"/>
              <a:t>introducing</a:t>
            </a:r>
            <a:r>
              <a:rPr lang="en-US"/>
              <a:t> an award, maybe we could let authors help with trouble shooting? Or maybe instead of a researcher’s weekly workload being to review 5 papers, he has to review maybe only 3 papers and 2 artifacts. So it wouldn’T be seen as extra work on top, but more so part of the job overall.</a:t>
            </a:r>
            <a:endParaRPr/>
          </a:p>
          <a:p>
            <a:pPr indent="0" lvl="0" marL="0" rtl="0" algn="l">
              <a:spcBef>
                <a:spcPts val="0"/>
              </a:spcBef>
              <a:spcAft>
                <a:spcPts val="0"/>
              </a:spcAft>
              <a:buNone/>
            </a:pPr>
            <a:r>
              <a:t/>
            </a:r>
            <a:endParaRPr sz="1000">
              <a:solidFill>
                <a:srgbClr val="000000"/>
              </a:solidFill>
              <a:highlight>
                <a:srgbClr val="FF00FF"/>
              </a:highlight>
              <a:latin typeface="Roboto"/>
              <a:ea typeface="Roboto"/>
              <a:cs typeface="Roboto"/>
              <a:sym typeface="Roboto"/>
            </a:endParaRPr>
          </a:p>
        </p:txBody>
      </p:sp>
      <p:sp>
        <p:nvSpPr>
          <p:cNvPr id="603" name="Google Shape;603;h76656c63b9505f1e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h2e5b15fafcf2453c_6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h2e5b15fafcf2453c_6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Do you agree or disagree with any other recommendation? Or is there a problem from the analysis that none of the recommendations really solves? </a:t>
            </a:r>
            <a:endParaRPr/>
          </a:p>
          <a:p>
            <a:pPr indent="0" lvl="0" marL="0" rtl="0" algn="l">
              <a:spcBef>
                <a:spcPts val="0"/>
              </a:spcBef>
              <a:spcAft>
                <a:spcPts val="0"/>
              </a:spcAft>
              <a:buNone/>
            </a:pPr>
            <a:r>
              <a:rPr lang="en-US"/>
              <a:t>	→ Like which one sounds easiest to implement? Or which one sound unrealistic? E.g. i think R1, so providing a ReadMe is easy.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Almost all recommendations ask for more work from someone. Who do you think should carry the most work when it comes to artifacts: creators, reviewers, or institutions?</a:t>
            </a:r>
            <a:endParaRPr/>
          </a:p>
          <a:p>
            <a:pPr indent="0" lvl="0" marL="457200" rtl="0" algn="l">
              <a:spcBef>
                <a:spcPts val="0"/>
              </a:spcBef>
              <a:spcAft>
                <a:spcPts val="0"/>
              </a:spcAft>
              <a:buNone/>
            </a:pPr>
            <a:r>
              <a:rPr lang="en-US"/>
              <a:t>→ Or maybe we should go by who benefits most? Creators get credit, users get working tools, and reviewers get little. Should the work follow the benefit?</a:t>
            </a:r>
            <a:endParaRPr/>
          </a:p>
          <a:p>
            <a:pPr indent="0" lvl="0" marL="457200" rtl="0" algn="l">
              <a:spcBef>
                <a:spcPts val="0"/>
              </a:spcBef>
              <a:spcAft>
                <a:spcPts val="0"/>
              </a:spcAft>
              <a:buNone/>
            </a:pPr>
            <a:r>
              <a:rPr lang="en-US"/>
              <a:t>→ Or let’s say a creator spends a week on documentation, a student reviewer spends two days running it, and the venue only has to write a guideline. Is that split fair?”</a:t>
            </a:r>
            <a:endParaRPr/>
          </a:p>
          <a:p>
            <a:pPr indent="0" lvl="0" marL="457200" rtl="0" algn="l">
              <a:spcBef>
                <a:spcPts val="0"/>
              </a:spcBef>
              <a:spcAft>
                <a:spcPts val="0"/>
              </a:spcAft>
              <a:buNone/>
            </a:pPr>
            <a:r>
              <a:rPr lang="en-US"/>
              <a:t>First opinion to start: “I feel like the institutions should carry more, because they set the incentives. Creators and reviewers mostly react to them.”</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So after discussing all recommendations: Which one do you think would you prioritise when it comes to implementation? Which one do you feel solves the most important and biggest challenge and is also easy to implement?</a:t>
            </a:r>
            <a:endParaRPr/>
          </a:p>
        </p:txBody>
      </p:sp>
      <p:sp>
        <p:nvSpPr>
          <p:cNvPr id="616" name="Google Shape;616;h2e5b15fafcf2453c_6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h14a77dcaeeb36948_1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h14a77dcaeeb36948_1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h14a77dcaeeb36948_1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h14a77dcaeeb36948_1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h14a77dcaeeb36948_1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h14a77dcaeeb36948_1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h14a77dcaeeb36948_1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h14a77dcaeeb36948_1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h14a77dcaeeb36948_1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h14a77dcaeeb36948_1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h14a77dcaeeb36948_1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657" name="Google Shape;657;h14a77dcaeeb36948_1_2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h14a77dcaeeb36948_1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h14a77dcaeeb36948_1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h14a77dcaeeb36948_1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14a77dcaeeb36948_1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h14a77dcaeeb36948_1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672" name="Google Shape;672;h14a77dcaeeb36948_1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h14a77dcaeeb36948_1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h14a77dcaeeb36948_1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680" name="Google Shape;680;h14a77dcaeeb36948_1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h14a77dcaeeb36948_1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h14a77dcaeeb36948_1_3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a:p>
            <a:pPr indent="0" lvl="0" marL="0" rtl="0" algn="l">
              <a:spcBef>
                <a:spcPts val="0"/>
              </a:spcBef>
              <a:spcAft>
                <a:spcPts val="0"/>
              </a:spcAft>
              <a:buNone/>
            </a:pPr>
            <a:r>
              <a:t/>
            </a:r>
            <a:endParaRPr/>
          </a:p>
          <a:p>
            <a:pPr indent="-292100" lvl="0" marL="457200" rtl="0" algn="l">
              <a:spcBef>
                <a:spcPts val="0"/>
              </a:spcBef>
              <a:spcAft>
                <a:spcPts val="0"/>
              </a:spcAft>
              <a:buSzPts val="1000"/>
              <a:buFont typeface="Roboto"/>
              <a:buChar char="-"/>
            </a:pPr>
            <a:r>
              <a:rPr lang="en-US" sz="1000">
                <a:solidFill>
                  <a:srgbClr val="000000"/>
                </a:solidFill>
                <a:highlight>
                  <a:srgbClr val="00FFFF"/>
                </a:highlight>
                <a:latin typeface="Roboto"/>
                <a:ea typeface="Roboto"/>
                <a:cs typeface="Roboto"/>
                <a:sym typeface="Roboto"/>
              </a:rPr>
              <a:t>What would you do as a follow-up study to these papers? (e.g. tracking the same artifacts over time?, Attempts to implement the suggestions and seeing the results?, …) </a:t>
            </a:r>
            <a:endParaRPr/>
          </a:p>
        </p:txBody>
      </p:sp>
      <p:sp>
        <p:nvSpPr>
          <p:cNvPr id="688" name="Google Shape;688;h14a77dcaeeb36948_1_3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h14a77dcaeeb36948_1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h14a77dcaeeb36948_1_3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h14a77dcaeeb36948_1_3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h20eab59c8bb0d465_5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h20eab59c8bb0d465_5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709" name="Google Shape;70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745" name="Google Shape;7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when respondents said 'reproducibility', under the 2020 definitions they were right; the paper reads it as replicability (p. 473).</a:t>
            </a:r>
            <a:endParaRPr/>
          </a:p>
        </p:txBody>
      </p:sp>
      <p:sp>
        <p:nvSpPr>
          <p:cNvPr id="753" name="Google Shape;75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62" name="Google Shape;7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 471, §4.1 pp. 472–473. No artifact was opened.</a:t>
            </a:r>
            <a:endParaRPr/>
          </a:p>
        </p:txBody>
      </p:sp>
      <p:sp>
        <p:nvSpPr>
          <p:cNvPr id="770" name="Google Shape;77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6" name="Google Shape;78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787" name="Google Shape;78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795" name="Google Shape;79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2" name="Google Shape;80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803" name="Google Shape;80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8" name="Google Shape;8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Would you sign up for an AEC next year? Why or why not?</a:t>
            </a:r>
            <a:endParaRPr/>
          </a:p>
        </p:txBody>
      </p:sp>
      <p:sp>
        <p:nvSpPr>
          <p:cNvPr id="819" name="Google Shape;81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4" name="Google Shape;83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What would a second, meaningful threshold look like?</a:t>
            </a:r>
            <a:endParaRPr/>
          </a:p>
        </p:txBody>
      </p:sp>
      <p:sp>
        <p:nvSpPr>
          <p:cNvPr id="835" name="Google Shape;83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0" name="Google Shape;85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1" name="Google Shape;85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7" name="Google Shape;85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Mixed methods, then a Diffusion of Innovations secondary analysis (pp. 2–3).</a:t>
            </a:r>
            <a:endParaRPr/>
          </a:p>
        </p:txBody>
      </p:sp>
      <p:sp>
        <p:nvSpPr>
          <p:cNvPr id="858" name="Google Shape;85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Implementation Science: evidence-based, iterative change from medicine (p. 6).</a:t>
            </a:r>
            <a:endParaRPr/>
          </a:p>
        </p:txBody>
      </p:sp>
      <p:sp>
        <p:nvSpPr>
          <p:cNvPr id="866" name="Google Shape;86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 6.</a:t>
            </a:r>
            <a:endParaRPr/>
          </a:p>
        </p:txBody>
      </p:sp>
      <p:sp>
        <p:nvSpPr>
          <p:cNvPr id="874" name="Google Shape;87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1" name="Google Shape;88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pp. 6–9. FSE AEC chairs supplied submission numbers.</a:t>
            </a:r>
            <a:endParaRPr/>
          </a:p>
        </p:txBody>
      </p:sp>
      <p:sp>
        <p:nvSpPr>
          <p:cNvPr id="882" name="Google Shape;88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challenges, Table 4 pp. 14–15: not worth it, portability, maintenance, tacit knowledge, doesn't fit purpose, no standards, hosting, double-blind review, external constraints, no reviewer incentives, technical obstacles, limited communication.</a:t>
            </a:r>
            <a:endParaRPr/>
          </a:p>
        </p:txBody>
      </p:sp>
      <p:sp>
        <p:nvSpPr>
          <p:cNvPr id="899" name="Google Shape;89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6" name="Google Shape;90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Authors believe artifacts should be reviewed as part of paper review (p. 28).</a:t>
            </a:r>
            <a:endParaRPr/>
          </a:p>
        </p:txBody>
      </p:sp>
      <p:sp>
        <p:nvSpPr>
          <p:cNvPr id="907" name="Google Shape;90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4" name="Google Shape;91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915" name="Google Shape;91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0" name="Google Shape;93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Week 1 link: Docker may not exist in 40 years.</a:t>
            </a:r>
            <a:endParaRPr/>
          </a:p>
        </p:txBody>
      </p:sp>
      <p:sp>
        <p:nvSpPr>
          <p:cNvPr id="931" name="Google Shape;93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6" name="Google Shape;94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Connects to Hermann's one-time reviewers.</a:t>
            </a:r>
            <a:endParaRPr/>
          </a:p>
        </p:txBody>
      </p:sp>
      <p:sp>
        <p:nvSpPr>
          <p:cNvPr id="947" name="Google Shape;94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9" name="Google Shape;96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0" name="Google Shape;97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8" name="Google Shape;97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9" name="Google Shape;97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6" name="Google Shape;98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987" name="Google Shape;98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2" name="Google Shape;100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Outside the box: what if an AI agent ran every artifact automatically? What would it miss?</a:t>
            </a:r>
            <a:endParaRPr/>
          </a:p>
        </p:txBody>
      </p:sp>
      <p:sp>
        <p:nvSpPr>
          <p:cNvPr id="1003" name="Google Shape;100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8" name="Google Shape;101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9" name="Google Shape;101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1026" name="Google Shape;102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3" name="Google Shape;103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1034" name="Google Shape;103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1" name="Google Shape;104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p:txBody>
      </p:sp>
      <p:sp>
        <p:nvSpPr>
          <p:cNvPr id="1042" name="Google Shape;104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9" name="Google Shape;104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0" name="Google Shape;105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0883A"/>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BASE">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100" u="none" cap="none" strike="noStrike">
                <a:solidFill>
                  <a:srgbClr val="5F6368"/>
                </a:solidFill>
                <a:latin typeface="Arial"/>
                <a:ea typeface="Arial"/>
                <a:cs typeface="Arial"/>
                <a:sym typeface="Arial"/>
              </a:defRPr>
            </a:lvl1pPr>
            <a:lvl2pPr indent="0" lvl="1" marL="0" marR="0" algn="l">
              <a:spcBef>
                <a:spcPts val="0"/>
              </a:spcBef>
              <a:buNone/>
              <a:defRPr b="0" i="0" sz="1100" u="none" cap="none" strike="noStrike">
                <a:solidFill>
                  <a:srgbClr val="5F6368"/>
                </a:solidFill>
                <a:latin typeface="Arial"/>
                <a:ea typeface="Arial"/>
                <a:cs typeface="Arial"/>
                <a:sym typeface="Arial"/>
              </a:defRPr>
            </a:lvl2pPr>
            <a:lvl3pPr indent="0" lvl="2" marL="0" marR="0" algn="l">
              <a:spcBef>
                <a:spcPts val="0"/>
              </a:spcBef>
              <a:buNone/>
              <a:defRPr b="0" i="0" sz="1100" u="none" cap="none" strike="noStrike">
                <a:solidFill>
                  <a:srgbClr val="5F6368"/>
                </a:solidFill>
                <a:latin typeface="Arial"/>
                <a:ea typeface="Arial"/>
                <a:cs typeface="Arial"/>
                <a:sym typeface="Arial"/>
              </a:defRPr>
            </a:lvl3pPr>
            <a:lvl4pPr indent="0" lvl="3" marL="0" marR="0" algn="l">
              <a:spcBef>
                <a:spcPts val="0"/>
              </a:spcBef>
              <a:buNone/>
              <a:defRPr b="0" i="0" sz="1100" u="none" cap="none" strike="noStrike">
                <a:solidFill>
                  <a:srgbClr val="5F6368"/>
                </a:solidFill>
                <a:latin typeface="Arial"/>
                <a:ea typeface="Arial"/>
                <a:cs typeface="Arial"/>
                <a:sym typeface="Arial"/>
              </a:defRPr>
            </a:lvl4pPr>
            <a:lvl5pPr indent="0" lvl="4" marL="0" marR="0" algn="l">
              <a:spcBef>
                <a:spcPts val="0"/>
              </a:spcBef>
              <a:buNone/>
              <a:defRPr b="0" i="0" sz="1100" u="none" cap="none" strike="noStrike">
                <a:solidFill>
                  <a:srgbClr val="5F6368"/>
                </a:solidFill>
                <a:latin typeface="Arial"/>
                <a:ea typeface="Arial"/>
                <a:cs typeface="Arial"/>
                <a:sym typeface="Arial"/>
              </a:defRPr>
            </a:lvl5pPr>
            <a:lvl6pPr indent="0" lvl="5" marL="0" marR="0" algn="l">
              <a:spcBef>
                <a:spcPts val="0"/>
              </a:spcBef>
              <a:buNone/>
              <a:defRPr b="0" i="0" sz="1100" u="none" cap="none" strike="noStrike">
                <a:solidFill>
                  <a:srgbClr val="5F6368"/>
                </a:solidFill>
                <a:latin typeface="Arial"/>
                <a:ea typeface="Arial"/>
                <a:cs typeface="Arial"/>
                <a:sym typeface="Arial"/>
              </a:defRPr>
            </a:lvl6pPr>
            <a:lvl7pPr indent="0" lvl="6" marL="0" marR="0" algn="l">
              <a:spcBef>
                <a:spcPts val="0"/>
              </a:spcBef>
              <a:buNone/>
              <a:defRPr b="0" i="0" sz="1100" u="none" cap="none" strike="noStrike">
                <a:solidFill>
                  <a:srgbClr val="5F6368"/>
                </a:solidFill>
                <a:latin typeface="Arial"/>
                <a:ea typeface="Arial"/>
                <a:cs typeface="Arial"/>
                <a:sym typeface="Arial"/>
              </a:defRPr>
            </a:lvl7pPr>
            <a:lvl8pPr indent="0" lvl="7" marL="0" marR="0" algn="l">
              <a:spcBef>
                <a:spcPts val="0"/>
              </a:spcBef>
              <a:buNone/>
              <a:defRPr b="0" i="0" sz="1100" u="none" cap="none" strike="noStrike">
                <a:solidFill>
                  <a:srgbClr val="5F6368"/>
                </a:solidFill>
                <a:latin typeface="Arial"/>
                <a:ea typeface="Arial"/>
                <a:cs typeface="Arial"/>
                <a:sym typeface="Arial"/>
              </a:defRPr>
            </a:lvl8pPr>
            <a:lvl9pPr indent="0" lvl="8" marL="0" marR="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100" u="none" cap="none" strike="noStrike">
                <a:solidFill>
                  <a:srgbClr val="5F6368"/>
                </a:solidFill>
                <a:latin typeface="Arial"/>
                <a:ea typeface="Arial"/>
                <a:cs typeface="Arial"/>
                <a:sym typeface="Arial"/>
              </a:defRPr>
            </a:lvl1pPr>
            <a:lvl2pPr indent="0" lvl="1" marL="0" marR="0" rtl="0" algn="l">
              <a:spcBef>
                <a:spcPts val="0"/>
              </a:spcBef>
              <a:buNone/>
              <a:defRPr b="0" i="0" sz="1100" u="none" cap="none" strike="noStrike">
                <a:solidFill>
                  <a:srgbClr val="5F6368"/>
                </a:solidFill>
                <a:latin typeface="Arial"/>
                <a:ea typeface="Arial"/>
                <a:cs typeface="Arial"/>
                <a:sym typeface="Arial"/>
              </a:defRPr>
            </a:lvl2pPr>
            <a:lvl3pPr indent="0" lvl="2" marL="0" marR="0" rtl="0" algn="l">
              <a:spcBef>
                <a:spcPts val="0"/>
              </a:spcBef>
              <a:buNone/>
              <a:defRPr b="0" i="0" sz="1100" u="none" cap="none" strike="noStrike">
                <a:solidFill>
                  <a:srgbClr val="5F6368"/>
                </a:solidFill>
                <a:latin typeface="Arial"/>
                <a:ea typeface="Arial"/>
                <a:cs typeface="Arial"/>
                <a:sym typeface="Arial"/>
              </a:defRPr>
            </a:lvl3pPr>
            <a:lvl4pPr indent="0" lvl="3" marL="0" marR="0" rtl="0" algn="l">
              <a:spcBef>
                <a:spcPts val="0"/>
              </a:spcBef>
              <a:buNone/>
              <a:defRPr b="0" i="0" sz="1100" u="none" cap="none" strike="noStrike">
                <a:solidFill>
                  <a:srgbClr val="5F6368"/>
                </a:solidFill>
                <a:latin typeface="Arial"/>
                <a:ea typeface="Arial"/>
                <a:cs typeface="Arial"/>
                <a:sym typeface="Arial"/>
              </a:defRPr>
            </a:lvl4pPr>
            <a:lvl5pPr indent="0" lvl="4" marL="0" marR="0" rtl="0" algn="l">
              <a:spcBef>
                <a:spcPts val="0"/>
              </a:spcBef>
              <a:buNone/>
              <a:defRPr b="0" i="0" sz="1100" u="none" cap="none" strike="noStrike">
                <a:solidFill>
                  <a:srgbClr val="5F6368"/>
                </a:solidFill>
                <a:latin typeface="Arial"/>
                <a:ea typeface="Arial"/>
                <a:cs typeface="Arial"/>
                <a:sym typeface="Arial"/>
              </a:defRPr>
            </a:lvl5pPr>
            <a:lvl6pPr indent="0" lvl="5" marL="0" marR="0" rtl="0" algn="l">
              <a:spcBef>
                <a:spcPts val="0"/>
              </a:spcBef>
              <a:buNone/>
              <a:defRPr b="0" i="0" sz="1100" u="none" cap="none" strike="noStrike">
                <a:solidFill>
                  <a:srgbClr val="5F6368"/>
                </a:solidFill>
                <a:latin typeface="Arial"/>
                <a:ea typeface="Arial"/>
                <a:cs typeface="Arial"/>
                <a:sym typeface="Arial"/>
              </a:defRPr>
            </a:lvl6pPr>
            <a:lvl7pPr indent="0" lvl="6" marL="0" marR="0" rtl="0" algn="l">
              <a:spcBef>
                <a:spcPts val="0"/>
              </a:spcBef>
              <a:buNone/>
              <a:defRPr b="0" i="0" sz="1100" u="none" cap="none" strike="noStrike">
                <a:solidFill>
                  <a:srgbClr val="5F6368"/>
                </a:solidFill>
                <a:latin typeface="Arial"/>
                <a:ea typeface="Arial"/>
                <a:cs typeface="Arial"/>
                <a:sym typeface="Arial"/>
              </a:defRPr>
            </a:lvl7pPr>
            <a:lvl8pPr indent="0" lvl="7" marL="0" marR="0" rtl="0" algn="l">
              <a:spcBef>
                <a:spcPts val="0"/>
              </a:spcBef>
              <a:buNone/>
              <a:defRPr b="0" i="0" sz="1100" u="none" cap="none" strike="noStrike">
                <a:solidFill>
                  <a:srgbClr val="5F6368"/>
                </a:solidFill>
                <a:latin typeface="Arial"/>
                <a:ea typeface="Arial"/>
                <a:cs typeface="Arial"/>
                <a:sym typeface="Arial"/>
              </a:defRPr>
            </a:lvl8pPr>
            <a:lvl9pPr indent="0" lvl="8" marL="0" marR="0" rtl="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comments" Target="../comments/commen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6"/>
          <p:cNvSpPr txBox="1"/>
          <p:nvPr/>
        </p:nvSpPr>
        <p:spPr>
          <a:xfrm>
            <a:off x="640080" y="2011680"/>
            <a:ext cx="10911600" cy="14631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25" name="Google Shape;25;p6"/>
          <p:cNvSpPr txBox="1"/>
          <p:nvPr/>
        </p:nvSpPr>
        <p:spPr>
          <a:xfrm>
            <a:off x="640080" y="3657600"/>
            <a:ext cx="1091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26" name="Google Shape;26;p6"/>
          <p:cNvSpPr txBox="1"/>
          <p:nvPr/>
        </p:nvSpPr>
        <p:spPr>
          <a:xfrm>
            <a:off x="640080" y="4754880"/>
            <a:ext cx="1091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7"/>
          <p:cNvSpPr txBox="1"/>
          <p:nvPr/>
        </p:nvSpPr>
        <p:spPr>
          <a:xfrm>
            <a:off x="57903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33" name="Google Shape;33;p7"/>
          <p:cNvSpPr txBox="1"/>
          <p:nvPr/>
        </p:nvSpPr>
        <p:spPr>
          <a:xfrm>
            <a:off x="640080" y="15544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34" name="Google Shape;34;p7"/>
          <p:cNvSpPr txBox="1"/>
          <p:nvPr/>
        </p:nvSpPr>
        <p:spPr>
          <a:xfrm>
            <a:off x="1463040" y="15544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35" name="Google Shape;35;p7"/>
          <p:cNvSpPr txBox="1"/>
          <p:nvPr/>
        </p:nvSpPr>
        <p:spPr>
          <a:xfrm>
            <a:off x="640080" y="219456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36" name="Google Shape;36;p7"/>
          <p:cNvSpPr txBox="1"/>
          <p:nvPr/>
        </p:nvSpPr>
        <p:spPr>
          <a:xfrm>
            <a:off x="1463040" y="21945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37" name="Google Shape;37;p7"/>
          <p:cNvSpPr txBox="1"/>
          <p:nvPr/>
        </p:nvSpPr>
        <p:spPr>
          <a:xfrm>
            <a:off x="640080" y="283464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38" name="Google Shape;38;p7"/>
          <p:cNvSpPr txBox="1"/>
          <p:nvPr/>
        </p:nvSpPr>
        <p:spPr>
          <a:xfrm>
            <a:off x="1463040" y="283464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39" name="Google Shape;39;p7"/>
          <p:cNvSpPr txBox="1"/>
          <p:nvPr/>
        </p:nvSpPr>
        <p:spPr>
          <a:xfrm>
            <a:off x="640080" y="347472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40" name="Google Shape;40;p7"/>
          <p:cNvSpPr txBox="1"/>
          <p:nvPr/>
        </p:nvSpPr>
        <p:spPr>
          <a:xfrm>
            <a:off x="1463040" y="347472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41" name="Google Shape;41;p7"/>
          <p:cNvSpPr txBox="1"/>
          <p:nvPr/>
        </p:nvSpPr>
        <p:spPr>
          <a:xfrm>
            <a:off x="640080" y="4114800"/>
            <a:ext cx="731400" cy="50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Arial"/>
              <a:buNone/>
            </a:pPr>
            <a:r>
              <a:rPr b="1" lang="en-US" sz="2200">
                <a:solidFill>
                  <a:schemeClr val="dk2"/>
                </a:solidFill>
              </a:rPr>
              <a:t>05</a:t>
            </a:r>
            <a:endParaRPr b="0" i="0" sz="2200" u="none" cap="none" strike="noStrike">
              <a:solidFill>
                <a:schemeClr val="dk1"/>
              </a:solidFill>
              <a:latin typeface="Arial"/>
              <a:ea typeface="Arial"/>
              <a:cs typeface="Arial"/>
              <a:sym typeface="Arial"/>
            </a:endParaRPr>
          </a:p>
        </p:txBody>
      </p:sp>
      <p:sp>
        <p:nvSpPr>
          <p:cNvPr id="42" name="Google Shape;42;p7"/>
          <p:cNvSpPr txBox="1"/>
          <p:nvPr/>
        </p:nvSpPr>
        <p:spPr>
          <a:xfrm>
            <a:off x="1463040" y="411480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lang="en-US" sz="2200">
                <a:solidFill>
                  <a:schemeClr val="dk1"/>
                </a:solidFill>
              </a:rPr>
              <a:t>Open Floor</a:t>
            </a:r>
            <a:endParaRPr b="0" i="0" sz="2200" u="none" cap="none" strike="noStrike">
              <a:solidFill>
                <a:schemeClr val="dk1"/>
              </a:solidFill>
              <a:latin typeface="Arial"/>
              <a:ea typeface="Arial"/>
              <a:cs typeface="Arial"/>
              <a:sym typeface="Arial"/>
            </a:endParaRPr>
          </a:p>
        </p:txBody>
      </p:sp>
      <p:sp>
        <p:nvSpPr>
          <p:cNvPr id="43" name="Google Shape;43;p7"/>
          <p:cNvSpPr txBox="1"/>
          <p:nvPr/>
        </p:nvSpPr>
        <p:spPr>
          <a:xfrm>
            <a:off x="579030" y="47548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4" name="Google Shape;44;p7"/>
          <p:cNvSpPr txBox="1"/>
          <p:nvPr/>
        </p:nvSpPr>
        <p:spPr>
          <a:xfrm>
            <a:off x="1463040" y="47548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5" name="Google Shape;45;p7"/>
          <p:cNvSpPr txBox="1"/>
          <p:nvPr/>
        </p:nvSpPr>
        <p:spPr>
          <a:xfrm>
            <a:off x="1463040" y="53949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6" name="Google Shape;46;p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8"/>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53" name="Google Shape;53;p8"/>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60" name="Google Shape;60;p9"/>
          <p:cNvSpPr txBox="1"/>
          <p:nvPr/>
        </p:nvSpPr>
        <p:spPr>
          <a:xfrm>
            <a:off x="3866575" y="2014675"/>
            <a:ext cx="7583400" cy="44070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2200">
                <a:solidFill>
                  <a:schemeClr val="dk1"/>
                </a:solidFill>
              </a:rPr>
              <a:t>Replicability Crisis:</a:t>
            </a:r>
            <a:r>
              <a:rPr lang="en-US" sz="2200">
                <a:solidFill>
                  <a:schemeClr val="dk1"/>
                </a:solidFill>
              </a:rPr>
              <a:t> Researchers struggle to obtain usable experimental artifacts. </a:t>
            </a:r>
            <a:endParaRPr sz="2200">
              <a:solidFill>
                <a:schemeClr val="dk1"/>
              </a:solidFill>
            </a:endParaRPr>
          </a:p>
          <a:p>
            <a:pPr indent="0" lvl="0" marL="0" rtl="0" algn="l">
              <a:spcBef>
                <a:spcPts val="1000"/>
              </a:spcBef>
              <a:spcAft>
                <a:spcPts val="0"/>
              </a:spcAft>
              <a:buNone/>
            </a:pPr>
            <a:r>
              <a:rPr b="1" lang="en-US" sz="2200">
                <a:solidFill>
                  <a:schemeClr val="dk1"/>
                </a:solidFill>
              </a:rPr>
              <a:t>Adoption Since 2011</a:t>
            </a:r>
            <a:r>
              <a:rPr lang="en-US" sz="2200">
                <a:solidFill>
                  <a:schemeClr val="dk1"/>
                </a:solidFill>
              </a:rPr>
              <a:t>: Conferences award badges via voluntary peer audits. </a:t>
            </a:r>
            <a:endParaRPr sz="2200">
              <a:solidFill>
                <a:schemeClr val="dk1"/>
              </a:solidFill>
            </a:endParaRPr>
          </a:p>
          <a:p>
            <a:pPr indent="0" lvl="0" marL="0" rtl="0" algn="l">
              <a:spcBef>
                <a:spcPts val="1000"/>
              </a:spcBef>
              <a:spcAft>
                <a:spcPts val="0"/>
              </a:spcAft>
              <a:buNone/>
            </a:pPr>
            <a:r>
              <a:rPr b="1" lang="en-US" sz="2200">
                <a:solidFill>
                  <a:schemeClr val="dk1"/>
                </a:solidFill>
              </a:rPr>
              <a:t>Core Problem</a:t>
            </a:r>
            <a:r>
              <a:rPr lang="en-US" sz="2200">
                <a:solidFill>
                  <a:schemeClr val="dk1"/>
                </a:solidFill>
              </a:rPr>
              <a:t>: Guidelines lack uniform thresholds for artifact quality.</a:t>
            </a:r>
            <a:endParaRPr sz="2200">
              <a:solidFill>
                <a:schemeClr val="dk1"/>
              </a:solidFill>
            </a:endParaRPr>
          </a:p>
          <a:p>
            <a:pPr indent="0" lvl="0" marL="0" rtl="0" algn="l">
              <a:spcBef>
                <a:spcPts val="1000"/>
              </a:spcBef>
              <a:spcAft>
                <a:spcPts val="0"/>
              </a:spcAft>
              <a:buNone/>
            </a:pPr>
            <a:r>
              <a:rPr b="1" lang="en-US" sz="2200">
                <a:solidFill>
                  <a:schemeClr val="dk1"/>
                </a:solidFill>
              </a:rPr>
              <a:t>Main Contribution</a:t>
            </a:r>
            <a:r>
              <a:rPr lang="en-US" sz="2200">
                <a:solidFill>
                  <a:schemeClr val="dk1"/>
                </a:solidFill>
              </a:rPr>
              <a:t>: Empirical survey of 255 committee reviewers.</a:t>
            </a:r>
            <a:endParaRPr sz="2200">
              <a:solidFill>
                <a:schemeClr val="dk1"/>
              </a:solidFill>
            </a:endParaRPr>
          </a:p>
        </p:txBody>
      </p:sp>
      <p:sp>
        <p:nvSpPr>
          <p:cNvPr id="61" name="Google Shape;61;p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2" name="Google Shape;62;p9"/>
          <p:cNvSpPr txBox="1"/>
          <p:nvPr/>
        </p:nvSpPr>
        <p:spPr>
          <a:xfrm>
            <a:off x="305250" y="2014675"/>
            <a:ext cx="3449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Evaluating the efficacy of Artifact Evaluation across </a:t>
            </a:r>
            <a:endParaRPr b="1" sz="2500">
              <a:solidFill>
                <a:schemeClr val="dk2"/>
              </a:solidFill>
              <a:highlight>
                <a:schemeClr val="lt1"/>
              </a:highlight>
              <a:latin typeface="Playfair Display"/>
              <a:ea typeface="Playfair Display"/>
              <a:cs typeface="Playfair Display"/>
              <a:sym typeface="Playfair Display"/>
            </a:endParaRPr>
          </a:p>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Software Engineering and Programming Languages.</a:t>
            </a:r>
            <a:r>
              <a:rPr b="1" lang="en-US" sz="2500">
                <a:solidFill>
                  <a:schemeClr val="dk2"/>
                </a:solidFill>
              </a:rPr>
              <a:t> </a:t>
            </a:r>
            <a:endParaRPr b="1" sz="2500">
              <a:solidFill>
                <a:schemeClr val="dk2"/>
              </a:solidFill>
            </a:endParaRPr>
          </a:p>
        </p:txBody>
      </p:sp>
      <p:pic>
        <p:nvPicPr>
          <p:cNvPr id="63" name="Google Shape;63;p9"/>
          <p:cNvPicPr preferRelativeResize="0"/>
          <p:nvPr/>
        </p:nvPicPr>
        <p:blipFill>
          <a:blip r:embed="rId3">
            <a:alphaModFix/>
          </a:blip>
          <a:stretch>
            <a:fillRect/>
          </a:stretch>
        </p:blipFill>
        <p:spPr>
          <a:xfrm rot="-5">
            <a:off x="9862374" y="172974"/>
            <a:ext cx="1384750" cy="13775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70" name="Google Shape;70;p1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71" name="Google Shape;71;p10"/>
          <p:cNvSpPr txBox="1"/>
          <p:nvPr/>
        </p:nvSpPr>
        <p:spPr>
          <a:xfrm>
            <a:off x="640075" y="5267300"/>
            <a:ext cx="9547200" cy="10878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1800">
                <a:solidFill>
                  <a:schemeClr val="dk2"/>
                </a:solidFill>
              </a:rPr>
              <a:t>Question:</a:t>
            </a:r>
            <a:r>
              <a:rPr lang="en-US" sz="1800">
                <a:solidFill>
                  <a:srgbClr val="1A1A1A"/>
                </a:solidFill>
              </a:rPr>
              <a:t> Since computer science, data science, and empirical software engineering overlap so heavily with statistics, how can a reviewer or author know what conference guidelines actually expect when these words are used without a glossary? What </a:t>
            </a:r>
            <a:r>
              <a:rPr lang="en-US" sz="1800">
                <a:solidFill>
                  <a:schemeClr val="dk1"/>
                </a:solidFill>
              </a:rPr>
              <a:t>problems </a:t>
            </a:r>
            <a:r>
              <a:rPr lang="en-US" sz="1800">
                <a:solidFill>
                  <a:srgbClr val="1A1A1A"/>
                </a:solidFill>
              </a:rPr>
              <a:t>c</a:t>
            </a:r>
            <a:r>
              <a:rPr lang="en-US" sz="1800">
                <a:solidFill>
                  <a:srgbClr val="1A1A1A"/>
                </a:solidFill>
              </a:rPr>
              <a:t>ould this cause? </a:t>
            </a:r>
            <a:endParaRPr sz="1800">
              <a:solidFill>
                <a:srgbClr val="1A1A1A"/>
              </a:solidFill>
            </a:endParaRPr>
          </a:p>
        </p:txBody>
      </p:sp>
      <p:graphicFrame>
        <p:nvGraphicFramePr>
          <p:cNvPr id="72" name="Google Shape;72;p10"/>
          <p:cNvGraphicFramePr/>
          <p:nvPr/>
        </p:nvGraphicFramePr>
        <p:xfrm>
          <a:off x="606867" y="1214192"/>
          <a:ext cx="3000000" cy="3000000"/>
        </p:xfrm>
        <a:graphic>
          <a:graphicData uri="http://schemas.openxmlformats.org/drawingml/2006/table">
            <a:tbl>
              <a:tblPr>
                <a:noFill/>
                <a:tableStyleId>{FAA253EF-18A9-426E-A8DC-01BEB4598855}</a:tableStyleId>
              </a:tblPr>
              <a:tblGrid>
                <a:gridCol w="2195600"/>
                <a:gridCol w="2195600"/>
                <a:gridCol w="2195600"/>
                <a:gridCol w="2195600"/>
                <a:gridCol w="2195600"/>
              </a:tblGrid>
              <a:tr h="734400">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Term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Who Performs it?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Experimental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ACM Guideline Role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ASA Definition Clash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8104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Repeatability</a:t>
                      </a:r>
                      <a:endParaRPr b="1" sz="2000" u="none" cap="none" strike="noStrike"/>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Same 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Baseline requirement</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Same as ACM</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11221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Replicability </a:t>
                      </a:r>
                      <a:endParaRPr b="1"/>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 (authors Artifact)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2000">
                          <a:solidFill>
                            <a:srgbClr val="1A1A1A"/>
                          </a:solidFill>
                        </a:rPr>
                        <a:t>Direct goal of Artifact Evaluation</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2000">
                          <a:solidFill>
                            <a:schemeClr val="dk1"/>
                          </a:solidFill>
                        </a:rPr>
                        <a:t>Called Reproducibility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1122100">
                <a:tc>
                  <a:txBody>
                    <a:bodyPr/>
                    <a:lstStyle/>
                    <a:p>
                      <a:pPr indent="0" lvl="0" marL="0" marR="0" rtl="0" algn="l">
                        <a:spcBef>
                          <a:spcPts val="0"/>
                        </a:spcBef>
                        <a:spcAft>
                          <a:spcPts val="0"/>
                        </a:spcAft>
                        <a:buClr>
                          <a:srgbClr val="1A1A1A"/>
                        </a:buClr>
                        <a:buSzPts val="2000"/>
                        <a:buFont typeface="Arial"/>
                        <a:buNone/>
                      </a:pPr>
                      <a:r>
                        <a:rPr b="1" lang="en-US" sz="2000">
                          <a:solidFill>
                            <a:schemeClr val="dk1"/>
                          </a:solidFil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Different Team</a:t>
                      </a:r>
                      <a:endParaRPr sz="2000"/>
                    </a:p>
                    <a:p>
                      <a:pPr indent="0" lvl="0" marL="0" rtl="0" algn="l">
                        <a:spcBef>
                          <a:spcPts val="0"/>
                        </a:spcBef>
                        <a:spcAft>
                          <a:spcPts val="0"/>
                        </a:spcAft>
                        <a:buClr>
                          <a:schemeClr val="dk1"/>
                        </a:buClr>
                        <a:buSzPts val="2000"/>
                        <a:buFont typeface="Arial"/>
                        <a:buNone/>
                      </a:pPr>
                      <a:r>
                        <a:t/>
                      </a:r>
                      <a:endParaRPr sz="2000">
                        <a:solidFill>
                          <a:schemeClr val="dk1"/>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Long-term Goal</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Called Replication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1"/>
          <p:cNvSpPr txBox="1"/>
          <p:nvPr/>
        </p:nvSpPr>
        <p:spPr>
          <a:xfrm>
            <a:off x="640080" y="396285"/>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9" name="Google Shape;79;p1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RQ1 (Purpose):</a:t>
            </a:r>
            <a:r>
              <a:rPr lang="en-US" sz="2200">
                <a:solidFill>
                  <a:srgbClr val="1A1A1A"/>
                </a:solidFill>
              </a:rPr>
              <a:t> What is the perceived purpose of artifact evaluation in the software engineering and programming languages communities?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RQ2 (Quality Criteria &amp; Expectations):</a:t>
            </a:r>
            <a:r>
              <a:rPr lang="en-US" sz="2200">
                <a:solidFill>
                  <a:srgbClr val="1A1A1A"/>
                </a:solidFill>
              </a:rPr>
              <a:t> What quality criteria and expectations do researchers have toward research artifacts (both as reviewers on an AEC and as users reusing artifacts across code, data, and proofs)?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RQ3 (Community Differences):</a:t>
            </a:r>
            <a:r>
              <a:rPr lang="en-US" sz="2200">
                <a:solidFill>
                  <a:srgbClr val="1A1A1A"/>
                </a:solidFill>
              </a:rPr>
              <a:t> What is the magnitude of difference in the perception of purpose and expectations between the </a:t>
            </a:r>
            <a:r>
              <a:rPr lang="en-US" sz="2200">
                <a:solidFill>
                  <a:schemeClr val="dk1"/>
                </a:solidFill>
              </a:rPr>
              <a:t>software engineering and programming languages</a:t>
            </a:r>
            <a:r>
              <a:rPr lang="en-US" sz="2200">
                <a:solidFill>
                  <a:srgbClr val="1A1A1A"/>
                </a:solidFill>
              </a:rPr>
              <a:t> communities?</a:t>
            </a:r>
            <a:endParaRPr b="0" i="0" sz="2200" u="none" cap="none" strike="noStrike">
              <a:solidFill>
                <a:schemeClr val="dk1"/>
              </a:solidFill>
              <a:latin typeface="Arial"/>
              <a:ea typeface="Arial"/>
              <a:cs typeface="Arial"/>
              <a:sym typeface="Arial"/>
            </a:endParaRPr>
          </a:p>
          <a:p>
            <a:pPr indent="0" lvl="0" marL="457200" marR="0" rtl="0" algn="l">
              <a:spcBef>
                <a:spcPts val="1000"/>
              </a:spcBef>
              <a:spcAft>
                <a:spcPts val="0"/>
              </a:spcAft>
              <a:buNone/>
            </a:pPr>
            <a:r>
              <a:t/>
            </a:r>
            <a:endParaRPr b="1" sz="2200">
              <a:solidFill>
                <a:srgbClr val="1A1A1A"/>
              </a:solidFill>
            </a:endParaRPr>
          </a:p>
          <a:p>
            <a:pPr indent="0" lvl="0" marL="0" marR="0" rtl="0" algn="l">
              <a:spcBef>
                <a:spcPts val="1000"/>
              </a:spcBef>
              <a:spcAft>
                <a:spcPts val="0"/>
              </a:spcAft>
              <a:buNone/>
            </a:pPr>
            <a:r>
              <a:rPr b="1" lang="en-US" sz="1800">
                <a:solidFill>
                  <a:schemeClr val="dk2"/>
                </a:solidFill>
              </a:rPr>
              <a:t>Question:</a:t>
            </a:r>
            <a:r>
              <a:rPr b="1" lang="en-US" sz="1800">
                <a:solidFill>
                  <a:srgbClr val="1A1A1A"/>
                </a:solidFill>
              </a:rPr>
              <a:t> </a:t>
            </a:r>
            <a:endParaRPr b="1" sz="1800">
              <a:solidFill>
                <a:srgbClr val="1A1A1A"/>
              </a:solidFill>
            </a:endParaRPr>
          </a:p>
          <a:p>
            <a:pPr indent="0" lvl="0" marL="0" marR="0" rtl="0" algn="l">
              <a:spcBef>
                <a:spcPts val="1000"/>
              </a:spcBef>
              <a:spcAft>
                <a:spcPts val="0"/>
              </a:spcAft>
              <a:buNone/>
            </a:pPr>
            <a:r>
              <a:rPr lang="en-US" sz="1800">
                <a:solidFill>
                  <a:srgbClr val="1A1A1A"/>
                </a:solidFill>
              </a:rPr>
              <a:t>Do you think RQ1–RQ3 actually tackle the root problem of Artifact Evaluation, or is there a missing RQ4 that the authors should have added?Did the authors diagnose the right problem, or did they leave out a huge piece of the puzzle?</a:t>
            </a:r>
            <a:endParaRPr sz="1800">
              <a:solidFill>
                <a:srgbClr val="1A1A1A"/>
              </a:solidFill>
            </a:endParaRPr>
          </a:p>
        </p:txBody>
      </p:sp>
      <p:sp>
        <p:nvSpPr>
          <p:cNvPr id="80" name="Google Shape;80;p1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87" name="Google Shape;87;p12"/>
          <p:cNvSpPr txBox="1"/>
          <p:nvPr/>
        </p:nvSpPr>
        <p:spPr>
          <a:xfrm>
            <a:off x="539055" y="4284790"/>
            <a:ext cx="10911600" cy="4755000"/>
          </a:xfrm>
          <a:prstGeom prst="rect">
            <a:avLst/>
          </a:prstGeom>
          <a:noFill/>
          <a:ln>
            <a:noFill/>
          </a:ln>
        </p:spPr>
        <p:txBody>
          <a:bodyPr anchorCtr="0" anchor="t" bIns="0" lIns="0" spcFirstLastPara="1" rIns="0" wrap="square" tIns="0">
            <a:noAutofit/>
          </a:bodyPr>
          <a:lstStyle/>
          <a:p>
            <a:pPr indent="0" lvl="0" marL="457200" marR="0" rtl="0" algn="l">
              <a:spcBef>
                <a:spcPts val="1000"/>
              </a:spcBef>
              <a:spcAft>
                <a:spcPts val="0"/>
              </a:spcAft>
              <a:buNone/>
            </a:pPr>
            <a:r>
              <a:rPr b="1" lang="en-US" sz="2200">
                <a:solidFill>
                  <a:schemeClr val="dk2"/>
                </a:solidFill>
              </a:rPr>
              <a:t>Question:</a:t>
            </a:r>
            <a:r>
              <a:rPr b="1" lang="en-US" sz="2200">
                <a:solidFill>
                  <a:srgbClr val="1A1A1A"/>
                </a:solidFill>
              </a:rPr>
              <a:t> </a:t>
            </a:r>
            <a:endParaRPr b="1" sz="2200">
              <a:solidFill>
                <a:srgbClr val="1A1A1A"/>
              </a:solidFill>
            </a:endParaRPr>
          </a:p>
          <a:p>
            <a:pPr indent="-368300" lvl="0" marL="457200" marR="0" rtl="0" algn="l">
              <a:spcBef>
                <a:spcPts val="1000"/>
              </a:spcBef>
              <a:spcAft>
                <a:spcPts val="0"/>
              </a:spcAft>
              <a:buClr>
                <a:srgbClr val="1A1A1A"/>
              </a:buClr>
              <a:buSzPts val="2200"/>
              <a:buChar char="-"/>
            </a:pPr>
            <a:r>
              <a:rPr lang="en-US" sz="2200">
                <a:solidFill>
                  <a:srgbClr val="1A1A1A"/>
                </a:solidFill>
              </a:rPr>
              <a:t>If real-world reuse is so low and badges aren't noticeably improving quality, is the massive amount of volunteer time spent on AECs actually worth it? </a:t>
            </a:r>
            <a:endParaRPr sz="2200">
              <a:solidFill>
                <a:srgbClr val="1A1A1A"/>
              </a:solidFill>
            </a:endParaRPr>
          </a:p>
          <a:p>
            <a:pPr indent="-368300" lvl="0" marL="457200" marR="0" rtl="0" algn="l">
              <a:spcBef>
                <a:spcPts val="0"/>
              </a:spcBef>
              <a:spcAft>
                <a:spcPts val="0"/>
              </a:spcAft>
              <a:buClr>
                <a:srgbClr val="1A1A1A"/>
              </a:buClr>
              <a:buSzPts val="2200"/>
              <a:buChar char="-"/>
            </a:pPr>
            <a:r>
              <a:rPr lang="en-US" sz="2200">
                <a:solidFill>
                  <a:srgbClr val="1A1A1A"/>
                </a:solidFill>
              </a:rPr>
              <a:t>How should we redefine 'success' for an artifact if the end-goal isn't just to prove it ran once for a reviewer, but to help someone else build on it? </a:t>
            </a:r>
            <a:endParaRPr b="0" i="0" sz="2200" u="none" cap="none" strike="noStrike">
              <a:solidFill>
                <a:schemeClr val="dk1"/>
              </a:solidFill>
              <a:latin typeface="Arial"/>
              <a:ea typeface="Arial"/>
              <a:cs typeface="Arial"/>
              <a:sym typeface="Arial"/>
            </a:endParaRPr>
          </a:p>
        </p:txBody>
      </p:sp>
      <p:sp>
        <p:nvSpPr>
          <p:cNvPr id="88" name="Google Shape;88;p1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pic>
        <p:nvPicPr>
          <p:cNvPr id="89" name="Google Shape;89;p12"/>
          <p:cNvPicPr preferRelativeResize="0"/>
          <p:nvPr/>
        </p:nvPicPr>
        <p:blipFill>
          <a:blip r:embed="rId3">
            <a:alphaModFix/>
          </a:blip>
          <a:stretch>
            <a:fillRect/>
          </a:stretch>
        </p:blipFill>
        <p:spPr>
          <a:xfrm>
            <a:off x="539050" y="1236274"/>
            <a:ext cx="9988784" cy="3048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96" name="Google Shape;96;p13"/>
          <p:cNvSpPr txBox="1"/>
          <p:nvPr/>
        </p:nvSpPr>
        <p:spPr>
          <a:xfrm>
            <a:off x="690953" y="1609725"/>
            <a:ext cx="5215500" cy="475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50">
                <a:solidFill>
                  <a:schemeClr val="dk2"/>
                </a:solidFill>
              </a:rPr>
              <a:t>Validity Threats &amp; Implications:</a:t>
            </a:r>
            <a:endParaRPr b="1" sz="2250">
              <a:solidFill>
                <a:schemeClr val="dk2"/>
              </a:solidFill>
            </a:endParaRPr>
          </a:p>
          <a:p>
            <a:pPr indent="0" lvl="0" marL="0" rtl="0" algn="l">
              <a:spcBef>
                <a:spcPts val="0"/>
              </a:spcBef>
              <a:spcAft>
                <a:spcPts val="0"/>
              </a:spcAft>
              <a:buNone/>
            </a:pPr>
            <a:r>
              <a:t/>
            </a:r>
            <a:endParaRPr b="1" sz="2250">
              <a:solidFill>
                <a:schemeClr val="dk2"/>
              </a:solidFill>
            </a:endParaRPr>
          </a:p>
          <a:p>
            <a:pPr indent="0" lvl="0" marL="0" rtl="0" algn="l">
              <a:spcBef>
                <a:spcPts val="0"/>
              </a:spcBef>
              <a:spcAft>
                <a:spcPts val="0"/>
              </a:spcAft>
              <a:buNone/>
            </a:pPr>
            <a:r>
              <a:rPr b="1" lang="en-US" sz="1800">
                <a:solidFill>
                  <a:schemeClr val="dk1"/>
                </a:solidFill>
              </a:rPr>
              <a:t>Selection Bias: </a:t>
            </a:r>
            <a:r>
              <a:rPr lang="en-US" sz="1800">
                <a:solidFill>
                  <a:schemeClr val="dk1"/>
                </a:solidFill>
              </a:rPr>
              <a:t>Surveyed AEC insiders rather than external readers.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Experience Gap:</a:t>
            </a:r>
            <a:r>
              <a:rPr lang="en-US" sz="1800">
                <a:solidFill>
                  <a:schemeClr val="dk1"/>
                </a:solidFill>
              </a:rPr>
              <a:t> 34% of reviewers never submitted an artifact.</a:t>
            </a:r>
            <a:endParaRPr sz="1800">
              <a:solidFill>
                <a:schemeClr val="dk1"/>
              </a:solidFill>
            </a:endParaRPr>
          </a:p>
          <a:p>
            <a:pPr indent="0" lvl="0" marL="0" rtl="0" algn="l">
              <a:spcBef>
                <a:spcPts val="0"/>
              </a:spcBef>
              <a:spcAft>
                <a:spcPts val="0"/>
              </a:spcAft>
              <a:buClr>
                <a:srgbClr val="000000"/>
              </a:buClr>
              <a:buFont typeface="Arial"/>
              <a:buNone/>
            </a:pPr>
            <a:r>
              <a:t/>
            </a:r>
            <a:endParaRPr b="1" sz="2250">
              <a:solidFill>
                <a:schemeClr val="dk2"/>
              </a:solidFill>
              <a:latin typeface="DM Sans"/>
              <a:ea typeface="DM Sans"/>
              <a:cs typeface="DM Sans"/>
              <a:sym typeface="DM Sans"/>
            </a:endParaRPr>
          </a:p>
          <a:p>
            <a:pPr indent="0" lvl="0" marL="457200" marR="0" rtl="0" algn="l">
              <a:spcBef>
                <a:spcPts val="1000"/>
              </a:spcBef>
              <a:spcAft>
                <a:spcPts val="0"/>
              </a:spcAft>
              <a:buNone/>
            </a:pPr>
            <a:r>
              <a:t/>
            </a:r>
            <a:endParaRPr sz="2200">
              <a:solidFill>
                <a:srgbClr val="1A1A1A"/>
              </a:solidFill>
            </a:endParaRPr>
          </a:p>
        </p:txBody>
      </p:sp>
      <p:sp>
        <p:nvSpPr>
          <p:cNvPr id="97" name="Google Shape;97;p1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98" name="Google Shape;98;p13"/>
          <p:cNvSpPr/>
          <p:nvPr/>
        </p:nvSpPr>
        <p:spPr>
          <a:xfrm>
            <a:off x="5855642" y="1609725"/>
            <a:ext cx="9600" cy="3619500"/>
          </a:xfrm>
          <a:prstGeom prst="rect">
            <a:avLst/>
          </a:prstGeom>
          <a:solidFill>
            <a:srgbClr val="3F3F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2"/>
              </a:solidFill>
              <a:latin typeface="Calibri"/>
              <a:ea typeface="Calibri"/>
              <a:cs typeface="Calibri"/>
              <a:sym typeface="Calibri"/>
            </a:endParaRPr>
          </a:p>
        </p:txBody>
      </p:sp>
      <p:sp>
        <p:nvSpPr>
          <p:cNvPr id="99" name="Google Shape;99;p13"/>
          <p:cNvSpPr txBox="1"/>
          <p:nvPr/>
        </p:nvSpPr>
        <p:spPr>
          <a:xfrm>
            <a:off x="6196625" y="1508413"/>
            <a:ext cx="5738700" cy="46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dk2"/>
                </a:solidFill>
              </a:rPr>
              <a:t>Question:</a:t>
            </a:r>
            <a:endParaRPr b="1" sz="2200">
              <a:solidFill>
                <a:schemeClr val="dk2"/>
              </a:solidFill>
            </a:endParaRPr>
          </a:p>
          <a:p>
            <a:pPr indent="0" lvl="0" marL="0" rtl="0" algn="l">
              <a:spcBef>
                <a:spcPts val="0"/>
              </a:spcBef>
              <a:spcAft>
                <a:spcPts val="0"/>
              </a:spcAft>
              <a:buNone/>
            </a:pPr>
            <a:r>
              <a:t/>
            </a:r>
            <a:endParaRPr b="1" sz="2200">
              <a:solidFill>
                <a:schemeClr val="dk2"/>
              </a:solidFill>
            </a:endParaRPr>
          </a:p>
          <a:p>
            <a:pPr indent="0" lvl="0" marL="0" rtl="0" algn="l">
              <a:spcBef>
                <a:spcPts val="0"/>
              </a:spcBef>
              <a:spcAft>
                <a:spcPts val="0"/>
              </a:spcAft>
              <a:buNone/>
            </a:pPr>
            <a:r>
              <a:rPr b="1" lang="en-US" sz="1800">
                <a:solidFill>
                  <a:schemeClr val="dk1"/>
                </a:solidFill>
              </a:rPr>
              <a:t>Selection Bias Trade-off:</a:t>
            </a:r>
            <a:r>
              <a:rPr lang="en-US" sz="1800">
                <a:solidFill>
                  <a:schemeClr val="dk1"/>
                </a:solidFill>
              </a:rPr>
              <a:t> The authors chose surveying only AEC insiders over the risk of outsiders misunderstanding questions, does excluding non-submitters invalidate their claim of capturing "community expectations"?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The "Expert" Problem:</a:t>
            </a:r>
            <a:r>
              <a:rPr lang="en-US" sz="1800">
                <a:solidFill>
                  <a:schemeClr val="dk1"/>
                </a:solidFill>
              </a:rPr>
              <a:t> Since 34% of surveyed AEC members have never submitted an artifact and ~70% have never reused one, does relying on theoretical rather than practical views undermine the survey's validity?</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106" name="Google Shape;106;p1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07" name="Google Shape;107;p14"/>
          <p:cNvSpPr txBox="1"/>
          <p:nvPr/>
        </p:nvSpPr>
        <p:spPr>
          <a:xfrm>
            <a:off x="640075" y="1308963"/>
            <a:ext cx="10769100" cy="4888800"/>
          </a:xfrm>
          <a:prstGeom prst="rect">
            <a:avLst/>
          </a:prstGeom>
          <a:noFill/>
          <a:ln>
            <a:noFill/>
          </a:ln>
        </p:spPr>
        <p:txBody>
          <a:bodyPr anchorCtr="0" anchor="t" bIns="0" lIns="0" spcFirstLastPara="1" rIns="0" wrap="square" tIns="0">
            <a:noAutofit/>
          </a:bodyPr>
          <a:lstStyle/>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Since </a:t>
            </a:r>
            <a:r>
              <a:rPr b="1" lang="en-US" sz="2200">
                <a:solidFill>
                  <a:schemeClr val="dk2"/>
                </a:solidFill>
              </a:rPr>
              <a:t>reviews</a:t>
            </a:r>
            <a:r>
              <a:rPr lang="en-US" sz="2200">
                <a:solidFill>
                  <a:srgbClr val="1A1A1A"/>
                </a:solidFill>
              </a:rPr>
              <a:t> </a:t>
            </a:r>
            <a:r>
              <a:rPr lang="en-US" sz="2200">
                <a:solidFill>
                  <a:schemeClr val="dk1"/>
                </a:solidFill>
              </a:rPr>
              <a:t>caught hardcoded outputs</a:t>
            </a:r>
            <a:r>
              <a:rPr lang="en-US" sz="2200">
                <a:solidFill>
                  <a:srgbClr val="1A1A1A"/>
                </a:solidFill>
              </a:rPr>
              <a:t> that forced a paper withdrawal, should passing AE be </a:t>
            </a:r>
            <a:r>
              <a:rPr b="1" lang="en-US" sz="2200">
                <a:solidFill>
                  <a:schemeClr val="dk2"/>
                </a:solidFill>
              </a:rPr>
              <a:t>required for paper acceptance</a:t>
            </a:r>
            <a:r>
              <a:rPr lang="en-US" sz="2200">
                <a:solidFill>
                  <a:srgbClr val="1A1A1A"/>
                </a:solidFill>
              </a:rPr>
              <a:t> or would that unfairly exclude research with proprietary data, privacy constraints, or small budgets?</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The Paper shows that </a:t>
            </a:r>
            <a:r>
              <a:rPr b="1" lang="en-US" sz="2200">
                <a:solidFill>
                  <a:schemeClr val="dk2"/>
                </a:solidFill>
              </a:rPr>
              <a:t>evaluators expect artifacts</a:t>
            </a:r>
            <a:r>
              <a:rPr lang="en-US" sz="2200">
                <a:solidFill>
                  <a:srgbClr val="1A1A1A"/>
                </a:solidFill>
              </a:rPr>
              <a:t> to be functional, well-documented, and reusable, and suggest clearer conference guidelines will help achieve this. Put yourself in the shoes of a </a:t>
            </a:r>
            <a:r>
              <a:rPr b="1" lang="en-US" sz="2200">
                <a:solidFill>
                  <a:schemeClr val="dk2"/>
                </a:solidFill>
              </a:rPr>
              <a:t>stressed PhD (Master) student</a:t>
            </a:r>
            <a:r>
              <a:rPr lang="en-US" sz="2200">
                <a:solidFill>
                  <a:srgbClr val="1A1A1A"/>
                </a:solidFill>
              </a:rPr>
              <a:t> a week before a deadline:</a:t>
            </a:r>
            <a:endParaRPr sz="2200">
              <a:solidFill>
                <a:srgbClr val="1A1A1A"/>
              </a:solidFill>
            </a:endParaRPr>
          </a:p>
          <a:p>
            <a:pPr indent="0" lvl="0" marL="457200" marR="0" rtl="0" algn="l">
              <a:spcBef>
                <a:spcPts val="1000"/>
              </a:spcBef>
              <a:spcAft>
                <a:spcPts val="0"/>
              </a:spcAft>
              <a:buNone/>
            </a:pPr>
            <a:r>
              <a:rPr lang="en-US" sz="2200">
                <a:solidFill>
                  <a:srgbClr val="1A1A1A"/>
                </a:solidFill>
              </a:rPr>
              <a:t>If a conference writes the most perfectly standardized </a:t>
            </a:r>
            <a:r>
              <a:rPr lang="en-US" sz="2200">
                <a:solidFill>
                  <a:schemeClr val="dk1"/>
                </a:solidFill>
              </a:rPr>
              <a:t>conference guidelines</a:t>
            </a:r>
            <a:r>
              <a:rPr lang="en-US" sz="2200">
                <a:solidFill>
                  <a:srgbClr val="1A1A1A"/>
                </a:solidFill>
              </a:rPr>
              <a:t>, will that actually result in you submitting better code? </a:t>
            </a:r>
            <a:r>
              <a:rPr b="1" lang="en-US" sz="2200">
                <a:solidFill>
                  <a:schemeClr val="dk2"/>
                </a:solidFill>
              </a:rPr>
              <a:t>Why or why not?</a:t>
            </a:r>
            <a:endParaRPr b="1" i="0" sz="2200" u="none" cap="none" strike="noStrike">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114" name="Google Shape;114;p15"/>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txBox="1"/>
          <p:nvPr/>
        </p:nvSpPr>
        <p:spPr>
          <a:xfrm>
            <a:off x="640097" y="365760"/>
            <a:ext cx="109092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883A"/>
                </a:solidFill>
                <a:latin typeface="Arial"/>
                <a:ea typeface="Arial"/>
                <a:cs typeface="Arial"/>
                <a:sym typeface="Arial"/>
              </a:rPr>
              <a:t>General Summary</a:t>
            </a:r>
            <a:endParaRPr/>
          </a:p>
        </p:txBody>
      </p:sp>
      <p:sp>
        <p:nvSpPr>
          <p:cNvPr id="121" name="Google Shape;121;p16"/>
          <p:cNvSpPr txBox="1"/>
          <p:nvPr/>
        </p:nvSpPr>
        <p:spPr>
          <a:xfrm>
            <a:off x="640097" y="1554480"/>
            <a:ext cx="10909200" cy="224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Paper: </a:t>
            </a:r>
            <a:r>
              <a:rPr b="0" i="0" lang="en-US" sz="2000" u="none" cap="none" strike="noStrike">
                <a:solidFill>
                  <a:srgbClr val="1A1A1A"/>
                </a:solidFill>
                <a:latin typeface="Arial"/>
                <a:ea typeface="Arial"/>
                <a:cs typeface="Arial"/>
                <a:sym typeface="Arial"/>
              </a:rPr>
              <a:t>why good artifact sharing is hard in SE</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Did: </a:t>
            </a:r>
            <a:r>
              <a:rPr b="0" i="0" lang="en-US" sz="2000" u="none" cap="none" strike="noStrike">
                <a:solidFill>
                  <a:srgbClr val="1A1A1A"/>
                </a:solidFill>
                <a:latin typeface="Arial"/>
                <a:ea typeface="Arial"/>
                <a:cs typeface="Arial"/>
                <a:sym typeface="Arial"/>
              </a:rPr>
              <a:t>publication survey (artifact availability) + author survey (challenges)</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Found: </a:t>
            </a:r>
            <a:r>
              <a:rPr b="0" i="0" lang="en-US" sz="2000" u="none" cap="none" strike="noStrike">
                <a:solidFill>
                  <a:srgbClr val="1A1A1A"/>
                </a:solidFill>
                <a:latin typeface="Arial"/>
                <a:ea typeface="Arial"/>
                <a:cs typeface="Arial"/>
                <a:sym typeface="Arial"/>
              </a:rPr>
              <a:t>artifacts are valued; 12 challenges in creating, sharing, using and reviewing artifacts</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Analysed: </a:t>
            </a:r>
            <a:r>
              <a:rPr b="0" i="0" lang="en-US" sz="2000" u="none" cap="none" strike="noStrike">
                <a:solidFill>
                  <a:srgbClr val="1A1A1A"/>
                </a:solidFill>
                <a:latin typeface="Arial"/>
                <a:ea typeface="Arial"/>
                <a:cs typeface="Arial"/>
                <a:sym typeface="Arial"/>
              </a:rPr>
              <a:t>why these challenges persist + how they connect (secondary analysis)</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Then: </a:t>
            </a:r>
            <a:r>
              <a:rPr lang="en-US" sz="2000">
                <a:solidFill>
                  <a:srgbClr val="1A1A1A"/>
                </a:solidFill>
              </a:rPr>
              <a:t>8 recommendations for creators, reviewers, process organisers and community leaders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 name="Shape 126"/>
        <p:cNvGrpSpPr/>
        <p:nvPr/>
      </p:nvGrpSpPr>
      <p:grpSpPr>
        <a:xfrm>
          <a:off x="0" y="0"/>
          <a:ext cx="0" cy="0"/>
          <a:chOff x="0" y="0"/>
          <a:chExt cx="0" cy="0"/>
        </a:xfrm>
      </p:grpSpPr>
      <p:sp>
        <p:nvSpPr>
          <p:cNvPr id="127" name="Google Shape;127;p1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28" name="Google Shape;128;p1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29" name="Google Shape;129;p17"/>
          <p:cNvSpPr/>
          <p:nvPr/>
        </p:nvSpPr>
        <p:spPr>
          <a:xfrm>
            <a:off x="640080" y="146304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 name="Google Shape;130;p17"/>
          <p:cNvSpPr txBox="1"/>
          <p:nvPr/>
        </p:nvSpPr>
        <p:spPr>
          <a:xfrm>
            <a:off x="822960" y="155448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Artifact (this paper)</a:t>
            </a:r>
            <a:endParaRPr/>
          </a:p>
        </p:txBody>
      </p:sp>
      <p:sp>
        <p:nvSpPr>
          <p:cNvPr id="131" name="Google Shape;131;p17"/>
          <p:cNvSpPr txBox="1"/>
          <p:nvPr/>
        </p:nvSpPr>
        <p:spPr>
          <a:xfrm>
            <a:off x="3566160" y="155448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any external material linked from a paper: tools, code, data, replication packages, companion sites, survey instruments, proofs</a:t>
            </a:r>
            <a:endParaRPr/>
          </a:p>
        </p:txBody>
      </p:sp>
      <p:sp>
        <p:nvSpPr>
          <p:cNvPr id="132" name="Google Shape;132;p17"/>
          <p:cNvSpPr/>
          <p:nvPr/>
        </p:nvSpPr>
        <p:spPr>
          <a:xfrm>
            <a:off x="640080" y="265176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 name="Google Shape;133;p17"/>
          <p:cNvSpPr txBox="1"/>
          <p:nvPr/>
        </p:nvSpPr>
        <p:spPr>
          <a:xfrm>
            <a:off x="822960" y="274320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Artifact (ACM)</a:t>
            </a:r>
            <a:endParaRPr/>
          </a:p>
        </p:txBody>
      </p:sp>
      <p:sp>
        <p:nvSpPr>
          <p:cNvPr id="134" name="Google Shape;134;p17"/>
          <p:cNvSpPr txBox="1"/>
          <p:nvPr/>
        </p:nvSpPr>
        <p:spPr>
          <a:xfrm>
            <a:off x="3566160" y="2743200"/>
            <a:ext cx="78639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digital object created for the study or generated by it</a:t>
            </a:r>
            <a:endParaRPr/>
          </a:p>
        </p:txBody>
      </p:sp>
      <p:sp>
        <p:nvSpPr>
          <p:cNvPr id="135" name="Google Shape;135;p17"/>
          <p:cNvSpPr/>
          <p:nvPr/>
        </p:nvSpPr>
        <p:spPr>
          <a:xfrm>
            <a:off x="640080" y="384048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17"/>
          <p:cNvSpPr txBox="1"/>
          <p:nvPr/>
        </p:nvSpPr>
        <p:spPr>
          <a:xfrm>
            <a:off x="822960" y="393192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AEC</a:t>
            </a:r>
            <a:endParaRPr/>
          </a:p>
        </p:txBody>
      </p:sp>
      <p:sp>
        <p:nvSpPr>
          <p:cNvPr id="137" name="Google Shape;137;p17"/>
          <p:cNvSpPr txBox="1"/>
          <p:nvPr/>
        </p:nvSpPr>
        <p:spPr>
          <a:xfrm>
            <a:off x="3566160" y="393192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Artifact Evaluation Committee: reviews artifacts of accepted papers; opt-in, after acceptance, cannot reject a paper</a:t>
            </a:r>
            <a:endParaRPr/>
          </a:p>
        </p:txBody>
      </p:sp>
      <p:sp>
        <p:nvSpPr>
          <p:cNvPr id="138" name="Google Shape;138;p17"/>
          <p:cNvSpPr/>
          <p:nvPr/>
        </p:nvSpPr>
        <p:spPr>
          <a:xfrm>
            <a:off x="640080" y="502920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p17"/>
          <p:cNvSpPr txBox="1"/>
          <p:nvPr/>
        </p:nvSpPr>
        <p:spPr>
          <a:xfrm>
            <a:off x="822960" y="512064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ACM quality criteria</a:t>
            </a:r>
            <a:endParaRPr/>
          </a:p>
        </p:txBody>
      </p:sp>
      <p:sp>
        <p:nvSpPr>
          <p:cNvPr id="140" name="Google Shape;140;p17"/>
          <p:cNvSpPr txBox="1"/>
          <p:nvPr/>
        </p:nvSpPr>
        <p:spPr>
          <a:xfrm>
            <a:off x="3566160" y="512064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documented · consistent (supports main results) · complete (proprietary parts may be replaced by proxies) · exercisable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 name="Shape 145"/>
        <p:cNvGrpSpPr/>
        <p:nvPr/>
      </p:nvGrpSpPr>
      <p:grpSpPr>
        <a:xfrm>
          <a:off x="0" y="0"/>
          <a:ext cx="0" cy="0"/>
          <a:chOff x="0" y="0"/>
          <a:chExt cx="0" cy="0"/>
        </a:xfrm>
      </p:grpSpPr>
      <p:sp>
        <p:nvSpPr>
          <p:cNvPr id="146" name="Google Shape;146;p1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47" name="Google Shape;147;p1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48" name="Google Shape;148;p18"/>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ACM badges [1, 2]</a:t>
            </a:r>
            <a:endParaRPr/>
          </a:p>
        </p:txBody>
      </p:sp>
      <p:graphicFrame>
        <p:nvGraphicFramePr>
          <p:cNvPr id="149" name="Google Shape;149;p18"/>
          <p:cNvGraphicFramePr/>
          <p:nvPr/>
        </p:nvGraphicFramePr>
        <p:xfrm>
          <a:off x="640080" y="1554480"/>
          <a:ext cx="3000000" cy="3000000"/>
        </p:xfrm>
        <a:graphic>
          <a:graphicData uri="http://schemas.openxmlformats.org/drawingml/2006/table">
            <a:tbl>
              <a:tblPr bandRow="1" firstRow="1">
                <a:noFill/>
                <a:tableStyleId>{0B463AE4-181B-482D-A1B9-4882C2EB6116}</a:tableStyleId>
              </a:tblPr>
              <a:tblGrid>
                <a:gridCol w="2651750"/>
                <a:gridCol w="2926075"/>
                <a:gridCol w="5330950"/>
              </a:tblGrid>
              <a:tr h="457200">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Question</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Badge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Required</a:t>
                      </a:r>
                      <a:endParaRPr/>
                    </a:p>
                  </a:txBody>
                  <a:tcPr marT="45725" marB="45725" marR="91450" marL="91450">
                    <a:solidFill>
                      <a:srgbClr val="00883A"/>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Does it work?</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Evaluated – Functional</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documented, consistent, complete, exercisable</a:t>
                      </a:r>
                      <a:endParaRPr/>
                    </a:p>
                  </a:txBody>
                  <a:tcPr marT="45725" marB="45725" marR="91450" marL="91450">
                    <a:solidFill>
                      <a:srgbClr val="F1F3F2"/>
                    </a:solidFill>
                  </a:tcPr>
                </a:tc>
              </a:tr>
              <a:tr h="457200">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Evaluated – Reusable</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Functional + well structured and documented for reuse</a:t>
                      </a:r>
                      <a:endParaRPr/>
                    </a:p>
                  </a:txBody>
                  <a:tcPr marT="45725" marB="45725" marR="91450" marL="91450">
                    <a:solidFill>
                      <a:srgbClr val="FFFFFF"/>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Permanently available?</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Available</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public archival repository with DOI (Zenodo, Software Heritage …); GitHub alone not enough; no evaluation</a:t>
                      </a:r>
                      <a:endParaRPr/>
                    </a:p>
                  </a:txBody>
                  <a:tcPr marT="45725" marB="45725" marR="91450" marL="91450">
                    <a:solidFill>
                      <a:srgbClr val="F1F3F2"/>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Results confirmed?</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Results Reproduced</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other team gets main results with the authors’ artifacts</a:t>
                      </a:r>
                      <a:endParaRPr/>
                    </a:p>
                  </a:txBody>
                  <a:tcPr marT="45725" marB="45725" marR="91450" marL="91450">
                    <a:solidFill>
                      <a:srgbClr val="FFFFFF"/>
                    </a:solidFill>
                  </a:tcPr>
                </a:tc>
              </a:tr>
              <a:tr h="457200">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Results Replicated</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other team gets main results without them</a:t>
                      </a:r>
                      <a:endParaRPr/>
                    </a:p>
                  </a:txBody>
                  <a:tcPr marT="45725" marB="45725" marR="91450" marL="91450">
                    <a:solidFill>
                      <a:srgbClr val="F1F3F2"/>
                    </a:solidFill>
                  </a:tcPr>
                </a:tc>
              </a:tr>
            </a:tbl>
          </a:graphicData>
        </a:graphic>
      </p:graphicFrame>
      <p:sp>
        <p:nvSpPr>
          <p:cNvPr id="150" name="Google Shape;150;p18"/>
          <p:cNvSpPr txBox="1"/>
          <p:nvPr/>
        </p:nvSpPr>
        <p:spPr>
          <a:xfrm>
            <a:off x="640080" y="5029200"/>
            <a:ext cx="109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5F6368"/>
                </a:solidFill>
                <a:latin typeface="Arial"/>
                <a:ea typeface="Arial"/>
                <a:cs typeface="Arial"/>
                <a:sym typeface="Arial"/>
              </a:rPr>
              <a:t>ACM only defines the badges; each conference’s AEC sets its own concrete rules [1, 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 name="Shape 155"/>
        <p:cNvGrpSpPr/>
        <p:nvPr/>
      </p:nvGrpSpPr>
      <p:grpSpPr>
        <a:xfrm>
          <a:off x="0" y="0"/>
          <a:ext cx="0" cy="0"/>
          <a:chOff x="0" y="0"/>
          <a:chExt cx="0" cy="0"/>
        </a:xfrm>
      </p:grpSpPr>
      <p:sp>
        <p:nvSpPr>
          <p:cNvPr id="156" name="Google Shape;156;p1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57" name="Google Shape;157;p1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58" name="Google Shape;158;p19"/>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Diffusion of Innovations (DoI): how new ideas and practices spread</a:t>
            </a:r>
            <a:endParaRPr/>
          </a:p>
        </p:txBody>
      </p:sp>
      <p:sp>
        <p:nvSpPr>
          <p:cNvPr id="159" name="Google Shape;159;p19"/>
          <p:cNvSpPr/>
          <p:nvPr/>
        </p:nvSpPr>
        <p:spPr>
          <a:xfrm>
            <a:off x="640080"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19"/>
          <p:cNvSpPr txBox="1"/>
          <p:nvPr/>
        </p:nvSpPr>
        <p:spPr>
          <a:xfrm>
            <a:off x="777240" y="1783080"/>
            <a:ext cx="2313300" cy="79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Innovation</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each artifact</a:t>
            </a:r>
            <a:endParaRPr/>
          </a:p>
        </p:txBody>
      </p:sp>
      <p:sp>
        <p:nvSpPr>
          <p:cNvPr id="161" name="Google Shape;161;p19"/>
          <p:cNvSpPr/>
          <p:nvPr/>
        </p:nvSpPr>
        <p:spPr>
          <a:xfrm>
            <a:off x="3410711"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 name="Google Shape;162;p19"/>
          <p:cNvSpPr txBox="1"/>
          <p:nvPr/>
        </p:nvSpPr>
        <p:spPr>
          <a:xfrm>
            <a:off x="3547871" y="1783080"/>
            <a:ext cx="2313300" cy="109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Communication channels</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links, AECs, badges</a:t>
            </a:r>
            <a:endParaRPr/>
          </a:p>
        </p:txBody>
      </p:sp>
      <p:sp>
        <p:nvSpPr>
          <p:cNvPr id="163" name="Google Shape;163;p19"/>
          <p:cNvSpPr/>
          <p:nvPr/>
        </p:nvSpPr>
        <p:spPr>
          <a:xfrm>
            <a:off x="6181344"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19"/>
          <p:cNvSpPr txBox="1"/>
          <p:nvPr/>
        </p:nvSpPr>
        <p:spPr>
          <a:xfrm>
            <a:off x="6318504" y="1783080"/>
            <a:ext cx="2313300" cy="105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Time</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availability and usability over time</a:t>
            </a:r>
            <a:endParaRPr/>
          </a:p>
        </p:txBody>
      </p:sp>
      <p:sp>
        <p:nvSpPr>
          <p:cNvPr id="165" name="Google Shape;165;p19"/>
          <p:cNvSpPr/>
          <p:nvPr/>
        </p:nvSpPr>
        <p:spPr>
          <a:xfrm>
            <a:off x="8951976"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19"/>
          <p:cNvSpPr txBox="1"/>
          <p:nvPr/>
        </p:nvSpPr>
        <p:spPr>
          <a:xfrm>
            <a:off x="9089136" y="1783080"/>
            <a:ext cx="2313300" cy="131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Social system</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SE research community, its norms and values</a:t>
            </a:r>
            <a:endParaRPr/>
          </a:p>
        </p:txBody>
      </p:sp>
      <p:sp>
        <p:nvSpPr>
          <p:cNvPr id="167" name="Google Shape;167;p19"/>
          <p:cNvSpPr txBox="1"/>
          <p:nvPr/>
        </p:nvSpPr>
        <p:spPr>
          <a:xfrm>
            <a:off x="640080" y="4114800"/>
            <a:ext cx="10908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Used here: </a:t>
            </a:r>
            <a:r>
              <a:rPr b="0" i="0" lang="en-US" sz="1800" u="none" cap="none" strike="noStrike">
                <a:solidFill>
                  <a:srgbClr val="1A1A1A"/>
                </a:solidFill>
                <a:latin typeface="Arial"/>
                <a:ea typeface="Arial"/>
                <a:cs typeface="Arial"/>
                <a:sym typeface="Arial"/>
              </a:rPr>
              <a:t>analytical lens to link the findings of the two studies (§5)</a:t>
            </a:r>
            <a:endParaRPr/>
          </a:p>
        </p:txBody>
      </p:sp>
      <p:sp>
        <p:nvSpPr>
          <p:cNvPr id="168" name="Google Shape;168;p19"/>
          <p:cNvSpPr/>
          <p:nvPr/>
        </p:nvSpPr>
        <p:spPr>
          <a:xfrm>
            <a:off x="640080" y="4846320"/>
            <a:ext cx="109089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9" name="Google Shape;169;p19"/>
          <p:cNvSpPr txBox="1"/>
          <p:nvPr/>
        </p:nvSpPr>
        <p:spPr>
          <a:xfrm>
            <a:off x="822960" y="4937760"/>
            <a:ext cx="105156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Implementation Science (IS): </a:t>
            </a:r>
            <a:r>
              <a:rPr b="0" i="0" lang="en-US" sz="1800" u="none" cap="none" strike="noStrike">
                <a:solidFill>
                  <a:srgbClr val="1A1A1A"/>
                </a:solidFill>
                <a:latin typeface="Arial"/>
                <a:ea typeface="Arial"/>
                <a:cs typeface="Arial"/>
                <a:sym typeface="Arial"/>
              </a:rPr>
              <a:t>iterative, evidence-based way of moving research into practice (from medicine): practices identified, trialled, observed, improved. Used to shape the recommendations.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176" name="Google Shape;176;p2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lnSpc>
                <a:spcPct val="100000"/>
              </a:lnSpc>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a:t>
            </a:r>
            <a:r>
              <a:rPr b="0" i="0" lang="en-US" sz="2200" u="sng" cap="none" strike="noStrike">
                <a:solidFill>
                  <a:srgbClr val="1A1A1A"/>
                </a:solidFill>
                <a:latin typeface="Arial"/>
                <a:ea typeface="Arial"/>
                <a:cs typeface="Arial"/>
                <a:sym typeface="Arial"/>
              </a:rPr>
              <a:t>creators</a:t>
            </a:r>
            <a:r>
              <a:rPr b="0" i="0" lang="en-US" sz="2200" cap="none" strike="noStrike">
                <a:solidFill>
                  <a:srgbClr val="1A1A1A"/>
                </a:solidFill>
                <a:latin typeface="Arial"/>
                <a:ea typeface="Arial"/>
                <a:cs typeface="Arial"/>
                <a:sym typeface="Arial"/>
              </a:rPr>
              <a:t> </a:t>
            </a:r>
            <a:r>
              <a:rPr b="0" i="0" lang="en-US" sz="2200" u="none" cap="none" strike="noStrike">
                <a:solidFill>
                  <a:srgbClr val="1A1A1A"/>
                </a:solidFill>
                <a:latin typeface="Arial"/>
                <a:ea typeface="Arial"/>
                <a:cs typeface="Arial"/>
                <a:sym typeface="Arial"/>
              </a:rPr>
              <a:t>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a:t>
            </a:r>
            <a:r>
              <a:rPr b="0" i="0" lang="en-US" sz="2200" u="sng" cap="none" strike="noStrike">
                <a:solidFill>
                  <a:srgbClr val="1A1A1A"/>
                </a:solidFill>
                <a:latin typeface="Arial"/>
                <a:ea typeface="Arial"/>
                <a:cs typeface="Arial"/>
                <a:sym typeface="Arial"/>
              </a:rPr>
              <a:t>users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a:t>
            </a:r>
            <a:r>
              <a:rPr b="0" i="0" lang="en-US" sz="2200" u="sng" cap="none" strike="noStrike">
                <a:solidFill>
                  <a:srgbClr val="1A1A1A"/>
                </a:solidFill>
                <a:latin typeface="Arial"/>
                <a:ea typeface="Arial"/>
                <a:cs typeface="Arial"/>
                <a:sym typeface="Arial"/>
              </a:rPr>
              <a:t>reviewers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p:txBody>
      </p:sp>
      <p:sp>
        <p:nvSpPr>
          <p:cNvPr id="177" name="Google Shape;177;p2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p2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184" name="Google Shape;184;p2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85" name="Google Shape;185;p21"/>
          <p:cNvSpPr txBox="1"/>
          <p:nvPr/>
        </p:nvSpPr>
        <p:spPr>
          <a:xfrm>
            <a:off x="640080" y="1234440"/>
            <a:ext cx="109089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900" u="none" cap="none" strike="noStrike">
                <a:solidFill>
                  <a:srgbClr val="00883A"/>
                </a:solidFill>
                <a:latin typeface="Arial"/>
                <a:ea typeface="Arial"/>
                <a:cs typeface="Arial"/>
                <a:sym typeface="Arial"/>
              </a:rPr>
              <a:t>Mixed methods, parallel-convergent: </a:t>
            </a:r>
            <a:r>
              <a:rPr b="0" i="0" lang="en-US" sz="1900" u="none" cap="none" strike="noStrike">
                <a:solidFill>
                  <a:srgbClr val="1A1A1A"/>
                </a:solidFill>
                <a:latin typeface="Arial"/>
                <a:ea typeface="Arial"/>
                <a:cs typeface="Arial"/>
                <a:sym typeface="Arial"/>
              </a:rPr>
              <a:t>two studies at the same time, analysed separately, then merged</a:t>
            </a:r>
            <a:endParaRPr/>
          </a:p>
        </p:txBody>
      </p:sp>
      <p:sp>
        <p:nvSpPr>
          <p:cNvPr id="186" name="Google Shape;186;p21"/>
          <p:cNvSpPr/>
          <p:nvPr/>
        </p:nvSpPr>
        <p:spPr>
          <a:xfrm>
            <a:off x="640080" y="1965960"/>
            <a:ext cx="5212200" cy="36576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21"/>
          <p:cNvSpPr txBox="1"/>
          <p:nvPr/>
        </p:nvSpPr>
        <p:spPr>
          <a:xfrm>
            <a:off x="822959" y="2057400"/>
            <a:ext cx="4846200" cy="286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883A"/>
                </a:solidFill>
                <a:latin typeface="Arial"/>
                <a:ea typeface="Arial"/>
                <a:cs typeface="Arial"/>
                <a:sym typeface="Arial"/>
              </a:rPr>
              <a:t>§3.1 Publication survey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all technical-track papers, ICSE · FSE · ASE · EMSE, 2014-2018</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links found in the papers, checked by hand</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artifact = any linked material; available = link still works</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AEC chairs asked for submission and acceptance data</a:t>
            </a:r>
            <a:endParaRPr/>
          </a:p>
        </p:txBody>
      </p:sp>
      <p:sp>
        <p:nvSpPr>
          <p:cNvPr id="188" name="Google Shape;188;p21"/>
          <p:cNvSpPr/>
          <p:nvPr/>
        </p:nvSpPr>
        <p:spPr>
          <a:xfrm>
            <a:off x="6336792" y="1965960"/>
            <a:ext cx="5212200" cy="36576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21"/>
          <p:cNvSpPr txBox="1"/>
          <p:nvPr/>
        </p:nvSpPr>
        <p:spPr>
          <a:xfrm>
            <a:off x="6519672" y="2057400"/>
            <a:ext cx="4846200" cy="286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883A"/>
                </a:solidFill>
                <a:latin typeface="Arial"/>
                <a:ea typeface="Arial"/>
                <a:cs typeface="Arial"/>
                <a:sym typeface="Arial"/>
              </a:rPr>
              <a:t>§3.2 Author survey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online questionnaire for authors of 2018 papers</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branching by role: creator, user, reviewer</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open answers coded into themes (range, not frequency)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questions mapped to RQ1 (value) and RQ2 (challenges)</a:t>
            </a:r>
            <a:endParaRPr/>
          </a:p>
        </p:txBody>
      </p:sp>
      <p:sp>
        <p:nvSpPr>
          <p:cNvPr id="190" name="Google Shape;190;p21"/>
          <p:cNvSpPr txBox="1"/>
          <p:nvPr/>
        </p:nvSpPr>
        <p:spPr>
          <a:xfrm>
            <a:off x="640080" y="5760720"/>
            <a:ext cx="10908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 </a:t>
            </a:r>
            <a:r>
              <a:rPr b="0" i="0" lang="en-US" sz="1800" u="none" cap="none" strike="noStrike">
                <a:solidFill>
                  <a:srgbClr val="1A1A1A"/>
                </a:solidFill>
                <a:latin typeface="Arial"/>
                <a:ea typeface="Arial"/>
                <a:cs typeface="Arial"/>
                <a:sym typeface="Arial"/>
              </a:rPr>
              <a:t>merged into the results: RQ1 value · RQ2 challenges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97" name="Google Shape;197;p2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98" name="Google Shape;198;p22"/>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RQ1 · Does the community value artifacts?</a:t>
            </a:r>
            <a:endParaRPr b="0" i="0" sz="1400" u="none" cap="none" strike="noStrike">
              <a:solidFill>
                <a:srgbClr val="000000"/>
              </a:solidFill>
              <a:latin typeface="Arial"/>
              <a:ea typeface="Arial"/>
              <a:cs typeface="Arial"/>
              <a:sym typeface="Arial"/>
            </a:endParaRPr>
          </a:p>
        </p:txBody>
      </p:sp>
      <p:sp>
        <p:nvSpPr>
          <p:cNvPr id="199" name="Google Shape;199;p22"/>
          <p:cNvSpPr/>
          <p:nvPr/>
        </p:nvSpPr>
        <p:spPr>
          <a:xfrm>
            <a:off x="640075" y="1554475"/>
            <a:ext cx="10908900" cy="17028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2"/>
          <p:cNvSpPr txBox="1"/>
          <p:nvPr/>
        </p:nvSpPr>
        <p:spPr>
          <a:xfrm>
            <a:off x="822960" y="1600200"/>
            <a:ext cx="10515600" cy="1554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0883A"/>
                </a:solidFill>
                <a:latin typeface="Arial"/>
                <a:ea typeface="Arial"/>
                <a:cs typeface="Arial"/>
                <a:sym typeface="Arial"/>
              </a:rPr>
              <a:t>Based on Survey: Yes </a:t>
            </a:r>
            <a:endParaRPr b="1" i="0" sz="1900" u="none" cap="none" strike="noStrike">
              <a:solidFill>
                <a:srgbClr val="00883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none" cap="none" strike="noStrike">
                <a:solidFill>
                  <a:srgbClr val="1A1A1A"/>
                </a:solidFill>
                <a:latin typeface="Arial"/>
                <a:ea typeface="Arial"/>
                <a:cs typeface="Arial"/>
                <a:sym typeface="Arial"/>
              </a:rPr>
              <a:t>Artifacts are seen as </a:t>
            </a:r>
            <a:r>
              <a:rPr b="0" i="0" lang="en-US" sz="1900" u="sng" cap="none" strike="noStrike">
                <a:solidFill>
                  <a:srgbClr val="1A1A1A"/>
                </a:solidFill>
                <a:latin typeface="Arial"/>
                <a:ea typeface="Arial"/>
                <a:cs typeface="Arial"/>
                <a:sym typeface="Arial"/>
              </a:rPr>
              <a:t>inherently valuable</a:t>
            </a:r>
            <a:endParaRPr b="0" i="0" sz="1900" u="sng"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none" cap="none" strike="noStrike">
                <a:solidFill>
                  <a:srgbClr val="1A1A1A"/>
                </a:solidFill>
                <a:latin typeface="Arial"/>
                <a:ea typeface="Arial"/>
                <a:cs typeface="Arial"/>
                <a:sym typeface="Arial"/>
              </a:rPr>
              <a:t>Sharing </a:t>
            </a:r>
            <a:r>
              <a:rPr b="0" i="0" lang="en-US" sz="1900" u="sng" cap="none" strike="noStrike">
                <a:solidFill>
                  <a:srgbClr val="1A1A1A"/>
                </a:solidFill>
                <a:latin typeface="Arial"/>
                <a:ea typeface="Arial"/>
                <a:cs typeface="Arial"/>
                <a:sym typeface="Arial"/>
              </a:rPr>
              <a:t>should be encouraged</a:t>
            </a:r>
            <a:r>
              <a:rPr b="0" i="0" lang="en-US" sz="1900" u="none" cap="none" strike="noStrike">
                <a:solidFill>
                  <a:srgbClr val="1A1A1A"/>
                </a:solidFill>
                <a:latin typeface="Arial"/>
                <a:ea typeface="Arial"/>
                <a:cs typeface="Arial"/>
                <a:sym typeface="Arial"/>
              </a:rPr>
              <a:t> and rewarded</a:t>
            </a:r>
            <a:endParaRPr b="0" i="0" sz="1900" u="none"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sng" cap="none" strike="noStrike">
                <a:solidFill>
                  <a:srgbClr val="1A1A1A"/>
                </a:solidFill>
                <a:latin typeface="Arial"/>
                <a:ea typeface="Arial"/>
                <a:cs typeface="Arial"/>
                <a:sym typeface="Arial"/>
              </a:rPr>
              <a:t>Allows for</a:t>
            </a:r>
            <a:r>
              <a:rPr b="0" i="0" lang="en-US" sz="1900" u="none" cap="none" strike="noStrike">
                <a:solidFill>
                  <a:srgbClr val="1A1A1A"/>
                </a:solidFill>
                <a:latin typeface="Arial"/>
                <a:ea typeface="Arial"/>
                <a:cs typeface="Arial"/>
                <a:sym typeface="Arial"/>
              </a:rPr>
              <a:t> meaningful </a:t>
            </a:r>
            <a:r>
              <a:rPr b="0" i="0" lang="en-US" sz="1900" u="sng" cap="none" strike="noStrike">
                <a:solidFill>
                  <a:srgbClr val="1A1A1A"/>
                </a:solidFill>
                <a:latin typeface="Arial"/>
                <a:ea typeface="Arial"/>
                <a:cs typeface="Arial"/>
                <a:sym typeface="Arial"/>
              </a:rPr>
              <a:t>analysis</a:t>
            </a:r>
            <a:r>
              <a:rPr b="0" i="0" lang="en-US" sz="1900" u="none" cap="none" strike="noStrike">
                <a:solidFill>
                  <a:srgbClr val="1A1A1A"/>
                </a:solidFill>
                <a:latin typeface="Arial"/>
                <a:ea typeface="Arial"/>
                <a:cs typeface="Arial"/>
                <a:sym typeface="Arial"/>
              </a:rPr>
              <a:t> and evaluation of the approach</a:t>
            </a:r>
            <a:endParaRPr b="0" i="0" sz="1900" u="none"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sng" cap="none" strike="noStrike">
                <a:solidFill>
                  <a:srgbClr val="1A1A1A"/>
                </a:solidFill>
                <a:latin typeface="Arial"/>
                <a:ea typeface="Arial"/>
                <a:cs typeface="Arial"/>
                <a:sym typeface="Arial"/>
              </a:rPr>
              <a:t>Replication</a:t>
            </a:r>
            <a:r>
              <a:rPr b="0" i="0" lang="en-US" sz="1900" u="none" cap="none" strike="noStrike">
                <a:solidFill>
                  <a:srgbClr val="1A1A1A"/>
                </a:solidFill>
                <a:latin typeface="Arial"/>
                <a:ea typeface="Arial"/>
                <a:cs typeface="Arial"/>
                <a:sym typeface="Arial"/>
              </a:rPr>
              <a:t> is </a:t>
            </a:r>
            <a:r>
              <a:rPr b="0" i="0" lang="en-US" sz="1900" u="sng" cap="none" strike="noStrike">
                <a:solidFill>
                  <a:srgbClr val="1A1A1A"/>
                </a:solidFill>
                <a:latin typeface="Arial"/>
                <a:ea typeface="Arial"/>
                <a:cs typeface="Arial"/>
                <a:sym typeface="Arial"/>
              </a:rPr>
              <a:t>hard</a:t>
            </a:r>
            <a:r>
              <a:rPr b="0" i="0" lang="en-US" sz="1900" u="none" cap="none" strike="noStrike">
                <a:solidFill>
                  <a:srgbClr val="1A1A1A"/>
                </a:solidFill>
                <a:latin typeface="Arial"/>
                <a:ea typeface="Arial"/>
                <a:cs typeface="Arial"/>
                <a:sym typeface="Arial"/>
              </a:rPr>
              <a:t> and unreliable </a:t>
            </a:r>
            <a:r>
              <a:rPr b="0" i="0" lang="en-US" sz="1900" u="sng" cap="none" strike="noStrike">
                <a:solidFill>
                  <a:srgbClr val="1A1A1A"/>
                </a:solidFill>
                <a:latin typeface="Arial"/>
                <a:ea typeface="Arial"/>
                <a:cs typeface="Arial"/>
                <a:sym typeface="Arial"/>
              </a:rPr>
              <a:t>without artifacts</a:t>
            </a:r>
            <a:endParaRPr b="0" i="0" sz="1400" u="sng" cap="none" strike="noStrike">
              <a:solidFill>
                <a:srgbClr val="000000"/>
              </a:solidFill>
              <a:latin typeface="Arial"/>
              <a:ea typeface="Arial"/>
              <a:cs typeface="Arial"/>
              <a:sym typeface="Arial"/>
            </a:endParaRPr>
          </a:p>
        </p:txBody>
      </p:sp>
      <p:sp>
        <p:nvSpPr>
          <p:cNvPr id="201" name="Google Shape;201;p22"/>
          <p:cNvSpPr txBox="1"/>
          <p:nvPr/>
        </p:nvSpPr>
        <p:spPr>
          <a:xfrm>
            <a:off x="640080" y="3537322"/>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Why authors share artifacts. Summary in 4 categories:</a:t>
            </a:r>
            <a:endParaRPr b="0" i="0" sz="1400" u="none" cap="none" strike="noStrike">
              <a:solidFill>
                <a:srgbClr val="000000"/>
              </a:solidFill>
              <a:latin typeface="Arial"/>
              <a:ea typeface="Arial"/>
              <a:cs typeface="Arial"/>
              <a:sym typeface="Arial"/>
            </a:endParaRPr>
          </a:p>
        </p:txBody>
      </p:sp>
      <p:sp>
        <p:nvSpPr>
          <p:cNvPr id="202" name="Google Shape;202;p22"/>
          <p:cNvSpPr/>
          <p:nvPr/>
        </p:nvSpPr>
        <p:spPr>
          <a:xfrm>
            <a:off x="640080"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2"/>
          <p:cNvSpPr txBox="1"/>
          <p:nvPr/>
        </p:nvSpPr>
        <p:spPr>
          <a:xfrm>
            <a:off x="777240"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Supporting evidence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for the claims in a research paper</a:t>
            </a:r>
            <a:endParaRPr b="0" i="0" sz="1400" u="none" cap="none" strike="noStrike">
              <a:solidFill>
                <a:srgbClr val="000000"/>
              </a:solidFill>
              <a:latin typeface="Arial"/>
              <a:ea typeface="Arial"/>
              <a:cs typeface="Arial"/>
              <a:sym typeface="Arial"/>
            </a:endParaRPr>
          </a:p>
        </p:txBody>
      </p:sp>
      <p:sp>
        <p:nvSpPr>
          <p:cNvPr id="204" name="Google Shape;204;p22"/>
          <p:cNvSpPr/>
          <p:nvPr/>
        </p:nvSpPr>
        <p:spPr>
          <a:xfrm>
            <a:off x="3410711"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2"/>
          <p:cNvSpPr txBox="1"/>
          <p:nvPr/>
        </p:nvSpPr>
        <p:spPr>
          <a:xfrm>
            <a:off x="3547875" y="4131672"/>
            <a:ext cx="24507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Community norm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"good practice" that benefits the community</a:t>
            </a:r>
            <a:endParaRPr b="0" i="0" sz="1400" u="none" cap="none" strike="noStrike">
              <a:solidFill>
                <a:srgbClr val="000000"/>
              </a:solidFill>
              <a:latin typeface="Arial"/>
              <a:ea typeface="Arial"/>
              <a:cs typeface="Arial"/>
              <a:sym typeface="Arial"/>
            </a:endParaRPr>
          </a:p>
        </p:txBody>
      </p:sp>
      <p:sp>
        <p:nvSpPr>
          <p:cNvPr id="206" name="Google Shape;206;p22"/>
          <p:cNvSpPr/>
          <p:nvPr/>
        </p:nvSpPr>
        <p:spPr>
          <a:xfrm>
            <a:off x="6181344"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2"/>
          <p:cNvSpPr txBox="1"/>
          <p:nvPr/>
        </p:nvSpPr>
        <p:spPr>
          <a:xfrm>
            <a:off x="6318504" y="4131682"/>
            <a:ext cx="23133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Facilitate reuse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tools and data others can reuse and extend</a:t>
            </a:r>
            <a:endParaRPr b="0" i="0" sz="1400" u="none" cap="none" strike="noStrike">
              <a:solidFill>
                <a:srgbClr val="000000"/>
              </a:solidFill>
              <a:latin typeface="Arial"/>
              <a:ea typeface="Arial"/>
              <a:cs typeface="Arial"/>
              <a:sym typeface="Arial"/>
            </a:endParaRPr>
          </a:p>
        </p:txBody>
      </p:sp>
      <p:sp>
        <p:nvSpPr>
          <p:cNvPr id="208" name="Google Shape;208;p22"/>
          <p:cNvSpPr/>
          <p:nvPr/>
        </p:nvSpPr>
        <p:spPr>
          <a:xfrm>
            <a:off x="8951976"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2"/>
          <p:cNvSpPr txBox="1"/>
          <p:nvPr/>
        </p:nvSpPr>
        <p:spPr>
          <a:xfrm>
            <a:off x="9089136"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Improving</a:t>
            </a:r>
            <a:endParaRPr b="1" i="0" sz="2000" u="none" cap="none" strike="noStrike">
              <a:solidFill>
                <a:srgbClr val="00883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understanding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provide details that don’t fit in a paper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16" name="Google Shape;216;p2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17" name="Google Shape;217;p23"/>
          <p:cNvSpPr txBox="1"/>
          <p:nvPr/>
        </p:nvSpPr>
        <p:spPr>
          <a:xfrm>
            <a:off x="640080" y="1097280"/>
            <a:ext cx="9144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Challenges of Creating, Sharing, Using and Reviewing Artifacts</a:t>
            </a:r>
            <a:endParaRPr b="1" i="0" sz="1600" u="none" cap="none" strike="noStrike">
              <a:solidFill>
                <a:srgbClr val="5F636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Themes created from Thematic Analysis of Survey </a:t>
            </a:r>
            <a:endParaRPr b="1" i="0" sz="1600" u="none" cap="none" strike="noStrike">
              <a:solidFill>
                <a:srgbClr val="5F6368"/>
              </a:solidFill>
              <a:latin typeface="Arial"/>
              <a:ea typeface="Arial"/>
              <a:cs typeface="Arial"/>
              <a:sym typeface="Arial"/>
            </a:endParaRPr>
          </a:p>
        </p:txBody>
      </p:sp>
      <p:sp>
        <p:nvSpPr>
          <p:cNvPr id="218" name="Google Shape;218;p23"/>
          <p:cNvSpPr/>
          <p:nvPr/>
        </p:nvSpPr>
        <p:spPr>
          <a:xfrm>
            <a:off x="640080"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3"/>
          <p:cNvSpPr txBox="1"/>
          <p:nvPr/>
        </p:nvSpPr>
        <p:spPr>
          <a:xfrm>
            <a:off x="749808"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 </a:t>
            </a:r>
            <a:r>
              <a:rPr b="0" i="0" lang="en-US" sz="1700" u="none" cap="none" strike="noStrike">
                <a:solidFill>
                  <a:srgbClr val="1A1A1A"/>
                </a:solidFill>
                <a:latin typeface="Arial"/>
                <a:ea typeface="Arial"/>
                <a:cs typeface="Arial"/>
                <a:sym typeface="Arial"/>
              </a:rPr>
              <a:t>Not worth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0" name="Google Shape;220;p23"/>
          <p:cNvSpPr/>
          <p:nvPr/>
        </p:nvSpPr>
        <p:spPr>
          <a:xfrm>
            <a:off x="3410711"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3"/>
          <p:cNvSpPr txBox="1"/>
          <p:nvPr/>
        </p:nvSpPr>
        <p:spPr>
          <a:xfrm>
            <a:off x="3520439"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C2 </a:t>
            </a:r>
            <a:r>
              <a:rPr b="0" i="0" lang="en-US" sz="1700" u="none" cap="none" strike="noStrike">
                <a:solidFill>
                  <a:srgbClr val="1A1A1A"/>
                </a:solidFill>
                <a:latin typeface="Arial"/>
                <a:ea typeface="Arial"/>
                <a:cs typeface="Arial"/>
                <a:sym typeface="Arial"/>
              </a:rPr>
              <a:t>Portability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2" name="Google Shape;222;p23"/>
          <p:cNvSpPr/>
          <p:nvPr/>
        </p:nvSpPr>
        <p:spPr>
          <a:xfrm>
            <a:off x="6181344"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3"/>
          <p:cNvSpPr txBox="1"/>
          <p:nvPr/>
        </p:nvSpPr>
        <p:spPr>
          <a:xfrm>
            <a:off x="6291072"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C3 </a:t>
            </a:r>
            <a:r>
              <a:rPr b="0" i="0" lang="en-US" sz="1700" u="none" cap="none" strike="noStrike">
                <a:solidFill>
                  <a:srgbClr val="1A1A1A"/>
                </a:solidFill>
                <a:latin typeface="Arial"/>
                <a:ea typeface="Arial"/>
                <a:cs typeface="Arial"/>
                <a:sym typeface="Arial"/>
              </a:rPr>
              <a:t>Maintenance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4" name="Google Shape;224;p23"/>
          <p:cNvSpPr/>
          <p:nvPr/>
        </p:nvSpPr>
        <p:spPr>
          <a:xfrm>
            <a:off x="8951976"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3"/>
          <p:cNvSpPr txBox="1"/>
          <p:nvPr/>
        </p:nvSpPr>
        <p:spPr>
          <a:xfrm>
            <a:off x="9061703"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C4 </a:t>
            </a:r>
            <a:r>
              <a:rPr b="0" i="0" lang="en-US" sz="1700" u="none" cap="none" strike="noStrike">
                <a:solidFill>
                  <a:srgbClr val="1A1A1A"/>
                </a:solidFill>
                <a:latin typeface="Arial"/>
                <a:ea typeface="Arial"/>
                <a:cs typeface="Arial"/>
                <a:sym typeface="Arial"/>
              </a:rPr>
              <a:t>Tacit knowledge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6" name="Google Shape;226;p23"/>
          <p:cNvSpPr/>
          <p:nvPr/>
        </p:nvSpPr>
        <p:spPr>
          <a:xfrm>
            <a:off x="640080"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3"/>
          <p:cNvSpPr txBox="1"/>
          <p:nvPr/>
        </p:nvSpPr>
        <p:spPr>
          <a:xfrm>
            <a:off x="749808"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C5 </a:t>
            </a:r>
            <a:r>
              <a:rPr b="0" i="0" lang="en-US" sz="1700" u="none" cap="none" strike="noStrike">
                <a:solidFill>
                  <a:srgbClr val="1A1A1A"/>
                </a:solidFill>
                <a:latin typeface="Arial"/>
                <a:ea typeface="Arial"/>
                <a:cs typeface="Arial"/>
                <a:sym typeface="Arial"/>
              </a:rPr>
              <a:t>Doesn’t fit purpose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28" name="Google Shape;228;p23"/>
          <p:cNvSpPr/>
          <p:nvPr/>
        </p:nvSpPr>
        <p:spPr>
          <a:xfrm>
            <a:off x="3410711"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3"/>
          <p:cNvSpPr txBox="1"/>
          <p:nvPr/>
        </p:nvSpPr>
        <p:spPr>
          <a:xfrm>
            <a:off x="3520439"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C6 </a:t>
            </a:r>
            <a:r>
              <a:rPr b="0" i="0" lang="en-US" sz="1700" u="none" cap="none" strike="noStrike">
                <a:solidFill>
                  <a:srgbClr val="1A1A1A"/>
                </a:solidFill>
                <a:latin typeface="Arial"/>
                <a:ea typeface="Arial"/>
                <a:cs typeface="Arial"/>
                <a:sym typeface="Arial"/>
              </a:rPr>
              <a:t>No standards / guidelines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0" name="Google Shape;230;p23"/>
          <p:cNvSpPr/>
          <p:nvPr/>
        </p:nvSpPr>
        <p:spPr>
          <a:xfrm>
            <a:off x="6181344"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3"/>
          <p:cNvSpPr txBox="1"/>
          <p:nvPr/>
        </p:nvSpPr>
        <p:spPr>
          <a:xfrm>
            <a:off x="6291072"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C7 </a:t>
            </a:r>
            <a:r>
              <a:rPr b="0" i="0" lang="en-US" sz="1700" u="none" cap="none" strike="noStrike">
                <a:solidFill>
                  <a:srgbClr val="1A1A1A"/>
                </a:solidFill>
                <a:latin typeface="Arial"/>
                <a:ea typeface="Arial"/>
                <a:cs typeface="Arial"/>
                <a:sym typeface="Arial"/>
              </a:rPr>
              <a:t>Hosting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2" name="Google Shape;232;p23"/>
          <p:cNvSpPr/>
          <p:nvPr/>
        </p:nvSpPr>
        <p:spPr>
          <a:xfrm>
            <a:off x="8951976"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3"/>
          <p:cNvSpPr txBox="1"/>
          <p:nvPr/>
        </p:nvSpPr>
        <p:spPr>
          <a:xfrm>
            <a:off x="9061703"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C8 </a:t>
            </a:r>
            <a:r>
              <a:rPr b="0" i="0" lang="en-US" sz="1700" u="none" cap="none" strike="noStrike">
                <a:solidFill>
                  <a:srgbClr val="1A1A1A"/>
                </a:solidFill>
                <a:latin typeface="Arial"/>
                <a:ea typeface="Arial"/>
                <a:cs typeface="Arial"/>
                <a:sym typeface="Arial"/>
              </a:rPr>
              <a:t>Double-blind review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4" name="Google Shape;234;p23"/>
          <p:cNvSpPr/>
          <p:nvPr/>
        </p:nvSpPr>
        <p:spPr>
          <a:xfrm>
            <a:off x="640080"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3"/>
          <p:cNvSpPr txBox="1"/>
          <p:nvPr/>
        </p:nvSpPr>
        <p:spPr>
          <a:xfrm>
            <a:off x="749808"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C9 </a:t>
            </a:r>
            <a:r>
              <a:rPr b="0" i="0" lang="en-US" sz="1700" u="none" cap="none" strike="noStrike">
                <a:solidFill>
                  <a:srgbClr val="1A1A1A"/>
                </a:solidFill>
                <a:latin typeface="Arial"/>
                <a:ea typeface="Arial"/>
                <a:cs typeface="Arial"/>
                <a:sym typeface="Arial"/>
              </a:rPr>
              <a:t>External constraints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6" name="Google Shape;236;p23"/>
          <p:cNvSpPr/>
          <p:nvPr/>
        </p:nvSpPr>
        <p:spPr>
          <a:xfrm>
            <a:off x="3410711"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3"/>
          <p:cNvSpPr txBox="1"/>
          <p:nvPr/>
        </p:nvSpPr>
        <p:spPr>
          <a:xfrm>
            <a:off x="3520439"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C10 </a:t>
            </a:r>
            <a:r>
              <a:rPr b="0" i="0" lang="en-US" sz="1700" u="none" cap="none" strike="noStrike">
                <a:solidFill>
                  <a:srgbClr val="1A1A1A"/>
                </a:solidFill>
                <a:latin typeface="Arial"/>
                <a:ea typeface="Arial"/>
                <a:cs typeface="Arial"/>
                <a:sym typeface="Arial"/>
              </a:rPr>
              <a:t>No reviewer incentives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8" name="Google Shape;238;p23"/>
          <p:cNvSpPr/>
          <p:nvPr/>
        </p:nvSpPr>
        <p:spPr>
          <a:xfrm>
            <a:off x="6181344"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3"/>
          <p:cNvSpPr txBox="1"/>
          <p:nvPr/>
        </p:nvSpPr>
        <p:spPr>
          <a:xfrm>
            <a:off x="6291072"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C11 </a:t>
            </a:r>
            <a:r>
              <a:rPr b="0" i="0" lang="en-US" sz="1700" u="none" cap="none" strike="noStrike">
                <a:solidFill>
                  <a:srgbClr val="1A1A1A"/>
                </a:solidFill>
                <a:latin typeface="Arial"/>
                <a:ea typeface="Arial"/>
                <a:cs typeface="Arial"/>
                <a:sym typeface="Arial"/>
              </a:rPr>
              <a:t>Technical obstacles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40" name="Google Shape;240;p23"/>
          <p:cNvSpPr/>
          <p:nvPr/>
        </p:nvSpPr>
        <p:spPr>
          <a:xfrm>
            <a:off x="8951976"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3"/>
          <p:cNvSpPr txBox="1"/>
          <p:nvPr/>
        </p:nvSpPr>
        <p:spPr>
          <a:xfrm>
            <a:off x="9061703"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C12 </a:t>
            </a:r>
            <a:r>
              <a:rPr b="0" i="0" lang="en-US" sz="1700" u="none" cap="none" strike="noStrike">
                <a:solidFill>
                  <a:srgbClr val="1A1A1A"/>
                </a:solidFill>
                <a:latin typeface="Arial"/>
                <a:ea typeface="Arial"/>
                <a:cs typeface="Arial"/>
                <a:sym typeface="Arial"/>
              </a:rPr>
              <a:t>Limited communication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42" name="Google Shape;242;p23"/>
          <p:cNvSpPr txBox="1"/>
          <p:nvPr/>
        </p:nvSpPr>
        <p:spPr>
          <a:xfrm>
            <a:off x="640080" y="5931510"/>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883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creator   </a:t>
            </a:r>
            <a:r>
              <a:rPr b="1" i="0" lang="en-US" sz="1600" u="none" cap="none" strike="noStrike">
                <a:solidFill>
                  <a:srgbClr val="5F6368"/>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user   </a:t>
            </a:r>
            <a:r>
              <a:rPr b="1" i="0" lang="en-US" sz="1600" u="none" cap="none" strike="noStrike">
                <a:solidFill>
                  <a:srgbClr val="1A1A1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49" name="Google Shape;249;p2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50" name="Google Shape;250;p24"/>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C1-C3</a:t>
            </a:r>
            <a:endParaRPr b="0" i="0" sz="1400" u="none" cap="none" strike="noStrike">
              <a:solidFill>
                <a:srgbClr val="000000"/>
              </a:solidFill>
              <a:latin typeface="Arial"/>
              <a:ea typeface="Arial"/>
              <a:cs typeface="Arial"/>
              <a:sym typeface="Arial"/>
            </a:endParaRPr>
          </a:p>
        </p:txBody>
      </p:sp>
      <p:sp>
        <p:nvSpPr>
          <p:cNvPr id="251" name="Google Shape;251;p24"/>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52" name="Google Shape;252;p24"/>
          <p:cNvGraphicFramePr/>
          <p:nvPr/>
        </p:nvGraphicFramePr>
        <p:xfrm>
          <a:off x="640080" y="1554480"/>
          <a:ext cx="3000000" cy="3000000"/>
        </p:xfrm>
        <a:graphic>
          <a:graphicData uri="http://schemas.openxmlformats.org/drawingml/2006/table">
            <a:tbl>
              <a:tblPr bandRow="1" firstRow="1">
                <a:noFill/>
                <a:tableStyleId>{B210543A-7245-49F1-905D-CFC50E68E127}</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 </a:t>
                      </a:r>
                      <a:r>
                        <a:rPr b="1" lang="en-US" sz="1700" u="none" cap="none" strike="noStrike">
                          <a:solidFill>
                            <a:srgbClr val="1A1A1A"/>
                          </a:solidFill>
                          <a:latin typeface="Arial"/>
                          <a:ea typeface="Arial"/>
                          <a:cs typeface="Arial"/>
                          <a:sym typeface="Arial"/>
                        </a:rPr>
                        <a:t>Not worth it</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costly; time better spent on papers; little career benefit</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risks: reputation (code quality), scooping, mistakes found, maintenance burden, no users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held back for untapped publication value ("protect a PhD student"); limited audience</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counterpoint: whole research areas died for lack of artifacts</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C2 </a:t>
                      </a:r>
                      <a:r>
                        <a:rPr b="1" lang="en-US" sz="1700" u="none" cap="none" strike="noStrike">
                          <a:solidFill>
                            <a:srgbClr val="1A1A1A"/>
                          </a:solidFill>
                          <a:latin typeface="Arial"/>
                          <a:ea typeface="Arial"/>
                          <a:cs typeface="Arial"/>
                          <a:sym typeface="Arial"/>
                        </a:rPr>
                        <a:t>Portability</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hard to anticipate environments; retrofit = refactor or VM/container, test elsewhere</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hard-wired paths, root needed; build and run failures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installing dependencies = main review hurdle; invasive libraries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VMs: safe but huge, cross-OS issues, no performance check; containers don’t stop decay</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C3 </a:t>
                      </a:r>
                      <a:r>
                        <a:rPr b="1" lang="en-US" sz="1700" u="none" cap="none" strike="noStrike">
                          <a:solidFill>
                            <a:srgbClr val="1A1A1A"/>
                          </a:solidFill>
                          <a:latin typeface="Arial"/>
                          <a:ea typeface="Arial"/>
                          <a:cs typeface="Arial"/>
                          <a:sym typeface="Arial"/>
                        </a:rPr>
                        <a:t>Maintenance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ongoing cost: bugs, changing use cases, bitrot</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students maintain artifacts, then graduate</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unmaintained artifacts need old libraries that are ever harder to get</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59" name="Google Shape;259;p2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60" name="Google Shape;260;p25"/>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C4-C6</a:t>
            </a:r>
            <a:endParaRPr b="0" i="0" sz="1400" u="none" cap="none" strike="noStrike">
              <a:solidFill>
                <a:srgbClr val="000000"/>
              </a:solidFill>
              <a:latin typeface="Arial"/>
              <a:ea typeface="Arial"/>
              <a:cs typeface="Arial"/>
              <a:sym typeface="Arial"/>
            </a:endParaRPr>
          </a:p>
        </p:txBody>
      </p:sp>
      <p:sp>
        <p:nvSpPr>
          <p:cNvPr id="261" name="Google Shape;261;p25"/>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62" name="Google Shape;262;p25"/>
          <p:cNvGraphicFramePr/>
          <p:nvPr/>
        </p:nvGraphicFramePr>
        <p:xfrm>
          <a:off x="640080" y="1554480"/>
          <a:ext cx="3000000" cy="3000000"/>
        </p:xfrm>
        <a:graphic>
          <a:graphicData uri="http://schemas.openxmlformats.org/drawingml/2006/table">
            <a:tbl>
              <a:tblPr bandRow="1" firstRow="1">
                <a:noFill/>
                <a:tableStyleId>{B210543A-7245-49F1-905D-CFC50E68E127}</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C4 </a:t>
                      </a:r>
                      <a:r>
                        <a:rPr b="1" lang="en-US" sz="1700" u="none" cap="none" strike="noStrike">
                          <a:solidFill>
                            <a:srgbClr val="1A1A1A"/>
                          </a:solidFill>
                          <a:latin typeface="Arial"/>
                          <a:ea typeface="Arial"/>
                          <a:cs typeface="Arial"/>
                          <a:sym typeface="Arial"/>
                        </a:rPr>
                        <a:t>Tacit knowledge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documentation and refactoring burdensome; know-how "in developers’ heads"; prototypes change fast</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missing usage and build instructions = most common user problems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instructions incomplete, had to read the paper to fill gaps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scripts no panacea: black box, may repeat authors’ mistakes; docs still needed</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C5 </a:t>
                      </a:r>
                      <a:r>
                        <a:rPr b="1" lang="en-US" sz="1700" u="none" cap="none" strike="noStrike">
                          <a:solidFill>
                            <a:srgbClr val="1A1A1A"/>
                          </a:solidFill>
                          <a:latin typeface="Arial"/>
                          <a:ea typeface="Arial"/>
                          <a:cs typeface="Arial"/>
                          <a:sym typeface="Arial"/>
                        </a:rPr>
                        <a:t>Doesn’t fit purpose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doesn’t serve the purpose stated in the paper; very narrow use cases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users end up modifying or reimplementing</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C6 </a:t>
                      </a:r>
                      <a:r>
                        <a:rPr b="1" lang="en-US" sz="1700" u="none" cap="none" strike="noStrike">
                          <a:solidFill>
                            <a:srgbClr val="1A1A1A"/>
                          </a:solidFill>
                          <a:latin typeface="Arial"/>
                          <a:ea typeface="Arial"/>
                          <a:cs typeface="Arial"/>
                          <a:sym typeface="Arial"/>
                        </a:rPr>
                        <a:t>No standards / guidelines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packaging, contents, quality; how to handle existing datasets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no guidance on setup instructions, contribution guides, docs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 criteria and ACM badge text vague, "too general"</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purpose (run scripts vs. deep dive) and link to paper acceptance: reject or "rubber stamp"?</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69" name="Google Shape;269;p2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70" name="Google Shape;270;p26"/>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C7-C9</a:t>
            </a:r>
            <a:endParaRPr b="0" i="0" sz="1400" u="none" cap="none" strike="noStrike">
              <a:solidFill>
                <a:srgbClr val="000000"/>
              </a:solidFill>
              <a:latin typeface="Arial"/>
              <a:ea typeface="Arial"/>
              <a:cs typeface="Arial"/>
              <a:sym typeface="Arial"/>
            </a:endParaRPr>
          </a:p>
        </p:txBody>
      </p:sp>
      <p:sp>
        <p:nvSpPr>
          <p:cNvPr id="271" name="Google Shape;271;p26"/>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72" name="Google Shape;272;p26"/>
          <p:cNvGraphicFramePr/>
          <p:nvPr/>
        </p:nvGraphicFramePr>
        <p:xfrm>
          <a:off x="640080" y="1554480"/>
          <a:ext cx="3000000" cy="3000000"/>
        </p:xfrm>
        <a:graphic>
          <a:graphicData uri="http://schemas.openxmlformats.org/drawingml/2006/table">
            <a:tbl>
              <a:tblPr bandRow="1" firstRow="1">
                <a:noFill/>
                <a:tableStyleId>{B210543A-7245-49F1-905D-CFC50E68E127}</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C7 </a:t>
                      </a:r>
                      <a:r>
                        <a:rPr b="1" lang="en-US" sz="1700" u="none" cap="none" strike="noStrike">
                          <a:solidFill>
                            <a:srgbClr val="1A1A1A"/>
                          </a:solidFill>
                          <a:latin typeface="Arial"/>
                          <a:ea typeface="Arial"/>
                          <a:cs typeface="Arial"/>
                          <a:sym typeface="Arial"/>
                        </a:rPr>
                        <a:t>Hosting</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needs indefinite, large, free hosting; GitHub, Drive, Dropbox aren’t archives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inaccessible artifacts = 2nd most common user problem; dead links rise with age</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C8 </a:t>
                      </a:r>
                      <a:r>
                        <a:rPr b="1" lang="en-US" sz="1700" u="none" cap="none" strike="noStrike">
                          <a:solidFill>
                            <a:srgbClr val="1A1A1A"/>
                          </a:solidFill>
                          <a:latin typeface="Arial"/>
                          <a:ea typeface="Arial"/>
                          <a:cs typeface="Arial"/>
                          <a:sym typeface="Arial"/>
                        </a:rPr>
                        <a:t>Double-blind review</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artifact must be anonymised; anonymous hosting hard to find</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C9 </a:t>
                      </a:r>
                      <a:r>
                        <a:rPr b="1" lang="en-US" sz="1700" u="none" cap="none" strike="noStrike">
                          <a:solidFill>
                            <a:srgbClr val="1A1A1A"/>
                          </a:solidFill>
                          <a:latin typeface="Arial"/>
                          <a:ea typeface="Arial"/>
                          <a:cs typeface="Arial"/>
                          <a:sym typeface="Arial"/>
                        </a:rPr>
                        <a:t>External constraints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IP and contracts, liability fears, privacy (re-identifiable qualitative data), larger ecosystems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criticised for unshared industry data: "ritualistic blanket argument" (P22)</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licences block extension; decompiling; paid licences for tools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reviewers lack licences; no pathway for proprietary components</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79" name="Google Shape;279;p2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80" name="Google Shape;280;p27"/>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C10-C12</a:t>
            </a:r>
            <a:endParaRPr b="0" i="0" sz="1400" u="none" cap="none" strike="noStrike">
              <a:solidFill>
                <a:srgbClr val="000000"/>
              </a:solidFill>
              <a:latin typeface="Arial"/>
              <a:ea typeface="Arial"/>
              <a:cs typeface="Arial"/>
              <a:sym typeface="Arial"/>
            </a:endParaRPr>
          </a:p>
        </p:txBody>
      </p:sp>
      <p:sp>
        <p:nvSpPr>
          <p:cNvPr id="281" name="Google Shape;281;p27"/>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82" name="Google Shape;282;p27"/>
          <p:cNvGraphicFramePr/>
          <p:nvPr/>
        </p:nvGraphicFramePr>
        <p:xfrm>
          <a:off x="640080" y="1554480"/>
          <a:ext cx="3000000" cy="3000000"/>
        </p:xfrm>
        <a:graphic>
          <a:graphicData uri="http://schemas.openxmlformats.org/drawingml/2006/table">
            <a:tbl>
              <a:tblPr bandRow="1" firstRow="1">
                <a:noFill/>
                <a:tableStyleId>{B210543A-7245-49F1-905D-CFC50E68E127}</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C10 </a:t>
                      </a:r>
                      <a:r>
                        <a:rPr b="1" lang="en-US" sz="1700" u="none" cap="none" strike="noStrike">
                          <a:solidFill>
                            <a:srgbClr val="1A1A1A"/>
                          </a:solidFill>
                          <a:latin typeface="Arial"/>
                          <a:ea typeface="Arial"/>
                          <a:cs typeface="Arial"/>
                          <a:sym typeface="Arial"/>
                        </a:rPr>
                        <a:t>No reviewer incentives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time-consuming, not rewarded like paper review</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"we usually just make students do AEC": training, but signals artifacts are secondary</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 inconsistent, low-quality reviews</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C11 </a:t>
                      </a:r>
                      <a:r>
                        <a:rPr b="1" lang="en-US" sz="1700" u="none" cap="none" strike="noStrike">
                          <a:solidFill>
                            <a:srgbClr val="1A1A1A"/>
                          </a:solidFill>
                          <a:latin typeface="Arial"/>
                          <a:ea typeface="Arial"/>
                          <a:cs typeface="Arial"/>
                          <a:sym typeface="Arial"/>
                        </a:rPr>
                        <a:t>Technical obstacles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long runtimes, little compute; what if &gt; 1 day per artifact?</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huge VM images vs. disk space and slow downloads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some experiments infeasible to re-run: cloud, fuzzing, program repair</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C12 </a:t>
                      </a:r>
                      <a:r>
                        <a:rPr b="1" lang="en-US" sz="1700" u="none" cap="none" strike="noStrike">
                          <a:solidFill>
                            <a:srgbClr val="1A1A1A"/>
                          </a:solidFill>
                          <a:latin typeface="Arial"/>
                          <a:ea typeface="Arial"/>
                          <a:cs typeface="Arial"/>
                          <a:sym typeface="Arial"/>
                        </a:rPr>
                        <a:t>Limited communication</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single-round reviews: minor install glitch shouldn’t mean rejection</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authors willing to help matter most; unresponsive authors leave reviewers waiting days</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7" name="Shape 287"/>
        <p:cNvGrpSpPr/>
        <p:nvPr/>
      </p:nvGrpSpPr>
      <p:grpSpPr>
        <a:xfrm>
          <a:off x="0" y="0"/>
          <a:ext cx="0" cy="0"/>
          <a:chOff x="0" y="0"/>
          <a:chExt cx="0" cy="0"/>
        </a:xfrm>
      </p:grpSpPr>
      <p:sp>
        <p:nvSpPr>
          <p:cNvPr id="288" name="Google Shape;288;p2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289" name="Google Shape;289;p2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90" name="Google Shape;290;p28"/>
          <p:cNvSpPr/>
          <p:nvPr/>
        </p:nvSpPr>
        <p:spPr>
          <a:xfrm>
            <a:off x="640080" y="1417320"/>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1" name="Google Shape;291;p28"/>
          <p:cNvSpPr txBox="1"/>
          <p:nvPr/>
        </p:nvSpPr>
        <p:spPr>
          <a:xfrm>
            <a:off x="822960" y="1463040"/>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Replicability</a:t>
            </a:r>
            <a:endParaRPr/>
          </a:p>
        </p:txBody>
      </p:sp>
      <p:sp>
        <p:nvSpPr>
          <p:cNvPr id="292" name="Google Shape;292;p28"/>
          <p:cNvSpPr txBox="1"/>
          <p:nvPr/>
        </p:nvSpPr>
        <p:spPr>
          <a:xfrm>
            <a:off x="3200400" y="1463040"/>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data and scripts shared; qualitative answers kept confidential</a:t>
            </a:r>
            <a:endParaRPr/>
          </a:p>
        </p:txBody>
      </p:sp>
      <p:sp>
        <p:nvSpPr>
          <p:cNvPr id="293" name="Google Shape;293;p28"/>
          <p:cNvSpPr/>
          <p:nvPr/>
        </p:nvSpPr>
        <p:spPr>
          <a:xfrm>
            <a:off x="640080" y="2395728"/>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4" name="Google Shape;294;p28"/>
          <p:cNvSpPr txBox="1"/>
          <p:nvPr/>
        </p:nvSpPr>
        <p:spPr>
          <a:xfrm>
            <a:off x="822960" y="2441448"/>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Construct</a:t>
            </a:r>
            <a:endParaRPr/>
          </a:p>
        </p:txBody>
      </p:sp>
      <p:sp>
        <p:nvSpPr>
          <p:cNvPr id="295" name="Google Shape;295;p28"/>
          <p:cNvSpPr txBox="1"/>
          <p:nvPr/>
        </p:nvSpPr>
        <p:spPr>
          <a:xfrm>
            <a:off x="3200400" y="2441448"/>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artifact = any link; unlinked artifacts missed; authors not contacted</a:t>
            </a:r>
            <a:endParaRPr/>
          </a:p>
        </p:txBody>
      </p:sp>
      <p:sp>
        <p:nvSpPr>
          <p:cNvPr id="296" name="Google Shape;296;p28"/>
          <p:cNvSpPr/>
          <p:nvPr/>
        </p:nvSpPr>
        <p:spPr>
          <a:xfrm>
            <a:off x="640080" y="3374136"/>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28"/>
          <p:cNvSpPr txBox="1"/>
          <p:nvPr/>
        </p:nvSpPr>
        <p:spPr>
          <a:xfrm>
            <a:off x="822960" y="3419856"/>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Internal</a:t>
            </a:r>
            <a:endParaRPr/>
          </a:p>
        </p:txBody>
      </p:sp>
      <p:sp>
        <p:nvSpPr>
          <p:cNvPr id="298" name="Google Shape;298;p28"/>
          <p:cNvSpPr txBox="1"/>
          <p:nvPr/>
        </p:nvSpPr>
        <p:spPr>
          <a:xfrm>
            <a:off x="3200400" y="3419856"/>
            <a:ext cx="82296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survey bias from respondents and researchers; triangulation, documented coding</a:t>
            </a:r>
            <a:endParaRPr/>
          </a:p>
        </p:txBody>
      </p:sp>
      <p:sp>
        <p:nvSpPr>
          <p:cNvPr id="299" name="Google Shape;299;p28"/>
          <p:cNvSpPr/>
          <p:nvPr/>
        </p:nvSpPr>
        <p:spPr>
          <a:xfrm>
            <a:off x="640080" y="4352544"/>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0" name="Google Shape;300;p28"/>
          <p:cNvSpPr txBox="1"/>
          <p:nvPr/>
        </p:nvSpPr>
        <p:spPr>
          <a:xfrm>
            <a:off x="822960" y="4398264"/>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"Available"</a:t>
            </a:r>
            <a:endParaRPr/>
          </a:p>
        </p:txBody>
      </p:sp>
      <p:sp>
        <p:nvSpPr>
          <p:cNvPr id="301" name="Google Shape;301;p28"/>
          <p:cNvSpPr txBox="1"/>
          <p:nvPr/>
        </p:nvSpPr>
        <p:spPr>
          <a:xfrm>
            <a:off x="3200400" y="4398264"/>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link still works; content and quality not checked</a:t>
            </a:r>
            <a:endParaRPr/>
          </a:p>
        </p:txBody>
      </p:sp>
      <p:sp>
        <p:nvSpPr>
          <p:cNvPr id="302" name="Google Shape;302;p28"/>
          <p:cNvSpPr/>
          <p:nvPr/>
        </p:nvSpPr>
        <p:spPr>
          <a:xfrm>
            <a:off x="640080" y="5330952"/>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28"/>
          <p:cNvSpPr txBox="1"/>
          <p:nvPr/>
        </p:nvSpPr>
        <p:spPr>
          <a:xfrm>
            <a:off x="822960" y="5376672"/>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External</a:t>
            </a:r>
            <a:endParaRPr/>
          </a:p>
        </p:txBody>
      </p:sp>
      <p:sp>
        <p:nvSpPr>
          <p:cNvPr id="304" name="Google Shape;304;p28"/>
          <p:cNvSpPr txBox="1"/>
          <p:nvPr/>
        </p:nvSpPr>
        <p:spPr>
          <a:xfrm>
            <a:off x="3200400" y="5376672"/>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results describe only the SE research community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11" name="Google Shape;311;p2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12" name="Google Shape;312;p29"/>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 Not worth it: Fear of exposing mistakes</a:t>
            </a:r>
            <a:endParaRPr/>
          </a:p>
        </p:txBody>
      </p:sp>
      <p:sp>
        <p:nvSpPr>
          <p:cNvPr id="313" name="Google Shape;313;p29"/>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Creators fear shared code exposes mistakes and harms their reputation, though finding mistakes is what review is for.</a:t>
            </a:r>
            <a:endParaRPr/>
          </a:p>
        </p:txBody>
      </p:sp>
      <p:sp>
        <p:nvSpPr>
          <p:cNvPr id="314" name="Google Shape;314;p29"/>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What would make you more or less willing to share your own code?</a:t>
            </a:r>
            <a:endParaRPr/>
          </a:p>
        </p:txBody>
      </p:sp>
      <p:sp>
        <p:nvSpPr>
          <p:cNvPr id="315" name="Google Shape;315;p29"/>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29"/>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bug found later only leads to a correction note, not a retraction</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share more readily if messy, as-is code were the norm?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23" name="Google Shape;323;p3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24" name="Google Shape;324;p3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 Not worth it: Holding back artifacts</a:t>
            </a:r>
            <a:endParaRPr/>
          </a:p>
        </p:txBody>
      </p:sp>
      <p:sp>
        <p:nvSpPr>
          <p:cNvPr id="325" name="Google Shape;325;p3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Some creators hold back artifacts to protect future publications.</a:t>
            </a:r>
            <a:endParaRPr/>
          </a:p>
        </p:txBody>
      </p:sp>
      <p:sp>
        <p:nvSpPr>
          <p:cNvPr id="326" name="Google Shape;326;p3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Does this slow down research, and how far should researchers accept being undercut for scientific progress?</a:t>
            </a:r>
            <a:endParaRPr/>
          </a:p>
        </p:txBody>
      </p:sp>
      <p:sp>
        <p:nvSpPr>
          <p:cNvPr id="327" name="Google Shape;327;p3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3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tool kept private until the PhD student's next paper</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build on a paper whose tool you can't get?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35" name="Google Shape;335;p3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36" name="Google Shape;336;p3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C2 Portability: Running untrusted artifacts</a:t>
            </a:r>
            <a:endParaRPr/>
          </a:p>
        </p:txBody>
      </p:sp>
      <p:sp>
        <p:nvSpPr>
          <p:cNvPr id="337" name="Google Shape;337;p3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Running untrusted artifacts is a security risk for reviewers.</a:t>
            </a:r>
            <a:endParaRPr/>
          </a:p>
        </p:txBody>
      </p:sp>
      <p:sp>
        <p:nvSpPr>
          <p:cNvPr id="338" name="Google Shape;338;p3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reviewers be allowed to refuse artifacts that need root access or invasive libraries?</a:t>
            </a:r>
            <a:endParaRPr/>
          </a:p>
        </p:txBody>
      </p:sp>
      <p:sp>
        <p:nvSpPr>
          <p:cNvPr id="339" name="Google Shape;339;p3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31"/>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installer that changes system libraries on the reviewer's laptop</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refusing were allowed, which research could no longer be evaluated?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47" name="Google Shape;347;p3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48" name="Google Shape;348;p3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C3 Maintenance: Decay and maintenance</a:t>
            </a:r>
            <a:endParaRPr/>
          </a:p>
        </p:txBody>
      </p:sp>
      <p:sp>
        <p:nvSpPr>
          <p:cNvPr id="349" name="Google Shape;349;p3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Artifacts decay as dependencies age and student maintainers leave.</a:t>
            </a:r>
            <a:endParaRPr/>
          </a:p>
        </p:txBody>
      </p:sp>
      <p:sp>
        <p:nvSpPr>
          <p:cNvPr id="350" name="Google Shape;350;p32"/>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software decay unavoidable, and what practical ways are there to limit it?</a:t>
            </a:r>
            <a:endParaRPr/>
          </a:p>
        </p:txBody>
      </p:sp>
      <p:sp>
        <p:nvSpPr>
          <p:cNvPr id="351" name="Google Shape;351;p3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2" name="Google Shape;352;p32"/>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2015 thesis tool needs Python 2 and a library that no longer exists: fix it, freeze it in an image, or let it go?</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Who should pay for keeping your thesis tool running after you leave?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59" name="Google Shape;359;p3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60" name="Google Shape;360;p33"/>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C4 Tacit knowledge: One-click reproduction scripts</a:t>
            </a:r>
            <a:endParaRPr/>
          </a:p>
        </p:txBody>
      </p:sp>
      <p:sp>
        <p:nvSpPr>
          <p:cNvPr id="361" name="Google Shape;361;p33"/>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Scripts capture steps that would otherwise stay in the developer's head. Reviewers warn they can be a black box that re-runs the authors' mistakes.</a:t>
            </a:r>
            <a:endParaRPr/>
          </a:p>
        </p:txBody>
      </p:sp>
      <p:sp>
        <p:nvSpPr>
          <p:cNvPr id="362" name="Google Shape;362;p33"/>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a one-click reproduction script good or bad for scientific scrutiny?</a:t>
            </a:r>
            <a:endParaRPr/>
          </a:p>
        </p:txBody>
      </p:sp>
      <p:sp>
        <p:nvSpPr>
          <p:cNvPr id="363" name="Google Shape;363;p33"/>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33"/>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script reproduces every table, but nobody reads the code behind it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what besides a script would help you understand why the results come out?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71" name="Google Shape;371;p3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72" name="Google Shape;372;p3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C4 Tacit knowledge: Capturing tacit knowledge</a:t>
            </a:r>
            <a:endParaRPr/>
          </a:p>
        </p:txBody>
      </p:sp>
      <p:sp>
        <p:nvSpPr>
          <p:cNvPr id="373" name="Google Shape;373;p34"/>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Much know-how about a prototype stays in the developer's head.</a:t>
            </a:r>
            <a:endParaRPr/>
          </a:p>
        </p:txBody>
      </p:sp>
      <p:sp>
        <p:nvSpPr>
          <p:cNvPr id="374" name="Google Shape;374;p3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What practical ways are there to capture this knowledge so that others can use the artifact?</a:t>
            </a:r>
            <a:endParaRPr/>
          </a:p>
        </p:txBody>
      </p:sp>
      <p:sp>
        <p:nvSpPr>
          <p:cNvPr id="375" name="Google Shape;375;p3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34"/>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order the scripts must run in, hard-coded paths, parameter values that were tried and dropped</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someone reproduce your bachelor thesis results from your repository alone?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83" name="Google Shape;383;p3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84" name="Google Shape;384;p3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C4 Tacit knowledge: Reviewer effort</a:t>
            </a:r>
            <a:endParaRPr/>
          </a:p>
        </p:txBody>
      </p:sp>
      <p:sp>
        <p:nvSpPr>
          <p:cNvPr id="385" name="Google Shape;385;p35"/>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Reviewers report missing instructions and needing the paper to fill gaps; deep dives can take days.</a:t>
            </a:r>
            <a:endParaRPr/>
          </a:p>
        </p:txBody>
      </p:sp>
      <p:sp>
        <p:nvSpPr>
          <p:cNvPr id="386" name="Google Shape;386;p3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How much effort, time and money should reviewers invest before giving up on an artifact?</a:t>
            </a:r>
            <a:endParaRPr/>
          </a:p>
        </p:txBody>
      </p:sp>
      <p:sp>
        <p:nvSpPr>
          <p:cNvPr id="387" name="Google Shape;387;p3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35"/>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after two hours it fails on a missing dependency: fix it, ask the authors, or reject?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an author, how much of a reviewer's goodwill would you rely 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3" name="Shape 393"/>
        <p:cNvGrpSpPr/>
        <p:nvPr/>
      </p:nvGrpSpPr>
      <p:grpSpPr>
        <a:xfrm>
          <a:off x="0" y="0"/>
          <a:ext cx="0" cy="0"/>
          <a:chOff x="0" y="0"/>
          <a:chExt cx="0" cy="0"/>
        </a:xfrm>
      </p:grpSpPr>
      <p:sp>
        <p:nvSpPr>
          <p:cNvPr id="394" name="Google Shape;394;p3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95" name="Google Shape;395;p3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96" name="Google Shape;396;p3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C7 Hosting: Dead links and old badges</a:t>
            </a:r>
            <a:endParaRPr/>
          </a:p>
        </p:txBody>
      </p:sp>
      <p:sp>
        <p:nvSpPr>
          <p:cNvPr id="397" name="Google Shape;397;p3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Many artifacts become inaccessible, older ones more often.</a:t>
            </a:r>
            <a:endParaRPr/>
          </a:p>
        </p:txBody>
      </p:sp>
      <p:sp>
        <p:nvSpPr>
          <p:cNvPr id="398" name="Google Shape;398;p36"/>
          <p:cNvSpPr txBox="1"/>
          <p:nvPr/>
        </p:nvSpPr>
        <p:spPr>
          <a:xfrm>
            <a:off x="640080" y="269748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a badge expire if the artifact link dies after publication?</a:t>
            </a:r>
            <a:endParaRPr/>
          </a:p>
        </p:txBody>
      </p:sp>
      <p:sp>
        <p:nvSpPr>
          <p:cNvPr id="399" name="Google Shape;399;p3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36"/>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conferences re-check links every few years and mark dead ones</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"awarded 2016, not re-checked" change how you treat a paper?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07" name="Google Shape;407;p3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08" name="Google Shape;408;p3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C7 Hosting: Very large artifacts</a:t>
            </a:r>
            <a:endParaRPr/>
          </a:p>
        </p:txBody>
      </p:sp>
      <p:sp>
        <p:nvSpPr>
          <p:cNvPr id="409" name="Google Shape;409;p3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Large datasets don't fit common hosting or a reviewer's disk.</a:t>
            </a:r>
            <a:endParaRPr/>
          </a:p>
        </p:txBody>
      </p:sp>
      <p:sp>
        <p:nvSpPr>
          <p:cNvPr id="410" name="Google Shape;410;p3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What should researchers do with artifacts too big for Zenodo [1] or a reviewer's laptop?</a:t>
            </a:r>
            <a:endParaRPr/>
          </a:p>
        </p:txBody>
      </p:sp>
      <p:sp>
        <p:nvSpPr>
          <p:cNvPr id="411" name="Google Shape;411;p3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37"/>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several terabytes of mined repository data</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you publish if your thesis data were that large?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19" name="Google Shape;419;p3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20" name="Google Shape;420;p38"/>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Unshareable industry data</a:t>
            </a:r>
            <a:endParaRPr/>
          </a:p>
        </p:txBody>
      </p:sp>
      <p:sp>
        <p:nvSpPr>
          <p:cNvPr id="421" name="Google Shape;421;p38"/>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Industry partners often forbid sharing data.</a:t>
            </a:r>
            <a:endParaRPr/>
          </a:p>
        </p:txBody>
      </p:sp>
      <p:sp>
        <p:nvSpPr>
          <p:cNvPr id="422" name="Google Shape;422;p38"/>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reviewers criticise a paper for not sharing data its industry partner won't release?</a:t>
            </a:r>
            <a:endParaRPr/>
          </a:p>
        </p:txBody>
      </p:sp>
      <p:sp>
        <p:nvSpPr>
          <p:cNvPr id="423" name="Google Shape;423;p38"/>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38"/>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study of a company's bug reports, with the data under NDA</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you built on a study whose data is under NDA, would you trust it less than one whose artifact simply disappeared?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31" name="Google Shape;431;p3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32" name="Google Shape;432;p39"/>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Formal exceptions</a:t>
            </a:r>
            <a:endParaRPr/>
          </a:p>
        </p:txBody>
      </p:sp>
      <p:sp>
        <p:nvSpPr>
          <p:cNvPr id="433" name="Google Shape;433;p39"/>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ACM separates "evaluated" from "publicly available".</a:t>
            </a:r>
            <a:endParaRPr/>
          </a:p>
        </p:txBody>
      </p:sp>
      <p:sp>
        <p:nvSpPr>
          <p:cNvPr id="434" name="Google Shape;434;p39"/>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artifact evaluation have formal exceptions for artifacts like industry data?</a:t>
            </a:r>
            <a:endParaRPr/>
          </a:p>
        </p:txBody>
      </p:sp>
      <p:sp>
        <p:nvSpPr>
          <p:cNvPr id="435" name="Google Shape;435;p39"/>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39"/>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reviewers get temporary access under NDA, but readers never see the artifact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a badge saying "evaluated privately" convince you as a reader?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43" name="Google Shape;443;p4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44" name="Google Shape;444;p4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Open by default</a:t>
            </a:r>
            <a:endParaRPr/>
          </a:p>
        </p:txBody>
      </p:sp>
      <p:sp>
        <p:nvSpPr>
          <p:cNvPr id="445" name="Google Shape;445;p4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IP, privacy and commercial tools limit what can be shared.</a:t>
            </a:r>
            <a:endParaRPr/>
          </a:p>
        </p:txBody>
      </p:sp>
      <p:sp>
        <p:nvSpPr>
          <p:cNvPr id="446" name="Google Shape;446;p4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How open should research software be, and where are the legitimate limits?</a:t>
            </a:r>
            <a:endParaRPr/>
          </a:p>
        </p:txBody>
      </p:sp>
      <p:sp>
        <p:nvSpPr>
          <p:cNvPr id="447" name="Google Shape;447;p4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company co-authored the tool and wants to sell it later</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Which part of your own thesis work would you not want to make public, and why?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55" name="Google Shape;455;p4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56" name="Google Shape;456;p4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Licensed software</a:t>
            </a:r>
            <a:endParaRPr/>
          </a:p>
        </p:txBody>
      </p:sp>
      <p:sp>
        <p:nvSpPr>
          <p:cNvPr id="457" name="Google Shape;457;p4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Some artifacts need paid licences reviewers don't have.</a:t>
            </a:r>
            <a:endParaRPr/>
          </a:p>
        </p:txBody>
      </p:sp>
      <p:sp>
        <p:nvSpPr>
          <p:cNvPr id="458" name="Google Shape;458;p4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research tools that depend on paid commercial software be accepted as artifacts at all?</a:t>
            </a:r>
            <a:endParaRPr/>
          </a:p>
        </p:txBody>
      </p:sp>
      <p:sp>
        <p:nvSpPr>
          <p:cNvPr id="459" name="Google Shape;459;p4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41"/>
          <p:cNvSpPr txBox="1"/>
          <p:nvPr/>
        </p:nvSpPr>
        <p:spPr>
          <a:xfrm>
            <a:off x="822960" y="4800600"/>
            <a:ext cx="10515600" cy="142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your artifact needs MATLAB, and the reviewer has no licence: whose problem is that?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would you pay for a licence yourself to evaluate someone else's artifact?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67" name="Google Shape;467;p4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68" name="Google Shape;468;p4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C10 Lack of reviewer incentives: Students as reviewers</a:t>
            </a:r>
            <a:endParaRPr/>
          </a:p>
        </p:txBody>
      </p:sp>
      <p:sp>
        <p:nvSpPr>
          <p:cNvPr id="469" name="Google Shape;469;p4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Artifact review is poorly rewarded and often left to students.</a:t>
            </a:r>
            <a:endParaRPr/>
          </a:p>
        </p:txBody>
      </p:sp>
      <p:sp>
        <p:nvSpPr>
          <p:cNvPr id="470" name="Google Shape;470;p42"/>
          <p:cNvSpPr txBox="1"/>
          <p:nvPr/>
        </p:nvSpPr>
        <p:spPr>
          <a:xfrm>
            <a:off x="640080" y="2697480"/>
            <a:ext cx="10908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leaving artifact evaluation to students a good training opportunity, or does it undermine how rigorous and seriously taken the badges are?</a:t>
            </a:r>
            <a:endParaRPr/>
          </a:p>
        </p:txBody>
      </p:sp>
      <p:sp>
        <p:nvSpPr>
          <p:cNvPr id="471" name="Google Shape;471;p4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42"/>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first-year PhD student judges an experienced group's artifact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more if you knew a senior researcher rather than a student had awarded it?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79" name="Google Shape;479;p4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80" name="Google Shape;480;p43"/>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C11 Technical obstacles: Fixed time limits</a:t>
            </a:r>
            <a:endParaRPr/>
          </a:p>
        </p:txBody>
      </p:sp>
      <p:sp>
        <p:nvSpPr>
          <p:cNvPr id="481" name="Google Shape;481;p43"/>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Some artifacts need more than the roughly one day a reviewer has.</a:t>
            </a:r>
            <a:endParaRPr/>
          </a:p>
        </p:txBody>
      </p:sp>
      <p:sp>
        <p:nvSpPr>
          <p:cNvPr id="482" name="Google Shape;482;p43"/>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it fair to fail an artifact after a fixed time limit, e.g. a 30-minute setup [2]?</a:t>
            </a:r>
            <a:endParaRPr/>
          </a:p>
        </p:txBody>
      </p:sp>
      <p:sp>
        <p:nvSpPr>
          <p:cNvPr id="483" name="Google Shape;483;p43"/>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43"/>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fuzzing experiment that runs for three days</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your own thesis project be set up in 30 minutes?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91" name="Google Shape;491;p4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92" name="Google Shape;492;p4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C11 Technical obstacles: Hardware reviewers don't have</a:t>
            </a:r>
            <a:endParaRPr/>
          </a:p>
        </p:txBody>
      </p:sp>
      <p:sp>
        <p:nvSpPr>
          <p:cNvPr id="493" name="Google Shape;493;p44"/>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Reviewers often lack the hardware to run an artifact.</a:t>
            </a:r>
            <a:endParaRPr/>
          </a:p>
        </p:txBody>
      </p:sp>
      <p:sp>
        <p:nvSpPr>
          <p:cNvPr id="494" name="Google Shape;494;p4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conferences provide compute and storage for reviewers, e.g. remote servers with containers?</a:t>
            </a:r>
            <a:endParaRPr/>
          </a:p>
        </p:txBody>
      </p:sp>
      <p:sp>
        <p:nvSpPr>
          <p:cNvPr id="495" name="Google Shape;495;p4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44"/>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experiment needs eight GPUs for a week, and the reviewer has a laptop</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from a reviewer who only ran a scaled-down version?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03" name="Google Shape;503;p4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04" name="Google Shape;504;p4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C12 Limited communication: One-shot or iterative review</a:t>
            </a:r>
            <a:endParaRPr/>
          </a:p>
        </p:txBody>
      </p:sp>
      <p:sp>
        <p:nvSpPr>
          <p:cNvPr id="505" name="Google Shape;505;p45"/>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Reviewers value responsive authors; single-round reviews frustrate both sides.</a:t>
            </a:r>
            <a:endParaRPr/>
          </a:p>
        </p:txBody>
      </p:sp>
      <p:sp>
        <p:nvSpPr>
          <p:cNvPr id="506" name="Google Shape;506;p4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artifact evaluation be a one-shot review or a dialogue with the authors?</a:t>
            </a:r>
            <a:endParaRPr/>
          </a:p>
        </p:txBody>
      </p:sp>
      <p:sp>
        <p:nvSpPr>
          <p:cNvPr id="507" name="Google Shape;507;p4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45"/>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artifact fails on a typo in the install instructions: reject, or ask the authors?</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Later users won't have the authors' help: should reviewers?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4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15" name="Google Shape;515;p4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16" name="Google Shape;516;p4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C12 Limited communication: Support after publication</a:t>
            </a:r>
            <a:endParaRPr/>
          </a:p>
        </p:txBody>
      </p:sp>
      <p:sp>
        <p:nvSpPr>
          <p:cNvPr id="517" name="Google Shape;517;p4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Users value authors who help fix problems.</a:t>
            </a:r>
            <a:endParaRPr/>
          </a:p>
        </p:txBody>
      </p:sp>
      <p:sp>
        <p:nvSpPr>
          <p:cNvPr id="518" name="Google Shape;518;p46"/>
          <p:cNvSpPr txBox="1"/>
          <p:nvPr/>
        </p:nvSpPr>
        <p:spPr>
          <a:xfrm>
            <a:off x="640080" y="269748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that support sustainable, given it can't last forever?</a:t>
            </a:r>
            <a:endParaRPr/>
          </a:p>
        </p:txBody>
      </p:sp>
      <p:sp>
        <p:nvSpPr>
          <p:cNvPr id="519" name="Google Shape;519;p4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46"/>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student who built the tool graduated two years ago, and a user's bug report goes unanswered</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answer emails about your thesis code in three years?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27" name="Google Shape;527;p4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28" name="Google Shape;528;p4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RQ1: Rewards</a:t>
            </a:r>
            <a:endParaRPr/>
          </a:p>
        </p:txBody>
      </p:sp>
      <p:sp>
        <p:nvSpPr>
          <p:cNvPr id="529" name="Google Shape;529;p4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Respondents want sharing encouraged and rewarded.</a:t>
            </a:r>
            <a:endParaRPr/>
          </a:p>
        </p:txBody>
      </p:sp>
      <p:sp>
        <p:nvSpPr>
          <p:cNvPr id="530" name="Google Shape;530;p4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Which reward would actually make researchers invest more in artifacts?</a:t>
            </a:r>
            <a:endParaRPr/>
          </a:p>
        </p:txBody>
      </p:sp>
      <p:sp>
        <p:nvSpPr>
          <p:cNvPr id="531" name="Google Shape;531;p4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47"/>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best-artifact award at the conference vs. your artifacts counting in your next job application</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make you spend an extra week on your thesis artifact?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7" name="Shape 537"/>
        <p:cNvGrpSpPr/>
        <p:nvPr/>
      </p:nvGrpSpPr>
      <p:grpSpPr>
        <a:xfrm>
          <a:off x="0" y="0"/>
          <a:ext cx="0" cy="0"/>
          <a:chOff x="0" y="0"/>
          <a:chExt cx="0" cy="0"/>
        </a:xfrm>
      </p:grpSpPr>
      <p:sp>
        <p:nvSpPr>
          <p:cNvPr id="538" name="Google Shape;538;p4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 (Kevin)</a:t>
            </a:r>
            <a:endParaRPr b="0" i="0" sz="4000" u="none" cap="none" strike="noStrike">
              <a:solidFill>
                <a:schemeClr val="dk1"/>
              </a:solidFill>
              <a:latin typeface="Arial"/>
              <a:ea typeface="Arial"/>
              <a:cs typeface="Arial"/>
              <a:sym typeface="Arial"/>
            </a:endParaRPr>
          </a:p>
        </p:txBody>
      </p:sp>
      <p:sp>
        <p:nvSpPr>
          <p:cNvPr id="539" name="Google Shape;539;p4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40" name="Google Shape;540;p4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5" name="Shape 545"/>
        <p:cNvGrpSpPr/>
        <p:nvPr/>
      </p:nvGrpSpPr>
      <p:grpSpPr>
        <a:xfrm>
          <a:off x="0" y="0"/>
          <a:ext cx="0" cy="0"/>
          <a:chOff x="0" y="0"/>
          <a:chExt cx="0" cy="0"/>
        </a:xfrm>
      </p:grpSpPr>
      <p:sp>
        <p:nvSpPr>
          <p:cNvPr id="546" name="Google Shape;546;p4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47" name="Google Shape;547;p4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48" name="Google Shape;548;p4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General Ideas Dump:</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Does every paper need an artifact?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Which motivation should artifact sharing serve first: letting others replicate, reproduce, or build upon the work? -&gt; which provides the most value?</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 evaluation stay optional and post-acceptance, or move into paper review, as TACAS does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it</a:t>
            </a:r>
            <a:r>
              <a:rPr lang="en-US" sz="1000">
                <a:highlight>
                  <a:srgbClr val="FFFF00"/>
                </a:highlight>
                <a:latin typeface="Roboto"/>
                <a:ea typeface="Roboto"/>
                <a:cs typeface="Roboto"/>
                <a:sym typeface="Roboto"/>
              </a:rPr>
              <a:t> a problem that ACM leaves the evaluation process entirely to each conference?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FF"/>
                </a:highlight>
                <a:latin typeface="Roboto"/>
                <a:ea typeface="Roboto"/>
                <a:cs typeface="Roboto"/>
                <a:sym typeface="Roboto"/>
              </a:rPr>
              <a:t>Should artifact evaluation allow formal exceptions, for example for industry papers whose data can't legally be shared? The ACM scheme already separates "works" from "public", and lets proprietary parts be replaced by proxies. </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FF"/>
                </a:highlight>
                <a:latin typeface="Roboto"/>
                <a:ea typeface="Roboto"/>
                <a:cs typeface="Roboto"/>
                <a:sym typeface="Roboto"/>
              </a:rPr>
              <a:t>Which DoI element do you think explains most of the problems: communication channels, time or the social system?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research-community policies be held to the same evidence standard as the research itself?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Results only describe the SE research community (p. 11). Do you expect the same challenges in other fields, e.g. HCI, ML or physics? -&gt; could differ for fields with central data infrastructures (e.g. physics with CERN) etc.</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Should an artifact be required whenever a paper makes empirical claims? -&gt; claims without evidence aren't checkable  OR peer review of the paper should be enough for many claims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Respondents want sharing "encouraged and rewarded". What reward would actually change your behaviour? -&gt; what reward do you think would incentivise you most as a Researcher?</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00FF"/>
                </a:highlight>
                <a:latin typeface="Roboto"/>
                <a:ea typeface="Roboto"/>
                <a:cs typeface="Roboto"/>
                <a:sym typeface="Roboto"/>
              </a:rPr>
              <a:t>Recommendations</a:t>
            </a:r>
            <a:r>
              <a:rPr lang="en-US" sz="1000">
                <a:highlight>
                  <a:srgbClr val="FF00FF"/>
                </a:highlight>
                <a:latin typeface="Roboto"/>
                <a:ea typeface="Roboto"/>
                <a:cs typeface="Roboto"/>
                <a:sym typeface="Roboto"/>
              </a:rPr>
              <a:t>:</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"Does not exacerbate any known challenges": do Rec 1–Rec 3 (more documentation, self-contained artifacts, planning) add work for creators, worsening C1 "not worth it"?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Which target group would change the most if it acted: creators, advisors, reviewers, organisers or community leaders?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00FFFF"/>
              </a:highlight>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3" name="Shape 553"/>
        <p:cNvGrpSpPr/>
        <p:nvPr/>
      </p:nvGrpSpPr>
      <p:grpSpPr>
        <a:xfrm>
          <a:off x="0" y="0"/>
          <a:ext cx="0" cy="0"/>
          <a:chOff x="0" y="0"/>
          <a:chExt cx="0" cy="0"/>
        </a:xfrm>
      </p:grpSpPr>
      <p:sp>
        <p:nvSpPr>
          <p:cNvPr id="554" name="Google Shape;554;p5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55" name="Google Shape;555;p5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56" name="Google Shape;556;p50"/>
          <p:cNvSpPr txBox="1"/>
          <p:nvPr/>
        </p:nvSpPr>
        <p:spPr>
          <a:xfrm>
            <a:off x="640075" y="1463050"/>
            <a:ext cx="10911600" cy="531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On RQ2: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solidFill>
                  <a:srgbClr val="1A1A1A"/>
                </a:solidFill>
                <a:highlight>
                  <a:srgbClr val="00FFFF"/>
                </a:highlight>
                <a:latin typeface="Roboto"/>
                <a:ea typeface="Roboto"/>
                <a:cs typeface="Roboto"/>
                <a:sym typeface="Roboto"/>
              </a:rPr>
              <a:t>Could go through all Challenges one by one, asking people which of these they think are actually legitimate concerns and why -&gt; probably a waste of ime compared to targetted questions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fear of being "scooped" a legitimate reason to delay sharing? -&gt; Maybe priority is established by the paper, and an embargo would be the better compromise. ? -&gt; What are other ways to try to resolve this?</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"Nobody else will use it" (limited audience). Should artifacts be shared even if probably nobody uses them? </a:t>
            </a:r>
            <a:r>
              <a:rPr lang="en-US" sz="1000">
                <a:highlight>
                  <a:srgbClr val="FFFF00"/>
                </a:highlight>
                <a:latin typeface="Roboto"/>
                <a:ea typeface="Roboto"/>
                <a:cs typeface="Roboto"/>
                <a:sym typeface="Roboto"/>
              </a:rPr>
              <a:t>-&gt; What are other ways to try to resolve this? -&gt; Respondent P68 says whole research areas died because early work had no artifacts.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FFFF00"/>
                </a:highlight>
                <a:latin typeface="Roboto"/>
                <a:ea typeface="Roboto"/>
                <a:cs typeface="Roboto"/>
                <a:sym typeface="Roboto"/>
              </a:rPr>
              <a:t>If a VM can't show realistic performance, should performance claims be excluded from artifact evaluation? </a:t>
            </a:r>
            <a:r>
              <a:rPr lang="en-US" sz="1000">
                <a:highlight>
                  <a:srgbClr val="00FFFF"/>
                </a:highlight>
                <a:latin typeface="Roboto"/>
                <a:ea typeface="Roboto"/>
                <a:cs typeface="Roboto"/>
                <a:sym typeface="Roboto"/>
              </a:rPr>
              <a:t>-&gt; </a:t>
            </a:r>
            <a:r>
              <a:rPr lang="en-US" sz="1000">
                <a:highlight>
                  <a:srgbClr val="00FFFF"/>
                </a:highlight>
                <a:latin typeface="Roboto"/>
                <a:ea typeface="Roboto"/>
                <a:cs typeface="Roboto"/>
                <a:sym typeface="Roboto"/>
              </a:rPr>
              <a:t>research</a:t>
            </a:r>
            <a:r>
              <a:rPr lang="en-US" sz="1000">
                <a:highlight>
                  <a:srgbClr val="00FFFF"/>
                </a:highlight>
                <a:latin typeface="Roboto"/>
                <a:ea typeface="Roboto"/>
                <a:cs typeface="Roboto"/>
                <a:sym typeface="Roboto"/>
              </a:rPr>
              <a:t> further</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Running untrusted artifacts is a security risk for reviewers. Should reviewers be allowed to refuse artifacts that need root access or invasive libraries?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C3:</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an artifact be expected to work only at publication time, or for a set period? -&gt; a stated period, e.g. 5 years (Rec 3 maintenance plans). </a:t>
            </a:r>
            <a:r>
              <a:rPr lang="en-US" sz="1000">
                <a:highlight>
                  <a:srgbClr val="00FFFF"/>
                </a:highlight>
                <a:latin typeface="Roboto"/>
                <a:ea typeface="Roboto"/>
                <a:cs typeface="Roboto"/>
                <a:sym typeface="Roboto"/>
              </a:rPr>
              <a:t>or just at publication and peer review time</a:t>
            </a:r>
            <a:r>
              <a:rPr lang="en-US" sz="1000">
                <a:highlight>
                  <a:srgbClr val="FF0000"/>
                </a:highlight>
                <a:latin typeface="Roboto"/>
                <a:ea typeface="Roboto"/>
                <a:cs typeface="Roboto"/>
                <a:sym typeface="Roboto"/>
              </a:rPr>
              <a:t> -&gt; what do you think would be a sensible timeframe?</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funders pay for artifact maintenance after a project ends? </a:t>
            </a:r>
            <a:r>
              <a:rPr lang="en-US" sz="1000">
                <a:highlight>
                  <a:srgbClr val="00FFFF"/>
                </a:highlight>
                <a:latin typeface="Roboto"/>
                <a:ea typeface="Roboto"/>
                <a:cs typeface="Roboto"/>
                <a:sym typeface="Roboto"/>
              </a:rPr>
              <a:t> -&gt; research more and try to find conclusion from last weeks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C4:</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a one-click reproduction script good or bad for scientific scrutiny? -&gt; hides the process and re-runs the same mistakes?</a:t>
            </a:r>
            <a:endParaRPr sz="1000">
              <a:highlight>
                <a:srgbClr val="00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FFFF"/>
                </a:highlight>
                <a:latin typeface="Roboto"/>
                <a:ea typeface="Roboto"/>
                <a:cs typeface="Roboto"/>
                <a:sym typeface="Roboto"/>
              </a:rPr>
              <a:t>C5:</a:t>
            </a:r>
            <a:endParaRPr sz="1000">
              <a:highlight>
                <a:srgbClr val="FF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C6:</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artifacts be mandatory for paper acceptance ? </a:t>
            </a:r>
            <a:r>
              <a:rPr lang="en-US" sz="1000">
                <a:highlight>
                  <a:srgbClr val="00FFFF"/>
                </a:highlight>
                <a:latin typeface="Roboto"/>
                <a:ea typeface="Roboto"/>
                <a:cs typeface="Roboto"/>
                <a:sym typeface="Roboto"/>
              </a:rPr>
              <a:t>-&gt; yes, unless legal reasons prevent it.? -&gt; construct your own regulation scheme</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C7:</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only archival repositories count for linking artifacts in papers, not GitHub or personal pages?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Who should pay for hosting large research data: authors, universities, publishers or public infrastructure?</a:t>
            </a:r>
            <a:r>
              <a:rPr lang="en-US" sz="1000">
                <a:highlight>
                  <a:srgbClr val="00FFFF"/>
                </a:highlight>
                <a:latin typeface="Roboto"/>
                <a:ea typeface="Roboto"/>
                <a:cs typeface="Roboto"/>
                <a:sym typeface="Roboto"/>
              </a:rPr>
              <a:t> -&gt; already covered in week 1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C8:</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00FF00"/>
                </a:highlight>
                <a:latin typeface="Roboto"/>
                <a:ea typeface="Roboto"/>
                <a:cs typeface="Roboto"/>
                <a:sym typeface="Roboto"/>
              </a:rPr>
              <a:t>Should conferences re-check artifact links a few years after publication and mark dead ones?</a:t>
            </a:r>
            <a:r>
              <a:rPr lang="en-US" sz="1000">
                <a:highlight>
                  <a:srgbClr val="00FFFF"/>
                </a:highlight>
                <a:latin typeface="Roboto"/>
                <a:ea typeface="Roboto"/>
                <a:cs typeface="Roboto"/>
                <a:sym typeface="Roboto"/>
              </a:rPr>
              <a:t> -&gt; how would you organise/pay for this?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C9:</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paper reviewers be allowed to criticise a paper for not sharing data that its industry partner won't release? </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Should research tools that depend on paid commercial software be accepted as artifacts at all? </a:t>
            </a:r>
            <a:endParaRPr b="1"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De-identified qualitative data can still be re-identified (p. 18). Should qualitative data ever be shared? </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C10:</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Is letting students do artifact evaluation a good training opportunity or a sign that artifacts aren't taken seriously? </a:t>
            </a:r>
            <a:r>
              <a:rPr b="1" lang="en-US" sz="1000">
                <a:highlight>
                  <a:srgbClr val="00FFFF"/>
                </a:highlight>
                <a:latin typeface="Roboto"/>
                <a:ea typeface="Roboto"/>
                <a:cs typeface="Roboto"/>
                <a:sym typeface="Roboto"/>
              </a:rPr>
              <a:t>-&gt; reformulate: rigor/validity of AMC badge / how seriously are they taken if work is left to </a:t>
            </a:r>
            <a:r>
              <a:rPr b="1" lang="en-US" sz="1000">
                <a:highlight>
                  <a:srgbClr val="00FFFF"/>
                </a:highlight>
                <a:latin typeface="Roboto"/>
                <a:ea typeface="Roboto"/>
                <a:cs typeface="Roboto"/>
                <a:sym typeface="Roboto"/>
              </a:rPr>
              <a:t>comparatively</a:t>
            </a:r>
            <a:r>
              <a:rPr b="1" lang="en-US" sz="1000">
                <a:highlight>
                  <a:srgbClr val="00FFFF"/>
                </a:highlight>
                <a:latin typeface="Roboto"/>
                <a:ea typeface="Roboto"/>
                <a:cs typeface="Roboto"/>
                <a:sym typeface="Roboto"/>
              </a:rPr>
              <a:t> underqualified students</a:t>
            </a:r>
            <a:endParaRPr b="1"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C11:</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it fair to have a fixed time limit (e.g. one day, or ICSE's 30-minute setup) after which an artifact is rejected?</a:t>
            </a:r>
            <a:r>
              <a:rPr lang="en-US" sz="1000">
                <a:highlight>
                  <a:srgbClr val="00FFFF"/>
                </a:highlight>
                <a:latin typeface="Roboto"/>
                <a:ea typeface="Roboto"/>
                <a:cs typeface="Roboto"/>
                <a:sym typeface="Roboto"/>
              </a:rPr>
              <a:t> -&gt; do you think something like 30mins is really reasonable</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conferences or ACM/IEEE provide compute, storage and other necessary resources for artifact reviewers? </a:t>
            </a:r>
            <a:r>
              <a:rPr lang="en-US" sz="1000">
                <a:highlight>
                  <a:srgbClr val="00FFFF"/>
                </a:highlight>
                <a:latin typeface="Roboto"/>
                <a:ea typeface="Roboto"/>
                <a:cs typeface="Roboto"/>
                <a:sym typeface="Roboto"/>
              </a:rPr>
              <a:t>-&gt; leads into Rec, not covered by me, be careful to avoid crossover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C12:</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artifact evaluation be a one-shot review or an iterative dialogue with authors? -&gt; one-shot, since later users won't have the author's help either?</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If an artifact only works with help from its authors, does it deserve a badge?</a:t>
            </a:r>
            <a:r>
              <a:rPr b="1" lang="en-US" sz="1000">
                <a:highlight>
                  <a:srgbClr val="FFFF00"/>
                </a:highlight>
                <a:latin typeface="Roboto"/>
                <a:ea typeface="Roboto"/>
                <a:cs typeface="Roboto"/>
                <a:sym typeface="Roboto"/>
              </a:rPr>
              <a:t> </a:t>
            </a:r>
            <a:r>
              <a:rPr b="1" lang="en-US" sz="1000">
                <a:highlight>
                  <a:srgbClr val="00FFFF"/>
                </a:highlight>
                <a:latin typeface="Roboto"/>
                <a:ea typeface="Roboto"/>
                <a:cs typeface="Roboto"/>
                <a:sym typeface="Roboto"/>
              </a:rPr>
              <a:t>-&gt; maybe too obvious an answer, see how I could rephrase -&gt; should there be a separate badge category for this case of failed artifact but active support</a:t>
            </a:r>
            <a:endParaRPr b="1"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authors have a deadline to answer reviewer questions, e.g. ICSE 2026's 72 hours? -&gt; too strict?</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1" name="Shape 561"/>
        <p:cNvGrpSpPr/>
        <p:nvPr/>
      </p:nvGrpSpPr>
      <p:grpSpPr>
        <a:xfrm>
          <a:off x="0" y="0"/>
          <a:ext cx="0" cy="0"/>
          <a:chOff x="0" y="0"/>
          <a:chExt cx="0" cy="0"/>
        </a:xfrm>
      </p:grpSpPr>
      <p:sp>
        <p:nvSpPr>
          <p:cNvPr id="562" name="Google Shape;562;p5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63" name="Google Shape;563;p5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64" name="Google Shape;564;p5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My questions/ideas to bounce off of to make more actually interesting ones to answer:</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Researchers fear sharing artifacts because mistakes in their analysis might be found. But isn't finding mistakes exactly the point of scientific review?</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core idea might be interesting but phrasing isnt great, could be expanded on</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much personal accountability for one's code and analysis should a researcher expect to carry once it's public?</a:t>
            </a:r>
            <a:endParaRPr sz="1000">
              <a:highlight>
                <a:srgbClr val="FFFF00"/>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To what degree should researchers expect / be open to their work to be undercut in some way for the greater goal of scientific progress? </a:t>
            </a:r>
            <a:r>
              <a:rPr lang="en-US" sz="1000">
                <a:highlight>
                  <a:srgbClr val="00FF00"/>
                </a:highlight>
                <a:latin typeface="Roboto"/>
                <a:ea typeface="Roboto"/>
                <a:cs typeface="Roboto"/>
                <a:sym typeface="Roboto"/>
              </a:rPr>
              <a:t>Does holding back artifacts to protect future publications slow down the progress of research as a whole?</a:t>
            </a:r>
            <a:r>
              <a:rPr lang="en-US" sz="1000">
                <a:highlight>
                  <a:srgbClr val="FFFFFF"/>
                </a:highlight>
                <a:latin typeface="Roboto"/>
                <a:ea typeface="Roboto"/>
                <a:cs typeface="Roboto"/>
                <a:sym typeface="Roboto"/>
              </a:rPr>
              <a:t> </a:t>
            </a:r>
            <a:r>
              <a:rPr lang="en-US" sz="1000">
                <a:highlight>
                  <a:srgbClr val="00FF00"/>
                </a:highlight>
                <a:latin typeface="Roboto"/>
                <a:ea typeface="Roboto"/>
                <a:cs typeface="Roboto"/>
                <a:sym typeface="Roboto"/>
              </a:rPr>
              <a:t> </a:t>
            </a:r>
            <a:r>
              <a:rPr lang="en-US" sz="1000">
                <a:highlight>
                  <a:srgbClr val="00FFFF"/>
                </a:highlight>
                <a:latin typeface="Roboto"/>
                <a:ea typeface="Roboto"/>
                <a:cs typeface="Roboto"/>
                <a:sym typeface="Roboto"/>
              </a:rPr>
              <a:t>-&gt; also makybe a bit too abstract/open a question, but I think its interesting, could maybe be refined</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can artifact reviewers accurately verify performance claims, if VMs distort timings and they rarely have the authors' hardware?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a:t>
            </a:r>
            <a:r>
              <a:rPr lang="en-US" sz="1000">
                <a:highlight>
                  <a:srgbClr val="FFFFFF"/>
                </a:highlight>
                <a:latin typeface="Roboto"/>
                <a:ea typeface="Roboto"/>
                <a:cs typeface="Roboto"/>
                <a:sym typeface="Roboto"/>
              </a:rPr>
              <a:t> on VMs and Containers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One respondent complains that containers don't prevent software degradation. Is that really a container problem, or a problem of rebuilding from unpinned recipes instead of archiving the built image?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 on VMs and Containers</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look into again</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C3:</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b="1" lang="en-US" sz="1000">
                <a:highlight>
                  <a:srgbClr val="00FF00"/>
                </a:highlight>
                <a:latin typeface="Roboto"/>
                <a:ea typeface="Roboto"/>
                <a:cs typeface="Roboto"/>
                <a:sym typeface="Roboto"/>
              </a:rPr>
              <a:t>Is software decay unavoidable as technology moves on? What practical ways are there to limit it </a:t>
            </a:r>
            <a:r>
              <a:rPr lang="en-US" sz="1000">
                <a:highlight>
                  <a:srgbClr val="00FF00"/>
                </a:highlight>
                <a:latin typeface="Roboto"/>
                <a:ea typeface="Roboto"/>
                <a:cs typeface="Roboto"/>
                <a:sym typeface="Roboto"/>
              </a:rPr>
              <a:t>(archived images, pinned dependencies, plain source code)?</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What should be done when a researcher retires, etc.? Who should be responsible for maintenance? or should we archive it and mark it unmaintained. </a:t>
            </a:r>
            <a:r>
              <a:rPr lang="en-US" sz="1000">
                <a:highlight>
                  <a:srgbClr val="00FFFF"/>
                </a:highlight>
                <a:latin typeface="Roboto"/>
                <a:ea typeface="Roboto"/>
                <a:cs typeface="Roboto"/>
                <a:sym typeface="Roboto"/>
              </a:rPr>
              <a:t>-&gt; research further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C4:</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Tacit knowledge is an implicit human problem: knowledge stays in the developer's head. What are practical ways to tackle it (templates, screencasts, pair onboarding, automation)?</a:t>
            </a:r>
            <a:r>
              <a:rPr lang="en-US" sz="1000">
                <a:highlight>
                  <a:srgbClr val="00FFFF"/>
                </a:highlight>
                <a:latin typeface="Roboto"/>
                <a:ea typeface="Roboto"/>
                <a:cs typeface="Roboto"/>
                <a:sym typeface="Roboto"/>
              </a:rPr>
              <a:t> -&gt; again a bit broad a question difficult for people to answer of the top of their heads, see if I can refine</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much effort, time and money should artifact reviewers be expected to invest before they may give up on an artifact?</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(also a bit duplicate with a question from the previous slide)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Automated scripts reproduce results, but can they help a reviewer understand </a:t>
            </a:r>
            <a:r>
              <a:rPr i="1" lang="en-US" sz="1000">
                <a:highlight>
                  <a:srgbClr val="00FFFF"/>
                </a:highlight>
                <a:latin typeface="Roboto"/>
                <a:ea typeface="Roboto"/>
                <a:cs typeface="Roboto"/>
                <a:sym typeface="Roboto"/>
              </a:rPr>
              <a:t>why</a:t>
            </a:r>
            <a:r>
              <a:rPr lang="en-US" sz="1000">
                <a:highlight>
                  <a:srgbClr val="00FFFF"/>
                </a:highlight>
                <a:latin typeface="Roboto"/>
                <a:ea typeface="Roboto"/>
                <a:cs typeface="Roboto"/>
                <a:sym typeface="Roboto"/>
              </a:rPr>
              <a:t> the results come out? If not, what can?</a:t>
            </a:r>
            <a:endParaRPr sz="1000">
              <a:highlight>
                <a:srgbClr val="00FFFF"/>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and with Reviewer: C4 (also a bit duplicate with a question from the previous slide)</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C5:</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C6:</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Isn't setting guidelines exactly what an AEC is supposed to do? If you could rewrite the ACM badge criteria or an AEC's call, what would you change? </a:t>
            </a:r>
            <a:r>
              <a:rPr lang="en-US" sz="1000">
                <a:highlight>
                  <a:srgbClr val="00FFFF"/>
                </a:highlight>
                <a:latin typeface="Roboto"/>
                <a:ea typeface="Roboto"/>
                <a:cs typeface="Roboto"/>
                <a:sym typeface="Roboto"/>
              </a:rPr>
              <a:t> -&gt; interesting, but way too broad a question for people to answer of the top of their heads, see if I can refine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What is the point of artifact review if it becomes a quick "rubber stamp" for any linked repository?</a:t>
            </a:r>
            <a:r>
              <a:rPr lang="en-US" sz="1000">
                <a:highlight>
                  <a:srgbClr val="00FFFF"/>
                </a:highlight>
                <a:latin typeface="Roboto"/>
                <a:ea typeface="Roboto"/>
                <a:cs typeface="Roboto"/>
                <a:sym typeface="Roboto"/>
              </a:rPr>
              <a:t> -&gt; answer too obvious, refine to make a more interestingly discussable question</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C7:</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Isn't hosting a solved problem with Zenodo? Free hosting, a DOI per version, 50–200 GB, automatic GitHub archiving. What remains unsolved?</a:t>
            </a:r>
            <a:endParaRPr sz="1000">
              <a:highlight>
                <a:srgbClr val="FF00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2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What would you do if your artifact were several terabytes, too big for Zenodo and for a reviewer's laptop?</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 . See if worth discussing further or already covered by recommendations etc</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C8:</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C9:</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there be formal exceptions to artifact evaluation for cases like industry data, following the ACM approach of separating "evaluated" from "publicly available"?</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1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open source should research software be, and how feasible is full openness given IP, privacy and commercial tools? </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8, Horizon Europe "as open as possible, as closed as necessary" </a:t>
            </a:r>
            <a:r>
              <a:rPr lang="en-US" sz="1000">
                <a:highlight>
                  <a:srgbClr val="00FFFF"/>
                </a:highlight>
                <a:latin typeface="Roboto"/>
                <a:ea typeface="Roboto"/>
                <a:cs typeface="Roboto"/>
                <a:sym typeface="Roboto"/>
              </a:rPr>
              <a:t>-&gt; look into again. Currently too broad a question, requiring background research, but could be refined to be more interesting without the need for everyone having a lot of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If a reviewer lacks a licence for a proprietary component, whose responsibility is it? Should reviewers be expected to pay, or is automatically rejecting such an artifact fair? (The ACM policy is silent on this; each AEC decides.)</a:t>
            </a:r>
            <a:endParaRPr sz="1000">
              <a:highlight>
                <a:srgbClr val="00FF00"/>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C10:</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C11:</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compute resources be provided to reviewers? Would remote servers combined with containers solve the compute, disk-space and consistency problems, and is that realistic?</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4 </a:t>
            </a:r>
            <a:r>
              <a:rPr lang="en-US" sz="1000">
                <a:highlight>
                  <a:srgbClr val="00FFFF"/>
                </a:highlight>
                <a:latin typeface="Roboto"/>
                <a:ea typeface="Roboto"/>
                <a:cs typeface="Roboto"/>
                <a:sym typeface="Roboto"/>
              </a:rPr>
              <a:t>-&gt; look into again. Bit of a duplicate of previous questions. And again refine to a question that is answerable without large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Reviewers struggle when a VM image doesn't fit on their disk. What happens to artifacts bigger than an ordinary PC's storage? Are they simply unreviewable under the current process?</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If whole classes of experiments can't be reproduced, how damaging is that to the scientific process?</a:t>
            </a:r>
            <a:r>
              <a:rPr lang="en-US" sz="1000">
                <a:highlight>
                  <a:srgbClr val="00FFFF"/>
                </a:highlight>
                <a:latin typeface="Roboto"/>
                <a:ea typeface="Roboto"/>
                <a:cs typeface="Roboto"/>
                <a:sym typeface="Roboto"/>
              </a:rPr>
              <a:t> -&gt; builds on the previous 2, but probably not worth asking independently</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C12:</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Respondents value authors who help users fix problems. Is that sustainable, given that support can't be offered forever?</a:t>
            </a:r>
            <a:r>
              <a:rPr lang="en-US" sz="1000">
                <a:highlight>
                  <a:srgbClr val="00FFFF"/>
                </a:highlight>
                <a:latin typeface="Roboto"/>
                <a:ea typeface="Roboto"/>
                <a:cs typeface="Roboto"/>
                <a:sym typeface="Roboto"/>
              </a:rPr>
              <a:t> -&gt; refine question. also a bit duplicate with previous ones</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t/>
            </a:r>
            <a:endParaRPr sz="10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9" name="Shape 569"/>
        <p:cNvGrpSpPr/>
        <p:nvPr/>
      </p:nvGrpSpPr>
      <p:grpSpPr>
        <a:xfrm>
          <a:off x="0" y="0"/>
          <a:ext cx="0" cy="0"/>
          <a:chOff x="0" y="0"/>
          <a:chExt cx="0" cy="0"/>
        </a:xfrm>
      </p:grpSpPr>
      <p:sp>
        <p:nvSpPr>
          <p:cNvPr id="570" name="Google Shape;570;p5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71" name="Google Shape;571;p5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72" name="Google Shape;572;p5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Frage die mir eingefallen sind, idk ob die iwo reinpasst?</a:t>
            </a:r>
            <a:r>
              <a:rPr lang="en-US" sz="2200">
                <a:solidFill>
                  <a:srgbClr val="1A1A1A"/>
                </a:solidFill>
              </a:rPr>
              <a:t>…</a:t>
            </a:r>
            <a:endParaRPr sz="2200">
              <a:solidFill>
                <a:srgbClr val="1A1A1A"/>
              </a:solidFill>
            </a:endParaRPr>
          </a:p>
          <a:p>
            <a:pPr indent="-368300" lvl="0" marL="457200" rtl="0" algn="l">
              <a:lnSpc>
                <a:spcPct val="115000"/>
              </a:lnSpc>
              <a:spcBef>
                <a:spcPts val="0"/>
              </a:spcBef>
              <a:spcAft>
                <a:spcPts val="0"/>
              </a:spcAft>
              <a:buClr>
                <a:srgbClr val="1A1A1A"/>
              </a:buClr>
              <a:buSzPts val="2200"/>
              <a:buChar char="•"/>
            </a:pPr>
            <a:r>
              <a:rPr lang="en-US" sz="1100"/>
              <a:t>1.</a:t>
            </a:r>
            <a:r>
              <a:rPr lang="en-US" sz="700">
                <a:latin typeface="Times New Roman"/>
                <a:ea typeface="Times New Roman"/>
                <a:cs typeface="Times New Roman"/>
                <a:sym typeface="Times New Roman"/>
              </a:rPr>
              <a:t>      </a:t>
            </a:r>
            <a:r>
              <a:rPr lang="en-US" sz="1100"/>
              <a:t>Do you think any of the ACM artifact badges are unnecessary?</a:t>
            </a:r>
            <a:br>
              <a:rPr lang="en-US" sz="1100"/>
            </a:br>
            <a:r>
              <a:rPr lang="en-US" sz="1100"/>
              <a:t> For example, the Artifact Available Badge does not guarantee its functionality or say anything else other than there is an artifact that can be accessed.</a:t>
            </a:r>
            <a:endParaRPr sz="1100"/>
          </a:p>
          <a:p>
            <a:pPr indent="0" lvl="0" marL="457200" rtl="0" algn="l">
              <a:lnSpc>
                <a:spcPct val="115000"/>
              </a:lnSpc>
              <a:spcBef>
                <a:spcPts val="800"/>
              </a:spcBef>
              <a:spcAft>
                <a:spcPts val="0"/>
              </a:spcAft>
              <a:buNone/>
            </a:pPr>
            <a:r>
              <a:rPr lang="en-US" sz="1000"/>
              <a:t>-</a:t>
            </a:r>
            <a:r>
              <a:rPr lang="en-US" sz="700">
                <a:latin typeface="Times New Roman"/>
                <a:ea typeface="Times New Roman"/>
                <a:cs typeface="Times New Roman"/>
                <a:sym typeface="Times New Roman"/>
              </a:rPr>
              <a:t>  </a:t>
            </a:r>
            <a:r>
              <a:rPr lang="en-US" sz="1100"/>
              <a:t>How useful do you deem them overall? Some participants in the article’s survey mention that they hesitate submitting their artifact because the guidelines are not clear of what will get accepted?</a:t>
            </a:r>
            <a:endParaRPr sz="1100"/>
          </a:p>
          <a:p>
            <a:pPr indent="-368300" lvl="0" marL="457200" rtl="0" algn="l">
              <a:lnSpc>
                <a:spcPct val="115000"/>
              </a:lnSpc>
              <a:spcBef>
                <a:spcPts val="800"/>
              </a:spcBef>
              <a:spcAft>
                <a:spcPts val="0"/>
              </a:spcAft>
              <a:buClr>
                <a:srgbClr val="1A1A1A"/>
              </a:buClr>
              <a:buSzPts val="2200"/>
              <a:buChar char="•"/>
            </a:pPr>
            <a:r>
              <a:t/>
            </a:r>
            <a:endParaRPr sz="2200">
              <a:solidFill>
                <a:srgbClr val="1A1A1A"/>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Secondary Analysis</a:t>
            </a:r>
            <a:endParaRPr b="0" i="0" sz="4000" u="none" cap="none" strike="noStrike">
              <a:solidFill>
                <a:schemeClr val="dk1"/>
              </a:solidFill>
              <a:latin typeface="Arial"/>
              <a:ea typeface="Arial"/>
              <a:cs typeface="Arial"/>
              <a:sym typeface="Arial"/>
            </a:endParaRPr>
          </a:p>
        </p:txBody>
      </p:sp>
      <p:sp>
        <p:nvSpPr>
          <p:cNvPr id="579" name="Google Shape;579;p5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lang="en-US" sz="2200">
                <a:solidFill>
                  <a:srgbClr val="1A1A1A"/>
                </a:solidFill>
              </a:rPr>
              <a:t>Limited adoption (DoI):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are difficult to adopt and spread</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Communication breakdowns: </a:t>
            </a:r>
            <a:endParaRPr sz="2200">
              <a:solidFill>
                <a:srgbClr val="1A1A1A"/>
              </a:solidFill>
            </a:endParaRPr>
          </a:p>
          <a:p>
            <a:pPr indent="457200" lvl="0" marL="0" marR="0" rtl="0" algn="l">
              <a:spcBef>
                <a:spcPts val="0"/>
              </a:spcBef>
              <a:spcAft>
                <a:spcPts val="0"/>
              </a:spcAft>
              <a:buNone/>
            </a:pPr>
            <a:r>
              <a:rPr lang="en-US" sz="2200">
                <a:solidFill>
                  <a:srgbClr val="1A1A1A"/>
                </a:solidFill>
              </a:rPr>
              <a:t>→ Communication between creators, reviewers, and users is limited and </a:t>
            </a:r>
            <a:endParaRPr sz="2200">
              <a:solidFill>
                <a:srgbClr val="1A1A1A"/>
              </a:solidFill>
            </a:endParaRPr>
          </a:p>
          <a:p>
            <a:pPr indent="457200" lvl="0" marL="0" marR="0" rtl="0" algn="l">
              <a:spcBef>
                <a:spcPts val="0"/>
              </a:spcBef>
              <a:spcAft>
                <a:spcPts val="0"/>
              </a:spcAft>
              <a:buNone/>
            </a:pPr>
            <a:r>
              <a:rPr lang="en-US" sz="2200">
                <a:solidFill>
                  <a:srgbClr val="1A1A1A"/>
                </a:solidFill>
              </a:rPr>
              <a:t>     inconsistent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Decay and maintenance: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deteriorate over time, while maintenance requires ongoing effort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Lack of incentives and standards: </a:t>
            </a:r>
            <a:endParaRPr sz="2200">
              <a:solidFill>
                <a:srgbClr val="1A1A1A"/>
              </a:solidFill>
            </a:endParaRPr>
          </a:p>
          <a:p>
            <a:pPr indent="457200" lvl="0" marL="0" marR="0" rtl="0" algn="l">
              <a:spcBef>
                <a:spcPts val="0"/>
              </a:spcBef>
              <a:spcAft>
                <a:spcPts val="0"/>
              </a:spcAft>
              <a:buNone/>
            </a:pPr>
            <a:r>
              <a:rPr lang="en-US" sz="2200">
                <a:solidFill>
                  <a:srgbClr val="1A1A1A"/>
                </a:solidFill>
              </a:rPr>
              <a:t>→ Little reward for artifact creation and review leads to low-quality artifacts, </a:t>
            </a:r>
            <a:endParaRPr sz="2200">
              <a:solidFill>
                <a:srgbClr val="1A1A1A"/>
              </a:solidFill>
            </a:endParaRPr>
          </a:p>
          <a:p>
            <a:pPr indent="0" lvl="0" marL="457200" marR="0" rtl="0" algn="l">
              <a:spcBef>
                <a:spcPts val="0"/>
              </a:spcBef>
              <a:spcAft>
                <a:spcPts val="0"/>
              </a:spcAft>
              <a:buNone/>
            </a:pPr>
            <a:r>
              <a:rPr lang="en-US" sz="2200">
                <a:solidFill>
                  <a:srgbClr val="1A1A1A"/>
                </a:solidFill>
              </a:rPr>
              <a:t>     inexperienced reviewers, and inconsistent evaluation standards.</a:t>
            </a:r>
            <a:endParaRPr sz="2200">
              <a:solidFill>
                <a:srgbClr val="1A1A1A"/>
              </a:solidFill>
            </a:endParaRPr>
          </a:p>
        </p:txBody>
      </p:sp>
      <p:sp>
        <p:nvSpPr>
          <p:cNvPr id="580" name="Google Shape;580;p5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587" name="Google Shape;587;p5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grpSp>
        <p:nvGrpSpPr>
          <p:cNvPr id="588" name="Google Shape;588;p54"/>
          <p:cNvGrpSpPr/>
          <p:nvPr/>
        </p:nvGrpSpPr>
        <p:grpSpPr>
          <a:xfrm>
            <a:off x="452950" y="1652625"/>
            <a:ext cx="3202800" cy="4262725"/>
            <a:chOff x="452950" y="1652625"/>
            <a:chExt cx="3202800" cy="4262725"/>
          </a:xfrm>
        </p:grpSpPr>
        <p:sp>
          <p:nvSpPr>
            <p:cNvPr id="589" name="Google Shape;589;p54"/>
            <p:cNvSpPr/>
            <p:nvPr/>
          </p:nvSpPr>
          <p:spPr>
            <a:xfrm>
              <a:off x="45295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54"/>
            <p:cNvSpPr txBox="1"/>
            <p:nvPr/>
          </p:nvSpPr>
          <p:spPr>
            <a:xfrm>
              <a:off x="123040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591" name="Google Shape;591;p54"/>
            <p:cNvSpPr txBox="1"/>
            <p:nvPr/>
          </p:nvSpPr>
          <p:spPr>
            <a:xfrm>
              <a:off x="570250" y="2738950"/>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grpSp>
      <p:grpSp>
        <p:nvGrpSpPr>
          <p:cNvPr id="592" name="Google Shape;592;p54"/>
          <p:cNvGrpSpPr/>
          <p:nvPr/>
        </p:nvGrpSpPr>
        <p:grpSpPr>
          <a:xfrm>
            <a:off x="4494475" y="1423475"/>
            <a:ext cx="3346350" cy="4696775"/>
            <a:chOff x="4494475" y="1423475"/>
            <a:chExt cx="3346350" cy="4696775"/>
          </a:xfrm>
        </p:grpSpPr>
        <p:sp>
          <p:nvSpPr>
            <p:cNvPr id="593" name="Google Shape;593;p54"/>
            <p:cNvSpPr/>
            <p:nvPr/>
          </p:nvSpPr>
          <p:spPr>
            <a:xfrm>
              <a:off x="4494475"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54"/>
            <p:cNvSpPr txBox="1"/>
            <p:nvPr/>
          </p:nvSpPr>
          <p:spPr>
            <a:xfrm>
              <a:off x="4494475" y="1423475"/>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595" name="Google Shape;595;p54"/>
            <p:cNvSpPr txBox="1"/>
            <p:nvPr/>
          </p:nvSpPr>
          <p:spPr>
            <a:xfrm>
              <a:off x="4638025" y="2738950"/>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a:t>
              </a:r>
              <a:r>
                <a:rPr lang="en-US" sz="1700"/>
                <a:t>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a:t>
              </a:r>
              <a:r>
                <a:rPr lang="en-US" sz="1700"/>
                <a:t> </a:t>
              </a:r>
              <a:r>
                <a:rPr lang="en-US" sz="1700"/>
                <a:t>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a:t>
              </a:r>
              <a:r>
                <a:rPr lang="en-US" sz="1500"/>
                <a:t>   </a:t>
              </a:r>
              <a:r>
                <a:rPr lang="en-US" sz="1700"/>
                <a:t>"lazy second evaluation",</a:t>
              </a:r>
              <a:endParaRPr sz="1700"/>
            </a:p>
            <a:p>
              <a:pPr indent="0" lvl="0" marL="0" rtl="0" algn="l">
                <a:spcBef>
                  <a:spcPts val="0"/>
                </a:spcBef>
                <a:spcAft>
                  <a:spcPts val="0"/>
                </a:spcAft>
                <a:buNone/>
              </a:pPr>
              <a:r>
                <a:rPr lang="en-US" sz="1700"/>
                <a:t>       best-reviewer award</a:t>
              </a:r>
              <a:endParaRPr sz="1700"/>
            </a:p>
          </p:txBody>
        </p:sp>
      </p:grpSp>
      <p:grpSp>
        <p:nvGrpSpPr>
          <p:cNvPr id="596" name="Google Shape;596;p54"/>
          <p:cNvGrpSpPr/>
          <p:nvPr/>
        </p:nvGrpSpPr>
        <p:grpSpPr>
          <a:xfrm>
            <a:off x="8536000" y="1652625"/>
            <a:ext cx="3202800" cy="4467625"/>
            <a:chOff x="8536000" y="1652625"/>
            <a:chExt cx="3202800" cy="4467625"/>
          </a:xfrm>
        </p:grpSpPr>
        <p:sp>
          <p:nvSpPr>
            <p:cNvPr id="597" name="Google Shape;597;p54"/>
            <p:cNvSpPr/>
            <p:nvPr/>
          </p:nvSpPr>
          <p:spPr>
            <a:xfrm>
              <a:off x="853600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54"/>
            <p:cNvSpPr txBox="1"/>
            <p:nvPr/>
          </p:nvSpPr>
          <p:spPr>
            <a:xfrm>
              <a:off x="931345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599" name="Google Shape;599;p54"/>
            <p:cNvSpPr txBox="1"/>
            <p:nvPr/>
          </p:nvSpPr>
          <p:spPr>
            <a:xfrm>
              <a:off x="8653300" y="2738950"/>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5"/>
          <p:cNvSpPr txBox="1"/>
          <p:nvPr/>
        </p:nvSpPr>
        <p:spPr>
          <a:xfrm>
            <a:off x="640075" y="1463050"/>
            <a:ext cx="10911600" cy="724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R1 - 3 </a:t>
            </a:r>
            <a:r>
              <a:rPr lang="en-US" sz="2200">
                <a:solidFill>
                  <a:srgbClr val="1A1A1A"/>
                </a:solidFill>
              </a:rPr>
              <a:t>Better documentation, self-contained artifacts, earlier planning</a:t>
            </a:r>
            <a:endParaRPr sz="2200">
              <a:solidFill>
                <a:srgbClr val="1A1A1A"/>
              </a:solidFill>
            </a:endParaRPr>
          </a:p>
          <a:p>
            <a:pPr indent="0" lvl="0" marL="457200" rtl="0" algn="l">
              <a:spcBef>
                <a:spcPts val="0"/>
              </a:spcBef>
              <a:spcAft>
                <a:spcPts val="0"/>
              </a:spcAft>
              <a:buNone/>
            </a:pPr>
            <a:r>
              <a:rPr lang="en-US" sz="2200">
                <a:solidFill>
                  <a:srgbClr val="1A1A1A"/>
                </a:solidFill>
              </a:rPr>
              <a:t>→ Does that not add more work for creators and worsen C1 (“not worth it”)?</a:t>
            </a:r>
            <a:endParaRPr sz="2200">
              <a:solidFill>
                <a:srgbClr val="1A1A1A"/>
              </a:solidFill>
            </a:endParaRPr>
          </a:p>
        </p:txBody>
      </p:sp>
      <p:sp>
        <p:nvSpPr>
          <p:cNvPr id="606" name="Google Shape;606;p5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4000"/>
              <a:buFont typeface="Arial"/>
              <a:buNone/>
            </a:pPr>
            <a:r>
              <a:rPr b="1" lang="en-US" sz="4000">
                <a:solidFill>
                  <a:schemeClr val="dk2"/>
                </a:solidFill>
              </a:rPr>
              <a:t>Paper 2 · Discussion</a:t>
            </a:r>
            <a:endParaRPr b="1" sz="4000">
              <a:solidFill>
                <a:srgbClr val="00883A"/>
              </a:solidFill>
            </a:endParaRPr>
          </a:p>
        </p:txBody>
      </p:sp>
      <p:sp>
        <p:nvSpPr>
          <p:cNvPr id="607" name="Google Shape;607;p5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08" name="Google Shape;608;p55"/>
          <p:cNvSpPr txBox="1"/>
          <p:nvPr/>
        </p:nvSpPr>
        <p:spPr>
          <a:xfrm>
            <a:off x="640200" y="2253248"/>
            <a:ext cx="10911600" cy="8229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R2 </a:t>
            </a:r>
            <a:r>
              <a:rPr lang="en-US" sz="2200">
                <a:solidFill>
                  <a:schemeClr val="dk1"/>
                </a:solidFill>
              </a:rPr>
              <a:t> Make it self-contained or proof-of-concept</a:t>
            </a:r>
            <a:endParaRPr sz="2200">
              <a:solidFill>
                <a:schemeClr val="dk1"/>
              </a:solidFill>
            </a:endParaRPr>
          </a:p>
          <a:p>
            <a:pPr indent="0" lvl="0" marL="457200" rtl="0" algn="l">
              <a:lnSpc>
                <a:spcPct val="115000"/>
              </a:lnSpc>
              <a:spcBef>
                <a:spcPts val="0"/>
              </a:spcBef>
              <a:spcAft>
                <a:spcPts val="1000"/>
              </a:spcAft>
              <a:buNone/>
            </a:pPr>
            <a:r>
              <a:rPr lang="en-US" sz="2200">
                <a:solidFill>
                  <a:schemeClr val="dk1"/>
                </a:solidFill>
              </a:rPr>
              <a:t>→ Should researchers share the entire implementation to get the badges?</a:t>
            </a:r>
            <a:endParaRPr sz="2200">
              <a:solidFill>
                <a:srgbClr val="1A1A1A"/>
              </a:solidFill>
            </a:endParaRPr>
          </a:p>
        </p:txBody>
      </p:sp>
      <p:sp>
        <p:nvSpPr>
          <p:cNvPr id="609" name="Google Shape;609;p55"/>
          <p:cNvSpPr txBox="1"/>
          <p:nvPr/>
        </p:nvSpPr>
        <p:spPr>
          <a:xfrm>
            <a:off x="640075" y="5125772"/>
            <a:ext cx="10911600" cy="7776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R8</a:t>
            </a:r>
            <a:r>
              <a:rPr lang="en-US" sz="2200">
                <a:solidFill>
                  <a:srgbClr val="1A1A1A"/>
                </a:solidFill>
              </a:rPr>
              <a:t>  Long-term strategy and a standard artifact description format</a:t>
            </a:r>
            <a:endParaRPr sz="2200">
              <a:solidFill>
                <a:srgbClr val="1A1A1A"/>
              </a:solidFill>
            </a:endParaRPr>
          </a:p>
          <a:p>
            <a:pPr indent="0" lvl="0" marL="457200" rtl="0" algn="l">
              <a:lnSpc>
                <a:spcPct val="115000"/>
              </a:lnSpc>
              <a:spcBef>
                <a:spcPts val="0"/>
              </a:spcBef>
              <a:spcAft>
                <a:spcPts val="0"/>
              </a:spcAft>
              <a:buNone/>
            </a:pPr>
            <a:r>
              <a:rPr lang="en-US" sz="2200">
                <a:solidFill>
                  <a:srgbClr val="1A1A1A"/>
                </a:solidFill>
              </a:rPr>
              <a:t>→ Should artifacts be reevaluated regularly?</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p:txBody>
      </p:sp>
      <p:sp>
        <p:nvSpPr>
          <p:cNvPr id="610" name="Google Shape;610;p55"/>
          <p:cNvSpPr txBox="1"/>
          <p:nvPr/>
        </p:nvSpPr>
        <p:spPr>
          <a:xfrm>
            <a:off x="640200" y="5989371"/>
            <a:ext cx="10911600" cy="3657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lang="en-US" sz="2200">
                <a:solidFill>
                  <a:schemeClr val="dk1"/>
                </a:solidFill>
              </a:rPr>
              <a:t>Why is artifact evaluation seen as an annoying task, and how can we change it?</a:t>
            </a:r>
            <a:endParaRPr sz="2200">
              <a:solidFill>
                <a:srgbClr val="1A1A1A"/>
              </a:solidFill>
            </a:endParaRPr>
          </a:p>
          <a:p>
            <a:pPr indent="0" lvl="0" marL="0" marR="0" rtl="0" algn="l">
              <a:spcBef>
                <a:spcPts val="1000"/>
              </a:spcBef>
              <a:spcAft>
                <a:spcPts val="0"/>
              </a:spcAft>
              <a:buNone/>
            </a:pPr>
            <a:r>
              <a:rPr lang="en-US" sz="2200">
                <a:solidFill>
                  <a:srgbClr val="1A1A1A"/>
                </a:solidFill>
              </a:rPr>
              <a:t> </a:t>
            </a:r>
            <a:endParaRPr sz="2200">
              <a:solidFill>
                <a:srgbClr val="1A1A1A"/>
              </a:solidFill>
            </a:endParaRPr>
          </a:p>
        </p:txBody>
      </p:sp>
      <p:sp>
        <p:nvSpPr>
          <p:cNvPr id="611" name="Google Shape;611;p55"/>
          <p:cNvSpPr txBox="1"/>
          <p:nvPr/>
        </p:nvSpPr>
        <p:spPr>
          <a:xfrm>
            <a:off x="640200" y="3119625"/>
            <a:ext cx="10911600" cy="880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R6</a:t>
            </a:r>
            <a:r>
              <a:rPr lang="en-US" sz="2200">
                <a:solidFill>
                  <a:schemeClr val="dk1"/>
                </a:solidFill>
              </a:rPr>
              <a:t>  Reduce review cost: two-way communication, anonymizing mailbox, "lazy second evaluation", best-reviewer award</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How important do you feel anonymity?</a:t>
            </a:r>
            <a:endParaRPr sz="2200">
              <a:solidFill>
                <a:schemeClr val="dk1"/>
              </a:solidFill>
            </a:endParaRPr>
          </a:p>
        </p:txBody>
      </p:sp>
      <p:sp>
        <p:nvSpPr>
          <p:cNvPr id="612" name="Google Shape;612;p55"/>
          <p:cNvSpPr txBox="1"/>
          <p:nvPr/>
        </p:nvSpPr>
        <p:spPr>
          <a:xfrm>
            <a:off x="640200" y="4275203"/>
            <a:ext cx="10911600" cy="661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R7</a:t>
            </a:r>
            <a:r>
              <a:rPr lang="en-US" sz="2200">
                <a:solidFill>
                  <a:schemeClr val="dk1"/>
                </a:solidFill>
              </a:rPr>
              <a:t>  Recognize and fund artifact work (hiring, promotion, grant)</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Agree/Disagree? Issues?</a:t>
            </a:r>
            <a:endParaRPr sz="2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5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619" name="Google Shape;619;p5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20" name="Google Shape;620;p56"/>
          <p:cNvSpPr/>
          <p:nvPr/>
        </p:nvSpPr>
        <p:spPr>
          <a:xfrm>
            <a:off x="45295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1" name="Google Shape;621;p56"/>
          <p:cNvSpPr/>
          <p:nvPr/>
        </p:nvSpPr>
        <p:spPr>
          <a:xfrm>
            <a:off x="4494475"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2" name="Google Shape;622;p56"/>
          <p:cNvSpPr/>
          <p:nvPr/>
        </p:nvSpPr>
        <p:spPr>
          <a:xfrm>
            <a:off x="853600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3" name="Google Shape;623;p56"/>
          <p:cNvSpPr txBox="1"/>
          <p:nvPr/>
        </p:nvSpPr>
        <p:spPr>
          <a:xfrm>
            <a:off x="123040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624" name="Google Shape;624;p56"/>
          <p:cNvSpPr txBox="1"/>
          <p:nvPr/>
        </p:nvSpPr>
        <p:spPr>
          <a:xfrm>
            <a:off x="4494475" y="1188650"/>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625" name="Google Shape;625;p56"/>
          <p:cNvSpPr txBox="1"/>
          <p:nvPr/>
        </p:nvSpPr>
        <p:spPr>
          <a:xfrm>
            <a:off x="931345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626" name="Google Shape;626;p56"/>
          <p:cNvSpPr txBox="1"/>
          <p:nvPr/>
        </p:nvSpPr>
        <p:spPr>
          <a:xfrm>
            <a:off x="570250" y="2504125"/>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sp>
        <p:nvSpPr>
          <p:cNvPr id="627" name="Google Shape;627;p56"/>
          <p:cNvSpPr txBox="1"/>
          <p:nvPr/>
        </p:nvSpPr>
        <p:spPr>
          <a:xfrm>
            <a:off x="4638025" y="2504125"/>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 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"lazy second evaluation",</a:t>
            </a:r>
            <a:endParaRPr sz="1700"/>
          </a:p>
          <a:p>
            <a:pPr indent="0" lvl="0" marL="0" rtl="0" algn="l">
              <a:spcBef>
                <a:spcPts val="0"/>
              </a:spcBef>
              <a:spcAft>
                <a:spcPts val="0"/>
              </a:spcAft>
              <a:buNone/>
            </a:pPr>
            <a:r>
              <a:rPr lang="en-US" sz="1700"/>
              <a:t>       best-reviewer award</a:t>
            </a:r>
            <a:endParaRPr sz="1700"/>
          </a:p>
        </p:txBody>
      </p:sp>
      <p:sp>
        <p:nvSpPr>
          <p:cNvPr id="628" name="Google Shape;628;p56"/>
          <p:cNvSpPr txBox="1"/>
          <p:nvPr/>
        </p:nvSpPr>
        <p:spPr>
          <a:xfrm>
            <a:off x="8653300" y="2504125"/>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sp>
        <p:nvSpPr>
          <p:cNvPr id="629" name="Google Shape;629;p56"/>
          <p:cNvSpPr txBox="1"/>
          <p:nvPr/>
        </p:nvSpPr>
        <p:spPr>
          <a:xfrm>
            <a:off x="4376400" y="5885425"/>
            <a:ext cx="34392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t>Agree?/Disagree?</a:t>
            </a:r>
            <a:endParaRPr sz="26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4" name="Shape 634"/>
        <p:cNvGrpSpPr/>
        <p:nvPr/>
      </p:nvGrpSpPr>
      <p:grpSpPr>
        <a:xfrm>
          <a:off x="0" y="0"/>
          <a:ext cx="0" cy="0"/>
          <a:chOff x="0" y="0"/>
          <a:chExt cx="0" cy="0"/>
        </a:xfrm>
      </p:grpSpPr>
      <p:sp>
        <p:nvSpPr>
          <p:cNvPr id="635" name="Google Shape;635;p57"/>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636" name="Google Shape;636;p57"/>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1" name="Shape 641"/>
        <p:cNvGrpSpPr/>
        <p:nvPr/>
      </p:nvGrpSpPr>
      <p:grpSpPr>
        <a:xfrm>
          <a:off x="0" y="0"/>
          <a:ext cx="0" cy="0"/>
          <a:chOff x="0" y="0"/>
          <a:chExt cx="0" cy="0"/>
        </a:xfrm>
      </p:grpSpPr>
      <p:sp>
        <p:nvSpPr>
          <p:cNvPr id="642" name="Google Shape;642;p5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sp>
        <p:nvSpPr>
          <p:cNvPr id="643" name="Google Shape;643;p5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44" name="Google Shape;644;p5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645" name="Google Shape;645;p58"/>
          <p:cNvSpPr txBox="1"/>
          <p:nvPr/>
        </p:nvSpPr>
        <p:spPr>
          <a:xfrm>
            <a:off x="1903700" y="2180425"/>
            <a:ext cx="66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0" name="Shape 650"/>
        <p:cNvGrpSpPr/>
        <p:nvPr/>
      </p:nvGrpSpPr>
      <p:grpSpPr>
        <a:xfrm>
          <a:off x="0" y="0"/>
          <a:ext cx="0" cy="0"/>
          <a:chOff x="0" y="0"/>
          <a:chExt cx="0" cy="0"/>
        </a:xfrm>
      </p:grpSpPr>
      <p:sp>
        <p:nvSpPr>
          <p:cNvPr id="651" name="Google Shape;651;p5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652" name="Google Shape;652;p5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653" name="Google Shape;653;p5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8" name="Shape 658"/>
        <p:cNvGrpSpPr/>
        <p:nvPr/>
      </p:nvGrpSpPr>
      <p:grpSpPr>
        <a:xfrm>
          <a:off x="0" y="0"/>
          <a:ext cx="0" cy="0"/>
          <a:chOff x="0" y="0"/>
          <a:chExt cx="0" cy="0"/>
        </a:xfrm>
      </p:grpSpPr>
      <p:sp>
        <p:nvSpPr>
          <p:cNvPr id="659" name="Google Shape;659;p6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660" name="Google Shape;660;p6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61" name="Google Shape;661;p6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6" name="Shape 666"/>
        <p:cNvGrpSpPr/>
        <p:nvPr/>
      </p:nvGrpSpPr>
      <p:grpSpPr>
        <a:xfrm>
          <a:off x="0" y="0"/>
          <a:ext cx="0" cy="0"/>
          <a:chOff x="0" y="0"/>
          <a:chExt cx="0" cy="0"/>
        </a:xfrm>
      </p:grpSpPr>
      <p:sp>
        <p:nvSpPr>
          <p:cNvPr id="667" name="Google Shape;667;p61"/>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668" name="Google Shape;668;p61"/>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3" name="Shape 673"/>
        <p:cNvGrpSpPr/>
        <p:nvPr/>
      </p:nvGrpSpPr>
      <p:grpSpPr>
        <a:xfrm>
          <a:off x="0" y="0"/>
          <a:ext cx="0" cy="0"/>
          <a:chOff x="0" y="0"/>
          <a:chExt cx="0" cy="0"/>
        </a:xfrm>
      </p:grpSpPr>
      <p:sp>
        <p:nvSpPr>
          <p:cNvPr id="674" name="Google Shape;674;p6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Discussion </a:t>
            </a:r>
            <a:r>
              <a:rPr b="1" lang="en-US" sz="4000">
                <a:solidFill>
                  <a:srgbClr val="00883A"/>
                </a:solidFill>
              </a:rPr>
              <a:t>-</a:t>
            </a:r>
            <a:r>
              <a:rPr b="1" i="0" lang="en-US" sz="4000" u="none" cap="none" strike="noStrike">
                <a:solidFill>
                  <a:srgbClr val="00883A"/>
                </a:solidFill>
                <a:latin typeface="Arial"/>
                <a:ea typeface="Arial"/>
                <a:cs typeface="Arial"/>
                <a:sym typeface="Arial"/>
              </a:rPr>
              <a:t> Paper 1 (?)</a:t>
            </a:r>
            <a:endParaRPr b="0" i="0" sz="4000" u="none" cap="none" strike="noStrike">
              <a:solidFill>
                <a:schemeClr val="dk1"/>
              </a:solidFill>
              <a:latin typeface="Arial"/>
              <a:ea typeface="Arial"/>
              <a:cs typeface="Arial"/>
              <a:sym typeface="Arial"/>
            </a:endParaRPr>
          </a:p>
        </p:txBody>
      </p:sp>
      <p:sp>
        <p:nvSpPr>
          <p:cNvPr id="675" name="Google Shape;675;p6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676" name="Google Shape;676;p6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1" name="Shape 681"/>
        <p:cNvGrpSpPr/>
        <p:nvPr/>
      </p:nvGrpSpPr>
      <p:grpSpPr>
        <a:xfrm>
          <a:off x="0" y="0"/>
          <a:ext cx="0" cy="0"/>
          <a:chOff x="0" y="0"/>
          <a:chExt cx="0" cy="0"/>
        </a:xfrm>
      </p:grpSpPr>
      <p:sp>
        <p:nvSpPr>
          <p:cNvPr id="682" name="Google Shape;682;p6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a:t>
            </a:r>
            <a:r>
              <a:rPr b="1" lang="en-US" sz="4000">
                <a:solidFill>
                  <a:srgbClr val="00883A"/>
                </a:solidFill>
              </a:rPr>
              <a:t>Discussion</a:t>
            </a:r>
            <a:r>
              <a:rPr b="1" i="0" lang="en-US" sz="4000" u="none" cap="none" strike="noStrike">
                <a:solidFill>
                  <a:srgbClr val="00883A"/>
                </a:solidFill>
                <a:latin typeface="Arial"/>
                <a:ea typeface="Arial"/>
                <a:cs typeface="Arial"/>
                <a:sym typeface="Arial"/>
              </a:rPr>
              <a:t> </a:t>
            </a:r>
            <a:r>
              <a:rPr b="1" lang="en-US" sz="4000">
                <a:solidFill>
                  <a:srgbClr val="00883A"/>
                </a:solidFill>
              </a:rPr>
              <a:t>-</a:t>
            </a:r>
            <a:r>
              <a:rPr b="1" i="0" lang="en-US" sz="4000" u="none" cap="none" strike="noStrike">
                <a:solidFill>
                  <a:srgbClr val="00883A"/>
                </a:solidFill>
                <a:latin typeface="Arial"/>
                <a:ea typeface="Arial"/>
                <a:cs typeface="Arial"/>
                <a:sym typeface="Arial"/>
              </a:rPr>
              <a:t> Paper 2 </a:t>
            </a:r>
            <a:r>
              <a:rPr b="1" lang="en-US" sz="4000">
                <a:solidFill>
                  <a:schemeClr val="dk2"/>
                </a:solidFill>
              </a:rPr>
              <a:t>(?)</a:t>
            </a:r>
            <a:endParaRPr b="0" i="0" sz="4000" u="none" cap="none" strike="noStrike">
              <a:solidFill>
                <a:schemeClr val="dk1"/>
              </a:solidFill>
              <a:latin typeface="Arial"/>
              <a:ea typeface="Arial"/>
              <a:cs typeface="Arial"/>
              <a:sym typeface="Arial"/>
            </a:endParaRPr>
          </a:p>
        </p:txBody>
      </p:sp>
      <p:sp>
        <p:nvSpPr>
          <p:cNvPr id="683" name="Google Shape;683;p6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 If we keep this:</a:t>
            </a:r>
            <a:endParaRPr sz="2200">
              <a:solidFill>
                <a:srgbClr val="1A1A1A"/>
              </a:solidFill>
            </a:endParaRPr>
          </a:p>
          <a:p>
            <a:pPr indent="0" lvl="0" marL="0" rtl="0" algn="l">
              <a:lnSpc>
                <a:spcPct val="115000"/>
              </a:lnSpc>
              <a:spcBef>
                <a:spcPts val="400"/>
              </a:spcBef>
              <a:spcAft>
                <a:spcPts val="0"/>
              </a:spcAft>
              <a:buNone/>
            </a:pPr>
            <a:r>
              <a:t/>
            </a:r>
            <a:endParaRPr sz="2200">
              <a:solidFill>
                <a:srgbClr val="1A1A1A"/>
              </a:solidFill>
            </a:endParaRPr>
          </a:p>
          <a:p>
            <a:pPr indent="0" lvl="0" marL="0" rtl="0" algn="l">
              <a:spcBef>
                <a:spcPts val="0"/>
              </a:spcBef>
              <a:spcAft>
                <a:spcPts val="0"/>
              </a:spcAft>
              <a:buNone/>
            </a:pPr>
            <a:r>
              <a:rPr lang="en-US" sz="1000">
                <a:latin typeface="Roboto"/>
                <a:ea typeface="Roboto"/>
                <a:cs typeface="Roboto"/>
                <a:sym typeface="Roboto"/>
              </a:rPr>
              <a:t>Methodology:</a:t>
            </a:r>
            <a:endParaRPr sz="1000">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Is "the URL can be accessed" a good enough test of availability? -&gt; A live page with a dead download, or an unusable artifact, still counts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Should the authors have contacted paper authors for missing artifacts, as Collberg &amp; Proebsting did? -&gt; otherwise availability is underestimated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How should we read a 26 % dead-link rate for 2014 vs. 5 % for 2018 ? -&gt; older links simply had more time to break</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00FFFF"/>
                </a:highlight>
                <a:latin typeface="Roboto"/>
                <a:ea typeface="Roboto"/>
                <a:cs typeface="Roboto"/>
                <a:sym typeface="Roboto"/>
              </a:rPr>
              <a:t>Bias in the 22 % response rate? -&gt; 78 % didn't answer, and those who did probably care more about artifacts (self-selection) -&gt; refine? or maybe leave out methodology questions from discussion?</a:t>
            </a:r>
            <a:endParaRPr sz="1000">
              <a:highlight>
                <a:srgbClr val="00FFFF"/>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FF00"/>
                </a:highlight>
                <a:latin typeface="Roboto"/>
                <a:ea typeface="Roboto"/>
                <a:cs typeface="Roboto"/>
                <a:sym typeface="Roboto"/>
              </a:rPr>
              <a:t>Should the survey also have reached researchers who have never shared an artifact, or who left academia? -&gt; they hold the main reasons for </a:t>
            </a:r>
            <a:r>
              <a:rPr i="1" lang="en-US" sz="1000">
                <a:highlight>
                  <a:srgbClr val="FFFF00"/>
                </a:highlight>
                <a:latin typeface="Roboto"/>
                <a:ea typeface="Roboto"/>
                <a:cs typeface="Roboto"/>
                <a:sym typeface="Roboto"/>
              </a:rPr>
              <a:t>not</a:t>
            </a:r>
            <a:r>
              <a:rPr lang="en-US" sz="1000">
                <a:highlight>
                  <a:srgbClr val="FFFF00"/>
                </a:highlight>
                <a:latin typeface="Roboto"/>
                <a:ea typeface="Roboto"/>
                <a:cs typeface="Roboto"/>
                <a:sym typeface="Roboto"/>
              </a:rPr>
              <a:t> sharing.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0000"/>
                </a:highlight>
                <a:latin typeface="Roboto"/>
                <a:ea typeface="Roboto"/>
                <a:cs typeface="Roboto"/>
                <a:sym typeface="Roboto"/>
              </a:rPr>
              <a:t>A study about artifact sharing can't share its qualitative data (confidentiality). Is that a contradiction, or the same legitimate constraint as C9? -&gt; it shows the field accepts "can't share" too easily.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FF00"/>
                </a:highlight>
                <a:latin typeface="Roboto"/>
                <a:ea typeface="Roboto"/>
                <a:cs typeface="Roboto"/>
                <a:sym typeface="Roboto"/>
              </a:rPr>
              <a:t>Internal validity: respondents and researchers can be biased. Which bias do you think matters most here? -&gt; respondents presenting themselves as good sharers. OR the authors (artifact advocates) reading the answers through their own views. </a:t>
            </a:r>
            <a:endParaRPr sz="1000">
              <a:highlight>
                <a:srgbClr val="FFFF00"/>
              </a:highlight>
              <a:latin typeface="Roboto"/>
              <a:ea typeface="Roboto"/>
              <a:cs typeface="Roboto"/>
              <a:sym typeface="Roboto"/>
            </a:endParaRPr>
          </a:p>
          <a:p>
            <a:pPr indent="0" lvl="0" marL="0" rtl="0" algn="l">
              <a:spcBef>
                <a:spcPts val="0"/>
              </a:spcBef>
              <a:spcAft>
                <a:spcPts val="0"/>
              </a:spcAft>
              <a:buNone/>
            </a:pPr>
            <a:r>
              <a:t/>
            </a:r>
            <a:endParaRPr sz="1000">
              <a:highlight>
                <a:srgbClr val="FFFF00"/>
              </a:highlight>
              <a:latin typeface="Roboto"/>
              <a:ea typeface="Roboto"/>
              <a:cs typeface="Roboto"/>
              <a:sym typeface="Roboto"/>
            </a:endParaRPr>
          </a:p>
          <a:p>
            <a:pPr indent="0" lvl="0" marL="0" rtl="0" algn="l">
              <a:spcBef>
                <a:spcPts val="0"/>
              </a:spcBef>
              <a:spcAft>
                <a:spcPts val="0"/>
              </a:spcAft>
              <a:buNone/>
            </a:pPr>
            <a:r>
              <a:rPr lang="en-US" sz="1150">
                <a:highlight>
                  <a:srgbClr val="FFFFFF"/>
                </a:highlight>
                <a:latin typeface="Roboto"/>
                <a:ea typeface="Roboto"/>
                <a:cs typeface="Roboto"/>
                <a:sym typeface="Roboto"/>
              </a:rPr>
              <a:t>62.69 % is far above Heumüller's 47.8 % linked. Which number better describes the state of SE?</a:t>
            </a:r>
            <a:r>
              <a:rPr lang="en-US" sz="1100"/>
              <a:t> </a:t>
            </a:r>
            <a:endParaRPr sz="1100"/>
          </a:p>
          <a:p>
            <a:pPr indent="-301625" lvl="0" marL="457200" rtl="0" algn="l">
              <a:lnSpc>
                <a:spcPct val="115000"/>
              </a:lnSpc>
              <a:spcBef>
                <a:spcPts val="400"/>
              </a:spcBef>
              <a:spcAft>
                <a:spcPts val="0"/>
              </a:spcAft>
              <a:buSzPts val="1150"/>
              <a:buFont typeface="Roboto"/>
              <a:buChar char="●"/>
            </a:pPr>
            <a:r>
              <a:rPr lang="en-US" sz="1150">
                <a:highlight>
                  <a:srgbClr val="FFFFFF"/>
                </a:highlight>
                <a:latin typeface="Roboto"/>
                <a:ea typeface="Roboto"/>
                <a:cs typeface="Roboto"/>
                <a:sym typeface="Roboto"/>
              </a:rPr>
              <a:t>A: Heumüller, because runnable code is what matters.</a:t>
            </a:r>
            <a:endParaRPr sz="1150">
              <a:highlight>
                <a:srgbClr val="FFFFFF"/>
              </a:highlight>
              <a:latin typeface="Roboto"/>
              <a:ea typeface="Roboto"/>
              <a:cs typeface="Roboto"/>
              <a:sym typeface="Roboto"/>
            </a:endParaRPr>
          </a:p>
          <a:p>
            <a:pPr indent="-301625" lvl="0" marL="457200" rtl="0" algn="l">
              <a:lnSpc>
                <a:spcPct val="115000"/>
              </a:lnSpc>
              <a:spcBef>
                <a:spcPts val="0"/>
              </a:spcBef>
              <a:spcAft>
                <a:spcPts val="0"/>
              </a:spcAft>
              <a:buSzPts val="1150"/>
              <a:buFont typeface="Roboto"/>
              <a:buChar char="●"/>
            </a:pPr>
            <a:r>
              <a:rPr lang="en-US" sz="1150">
                <a:highlight>
                  <a:srgbClr val="FFFFFF"/>
                </a:highlight>
                <a:latin typeface="Roboto"/>
                <a:ea typeface="Roboto"/>
                <a:cs typeface="Roboto"/>
                <a:sym typeface="Roboto"/>
              </a:rPr>
              <a:t>B: Timperley, because data and survey material are artifacts too.</a:t>
            </a:r>
            <a:endParaRPr sz="2200">
              <a:solidFill>
                <a:srgbClr val="1A1A1A"/>
              </a:solidFill>
            </a:endParaRPr>
          </a:p>
        </p:txBody>
      </p:sp>
      <p:sp>
        <p:nvSpPr>
          <p:cNvPr id="684" name="Google Shape;684;p6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6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691" name="Google Shape;691;p6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rgbClr val="1A1A1A"/>
              </a:solidFill>
              <a:latin typeface="Arial"/>
              <a:ea typeface="Arial"/>
              <a:cs typeface="Arial"/>
              <a:sym typeface="Arial"/>
            </a:endParaRPr>
          </a:p>
          <a:p>
            <a:pPr indent="-279400" lvl="0" marL="279400" marR="0" rtl="0" algn="l">
              <a:spcBef>
                <a:spcPts val="1000"/>
              </a:spcBef>
              <a:spcAft>
                <a:spcPts val="0"/>
              </a:spcAft>
              <a:buClr>
                <a:srgbClr val="1A1A1A"/>
              </a:buClr>
              <a:buSzPts val="2200"/>
              <a:buChar char="•"/>
            </a:pPr>
            <a:r>
              <a:rPr lang="en-US" sz="2200">
                <a:solidFill>
                  <a:srgbClr val="1A1A1A"/>
                </a:solidFill>
              </a:rPr>
              <a:t>What would you do as a follow-up study to these presented papers?</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692" name="Google Shape;692;p6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65"/>
          <p:cNvSpPr txBox="1"/>
          <p:nvPr/>
        </p:nvSpPr>
        <p:spPr>
          <a:xfrm>
            <a:off x="640080" y="2560320"/>
            <a:ext cx="10911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6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References</a:t>
            </a:r>
            <a:endParaRPr b="0" i="0" sz="4000" u="none" cap="none" strike="noStrike">
              <a:solidFill>
                <a:schemeClr val="dk1"/>
              </a:solidFill>
              <a:latin typeface="Arial"/>
              <a:ea typeface="Arial"/>
              <a:cs typeface="Arial"/>
              <a:sym typeface="Arial"/>
            </a:endParaRPr>
          </a:p>
        </p:txBody>
      </p:sp>
      <p:sp>
        <p:nvSpPr>
          <p:cNvPr id="704" name="Google Shape;704;p6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705" name="Google Shape;705;p66"/>
          <p:cNvSpPr txBox="1"/>
          <p:nvPr/>
        </p:nvSpPr>
        <p:spPr>
          <a:xfrm>
            <a:off x="640080" y="1336040"/>
            <a:ext cx="10908900" cy="533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1200"/>
              </a:spcAft>
              <a:buNone/>
            </a:pPr>
            <a:r>
              <a:rPr b="0" i="0" lang="en-US" sz="1800" u="none" cap="none" strike="noStrike">
                <a:solidFill>
                  <a:srgbClr val="1A1A1A"/>
                </a:solidFill>
                <a:latin typeface="Arial"/>
                <a:ea typeface="Arial"/>
                <a:cs typeface="Arial"/>
                <a:sym typeface="Arial"/>
              </a:rPr>
              <a:t>[1] Zenodo: size limitations and general policies. help.zenodo.org; about.zenodo.org/policies</a:t>
            </a:r>
            <a:endParaRPr/>
          </a:p>
          <a:p>
            <a:pPr>
              <a:spcAft>
                <a:spcPts val="1200"/>
              </a:spcAft>
            </a:pPr>
            <a:r>
              <a:rPr sz="1800">
                <a:latin typeface="Arial"/>
              </a:rPr>
              <a:t>[2] ICSE 2026 Artifact Evaluation, call for submissions. conf.researchr.org/track/icse-2026/icse-2026-artifact-evaluation</a:t>
            </a: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0" name="Shape 710"/>
        <p:cNvGrpSpPr/>
        <p:nvPr/>
      </p:nvGrpSpPr>
      <p:grpSpPr>
        <a:xfrm>
          <a:off x="0" y="0"/>
          <a:ext cx="0" cy="0"/>
          <a:chOff x="0" y="0"/>
          <a:chExt cx="0" cy="0"/>
        </a:xfrm>
      </p:grpSpPr>
      <p:sp>
        <p:nvSpPr>
          <p:cNvPr id="711" name="Google Shape;711;p67"/>
          <p:cNvSpPr txBox="1"/>
          <p:nvPr/>
        </p:nvSpPr>
        <p:spPr>
          <a:xfrm>
            <a:off x="640080" y="2011680"/>
            <a:ext cx="10911535" cy="1463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712" name="Google Shape;712;p67"/>
          <p:cNvSpPr txBox="1"/>
          <p:nvPr/>
        </p:nvSpPr>
        <p:spPr>
          <a:xfrm>
            <a:off x="640080" y="365760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713" name="Google Shape;713;p67"/>
          <p:cNvSpPr txBox="1"/>
          <p:nvPr/>
        </p:nvSpPr>
        <p:spPr>
          <a:xfrm>
            <a:off x="640080" y="4754880"/>
            <a:ext cx="1091153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8" name="Shape 718"/>
        <p:cNvGrpSpPr/>
        <p:nvPr/>
      </p:nvGrpSpPr>
      <p:grpSpPr>
        <a:xfrm>
          <a:off x="0" y="0"/>
          <a:ext cx="0" cy="0"/>
          <a:chOff x="0" y="0"/>
          <a:chExt cx="0" cy="0"/>
        </a:xfrm>
      </p:grpSpPr>
      <p:sp>
        <p:nvSpPr>
          <p:cNvPr id="719" name="Google Shape;719;p6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720" name="Google Shape;720;p68"/>
          <p:cNvSpPr txBox="1"/>
          <p:nvPr/>
        </p:nvSpPr>
        <p:spPr>
          <a:xfrm>
            <a:off x="640080" y="15544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721" name="Google Shape;721;p68"/>
          <p:cNvSpPr txBox="1"/>
          <p:nvPr/>
        </p:nvSpPr>
        <p:spPr>
          <a:xfrm>
            <a:off x="1463040" y="15544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722" name="Google Shape;722;p68"/>
          <p:cNvSpPr txBox="1"/>
          <p:nvPr/>
        </p:nvSpPr>
        <p:spPr>
          <a:xfrm>
            <a:off x="640080" y="21945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723" name="Google Shape;723;p68"/>
          <p:cNvSpPr txBox="1"/>
          <p:nvPr/>
        </p:nvSpPr>
        <p:spPr>
          <a:xfrm>
            <a:off x="1463040" y="21945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724" name="Google Shape;724;p68"/>
          <p:cNvSpPr txBox="1"/>
          <p:nvPr/>
        </p:nvSpPr>
        <p:spPr>
          <a:xfrm>
            <a:off x="640080" y="283464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725" name="Google Shape;725;p68"/>
          <p:cNvSpPr txBox="1"/>
          <p:nvPr/>
        </p:nvSpPr>
        <p:spPr>
          <a:xfrm>
            <a:off x="1463040" y="283464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726" name="Google Shape;726;p68"/>
          <p:cNvSpPr txBox="1"/>
          <p:nvPr/>
        </p:nvSpPr>
        <p:spPr>
          <a:xfrm>
            <a:off x="640080" y="347472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727" name="Google Shape;727;p68"/>
          <p:cNvSpPr txBox="1"/>
          <p:nvPr/>
        </p:nvSpPr>
        <p:spPr>
          <a:xfrm>
            <a:off x="1463040" y="347472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728" name="Google Shape;728;p68"/>
          <p:cNvSpPr txBox="1"/>
          <p:nvPr/>
        </p:nvSpPr>
        <p:spPr>
          <a:xfrm>
            <a:off x="640080" y="411480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05</a:t>
            </a:r>
            <a:endParaRPr b="0" i="0" sz="2200" u="none" cap="none" strike="noStrike">
              <a:solidFill>
                <a:schemeClr val="dk1"/>
              </a:solidFill>
              <a:latin typeface="Arial"/>
              <a:ea typeface="Arial"/>
              <a:cs typeface="Arial"/>
              <a:sym typeface="Arial"/>
            </a:endParaRPr>
          </a:p>
        </p:txBody>
      </p:sp>
      <p:sp>
        <p:nvSpPr>
          <p:cNvPr id="729" name="Google Shape;729;p68"/>
          <p:cNvSpPr txBox="1"/>
          <p:nvPr/>
        </p:nvSpPr>
        <p:spPr>
          <a:xfrm>
            <a:off x="1463040" y="411480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Cross comparison: similarities and differences</a:t>
            </a:r>
            <a:endParaRPr b="0" i="0" sz="2200" u="none" cap="none" strike="noStrike">
              <a:solidFill>
                <a:schemeClr val="dk1"/>
              </a:solidFill>
              <a:latin typeface="Arial"/>
              <a:ea typeface="Arial"/>
              <a:cs typeface="Arial"/>
              <a:sym typeface="Arial"/>
            </a:endParaRPr>
          </a:p>
        </p:txBody>
      </p:sp>
      <p:sp>
        <p:nvSpPr>
          <p:cNvPr id="730" name="Google Shape;730;p68"/>
          <p:cNvSpPr txBox="1"/>
          <p:nvPr/>
        </p:nvSpPr>
        <p:spPr>
          <a:xfrm>
            <a:off x="640080" y="47548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06</a:t>
            </a:r>
            <a:endParaRPr b="0" i="0" sz="2200" u="none" cap="none" strike="noStrike">
              <a:solidFill>
                <a:schemeClr val="dk1"/>
              </a:solidFill>
              <a:latin typeface="Arial"/>
              <a:ea typeface="Arial"/>
              <a:cs typeface="Arial"/>
              <a:sym typeface="Arial"/>
            </a:endParaRPr>
          </a:p>
        </p:txBody>
      </p:sp>
      <p:sp>
        <p:nvSpPr>
          <p:cNvPr id="731" name="Google Shape;731;p68"/>
          <p:cNvSpPr txBox="1"/>
          <p:nvPr/>
        </p:nvSpPr>
        <p:spPr>
          <a:xfrm>
            <a:off x="1463040" y="47548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Discussion: what do you agree with?</a:t>
            </a:r>
            <a:endParaRPr b="0" i="0" sz="2200" u="none" cap="none" strike="noStrike">
              <a:solidFill>
                <a:schemeClr val="dk1"/>
              </a:solidFill>
              <a:latin typeface="Arial"/>
              <a:ea typeface="Arial"/>
              <a:cs typeface="Arial"/>
              <a:sym typeface="Arial"/>
            </a:endParaRPr>
          </a:p>
        </p:txBody>
      </p:sp>
      <p:sp>
        <p:nvSpPr>
          <p:cNvPr id="732" name="Google Shape;732;p68"/>
          <p:cNvSpPr txBox="1"/>
          <p:nvPr/>
        </p:nvSpPr>
        <p:spPr>
          <a:xfrm>
            <a:off x="640080" y="53949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07</a:t>
            </a:r>
            <a:endParaRPr b="0" i="0" sz="2200" u="none" cap="none" strike="noStrike">
              <a:solidFill>
                <a:schemeClr val="dk1"/>
              </a:solidFill>
              <a:latin typeface="Arial"/>
              <a:ea typeface="Arial"/>
              <a:cs typeface="Arial"/>
              <a:sym typeface="Arial"/>
            </a:endParaRPr>
          </a:p>
        </p:txBody>
      </p:sp>
      <p:sp>
        <p:nvSpPr>
          <p:cNvPr id="733" name="Google Shape;733;p68"/>
          <p:cNvSpPr txBox="1"/>
          <p:nvPr/>
        </p:nvSpPr>
        <p:spPr>
          <a:xfrm>
            <a:off x="1463040" y="53949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Criticism of the papers</a:t>
            </a:r>
            <a:endParaRPr b="0" i="0" sz="2200" u="none" cap="none" strike="noStrike">
              <a:solidFill>
                <a:schemeClr val="dk1"/>
              </a:solidFill>
              <a:latin typeface="Arial"/>
              <a:ea typeface="Arial"/>
              <a:cs typeface="Arial"/>
              <a:sym typeface="Arial"/>
            </a:endParaRPr>
          </a:p>
        </p:txBody>
      </p:sp>
      <p:sp>
        <p:nvSpPr>
          <p:cNvPr id="734" name="Google Shape;734;p6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9" name="Shape 739"/>
        <p:cNvGrpSpPr/>
        <p:nvPr/>
      </p:nvGrpSpPr>
      <p:grpSpPr>
        <a:xfrm>
          <a:off x="0" y="0"/>
          <a:ext cx="0" cy="0"/>
          <a:chOff x="0" y="0"/>
          <a:chExt cx="0" cy="0"/>
        </a:xfrm>
      </p:grpSpPr>
      <p:sp>
        <p:nvSpPr>
          <p:cNvPr id="740" name="Google Shape;740;p6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741" name="Google Shape;741;p6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6" name="Shape 746"/>
        <p:cNvGrpSpPr/>
        <p:nvPr/>
      </p:nvGrpSpPr>
      <p:grpSpPr>
        <a:xfrm>
          <a:off x="0" y="0"/>
          <a:ext cx="0" cy="0"/>
          <a:chOff x="0" y="0"/>
          <a:chExt cx="0" cy="0"/>
        </a:xfrm>
      </p:grpSpPr>
      <p:sp>
        <p:nvSpPr>
          <p:cNvPr id="747" name="Google Shape;747;p7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748" name="Google Shape;748;p7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evaluation (AE): committees check artifacts of accepted papers and award badges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Asked the reviewers (AEC members) what AE is for and what they expect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Found no shared quality threshold and inconsistent terms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 badge only means something within one conference and year (p. 478)</a:t>
            </a:r>
            <a:endParaRPr b="0" i="0" sz="2200" u="none" cap="none" strike="noStrike">
              <a:solidFill>
                <a:schemeClr val="dk1"/>
              </a:solidFill>
              <a:latin typeface="Arial"/>
              <a:ea typeface="Arial"/>
              <a:cs typeface="Arial"/>
              <a:sym typeface="Arial"/>
            </a:endParaRPr>
          </a:p>
        </p:txBody>
      </p:sp>
      <p:sp>
        <p:nvSpPr>
          <p:cNvPr id="749" name="Google Shape;749;p7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4" name="Shape 754"/>
        <p:cNvGrpSpPr/>
        <p:nvPr/>
      </p:nvGrpSpPr>
      <p:grpSpPr>
        <a:xfrm>
          <a:off x="0" y="0"/>
          <a:ext cx="0" cy="0"/>
          <a:chOff x="0" y="0"/>
          <a:chExt cx="0" cy="0"/>
        </a:xfrm>
      </p:grpSpPr>
      <p:sp>
        <p:nvSpPr>
          <p:cNvPr id="755" name="Google Shape;755;p7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graphicFrame>
        <p:nvGraphicFramePr>
          <p:cNvPr id="756" name="Google Shape;756;p71"/>
          <p:cNvGraphicFramePr/>
          <p:nvPr/>
        </p:nvGraphicFramePr>
        <p:xfrm>
          <a:off x="640080" y="1554480"/>
          <a:ext cx="3000000" cy="3000000"/>
        </p:xfrm>
        <a:graphic>
          <a:graphicData uri="http://schemas.openxmlformats.org/drawingml/2006/table">
            <a:tbl>
              <a:tblPr>
                <a:noFill/>
                <a:tableStyleId>{FAA253EF-18A9-426E-A8DC-01BEB4598855}</a:tableStyleId>
              </a:tblPr>
              <a:tblGrid>
                <a:gridCol w="3637175"/>
                <a:gridCol w="3637175"/>
                <a:gridCol w="3637175"/>
              </a:tblGrid>
              <a:tr h="640075">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Setting</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Paper (old ACM)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Our lecture (2020)</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Same team, 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authors'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own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
        <p:nvSpPr>
          <p:cNvPr id="757" name="Google Shape;757;p71"/>
          <p:cNvSpPr txBox="1"/>
          <p:nvPr/>
        </p:nvSpPr>
        <p:spPr>
          <a:xfrm>
            <a:off x="640080" y="443484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Footnote 5, p. 471. Artifact = "a self-contained work result, having a context-specific purpose" (p. 470). Badges: Available, Functional, Reusable, Results.</a:t>
            </a:r>
            <a:endParaRPr b="0" i="0" sz="1800" u="none" cap="none" strike="noStrike">
              <a:solidFill>
                <a:schemeClr val="dk1"/>
              </a:solidFill>
              <a:latin typeface="Arial"/>
              <a:ea typeface="Arial"/>
              <a:cs typeface="Arial"/>
              <a:sym typeface="Arial"/>
            </a:endParaRPr>
          </a:p>
        </p:txBody>
      </p:sp>
      <p:sp>
        <p:nvSpPr>
          <p:cNvPr id="758" name="Google Shape;758;p7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3" name="Shape 763"/>
        <p:cNvGrpSpPr/>
        <p:nvPr/>
      </p:nvGrpSpPr>
      <p:grpSpPr>
        <a:xfrm>
          <a:off x="0" y="0"/>
          <a:ext cx="0" cy="0"/>
          <a:chOff x="0" y="0"/>
          <a:chExt cx="0" cy="0"/>
        </a:xfrm>
      </p:grpSpPr>
      <p:sp>
        <p:nvSpPr>
          <p:cNvPr id="764" name="Google Shape;764;p7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65" name="Google Shape;765;p72"/>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What do AEC members see as the purpose of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 What do they expect from an artifact as reviewers?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RQ3: What do they expect as users of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Pre-study: what do calls for artifacts and ACM guidelines demand?</a:t>
            </a:r>
            <a:endParaRPr b="0" i="0" sz="2200" u="none" cap="none" strike="noStrike">
              <a:solidFill>
                <a:schemeClr val="dk1"/>
              </a:solidFill>
              <a:latin typeface="Arial"/>
              <a:ea typeface="Arial"/>
              <a:cs typeface="Arial"/>
              <a:sym typeface="Arial"/>
            </a:endParaRPr>
          </a:p>
        </p:txBody>
      </p:sp>
      <p:sp>
        <p:nvSpPr>
          <p:cNvPr id="766" name="Google Shape;766;p7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1" name="Shape 771"/>
        <p:cNvGrpSpPr/>
        <p:nvPr/>
      </p:nvGrpSpPr>
      <p:grpSpPr>
        <a:xfrm>
          <a:off x="0" y="0"/>
          <a:ext cx="0" cy="0"/>
          <a:chOff x="0" y="0"/>
          <a:chExt cx="0" cy="0"/>
        </a:xfrm>
      </p:grpSpPr>
      <p:sp>
        <p:nvSpPr>
          <p:cNvPr id="772" name="Google Shape;772;p7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773" name="Google Shape;773;p73"/>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3"/>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79</a:t>
            </a:r>
            <a:endParaRPr b="0" i="0" sz="3600" u="none" cap="none" strike="noStrike">
              <a:solidFill>
                <a:schemeClr val="dk1"/>
              </a:solidFill>
              <a:latin typeface="Arial"/>
              <a:ea typeface="Arial"/>
              <a:cs typeface="Arial"/>
              <a:sym typeface="Arial"/>
            </a:endParaRPr>
          </a:p>
        </p:txBody>
      </p:sp>
      <p:sp>
        <p:nvSpPr>
          <p:cNvPr id="775" name="Google Shape;775;p73"/>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calls analysed</a:t>
            </a:r>
            <a:endParaRPr b="0" i="0" sz="1800" u="none" cap="none" strike="noStrike">
              <a:solidFill>
                <a:schemeClr val="dk1"/>
              </a:solidFill>
              <a:latin typeface="Arial"/>
              <a:ea typeface="Arial"/>
              <a:cs typeface="Arial"/>
              <a:sym typeface="Arial"/>
            </a:endParaRPr>
          </a:p>
        </p:txBody>
      </p:sp>
      <p:sp>
        <p:nvSpPr>
          <p:cNvPr id="776" name="Google Shape;776;p73"/>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3"/>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1034</a:t>
            </a:r>
            <a:endParaRPr b="0" i="0" sz="3600" u="none" cap="none" strike="noStrike">
              <a:solidFill>
                <a:schemeClr val="dk1"/>
              </a:solidFill>
              <a:latin typeface="Arial"/>
              <a:ea typeface="Arial"/>
              <a:cs typeface="Arial"/>
              <a:sym typeface="Arial"/>
            </a:endParaRPr>
          </a:p>
        </p:txBody>
      </p:sp>
      <p:sp>
        <p:nvSpPr>
          <p:cNvPr id="778" name="Google Shape;778;p73"/>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reviewers invited</a:t>
            </a:r>
            <a:endParaRPr b="0" i="0" sz="1800" u="none" cap="none" strike="noStrike">
              <a:solidFill>
                <a:schemeClr val="dk1"/>
              </a:solidFill>
              <a:latin typeface="Arial"/>
              <a:ea typeface="Arial"/>
              <a:cs typeface="Arial"/>
              <a:sym typeface="Arial"/>
            </a:endParaRPr>
          </a:p>
        </p:txBody>
      </p:sp>
      <p:sp>
        <p:nvSpPr>
          <p:cNvPr id="779" name="Google Shape;779;p73"/>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3"/>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257</a:t>
            </a:r>
            <a:endParaRPr b="0" i="0" sz="3600" u="none" cap="none" strike="noStrike">
              <a:solidFill>
                <a:schemeClr val="dk1"/>
              </a:solidFill>
              <a:latin typeface="Arial"/>
              <a:ea typeface="Arial"/>
              <a:cs typeface="Arial"/>
              <a:sym typeface="Arial"/>
            </a:endParaRPr>
          </a:p>
        </p:txBody>
      </p:sp>
      <p:sp>
        <p:nvSpPr>
          <p:cNvPr id="781" name="Google Shape;781;p73"/>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responses</a:t>
            </a:r>
            <a:endParaRPr b="0" i="0" sz="1800" u="none" cap="none" strike="noStrike">
              <a:solidFill>
                <a:schemeClr val="dk1"/>
              </a:solidFill>
              <a:latin typeface="Arial"/>
              <a:ea typeface="Arial"/>
              <a:cs typeface="Arial"/>
              <a:sym typeface="Arial"/>
            </a:endParaRPr>
          </a:p>
        </p:txBody>
      </p:sp>
      <p:sp>
        <p:nvSpPr>
          <p:cNvPr id="782" name="Google Shape;782;p73"/>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79 calls for artifacts, SE and PL conferences, 2011–2019, coded by two researchers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Survey with open questions sent to 1034 AEC members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257 responded, 124 completed; ~25 % response; mostly programming languages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Answers grouped by open card sorting; counts given as total (PL/SE)</a:t>
            </a:r>
            <a:endParaRPr b="0" i="0" sz="2000" u="none" cap="none" strike="noStrike">
              <a:solidFill>
                <a:schemeClr val="dk1"/>
              </a:solidFill>
              <a:latin typeface="Arial"/>
              <a:ea typeface="Arial"/>
              <a:cs typeface="Arial"/>
              <a:sym typeface="Arial"/>
            </a:endParaRPr>
          </a:p>
        </p:txBody>
      </p:sp>
      <p:sp>
        <p:nvSpPr>
          <p:cNvPr id="783" name="Google Shape;783;p7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8" name="Shape 788"/>
        <p:cNvGrpSpPr/>
        <p:nvPr/>
      </p:nvGrpSpPr>
      <p:grpSpPr>
        <a:xfrm>
          <a:off x="0" y="0"/>
          <a:ext cx="0" cy="0"/>
          <a:chOff x="0" y="0"/>
          <a:chExt cx="0" cy="0"/>
        </a:xfrm>
      </p:grpSpPr>
      <p:sp>
        <p:nvSpPr>
          <p:cNvPr id="789" name="Google Shape;789;p7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790" name="Google Shape;790;p7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Calls name criteria (documentation 46, consistency 45) but no levels (pp. 471–472)</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Purpose drifts: from checking claims to reproducibility and reuse (RQ1)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want reproducible results, users want reusable tools (RQ2, RQ3)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20 users see a difference between evaluated and unevaluated artifacts, 34 do not (p. 477)</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reviewers serve once; a third never submitted an artifact (pp. 473, 478)</a:t>
            </a:r>
            <a:endParaRPr b="0" i="0" sz="2200" u="none" cap="none" strike="noStrike">
              <a:solidFill>
                <a:schemeClr val="dk1"/>
              </a:solidFill>
              <a:latin typeface="Arial"/>
              <a:ea typeface="Arial"/>
              <a:cs typeface="Arial"/>
              <a:sym typeface="Arial"/>
            </a:endParaRPr>
          </a:p>
        </p:txBody>
      </p:sp>
      <p:sp>
        <p:nvSpPr>
          <p:cNvPr id="791" name="Google Shape;791;p7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6" name="Shape 796"/>
        <p:cNvGrpSpPr/>
        <p:nvPr/>
      </p:nvGrpSpPr>
      <p:grpSpPr>
        <a:xfrm>
          <a:off x="0" y="0"/>
          <a:ext cx="0" cy="0"/>
          <a:chOff x="0" y="0"/>
          <a:chExt cx="0" cy="0"/>
        </a:xfrm>
      </p:grpSpPr>
      <p:sp>
        <p:nvSpPr>
          <p:cNvPr id="797" name="Google Shape;797;p7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798" name="Google Shape;798;p7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mostly PL: a deliberate trade-off (p. 479)</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 sorting by one labeller, checked by a second, no agreement measure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Implications: purpose and standards per community, written into the calls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Brief one-time reviewers; couple AE more tightly to acceptance (p. 479)</a:t>
            </a:r>
            <a:endParaRPr b="0" i="0" sz="2200" u="none" cap="none" strike="noStrike">
              <a:solidFill>
                <a:schemeClr val="dk1"/>
              </a:solidFill>
              <a:latin typeface="Arial"/>
              <a:ea typeface="Arial"/>
              <a:cs typeface="Arial"/>
              <a:sym typeface="Arial"/>
            </a:endParaRPr>
          </a:p>
        </p:txBody>
      </p:sp>
      <p:sp>
        <p:nvSpPr>
          <p:cNvPr id="799" name="Google Shape;799;p7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4" name="Shape 804"/>
        <p:cNvGrpSpPr/>
        <p:nvPr/>
      </p:nvGrpSpPr>
      <p:grpSpPr>
        <a:xfrm>
          <a:off x="0" y="0"/>
          <a:ext cx="0" cy="0"/>
          <a:chOff x="0" y="0"/>
          <a:chExt cx="0" cy="0"/>
        </a:xfrm>
      </p:grpSpPr>
      <p:sp>
        <p:nvSpPr>
          <p:cNvPr id="805" name="Google Shape;805;p7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806" name="Google Shape;806;p76"/>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artifact badges be easy to get or hard to get?</a:t>
            </a:r>
            <a:endParaRPr b="0" i="0" sz="2600" u="none" cap="none" strike="noStrike">
              <a:solidFill>
                <a:schemeClr val="dk1"/>
              </a:solidFill>
              <a:latin typeface="Arial"/>
              <a:ea typeface="Arial"/>
              <a:cs typeface="Arial"/>
              <a:sym typeface="Arial"/>
            </a:endParaRPr>
          </a:p>
        </p:txBody>
      </p:sp>
      <p:sp>
        <p:nvSpPr>
          <p:cNvPr id="807" name="Google Shape;807;p76"/>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76"/>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"Enforcing quality criteria only means that some authors will not publish their code" (id 96, p. 475). ICSE and FSE dropped the Functional badge to raise the bar (p. 476).</a:t>
            </a:r>
            <a:endParaRPr b="0" i="0" sz="1800" u="none" cap="none" strike="noStrike">
              <a:solidFill>
                <a:schemeClr val="dk1"/>
              </a:solidFill>
              <a:latin typeface="Arial"/>
              <a:ea typeface="Arial"/>
              <a:cs typeface="Arial"/>
              <a:sym typeface="Arial"/>
            </a:endParaRPr>
          </a:p>
        </p:txBody>
      </p:sp>
      <p:sp>
        <p:nvSpPr>
          <p:cNvPr id="809" name="Google Shape;809;p76"/>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76"/>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Low bar</a:t>
            </a:r>
            <a:endParaRPr b="0" i="0" sz="2200" u="none" cap="none" strike="noStrike">
              <a:solidFill>
                <a:schemeClr val="dk1"/>
              </a:solidFill>
              <a:latin typeface="Arial"/>
              <a:ea typeface="Arial"/>
              <a:cs typeface="Arial"/>
              <a:sym typeface="Arial"/>
            </a:endParaRPr>
          </a:p>
        </p:txBody>
      </p:sp>
      <p:sp>
        <p:nvSpPr>
          <p:cNvPr id="811" name="Google Shape;811;p76"/>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Availability is the bottleneck. Any code beats none.</a:t>
            </a:r>
            <a:endParaRPr b="0" i="0" sz="2000" u="none" cap="none" strike="noStrike">
              <a:solidFill>
                <a:schemeClr val="dk1"/>
              </a:solidFill>
              <a:latin typeface="Arial"/>
              <a:ea typeface="Arial"/>
              <a:cs typeface="Arial"/>
              <a:sym typeface="Arial"/>
            </a:endParaRPr>
          </a:p>
        </p:txBody>
      </p:sp>
      <p:sp>
        <p:nvSpPr>
          <p:cNvPr id="812" name="Google Shape;812;p76"/>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76"/>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High bar</a:t>
            </a:r>
            <a:endParaRPr b="0" i="0" sz="2200" u="none" cap="none" strike="noStrike">
              <a:solidFill>
                <a:schemeClr val="dk1"/>
              </a:solidFill>
              <a:latin typeface="Arial"/>
              <a:ea typeface="Arial"/>
              <a:cs typeface="Arial"/>
              <a:sym typeface="Arial"/>
            </a:endParaRPr>
          </a:p>
        </p:txBody>
      </p:sp>
      <p:sp>
        <p:nvSpPr>
          <p:cNvPr id="814" name="Google Shape;814;p76"/>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almost everything passes, a badge signals little.</a:t>
            </a:r>
            <a:endParaRPr b="0" i="0" sz="2000" u="none" cap="none" strike="noStrike">
              <a:solidFill>
                <a:schemeClr val="dk1"/>
              </a:solidFill>
              <a:latin typeface="Arial"/>
              <a:ea typeface="Arial"/>
              <a:cs typeface="Arial"/>
              <a:sym typeface="Arial"/>
            </a:endParaRPr>
          </a:p>
        </p:txBody>
      </p:sp>
      <p:sp>
        <p:nvSpPr>
          <p:cNvPr id="815" name="Google Shape;815;p7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0" name="Shape 820"/>
        <p:cNvGrpSpPr/>
        <p:nvPr/>
      </p:nvGrpSpPr>
      <p:grpSpPr>
        <a:xfrm>
          <a:off x="0" y="0"/>
          <a:ext cx="0" cy="0"/>
          <a:chOff x="0" y="0"/>
          <a:chExt cx="0" cy="0"/>
        </a:xfrm>
      </p:grpSpPr>
      <p:sp>
        <p:nvSpPr>
          <p:cNvPr id="821" name="Google Shape;821;p7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822" name="Google Shape;822;p77"/>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checks the checkers?</a:t>
            </a:r>
            <a:endParaRPr b="0" i="0" sz="2600" u="none" cap="none" strike="noStrike">
              <a:solidFill>
                <a:schemeClr val="dk1"/>
              </a:solidFill>
              <a:latin typeface="Arial"/>
              <a:ea typeface="Arial"/>
              <a:cs typeface="Arial"/>
              <a:sym typeface="Arial"/>
            </a:endParaRPr>
          </a:p>
        </p:txBody>
      </p:sp>
      <p:sp>
        <p:nvSpPr>
          <p:cNvPr id="823" name="Google Shape;823;p77"/>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77"/>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Most AEC members serve once, and a third have never built an artifact themselves (pp. 473, 478).</a:t>
            </a:r>
            <a:endParaRPr b="0" i="0" sz="1800" u="none" cap="none" strike="noStrike">
              <a:solidFill>
                <a:schemeClr val="dk1"/>
              </a:solidFill>
              <a:latin typeface="Arial"/>
              <a:ea typeface="Arial"/>
              <a:cs typeface="Arial"/>
              <a:sym typeface="Arial"/>
            </a:endParaRPr>
          </a:p>
        </p:txBody>
      </p:sp>
      <p:sp>
        <p:nvSpPr>
          <p:cNvPr id="825" name="Google Shape;825;p77"/>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77"/>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Students are fine</a:t>
            </a:r>
            <a:endParaRPr b="0" i="0" sz="2200" u="none" cap="none" strike="noStrike">
              <a:solidFill>
                <a:schemeClr val="dk1"/>
              </a:solidFill>
              <a:latin typeface="Arial"/>
              <a:ea typeface="Arial"/>
              <a:cs typeface="Arial"/>
              <a:sym typeface="Arial"/>
            </a:endParaRPr>
          </a:p>
        </p:txBody>
      </p:sp>
      <p:sp>
        <p:nvSpPr>
          <p:cNvPr id="827" name="Google Shape;827;p77"/>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Reviewing is training; fresh eyes see what users will see.</a:t>
            </a:r>
            <a:endParaRPr b="0" i="0" sz="2000" u="none" cap="none" strike="noStrike">
              <a:solidFill>
                <a:schemeClr val="dk1"/>
              </a:solidFill>
              <a:latin typeface="Arial"/>
              <a:ea typeface="Arial"/>
              <a:cs typeface="Arial"/>
              <a:sym typeface="Arial"/>
            </a:endParaRPr>
          </a:p>
        </p:txBody>
      </p:sp>
      <p:sp>
        <p:nvSpPr>
          <p:cNvPr id="828" name="Google Shape;828;p77"/>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77"/>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Experts needed</a:t>
            </a:r>
            <a:endParaRPr b="0" i="0" sz="2200" u="none" cap="none" strike="noStrike">
              <a:solidFill>
                <a:schemeClr val="dk1"/>
              </a:solidFill>
              <a:latin typeface="Arial"/>
              <a:ea typeface="Arial"/>
              <a:cs typeface="Arial"/>
              <a:sym typeface="Arial"/>
            </a:endParaRPr>
          </a:p>
        </p:txBody>
      </p:sp>
      <p:sp>
        <p:nvSpPr>
          <p:cNvPr id="830" name="Google Shape;830;p77"/>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Inexperienced reviewers make badges inconsistent across years.</a:t>
            </a:r>
            <a:endParaRPr b="0" i="0" sz="2000" u="none" cap="none" strike="noStrike">
              <a:solidFill>
                <a:schemeClr val="dk1"/>
              </a:solidFill>
              <a:latin typeface="Arial"/>
              <a:ea typeface="Arial"/>
              <a:cs typeface="Arial"/>
              <a:sym typeface="Arial"/>
            </a:endParaRPr>
          </a:p>
        </p:txBody>
      </p:sp>
      <p:sp>
        <p:nvSpPr>
          <p:cNvPr id="831" name="Google Shape;831;p7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6" name="Shape 836"/>
        <p:cNvGrpSpPr/>
        <p:nvPr/>
      </p:nvGrpSpPr>
      <p:grpSpPr>
        <a:xfrm>
          <a:off x="0" y="0"/>
          <a:ext cx="0" cy="0"/>
          <a:chOff x="0" y="0"/>
          <a:chExt cx="0" cy="0"/>
        </a:xfrm>
      </p:grpSpPr>
      <p:sp>
        <p:nvSpPr>
          <p:cNvPr id="837" name="Google Shape;837;p7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838" name="Google Shape;838;p78"/>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Is "set up in 30 minutes" a quality standard or a convenience rule?</a:t>
            </a:r>
            <a:endParaRPr b="0" i="0" sz="2600" u="none" cap="none" strike="noStrike">
              <a:solidFill>
                <a:schemeClr val="dk1"/>
              </a:solidFill>
              <a:latin typeface="Arial"/>
              <a:ea typeface="Arial"/>
              <a:cs typeface="Arial"/>
              <a:sym typeface="Arial"/>
            </a:endParaRPr>
          </a:p>
        </p:txBody>
      </p:sp>
      <p:sp>
        <p:nvSpPr>
          <p:cNvPr id="839" name="Google Shape;839;p78"/>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78"/>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It is the only concrete threshold in 79 calls (10 calls, p. 472).</a:t>
            </a:r>
            <a:endParaRPr b="0" i="0" sz="1800" u="none" cap="none" strike="noStrike">
              <a:solidFill>
                <a:schemeClr val="dk1"/>
              </a:solidFill>
              <a:latin typeface="Arial"/>
              <a:ea typeface="Arial"/>
              <a:cs typeface="Arial"/>
              <a:sym typeface="Arial"/>
            </a:endParaRPr>
          </a:p>
        </p:txBody>
      </p:sp>
      <p:sp>
        <p:nvSpPr>
          <p:cNvPr id="841" name="Google Shape;841;p78"/>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78"/>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A real standard</a:t>
            </a:r>
            <a:endParaRPr b="0" i="0" sz="2200" u="none" cap="none" strike="noStrike">
              <a:solidFill>
                <a:schemeClr val="dk1"/>
              </a:solidFill>
              <a:latin typeface="Arial"/>
              <a:ea typeface="Arial"/>
              <a:cs typeface="Arial"/>
              <a:sym typeface="Arial"/>
            </a:endParaRPr>
          </a:p>
        </p:txBody>
      </p:sp>
      <p:sp>
        <p:nvSpPr>
          <p:cNvPr id="843" name="Google Shape;843;p78"/>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users cannot start it quickly, they will not use it.</a:t>
            </a:r>
            <a:endParaRPr b="0" i="0" sz="2000" u="none" cap="none" strike="noStrike">
              <a:solidFill>
                <a:schemeClr val="dk1"/>
              </a:solidFill>
              <a:latin typeface="Arial"/>
              <a:ea typeface="Arial"/>
              <a:cs typeface="Arial"/>
              <a:sym typeface="Arial"/>
            </a:endParaRPr>
          </a:p>
        </p:txBody>
      </p:sp>
      <p:sp>
        <p:nvSpPr>
          <p:cNvPr id="844" name="Google Shape;844;p78"/>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78"/>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Just convenience</a:t>
            </a:r>
            <a:endParaRPr b="0" i="0" sz="2200" u="none" cap="none" strike="noStrike">
              <a:solidFill>
                <a:schemeClr val="dk1"/>
              </a:solidFill>
              <a:latin typeface="Arial"/>
              <a:ea typeface="Arial"/>
              <a:cs typeface="Arial"/>
              <a:sym typeface="Arial"/>
            </a:endParaRPr>
          </a:p>
        </p:txBody>
      </p:sp>
      <p:sp>
        <p:nvSpPr>
          <p:cNvPr id="846" name="Google Shape;846;p78"/>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It says nothing about whether the results are right.</a:t>
            </a:r>
            <a:endParaRPr b="0" i="0" sz="2000" u="none" cap="none" strike="noStrike">
              <a:solidFill>
                <a:schemeClr val="dk1"/>
              </a:solidFill>
              <a:latin typeface="Arial"/>
              <a:ea typeface="Arial"/>
              <a:cs typeface="Arial"/>
              <a:sym typeface="Arial"/>
            </a:endParaRPr>
          </a:p>
        </p:txBody>
      </p:sp>
      <p:sp>
        <p:nvSpPr>
          <p:cNvPr id="847" name="Google Shape;847;p7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2" name="Shape 852"/>
        <p:cNvGrpSpPr/>
        <p:nvPr/>
      </p:nvGrpSpPr>
      <p:grpSpPr>
        <a:xfrm>
          <a:off x="0" y="0"/>
          <a:ext cx="0" cy="0"/>
          <a:chOff x="0" y="0"/>
          <a:chExt cx="0" cy="0"/>
        </a:xfrm>
      </p:grpSpPr>
      <p:sp>
        <p:nvSpPr>
          <p:cNvPr id="853" name="Google Shape;853;p7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854" name="Google Shape;854;p7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9" name="Shape 859"/>
        <p:cNvGrpSpPr/>
        <p:nvPr/>
      </p:nvGrpSpPr>
      <p:grpSpPr>
        <a:xfrm>
          <a:off x="0" y="0"/>
          <a:ext cx="0" cy="0"/>
          <a:chOff x="0" y="0"/>
          <a:chExt cx="0" cy="0"/>
        </a:xfrm>
      </p:grpSpPr>
      <p:sp>
        <p:nvSpPr>
          <p:cNvPr id="860" name="Google Shape;860;p8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861" name="Google Shape;861;p8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Counted artifact links in 1434 SE papers and surveyed 153 authors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papers link an artifact, few go through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Twelve challenges for creators, users and reviewers; the root is incentives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Eight recommendations, each aimed at a specific group</a:t>
            </a:r>
            <a:endParaRPr b="0" i="0" sz="2200" u="none" cap="none" strike="noStrike">
              <a:solidFill>
                <a:schemeClr val="dk1"/>
              </a:solidFill>
              <a:latin typeface="Arial"/>
              <a:ea typeface="Arial"/>
              <a:cs typeface="Arial"/>
              <a:sym typeface="Arial"/>
            </a:endParaRPr>
          </a:p>
        </p:txBody>
      </p:sp>
      <p:sp>
        <p:nvSpPr>
          <p:cNvPr id="862" name="Google Shape;862;p8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7" name="Shape 867"/>
        <p:cNvGrpSpPr/>
        <p:nvPr/>
      </p:nvGrpSpPr>
      <p:grpSpPr>
        <a:xfrm>
          <a:off x="0" y="0"/>
          <a:ext cx="0" cy="0"/>
          <a:chOff x="0" y="0"/>
          <a:chExt cx="0" cy="0"/>
        </a:xfrm>
      </p:grpSpPr>
      <p:sp>
        <p:nvSpPr>
          <p:cNvPr id="868" name="Google Shape;868;p8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869" name="Google Shape;869;p81"/>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"any external materials or information provided … via a link" (p. 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Available: the link still works; content was not checked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ACM quality criteria: documented, consistent, complete, exercisable (pp. 4–5)</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Mostly says "replication"; re-running an artifact = our 2020 reproducibility</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Diffusion of Innovations: innovation, channels, time, social system (p. 5)</a:t>
            </a:r>
            <a:endParaRPr b="0" i="0" sz="2200" u="none" cap="none" strike="noStrike">
              <a:solidFill>
                <a:schemeClr val="dk1"/>
              </a:solidFill>
              <a:latin typeface="Arial"/>
              <a:ea typeface="Arial"/>
              <a:cs typeface="Arial"/>
              <a:sym typeface="Arial"/>
            </a:endParaRPr>
          </a:p>
        </p:txBody>
      </p:sp>
      <p:sp>
        <p:nvSpPr>
          <p:cNvPr id="870" name="Google Shape;870;p8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5" name="Shape 875"/>
        <p:cNvGrpSpPr/>
        <p:nvPr/>
      </p:nvGrpSpPr>
      <p:grpSpPr>
        <a:xfrm>
          <a:off x="0" y="0"/>
          <a:ext cx="0" cy="0"/>
          <a:chOff x="0" y="0"/>
          <a:chExt cx="0" cy="0"/>
        </a:xfrm>
      </p:grpSpPr>
      <p:sp>
        <p:nvSpPr>
          <p:cNvPr id="876" name="Google Shape;876;p8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877" name="Google Shape;877;p82"/>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creators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users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reviewers face?</a:t>
            </a:r>
            <a:endParaRPr b="0" i="0" sz="2200" u="none" cap="none" strike="noStrike">
              <a:solidFill>
                <a:schemeClr val="dk1"/>
              </a:solidFill>
              <a:latin typeface="Arial"/>
              <a:ea typeface="Arial"/>
              <a:cs typeface="Arial"/>
              <a:sym typeface="Arial"/>
            </a:endParaRPr>
          </a:p>
        </p:txBody>
      </p:sp>
      <p:sp>
        <p:nvSpPr>
          <p:cNvPr id="878" name="Google Shape;878;p8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3" name="Shape 883"/>
        <p:cNvGrpSpPr/>
        <p:nvPr/>
      </p:nvGrpSpPr>
      <p:grpSpPr>
        <a:xfrm>
          <a:off x="0" y="0"/>
          <a:ext cx="0" cy="0"/>
          <a:chOff x="0" y="0"/>
          <a:chExt cx="0" cy="0"/>
        </a:xfrm>
      </p:grpSpPr>
      <p:sp>
        <p:nvSpPr>
          <p:cNvPr id="884" name="Google Shape;884;p8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885" name="Google Shape;885;p83"/>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83"/>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1434</a:t>
            </a:r>
            <a:endParaRPr b="0" i="0" sz="3600" u="none" cap="none" strike="noStrike">
              <a:solidFill>
                <a:schemeClr val="dk1"/>
              </a:solidFill>
              <a:latin typeface="Arial"/>
              <a:ea typeface="Arial"/>
              <a:cs typeface="Arial"/>
              <a:sym typeface="Arial"/>
            </a:endParaRPr>
          </a:p>
        </p:txBody>
      </p:sp>
      <p:sp>
        <p:nvSpPr>
          <p:cNvPr id="887" name="Google Shape;887;p83"/>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papers surveyed</a:t>
            </a:r>
            <a:endParaRPr b="0" i="0" sz="1800" u="none" cap="none" strike="noStrike">
              <a:solidFill>
                <a:schemeClr val="dk1"/>
              </a:solidFill>
              <a:latin typeface="Arial"/>
              <a:ea typeface="Arial"/>
              <a:cs typeface="Arial"/>
              <a:sym typeface="Arial"/>
            </a:endParaRPr>
          </a:p>
        </p:txBody>
      </p:sp>
      <p:sp>
        <p:nvSpPr>
          <p:cNvPr id="888" name="Google Shape;888;p83"/>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83"/>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153</a:t>
            </a:r>
            <a:endParaRPr b="0" i="0" sz="3600" u="none" cap="none" strike="noStrike">
              <a:solidFill>
                <a:schemeClr val="dk1"/>
              </a:solidFill>
              <a:latin typeface="Arial"/>
              <a:ea typeface="Arial"/>
              <a:cs typeface="Arial"/>
              <a:sym typeface="Arial"/>
            </a:endParaRPr>
          </a:p>
        </p:txBody>
      </p:sp>
      <p:sp>
        <p:nvSpPr>
          <p:cNvPr id="890" name="Google Shape;890;p83"/>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authors answered</a:t>
            </a:r>
            <a:endParaRPr b="0" i="0" sz="1800" u="none" cap="none" strike="noStrike">
              <a:solidFill>
                <a:schemeClr val="dk1"/>
              </a:solidFill>
              <a:latin typeface="Arial"/>
              <a:ea typeface="Arial"/>
              <a:cs typeface="Arial"/>
              <a:sym typeface="Arial"/>
            </a:endParaRPr>
          </a:p>
        </p:txBody>
      </p:sp>
      <p:sp>
        <p:nvSpPr>
          <p:cNvPr id="891" name="Google Shape;891;p83"/>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83"/>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32</a:t>
            </a:r>
            <a:endParaRPr b="0" i="0" sz="3600" u="none" cap="none" strike="noStrike">
              <a:solidFill>
                <a:schemeClr val="dk1"/>
              </a:solidFill>
              <a:latin typeface="Arial"/>
              <a:ea typeface="Arial"/>
              <a:cs typeface="Arial"/>
              <a:sym typeface="Arial"/>
            </a:endParaRPr>
          </a:p>
        </p:txBody>
      </p:sp>
      <p:sp>
        <p:nvSpPr>
          <p:cNvPr id="893" name="Google Shape;893;p83"/>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of them reviewers</a:t>
            </a:r>
            <a:endParaRPr b="0" i="0" sz="1800" u="none" cap="none" strike="noStrike">
              <a:solidFill>
                <a:schemeClr val="dk1"/>
              </a:solidFill>
              <a:latin typeface="Arial"/>
              <a:ea typeface="Arial"/>
              <a:cs typeface="Arial"/>
              <a:sym typeface="Arial"/>
            </a:endParaRPr>
          </a:p>
        </p:txBody>
      </p:sp>
      <p:sp>
        <p:nvSpPr>
          <p:cNvPr id="894" name="Google Shape;894;p83"/>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All technical papers at ICSE, FSE, ASE, EMSE 2014–2018; links found by regex, checked by hand</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Links checked once, January–February 2019</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744 authors of 2018 papers emailed; 153 answered (22 %)</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Descriptive and axial coding; shows the range of themes, not their prevalence (p. 9)</a:t>
            </a:r>
            <a:endParaRPr b="0" i="0" sz="2000" u="none" cap="none" strike="noStrike">
              <a:solidFill>
                <a:schemeClr val="dk1"/>
              </a:solidFill>
              <a:latin typeface="Arial"/>
              <a:ea typeface="Arial"/>
              <a:cs typeface="Arial"/>
              <a:sym typeface="Arial"/>
            </a:endParaRPr>
          </a:p>
        </p:txBody>
      </p:sp>
      <p:sp>
        <p:nvSpPr>
          <p:cNvPr id="895" name="Google Shape;895;p8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0" name="Shape 900"/>
        <p:cNvGrpSpPr/>
        <p:nvPr/>
      </p:nvGrpSpPr>
      <p:grpSpPr>
        <a:xfrm>
          <a:off x="0" y="0"/>
          <a:ext cx="0" cy="0"/>
          <a:chOff x="0" y="0"/>
          <a:chExt cx="0" cy="0"/>
        </a:xfrm>
      </p:grpSpPr>
      <p:sp>
        <p:nvSpPr>
          <p:cNvPr id="901" name="Google Shape;901;p8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902" name="Google Shape;902;p8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62.7 % of papers link an artifact, rising from 51 % to 69 %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About 14 % of links dead; 26 % for 2014 papers (Fig. 3, p. 20)</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FSE: 74 of 196 artifact papers submitted to AE, 64 accepted (Fig. 4)</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Top user problems: no usage instructions (103), artifact gone (81)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C1 "not worth it" and C10 "no reviewer incentives" drive the rest</a:t>
            </a:r>
            <a:endParaRPr b="0" i="0" sz="2200" u="none" cap="none" strike="noStrike">
              <a:solidFill>
                <a:schemeClr val="dk1"/>
              </a:solidFill>
              <a:latin typeface="Arial"/>
              <a:ea typeface="Arial"/>
              <a:cs typeface="Arial"/>
              <a:sym typeface="Arial"/>
            </a:endParaRPr>
          </a:p>
        </p:txBody>
      </p:sp>
      <p:sp>
        <p:nvSpPr>
          <p:cNvPr id="903" name="Google Shape;903;p8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8" name="Shape 908"/>
        <p:cNvGrpSpPr/>
        <p:nvPr/>
      </p:nvGrpSpPr>
      <p:grpSpPr>
        <a:xfrm>
          <a:off x="0" y="0"/>
          <a:ext cx="0" cy="0"/>
          <a:chOff x="0" y="0"/>
          <a:chExt cx="0" cy="0"/>
        </a:xfrm>
      </p:grpSpPr>
      <p:sp>
        <p:nvSpPr>
          <p:cNvPr id="909" name="Google Shape;909;p8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910" name="Google Shape;910;p8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Creators: describe the artifact, make it self-contained, plan from day one (R1–R3)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and organisers: rubrics, aligned expectations, cheaper reviewing (R4–R6)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Community leaders: count artifacts in hiring, promotion and grants (R7–R8)</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Threats: links ≠ usable artifacts; authors not contacted; 2018 authors only (pp. 10–11)</a:t>
            </a:r>
            <a:endParaRPr b="0" i="0" sz="2200" u="none" cap="none" strike="noStrike">
              <a:solidFill>
                <a:schemeClr val="dk1"/>
              </a:solidFill>
              <a:latin typeface="Arial"/>
              <a:ea typeface="Arial"/>
              <a:cs typeface="Arial"/>
              <a:sym typeface="Arial"/>
            </a:endParaRPr>
          </a:p>
        </p:txBody>
      </p:sp>
      <p:sp>
        <p:nvSpPr>
          <p:cNvPr id="911" name="Google Shape;911;p8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6" name="Shape 916"/>
        <p:cNvGrpSpPr/>
        <p:nvPr/>
      </p:nvGrpSpPr>
      <p:grpSpPr>
        <a:xfrm>
          <a:off x="0" y="0"/>
          <a:ext cx="0" cy="0"/>
          <a:chOff x="0" y="0"/>
          <a:chExt cx="0" cy="0"/>
        </a:xfrm>
      </p:grpSpPr>
      <p:sp>
        <p:nvSpPr>
          <p:cNvPr id="917" name="Google Shape;917;p8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918" name="Google Shape;918;p86"/>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 failed artifact evaluation be able to reject a paper?</a:t>
            </a:r>
            <a:endParaRPr b="0" i="0" sz="2600" u="none" cap="none" strike="noStrike">
              <a:solidFill>
                <a:schemeClr val="dk1"/>
              </a:solidFill>
              <a:latin typeface="Arial"/>
              <a:ea typeface="Arial"/>
              <a:cs typeface="Arial"/>
              <a:sym typeface="Arial"/>
            </a:endParaRPr>
          </a:p>
        </p:txBody>
      </p:sp>
      <p:sp>
        <p:nvSpPr>
          <p:cNvPr id="919" name="Google Shape;919;p86"/>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86"/>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Timperley et al. say artifacts should be part of paper review (p. 28). "The evaluations do not determine if the paper is accepted, so I didn't pay much attention" (Hermann, id 79, p. 478).</a:t>
            </a:r>
            <a:endParaRPr b="0" i="0" sz="1800" u="none" cap="none" strike="noStrike">
              <a:solidFill>
                <a:schemeClr val="dk1"/>
              </a:solidFill>
              <a:latin typeface="Arial"/>
              <a:ea typeface="Arial"/>
              <a:cs typeface="Arial"/>
              <a:sym typeface="Arial"/>
            </a:endParaRPr>
          </a:p>
        </p:txBody>
      </p:sp>
      <p:sp>
        <p:nvSpPr>
          <p:cNvPr id="921" name="Google Shape;921;p86"/>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86"/>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Yes</a:t>
            </a:r>
            <a:endParaRPr b="0" i="0" sz="2200" u="none" cap="none" strike="noStrike">
              <a:solidFill>
                <a:schemeClr val="dk1"/>
              </a:solidFill>
              <a:latin typeface="Arial"/>
              <a:ea typeface="Arial"/>
              <a:cs typeface="Arial"/>
              <a:sym typeface="Arial"/>
            </a:endParaRPr>
          </a:p>
        </p:txBody>
      </p:sp>
      <p:sp>
        <p:nvSpPr>
          <p:cNvPr id="923" name="Google Shape;923;p86"/>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AE is optional decoration.</a:t>
            </a:r>
            <a:endParaRPr b="0" i="0" sz="2000" u="none" cap="none" strike="noStrike">
              <a:solidFill>
                <a:schemeClr val="dk1"/>
              </a:solidFill>
              <a:latin typeface="Arial"/>
              <a:ea typeface="Arial"/>
              <a:cs typeface="Arial"/>
              <a:sym typeface="Arial"/>
            </a:endParaRPr>
          </a:p>
        </p:txBody>
      </p:sp>
      <p:sp>
        <p:nvSpPr>
          <p:cNvPr id="924" name="Google Shape;924;p86"/>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86"/>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No</a:t>
            </a:r>
            <a:endParaRPr b="0" i="0" sz="2200" u="none" cap="none" strike="noStrike">
              <a:solidFill>
                <a:schemeClr val="dk1"/>
              </a:solidFill>
              <a:latin typeface="Arial"/>
              <a:ea typeface="Arial"/>
              <a:cs typeface="Arial"/>
              <a:sym typeface="Arial"/>
            </a:endParaRPr>
          </a:p>
        </p:txBody>
      </p:sp>
      <p:sp>
        <p:nvSpPr>
          <p:cNvPr id="926" name="Google Shape;926;p86"/>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Clashes with double-blind review (C8) and penalises industry papers (C9).</a:t>
            </a:r>
            <a:endParaRPr b="0" i="0" sz="2000" u="none" cap="none" strike="noStrike">
              <a:solidFill>
                <a:schemeClr val="dk1"/>
              </a:solidFill>
              <a:latin typeface="Arial"/>
              <a:ea typeface="Arial"/>
              <a:cs typeface="Arial"/>
              <a:sym typeface="Arial"/>
            </a:endParaRPr>
          </a:p>
        </p:txBody>
      </p:sp>
      <p:sp>
        <p:nvSpPr>
          <p:cNvPr id="927" name="Google Shape;927;p8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2" name="Shape 932"/>
        <p:cNvGrpSpPr/>
        <p:nvPr/>
      </p:nvGrpSpPr>
      <p:grpSpPr>
        <a:xfrm>
          <a:off x="0" y="0"/>
          <a:ext cx="0" cy="0"/>
          <a:chOff x="0" y="0"/>
          <a:chExt cx="0" cy="0"/>
        </a:xfrm>
      </p:grpSpPr>
      <p:sp>
        <p:nvSpPr>
          <p:cNvPr id="933" name="Google Shape;933;p8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934" name="Google Shape;934;p87"/>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keeps an artifact alive after the PhD?</a:t>
            </a:r>
            <a:endParaRPr b="0" i="0" sz="2600" u="none" cap="none" strike="noStrike">
              <a:solidFill>
                <a:schemeClr val="dk1"/>
              </a:solidFill>
              <a:latin typeface="Arial"/>
              <a:ea typeface="Arial"/>
              <a:cs typeface="Arial"/>
              <a:sym typeface="Arial"/>
            </a:endParaRPr>
          </a:p>
        </p:txBody>
      </p:sp>
      <p:sp>
        <p:nvSpPr>
          <p:cNvPr id="935" name="Google Shape;935;p87"/>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87"/>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C3 maintenance (p. 16). R3 asks advisors for transition plans and a Zenodo snapshot (p. 32).</a:t>
            </a:r>
            <a:endParaRPr b="0" i="0" sz="1800" u="none" cap="none" strike="noStrike">
              <a:solidFill>
                <a:schemeClr val="dk1"/>
              </a:solidFill>
              <a:latin typeface="Arial"/>
              <a:ea typeface="Arial"/>
              <a:cs typeface="Arial"/>
              <a:sym typeface="Arial"/>
            </a:endParaRPr>
          </a:p>
        </p:txBody>
      </p:sp>
      <p:sp>
        <p:nvSpPr>
          <p:cNvPr id="937" name="Google Shape;937;p87"/>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87"/>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Snapshot is enough</a:t>
            </a:r>
            <a:endParaRPr b="0" i="0" sz="2200" u="none" cap="none" strike="noStrike">
              <a:solidFill>
                <a:schemeClr val="dk1"/>
              </a:solidFill>
              <a:latin typeface="Arial"/>
              <a:ea typeface="Arial"/>
              <a:cs typeface="Arial"/>
              <a:sym typeface="Arial"/>
            </a:endParaRPr>
          </a:p>
        </p:txBody>
      </p:sp>
      <p:sp>
        <p:nvSpPr>
          <p:cNvPr id="939" name="Google Shape;939;p87"/>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Archive it, mark it unmaintained, move on.</a:t>
            </a:r>
            <a:endParaRPr b="0" i="0" sz="2000" u="none" cap="none" strike="noStrike">
              <a:solidFill>
                <a:schemeClr val="dk1"/>
              </a:solidFill>
              <a:latin typeface="Arial"/>
              <a:ea typeface="Arial"/>
              <a:cs typeface="Arial"/>
              <a:sym typeface="Arial"/>
            </a:endParaRPr>
          </a:p>
        </p:txBody>
      </p:sp>
      <p:sp>
        <p:nvSpPr>
          <p:cNvPr id="940" name="Google Shape;940;p87"/>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87"/>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Ongoing upkeep</a:t>
            </a:r>
            <a:endParaRPr b="0" i="0" sz="2200" u="none" cap="none" strike="noStrike">
              <a:solidFill>
                <a:schemeClr val="dk1"/>
              </a:solidFill>
              <a:latin typeface="Arial"/>
              <a:ea typeface="Arial"/>
              <a:cs typeface="Arial"/>
              <a:sym typeface="Arial"/>
            </a:endParaRPr>
          </a:p>
        </p:txBody>
      </p:sp>
      <p:sp>
        <p:nvSpPr>
          <p:cNvPr id="942" name="Google Shape;942;p87"/>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Research software is infrastructure and needs funding (P102, p. 19).</a:t>
            </a:r>
            <a:endParaRPr b="0" i="0" sz="2000" u="none" cap="none" strike="noStrike">
              <a:solidFill>
                <a:schemeClr val="dk1"/>
              </a:solidFill>
              <a:latin typeface="Arial"/>
              <a:ea typeface="Arial"/>
              <a:cs typeface="Arial"/>
              <a:sym typeface="Arial"/>
            </a:endParaRPr>
          </a:p>
        </p:txBody>
      </p:sp>
      <p:sp>
        <p:nvSpPr>
          <p:cNvPr id="943" name="Google Shape;943;p8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8" name="Shape 948"/>
        <p:cNvGrpSpPr/>
        <p:nvPr/>
      </p:nvGrpSpPr>
      <p:grpSpPr>
        <a:xfrm>
          <a:off x="0" y="0"/>
          <a:ext cx="0" cy="0"/>
          <a:chOff x="0" y="0"/>
          <a:chExt cx="0" cy="0"/>
        </a:xfrm>
      </p:grpSpPr>
      <p:sp>
        <p:nvSpPr>
          <p:cNvPr id="949" name="Google Shape;949;p8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950" name="Google Shape;950;p88"/>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Students as artifact reviewers: training opportunity or devaluation?</a:t>
            </a:r>
            <a:endParaRPr b="0" i="0" sz="2600" u="none" cap="none" strike="noStrike">
              <a:solidFill>
                <a:schemeClr val="dk1"/>
              </a:solidFill>
              <a:latin typeface="Arial"/>
              <a:ea typeface="Arial"/>
              <a:cs typeface="Arial"/>
              <a:sym typeface="Arial"/>
            </a:endParaRPr>
          </a:p>
        </p:txBody>
      </p:sp>
      <p:sp>
        <p:nvSpPr>
          <p:cNvPr id="951" name="Google Shape;951;p88"/>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88"/>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"We usually just make students do AEC … it reinforces the idea that artifacts are not a primary thing" (P64, p. 23).</a:t>
            </a:r>
            <a:endParaRPr b="0" i="0" sz="1800" u="none" cap="none" strike="noStrike">
              <a:solidFill>
                <a:schemeClr val="dk1"/>
              </a:solidFill>
              <a:latin typeface="Arial"/>
              <a:ea typeface="Arial"/>
              <a:cs typeface="Arial"/>
              <a:sym typeface="Arial"/>
            </a:endParaRPr>
          </a:p>
        </p:txBody>
      </p:sp>
      <p:sp>
        <p:nvSpPr>
          <p:cNvPr id="953" name="Google Shape;953;p88"/>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88"/>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Training</a:t>
            </a:r>
            <a:endParaRPr b="0" i="0" sz="2200" u="none" cap="none" strike="noStrike">
              <a:solidFill>
                <a:schemeClr val="dk1"/>
              </a:solidFill>
              <a:latin typeface="Arial"/>
              <a:ea typeface="Arial"/>
              <a:cs typeface="Arial"/>
              <a:sym typeface="Arial"/>
            </a:endParaRPr>
          </a:p>
        </p:txBody>
      </p:sp>
      <p:sp>
        <p:nvSpPr>
          <p:cNvPr id="955" name="Google Shape;955;p88"/>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Students learn what good artifacts look like.</a:t>
            </a:r>
            <a:endParaRPr b="0" i="0" sz="2000" u="none" cap="none" strike="noStrike">
              <a:solidFill>
                <a:schemeClr val="dk1"/>
              </a:solidFill>
              <a:latin typeface="Arial"/>
              <a:ea typeface="Arial"/>
              <a:cs typeface="Arial"/>
              <a:sym typeface="Arial"/>
            </a:endParaRPr>
          </a:p>
        </p:txBody>
      </p:sp>
      <p:sp>
        <p:nvSpPr>
          <p:cNvPr id="956" name="Google Shape;956;p88"/>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88"/>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Devaluation</a:t>
            </a:r>
            <a:endParaRPr b="0" i="0" sz="2200" u="none" cap="none" strike="noStrike">
              <a:solidFill>
                <a:schemeClr val="dk1"/>
              </a:solidFill>
              <a:latin typeface="Arial"/>
              <a:ea typeface="Arial"/>
              <a:cs typeface="Arial"/>
              <a:sym typeface="Arial"/>
            </a:endParaRPr>
          </a:p>
        </p:txBody>
      </p:sp>
      <p:sp>
        <p:nvSpPr>
          <p:cNvPr id="958" name="Google Shape;958;p88"/>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Signals that artifact work is second-class.</a:t>
            </a:r>
            <a:endParaRPr b="0" i="0" sz="2000" u="none" cap="none" strike="noStrike">
              <a:solidFill>
                <a:schemeClr val="dk1"/>
              </a:solidFill>
              <a:latin typeface="Arial"/>
              <a:ea typeface="Arial"/>
              <a:cs typeface="Arial"/>
              <a:sym typeface="Arial"/>
            </a:endParaRPr>
          </a:p>
        </p:txBody>
      </p:sp>
      <p:sp>
        <p:nvSpPr>
          <p:cNvPr id="959" name="Google Shape;959;p8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4" name="Shape 964"/>
        <p:cNvGrpSpPr/>
        <p:nvPr/>
      </p:nvGrpSpPr>
      <p:grpSpPr>
        <a:xfrm>
          <a:off x="0" y="0"/>
          <a:ext cx="0" cy="0"/>
          <a:chOff x="0" y="0"/>
          <a:chExt cx="0" cy="0"/>
        </a:xfrm>
      </p:grpSpPr>
      <p:sp>
        <p:nvSpPr>
          <p:cNvPr id="965" name="Google Shape;965;p8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966" name="Google Shape;966;p8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1" name="Shape 971"/>
        <p:cNvGrpSpPr/>
        <p:nvPr/>
      </p:nvGrpSpPr>
      <p:grpSpPr>
        <a:xfrm>
          <a:off x="0" y="0"/>
          <a:ext cx="0" cy="0"/>
          <a:chOff x="0" y="0"/>
          <a:chExt cx="0" cy="0"/>
        </a:xfrm>
      </p:grpSpPr>
      <p:sp>
        <p:nvSpPr>
          <p:cNvPr id="972" name="Google Shape;972;p9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graphicFrame>
        <p:nvGraphicFramePr>
          <p:cNvPr id="973" name="Google Shape;973;p90"/>
          <p:cNvGraphicFramePr/>
          <p:nvPr/>
        </p:nvGraphicFramePr>
        <p:xfrm>
          <a:off x="640080" y="1554480"/>
          <a:ext cx="3000000" cy="3000000"/>
        </p:xfrm>
        <a:graphic>
          <a:graphicData uri="http://schemas.openxmlformats.org/drawingml/2006/table">
            <a:tbl>
              <a:tblPr>
                <a:noFill/>
                <a:tableStyleId>{FAA253EF-18A9-426E-A8DC-01BEB4598855}</a:tableStyleId>
              </a:tblPr>
              <a:tblGrid>
                <a:gridCol w="3637175"/>
                <a:gridCol w="3637175"/>
                <a:gridCol w="3637175"/>
              </a:tblGrid>
              <a:tr h="640075">
                <a:tc>
                  <a:txBody>
                    <a:bodyPr/>
                    <a:lstStyle/>
                    <a:p>
                      <a:pPr indent="0" lvl="0" marL="0" marR="0" rtl="0" algn="l">
                        <a:spcBef>
                          <a:spcPts val="0"/>
                        </a:spcBef>
                        <a:spcAft>
                          <a:spcPts val="0"/>
                        </a:spcAft>
                        <a:buClr>
                          <a:schemeClr val="dk1"/>
                        </a:buClr>
                        <a:buSzPts val="2000"/>
                        <a:buFont typeface="Arial"/>
                        <a:buNone/>
                      </a:pPr>
                      <a:r>
                        <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Hermann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Timperley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Asked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Reviewers (AEC members)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Authors (few reviewers)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Field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and programming languages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only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Diagnosis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Unclear purpose and standards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Misaligned incentives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Proposal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Standards per community in the calls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R1–R8 for each group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bl>
          </a:graphicData>
        </a:graphic>
      </p:graphicFrame>
      <p:sp>
        <p:nvSpPr>
          <p:cNvPr id="974" name="Google Shape;974;p90"/>
          <p:cNvSpPr txBox="1"/>
          <p:nvPr/>
        </p:nvSpPr>
        <p:spPr>
          <a:xfrm>
            <a:off x="640080" y="507492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Timperley et al. build three recommendations on Hermann et al.</a:t>
            </a:r>
            <a:endParaRPr b="0" i="0" sz="1800" u="none" cap="none" strike="noStrike">
              <a:solidFill>
                <a:schemeClr val="dk1"/>
              </a:solidFill>
              <a:latin typeface="Arial"/>
              <a:ea typeface="Arial"/>
              <a:cs typeface="Arial"/>
              <a:sym typeface="Arial"/>
            </a:endParaRPr>
          </a:p>
        </p:txBody>
      </p:sp>
      <p:sp>
        <p:nvSpPr>
          <p:cNvPr id="975" name="Google Shape;975;p9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0" name="Shape 980"/>
        <p:cNvGrpSpPr/>
        <p:nvPr/>
      </p:nvGrpSpPr>
      <p:grpSpPr>
        <a:xfrm>
          <a:off x="0" y="0"/>
          <a:ext cx="0" cy="0"/>
          <a:chOff x="0" y="0"/>
          <a:chExt cx="0" cy="0"/>
        </a:xfrm>
      </p:grpSpPr>
      <p:sp>
        <p:nvSpPr>
          <p:cNvPr id="981" name="Google Shape;981;p9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982" name="Google Shape;982;p91"/>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No agreed quality threshold (Hermann p. 478; Timperley C6, p. 16)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are inexperienced and under-rewarded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Both lean towards coupling AE to paper acceptance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Neither opens an artifact or tests whether badges mean better artifacts</a:t>
            </a:r>
            <a:endParaRPr b="0" i="0" sz="2200" u="none" cap="none" strike="noStrike">
              <a:solidFill>
                <a:schemeClr val="dk1"/>
              </a:solidFill>
              <a:latin typeface="Arial"/>
              <a:ea typeface="Arial"/>
              <a:cs typeface="Arial"/>
              <a:sym typeface="Arial"/>
            </a:endParaRPr>
          </a:p>
        </p:txBody>
      </p:sp>
      <p:sp>
        <p:nvSpPr>
          <p:cNvPr id="983" name="Google Shape;983;p9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8" name="Shape 988"/>
        <p:cNvGrpSpPr/>
        <p:nvPr/>
      </p:nvGrpSpPr>
      <p:grpSpPr>
        <a:xfrm>
          <a:off x="0" y="0"/>
          <a:ext cx="0" cy="0"/>
          <a:chOff x="0" y="0"/>
          <a:chExt cx="0" cy="0"/>
        </a:xfrm>
      </p:grpSpPr>
      <p:sp>
        <p:nvSpPr>
          <p:cNvPr id="989" name="Google Shape;989;p9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990" name="Google Shape;990;p92"/>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Fix the definitions first, or the incentives?</a:t>
            </a:r>
            <a:endParaRPr b="0" i="0" sz="2600" u="none" cap="none" strike="noStrike">
              <a:solidFill>
                <a:schemeClr val="dk1"/>
              </a:solidFill>
              <a:latin typeface="Arial"/>
              <a:ea typeface="Arial"/>
              <a:cs typeface="Arial"/>
              <a:sym typeface="Arial"/>
            </a:endParaRPr>
          </a:p>
        </p:txBody>
      </p:sp>
      <p:sp>
        <p:nvSpPr>
          <p:cNvPr id="991" name="Google Shape;991;p92"/>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92"/>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Hermann: purpose, criteria and terms (p. 479). Timperley: "not worth it" (C1) and rewards in hiring and grants (R7, p. 34).</a:t>
            </a:r>
            <a:endParaRPr b="0" i="0" sz="1800" u="none" cap="none" strike="noStrike">
              <a:solidFill>
                <a:schemeClr val="dk1"/>
              </a:solidFill>
              <a:latin typeface="Arial"/>
              <a:ea typeface="Arial"/>
              <a:cs typeface="Arial"/>
              <a:sym typeface="Arial"/>
            </a:endParaRPr>
          </a:p>
        </p:txBody>
      </p:sp>
      <p:sp>
        <p:nvSpPr>
          <p:cNvPr id="993" name="Google Shape;993;p92"/>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92"/>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Standards first</a:t>
            </a:r>
            <a:endParaRPr b="0" i="0" sz="2200" u="none" cap="none" strike="noStrike">
              <a:solidFill>
                <a:schemeClr val="dk1"/>
              </a:solidFill>
              <a:latin typeface="Arial"/>
              <a:ea typeface="Arial"/>
              <a:cs typeface="Arial"/>
              <a:sym typeface="Arial"/>
            </a:endParaRPr>
          </a:p>
        </p:txBody>
      </p:sp>
      <p:sp>
        <p:nvSpPr>
          <p:cNvPr id="995" name="Google Shape;995;p92"/>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You cannot reward what you cannot measure.</a:t>
            </a:r>
            <a:endParaRPr b="0" i="0" sz="2000" u="none" cap="none" strike="noStrike">
              <a:solidFill>
                <a:schemeClr val="dk1"/>
              </a:solidFill>
              <a:latin typeface="Arial"/>
              <a:ea typeface="Arial"/>
              <a:cs typeface="Arial"/>
              <a:sym typeface="Arial"/>
            </a:endParaRPr>
          </a:p>
        </p:txBody>
      </p:sp>
      <p:sp>
        <p:nvSpPr>
          <p:cNvPr id="996" name="Google Shape;996;p92"/>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92"/>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Incentives first</a:t>
            </a:r>
            <a:endParaRPr b="0" i="0" sz="2200" u="none" cap="none" strike="noStrike">
              <a:solidFill>
                <a:schemeClr val="dk1"/>
              </a:solidFill>
              <a:latin typeface="Arial"/>
              <a:ea typeface="Arial"/>
              <a:cs typeface="Arial"/>
              <a:sym typeface="Arial"/>
            </a:endParaRPr>
          </a:p>
        </p:txBody>
      </p:sp>
      <p:sp>
        <p:nvSpPr>
          <p:cNvPr id="998" name="Google Shape;998;p92"/>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Perfect criteria change nothing if nobody submits.</a:t>
            </a:r>
            <a:endParaRPr b="0" i="0" sz="2000" u="none" cap="none" strike="noStrike">
              <a:solidFill>
                <a:schemeClr val="dk1"/>
              </a:solidFill>
              <a:latin typeface="Arial"/>
              <a:ea typeface="Arial"/>
              <a:cs typeface="Arial"/>
              <a:sym typeface="Arial"/>
            </a:endParaRPr>
          </a:p>
        </p:txBody>
      </p:sp>
      <p:sp>
        <p:nvSpPr>
          <p:cNvPr id="999" name="Google Shape;999;p9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4" name="Shape 1004"/>
        <p:cNvGrpSpPr/>
        <p:nvPr/>
      </p:nvGrpSpPr>
      <p:grpSpPr>
        <a:xfrm>
          <a:off x="0" y="0"/>
          <a:ext cx="0" cy="0"/>
          <a:chOff x="0" y="0"/>
          <a:chExt cx="0" cy="0"/>
        </a:xfrm>
      </p:grpSpPr>
      <p:sp>
        <p:nvSpPr>
          <p:cNvPr id="1005" name="Google Shape;1005;p9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1006" name="Google Shape;1006;p93"/>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Run the authors' scripts, or try to break them?</a:t>
            </a:r>
            <a:endParaRPr b="0" i="0" sz="2600" u="none" cap="none" strike="noStrike">
              <a:solidFill>
                <a:schemeClr val="dk1"/>
              </a:solidFill>
              <a:latin typeface="Arial"/>
              <a:ea typeface="Arial"/>
              <a:cs typeface="Arial"/>
              <a:sym typeface="Arial"/>
            </a:endParaRPr>
          </a:p>
        </p:txBody>
      </p:sp>
      <p:sp>
        <p:nvSpPr>
          <p:cNvPr id="1007" name="Google Shape;1007;p93"/>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93"/>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"AECs, by asking for replicable scripts, are likely to replicate the same mistake" (Timperley P25, p. 22). Hermann: hard-coded outputs found only by reading code (p. 477).</a:t>
            </a:r>
            <a:endParaRPr b="0" i="0" sz="1800" u="none" cap="none" strike="noStrike">
              <a:solidFill>
                <a:schemeClr val="dk1"/>
              </a:solidFill>
              <a:latin typeface="Arial"/>
              <a:ea typeface="Arial"/>
              <a:cs typeface="Arial"/>
              <a:sym typeface="Arial"/>
            </a:endParaRPr>
          </a:p>
        </p:txBody>
      </p:sp>
      <p:sp>
        <p:nvSpPr>
          <p:cNvPr id="1009" name="Google Shape;1009;p93"/>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93"/>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Run scripts</a:t>
            </a:r>
            <a:endParaRPr b="0" i="0" sz="2200" u="none" cap="none" strike="noStrike">
              <a:solidFill>
                <a:schemeClr val="dk1"/>
              </a:solidFill>
              <a:latin typeface="Arial"/>
              <a:ea typeface="Arial"/>
              <a:cs typeface="Arial"/>
              <a:sym typeface="Arial"/>
            </a:endParaRPr>
          </a:p>
        </p:txBody>
      </p:sp>
      <p:sp>
        <p:nvSpPr>
          <p:cNvPr id="1011" name="Google Shape;1011;p93"/>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Cheap, scalable: exactly 2020 reproducibility.</a:t>
            </a:r>
            <a:endParaRPr b="0" i="0" sz="2000" u="none" cap="none" strike="noStrike">
              <a:solidFill>
                <a:schemeClr val="dk1"/>
              </a:solidFill>
              <a:latin typeface="Arial"/>
              <a:ea typeface="Arial"/>
              <a:cs typeface="Arial"/>
              <a:sym typeface="Arial"/>
            </a:endParaRPr>
          </a:p>
        </p:txBody>
      </p:sp>
      <p:sp>
        <p:nvSpPr>
          <p:cNvPr id="1012" name="Google Shape;1012;p93"/>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93"/>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Probe</a:t>
            </a:r>
            <a:endParaRPr b="0" i="0" sz="2200" u="none" cap="none" strike="noStrike">
              <a:solidFill>
                <a:schemeClr val="dk1"/>
              </a:solidFill>
              <a:latin typeface="Arial"/>
              <a:ea typeface="Arial"/>
              <a:cs typeface="Arial"/>
              <a:sym typeface="Arial"/>
            </a:endParaRPr>
          </a:p>
        </p:txBody>
      </p:sp>
      <p:sp>
        <p:nvSpPr>
          <p:cNvPr id="1014" name="Google Shape;1014;p93"/>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 badge certifies a repeatable bug.</a:t>
            </a:r>
            <a:endParaRPr b="0" i="0" sz="2000" u="none" cap="none" strike="noStrike">
              <a:solidFill>
                <a:schemeClr val="dk1"/>
              </a:solidFill>
              <a:latin typeface="Arial"/>
              <a:ea typeface="Arial"/>
              <a:cs typeface="Arial"/>
              <a:sym typeface="Arial"/>
            </a:endParaRPr>
          </a:p>
        </p:txBody>
      </p:sp>
      <p:sp>
        <p:nvSpPr>
          <p:cNvPr id="1015" name="Google Shape;1015;p9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0" name="Shape 1020"/>
        <p:cNvGrpSpPr/>
        <p:nvPr/>
      </p:nvGrpSpPr>
      <p:grpSpPr>
        <a:xfrm>
          <a:off x="0" y="0"/>
          <a:ext cx="0" cy="0"/>
          <a:chOff x="0" y="0"/>
          <a:chExt cx="0" cy="0"/>
        </a:xfrm>
      </p:grpSpPr>
      <p:sp>
        <p:nvSpPr>
          <p:cNvPr id="1021" name="Google Shape;1021;p94"/>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1022" name="Google Shape;1022;p94"/>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7" name="Shape 1027"/>
        <p:cNvGrpSpPr/>
        <p:nvPr/>
      </p:nvGrpSpPr>
      <p:grpSpPr>
        <a:xfrm>
          <a:off x="0" y="0"/>
          <a:ext cx="0" cy="0"/>
          <a:chOff x="0" y="0"/>
          <a:chExt cx="0" cy="0"/>
        </a:xfrm>
      </p:grpSpPr>
      <p:sp>
        <p:nvSpPr>
          <p:cNvPr id="1028" name="Google Shape;1028;p9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1</a:t>
            </a:r>
            <a:endParaRPr b="0" i="0" sz="4000" u="none" cap="none" strike="noStrike">
              <a:solidFill>
                <a:schemeClr val="dk1"/>
              </a:solidFill>
              <a:latin typeface="Arial"/>
              <a:ea typeface="Arial"/>
              <a:cs typeface="Arial"/>
              <a:sym typeface="Arial"/>
            </a:endParaRPr>
          </a:p>
        </p:txBody>
      </p:sp>
      <p:sp>
        <p:nvSpPr>
          <p:cNvPr id="1029" name="Google Shape;1029;p9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authors who never submit are missing</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125 PL vs 36 SE respondents; SE counts often single digits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257 started, 124 finished; each question has a different sample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Card-sort counts look precise but depend on one labeller</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PL/SE totals differ between sections (p. 472 vs p. 474)</a:t>
            </a:r>
            <a:endParaRPr b="0" i="0" sz="2200" u="none" cap="none" strike="noStrike">
              <a:solidFill>
                <a:schemeClr val="dk1"/>
              </a:solidFill>
              <a:latin typeface="Arial"/>
              <a:ea typeface="Arial"/>
              <a:cs typeface="Arial"/>
              <a:sym typeface="Arial"/>
            </a:endParaRPr>
          </a:p>
        </p:txBody>
      </p:sp>
      <p:sp>
        <p:nvSpPr>
          <p:cNvPr id="1030" name="Google Shape;1030;p9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5" name="Shape 1035"/>
        <p:cNvGrpSpPr/>
        <p:nvPr/>
      </p:nvGrpSpPr>
      <p:grpSpPr>
        <a:xfrm>
          <a:off x="0" y="0"/>
          <a:ext cx="0" cy="0"/>
          <a:chOff x="0" y="0"/>
          <a:chExt cx="0" cy="0"/>
        </a:xfrm>
      </p:grpSpPr>
      <p:sp>
        <p:nvSpPr>
          <p:cNvPr id="1036" name="Google Shape;1036;p9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2</a:t>
            </a:r>
            <a:endParaRPr b="0" i="0" sz="4000" u="none" cap="none" strike="noStrike">
              <a:solidFill>
                <a:schemeClr val="dk1"/>
              </a:solidFill>
              <a:latin typeface="Arial"/>
              <a:ea typeface="Arial"/>
              <a:cs typeface="Arial"/>
              <a:sym typeface="Arial"/>
            </a:endParaRPr>
          </a:p>
        </p:txBody>
      </p:sp>
      <p:sp>
        <p:nvSpPr>
          <p:cNvPr id="1037" name="Google Shape;1037;p9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link counts as an artifact; a live link counts as available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"value" rests on link counts and quotes from willing respondents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Fig. 4: 26.33 % is 74 of all 281 papers; of 196 artifact papers it is 38 %</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Small inconsistencies: 81 vs 82, 60 vs 62; Table 6 cites an undefined C13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recommendations still ask creators and reviewers for more work</a:t>
            </a:r>
            <a:endParaRPr b="0" i="0" sz="2200" u="none" cap="none" strike="noStrike">
              <a:solidFill>
                <a:schemeClr val="dk1"/>
              </a:solidFill>
              <a:latin typeface="Arial"/>
              <a:ea typeface="Arial"/>
              <a:cs typeface="Arial"/>
              <a:sym typeface="Arial"/>
            </a:endParaRPr>
          </a:p>
        </p:txBody>
      </p:sp>
      <p:sp>
        <p:nvSpPr>
          <p:cNvPr id="1038" name="Google Shape;1038;p9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3" name="Shape 1043"/>
        <p:cNvGrpSpPr/>
        <p:nvPr/>
      </p:nvGrpSpPr>
      <p:grpSpPr>
        <a:xfrm>
          <a:off x="0" y="0"/>
          <a:ext cx="0" cy="0"/>
          <a:chOff x="0" y="0"/>
          <a:chExt cx="0" cy="0"/>
        </a:xfrm>
      </p:grpSpPr>
      <p:sp>
        <p:nvSpPr>
          <p:cNvPr id="1044" name="Google Shape;1044;p9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1045" name="Google Shape;1045;p9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1046" name="Google Shape;1046;p9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1" name="Shape 1051"/>
        <p:cNvGrpSpPr/>
        <p:nvPr/>
      </p:nvGrpSpPr>
      <p:grpSpPr>
        <a:xfrm>
          <a:off x="0" y="0"/>
          <a:ext cx="0" cy="0"/>
          <a:chOff x="0" y="0"/>
          <a:chExt cx="0" cy="0"/>
        </a:xfrm>
      </p:grpSpPr>
      <p:sp>
        <p:nvSpPr>
          <p:cNvPr id="1052" name="Google Shape;1052;p98"/>
          <p:cNvSpPr txBox="1"/>
          <p:nvPr/>
        </p:nvSpPr>
        <p:spPr>
          <a:xfrm>
            <a:off x="640080" y="2560320"/>
            <a:ext cx="10911535"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