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6858000" cx="12192000"/>
  <p:notesSz cx="6858000" cy="12192000"/>
  <p:embeddedFontLst>
    <p:embeddedFont>
      <p:font typeface="Playfair Display"/>
      <p:regular r:id="rId72"/>
      <p:bold r:id="rId73"/>
      <p:italic r:id="rId74"/>
      <p:boldItalic r:id="rId75"/>
    </p:embeddedFont>
    <p:embeddedFont>
      <p:font typeface="DM Sans"/>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04C155-1FCA-4176-BA3D-C873695EB98C}">
  <a:tblStyle styleId="{9704C155-1FCA-4176-BA3D-C873695EB98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PlayfairDisplay-bold.fntdata"/><Relationship Id="rId72" Type="http://schemas.openxmlformats.org/officeDocument/2006/relationships/font" Target="fonts/PlayfairDisplay-regular.fntdata"/><Relationship Id="rId31" Type="http://schemas.openxmlformats.org/officeDocument/2006/relationships/slide" Target="slides/slide26.xml"/><Relationship Id="rId75" Type="http://schemas.openxmlformats.org/officeDocument/2006/relationships/font" Target="fonts/PlayfairDisplay-boldItalic.fntdata"/><Relationship Id="rId30" Type="http://schemas.openxmlformats.org/officeDocument/2006/relationships/slide" Target="slides/slide25.xml"/><Relationship Id="rId74" Type="http://schemas.openxmlformats.org/officeDocument/2006/relationships/font" Target="fonts/PlayfairDisplay-italic.fntdata"/><Relationship Id="rId33" Type="http://schemas.openxmlformats.org/officeDocument/2006/relationships/slide" Target="slides/slide28.xml"/><Relationship Id="rId77" Type="http://schemas.openxmlformats.org/officeDocument/2006/relationships/font" Target="fonts/DMSans-bold.fntdata"/><Relationship Id="rId32" Type="http://schemas.openxmlformats.org/officeDocument/2006/relationships/slide" Target="slides/slide27.xml"/><Relationship Id="rId76" Type="http://schemas.openxmlformats.org/officeDocument/2006/relationships/font" Target="fonts/DMSans-regular.fntdata"/><Relationship Id="rId35" Type="http://schemas.openxmlformats.org/officeDocument/2006/relationships/slide" Target="slides/slide30.xml"/><Relationship Id="rId79" Type="http://schemas.openxmlformats.org/officeDocument/2006/relationships/font" Target="fonts/DMSans-boldItalic.fntdata"/><Relationship Id="rId34" Type="http://schemas.openxmlformats.org/officeDocument/2006/relationships/slide" Target="slides/slide29.xml"/><Relationship Id="rId78" Type="http://schemas.openxmlformats.org/officeDocument/2006/relationships/font" Target="fonts/DMSans-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h14a77dcaeeb36948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h14a77dcaeeb36948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18" name="Google Shape;18;h14a77dcaeeb36948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h14a77dcaeeb36948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h14a77dcaeeb36948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h14a77dcaeeb36948_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h14a77dcaeeb36948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h14a77dcaeeb36948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h14a77dcaeeb36948_1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14a77dcaeeb36948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h14a77dcaeeb36948_1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54" name="Google Shape;54;h14a77dcaeeb36948_1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h14a77dcaeeb36948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h14a77dcaeeb36948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when respondents said 'reproducibility', under the 2020 definitions they were right; the paper reads it as replicability (p. 473).</a:t>
            </a:r>
            <a:endParaRPr/>
          </a:p>
        </p:txBody>
      </p:sp>
      <p:sp>
        <p:nvSpPr>
          <p:cNvPr id="63" name="Google Shape;63;h14a77dcaeeb36948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14a77dcaeeb36948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h14a77dcaeeb36948_1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72" name="Google Shape;72;h14a77dcaeeb36948_1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14a77dcaeeb36948_1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h14a77dcaeeb36948_1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 471, §4.1 pp. 472–473. No artifact was opened.</a:t>
            </a:r>
            <a:endParaRPr/>
          </a:p>
        </p:txBody>
      </p:sp>
      <p:sp>
        <p:nvSpPr>
          <p:cNvPr id="80" name="Google Shape;80;h14a77dcaeeb36948_1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14a77dcaeeb36948_1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h14a77dcaeeb36948_1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97" name="Google Shape;97;h14a77dcaeeb36948_1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14a77dcaeeb36948_1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h14a77dcaeeb36948_1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106" name="Google Shape;106;h14a77dcaeeb36948_1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14a77dcaeeb36948_1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h14a77dcaeeb36948_1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114" name="Google Shape;114;h14a77dcaeeb36948_1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14a77dcaeeb36948_1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h14a77dcaeeb36948_1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h14a77dcaeeb36948_1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14a77dcaeeb36948_1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h14a77dcaeeb36948_1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Mixed methods, then a Diffusion of Innovations secondary analysis (pp. 2–3).</a:t>
            </a:r>
            <a:endParaRPr/>
          </a:p>
        </p:txBody>
      </p:sp>
      <p:sp>
        <p:nvSpPr>
          <p:cNvPr id="129" name="Google Shape;129;h14a77dcaeeb36948_1_1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14a77dcaeeb36948_1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h14a77dcaeeb36948_1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Implementation Science: evidence-based, iterative change from medicine (p. 6).</a:t>
            </a:r>
            <a:endParaRPr/>
          </a:p>
        </p:txBody>
      </p:sp>
      <p:sp>
        <p:nvSpPr>
          <p:cNvPr id="137" name="Google Shape;137;h14a77dcaeeb36948_1_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h14a77dcaeeb36948_1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h14a77dcaeeb36948_1_1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 6.</a:t>
            </a:r>
            <a:endParaRPr/>
          </a:p>
        </p:txBody>
      </p:sp>
      <p:sp>
        <p:nvSpPr>
          <p:cNvPr id="145" name="Google Shape;145;h14a77dcaeeb36948_1_1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h14a77dcaeeb36948_1_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h14a77dcaeeb36948_1_1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pp. 6–9. FSE AEC chairs supplied submission numbers.</a:t>
            </a:r>
            <a:endParaRPr/>
          </a:p>
        </p:txBody>
      </p:sp>
      <p:sp>
        <p:nvSpPr>
          <p:cNvPr id="153" name="Google Shape;153;h14a77dcaeeb36948_1_1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14a77dcaeeb36948_1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h14a77dcaeeb36948_1_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challenges, Table 4 pp. 14–15: not worth it, portability, maintenance, tacit knowledge, doesn't fit purpose, no standards, hosting, double-blind review, external constraints, no reviewer incentives, technical obstacles, limited communication.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1" name="Google Shape;161;h14a77dcaeeb36948_1_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14a77dcaeeb36948_1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h14a77dcaeeb36948_1_1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Authors believe artifacts should be reviewed as part of paper review (p. 28).</a:t>
            </a:r>
            <a:endParaRPr/>
          </a:p>
        </p:txBody>
      </p:sp>
      <p:sp>
        <p:nvSpPr>
          <p:cNvPr id="169" name="Google Shape;169;h14a77dcaeeb36948_1_1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h14a77dcaeeb36948_1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h14a77dcaeeb36948_1_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177" name="Google Shape;177;h14a77dcaeeb36948_1_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h456e3c7019817545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h456e3c7019817545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185" name="Google Shape;185;h456e3c7019817545_1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76656c63b9505f1e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h76656c63b9505f1e_2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do these challenges persist? In a second analysis the authors </a:t>
            </a:r>
            <a:r>
              <a:rPr lang="en-US"/>
              <a:t>explore how the challenges connect and why they remain unresolved.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a:t>
            </a:r>
            <a:r>
              <a:rPr lang="en-US"/>
              <a:t>based on Diffusion of Innovation Theory (so how well something spreads), the authors show that artifacts are hard to adopt because they often lack familiar conventions, clear documentation, easy setup, and benefits beyond the paper itself.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Then communication between creators, reviewers, and users is limited, documentation is often missing, and badge standards vary across conferences, leading to misunderstandings and confusion.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Artifacts, as we know, deteriorate over time but consistent maintenance costs too much effort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because artifact creation is not well rewarded and review is less valued, it leads to low-quality artifacts and inconsistent evaluations.</a:t>
            </a:r>
            <a:endParaRPr/>
          </a:p>
        </p:txBody>
      </p:sp>
      <p:sp>
        <p:nvSpPr>
          <p:cNvPr id="193" name="Google Shape;193;h76656c63b9505f1e_2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76656c63b9505f1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h76656c63b9505f1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01" name="Google Shape;201;h76656c63b9505f1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76656c63b9505f1e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h76656c63b9505f1e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Take Recommendation 2: Should researchers be expected to share the entire implementation of their work to get the badges? The article recommends providing proof-of-concept artifacts, so smaller self-contained artifacts with useful documentation, if full systems are too expensive. Do you agree with this? Do you think scientific confidence is hurt by doing this, since you’re only submitting a fraction of your whole code or system?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6: The current standard is double blind review (so the reviewers don’t know who the authors are and authors dk who the reviewers are), which makes artifact sharing harder, as the authors have to scrub the artifact clean as well as find an anonymous place to host it. This also limits communication as some people mentioned that they have a harder time asking authors for help. </a:t>
            </a:r>
            <a:endParaRPr/>
          </a:p>
          <a:p>
            <a:pPr indent="-317500" lvl="1" marL="914400" rtl="0" algn="l">
              <a:spcBef>
                <a:spcPts val="0"/>
              </a:spcBef>
              <a:spcAft>
                <a:spcPts val="0"/>
              </a:spcAft>
              <a:buSzPts val="1400"/>
              <a:buAutoNum type="alphaLcPeriod"/>
            </a:pPr>
            <a:r>
              <a:rPr lang="en-US"/>
              <a:t>How important do you feel anonymity is?</a:t>
            </a:r>
            <a:endParaRPr/>
          </a:p>
          <a:p>
            <a:pPr indent="-317500" lvl="1" marL="914400" rtl="0" algn="l">
              <a:spcBef>
                <a:spcPts val="0"/>
              </a:spcBef>
              <a:spcAft>
                <a:spcPts val="0"/>
              </a:spcAft>
              <a:buSzPts val="1400"/>
              <a:buAutoNum type="alphaLcPeriod"/>
            </a:pPr>
            <a:r>
              <a:rPr lang="en-US"/>
              <a:t>Another practice could be single blind review (so the reviewer knows the authors’ names). So the challenged about scrubbing the artifact and finding an anonymous place to host would be resolved. Do you feel like that would suffice or might still introduce other issues (like bias)? Or do you feel like it’s worth it since the challenge is a bigger issue?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So for example, if we look at Recommendation 7: Should the hiring, promotion and funding process consider artifacts? Don’t you feel like there could be some issues? How would you assess that, maybe with how widely reused the artifact is? How much can we trust the badges?</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8: </a:t>
            </a:r>
            <a:r>
              <a:rPr lang="en-US"/>
              <a:t>The article recommended periodic review of the artifact evaluation itself. Do you feel like the artifacts themselves should also go through some sort of periodic evaluation? Since availability (because of unusably libraries, compilers, operating systems, bit rot!!) is an issue, should there be a system in place where artifacts are evaluated regularly (e.g. every ten years)? Because if it doesn’t work anymore, shouldn’t the evaluation status change? Or is it even worth the effort?</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Another issue or reason that they mentioned was a part of why these challenges persist is because artifact review is not only time-consuming, but also seen as the more  “annoying” task that is given to students. Do you think this sentiment is justified? Why do you think the community feels this way?</a:t>
            </a:r>
            <a:endParaRPr/>
          </a:p>
          <a:p>
            <a:pPr indent="-317500" lvl="1" marL="914400" rtl="0" algn="l">
              <a:spcBef>
                <a:spcPts val="0"/>
              </a:spcBef>
              <a:spcAft>
                <a:spcPts val="0"/>
              </a:spcAft>
              <a:buSzPts val="1400"/>
              <a:buAutoNum type="alphaLcPeriod"/>
            </a:pPr>
            <a:r>
              <a:rPr lang="en-US"/>
              <a:t>e.g. could it be justified as paper reviews do require broader knowledge?</a:t>
            </a:r>
            <a:endParaRPr/>
          </a:p>
          <a:p>
            <a:pPr indent="-317500" lvl="1" marL="914400" rtl="0" algn="l">
              <a:spcBef>
                <a:spcPts val="0"/>
              </a:spcBef>
              <a:spcAft>
                <a:spcPts val="0"/>
              </a:spcAft>
              <a:buSzPts val="1400"/>
              <a:buAutoNum type="alphaLcPeriod"/>
            </a:pPr>
            <a:r>
              <a:rPr lang="en-US"/>
              <a:t>So do you think more experienced researchers shouldn’t participate in artifact evaluation and always focus on the more important part, the paper itself?</a:t>
            </a:r>
            <a:endParaRPr/>
          </a:p>
          <a:p>
            <a:pPr indent="-317500" lvl="1" marL="914400" rtl="0" algn="l">
              <a:spcBef>
                <a:spcPts val="0"/>
              </a:spcBef>
              <a:spcAft>
                <a:spcPts val="0"/>
              </a:spcAft>
              <a:buSzPts val="1400"/>
              <a:buAutoNum type="alphaLcPeriod"/>
            </a:pPr>
            <a:r>
              <a:rPr lang="en-US"/>
              <a:t>Can you think of any way to change this sentiment?</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Do </a:t>
            </a:r>
            <a:r>
              <a:rPr lang="en-US"/>
              <a:t>you agree or disagree with any other recommendation?</a:t>
            </a:r>
            <a:endParaRPr/>
          </a:p>
          <a:p>
            <a:pPr indent="-317500" lvl="0" marL="457200" rtl="0" algn="l">
              <a:spcBef>
                <a:spcPts val="0"/>
              </a:spcBef>
              <a:spcAft>
                <a:spcPts val="0"/>
              </a:spcAft>
              <a:buSzPts val="1400"/>
              <a:buAutoNum type="arabicPeriod"/>
            </a:pPr>
            <a:r>
              <a:rPr lang="en-US"/>
              <a:t>So after discussing all recommendations: Which one do you think would you prioritise when it comes to implementation? Which one do you feel solves the most important and biggest problem and is also easy to implement?</a:t>
            </a:r>
            <a:endParaRPr sz="2200"/>
          </a:p>
          <a:p>
            <a:pPr indent="0" lvl="0" marL="0" rtl="0" algn="l">
              <a:spcBef>
                <a:spcPts val="0"/>
              </a:spcBef>
              <a:spcAft>
                <a:spcPts val="0"/>
              </a:spcAft>
              <a:buNone/>
            </a:pPr>
            <a:r>
              <a:t/>
            </a:r>
            <a:endParaRPr/>
          </a:p>
        </p:txBody>
      </p:sp>
      <p:sp>
        <p:nvSpPr>
          <p:cNvPr id="217" name="Google Shape;217;h76656c63b9505f1e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14a77dcaeeb36948_1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h14a77dcaeeb36948_1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h14a77dcaeeb36948_1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h14a77dcaeeb36948_1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h14a77dcaeeb36948_1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h14a77dcaeeb36948_1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14a77dcaeeb36948_1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h14a77dcaeeb36948_1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h14a77dcaeeb36948_1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h14a77dcaeeb36948_1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h14a77dcaeeb36948_1_2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257" name="Google Shape;257;h14a77dcaeeb36948_1_2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14a77dcaeeb36948_1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h14a77dcaeeb36948_1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h14a77dcaeeb36948_1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h14a77dcaeeb36948_1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h14a77dcaeeb36948_1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272" name="Google Shape;272;h14a77dcaeeb36948_1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h14a77dcaeeb36948_1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h14a77dcaeeb36948_1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280" name="Google Shape;280;h14a77dcaeeb36948_1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14a77dcaeeb36948_1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h14a77dcaeeb36948_1_3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p:txBody>
      </p:sp>
      <p:sp>
        <p:nvSpPr>
          <p:cNvPr id="288" name="Google Shape;288;h14a77dcaeeb36948_1_3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h14a77dcaeeb36948_1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h14a77dcaeeb36948_1_3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h14a77dcaeeb36948_1_3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h14a77dcaeeb36948_1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1" name="Google Shape;301;h14a77dcaeeb36948_1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h14a77dcaeeb36948_1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h14a77dcaeeb36948_1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6" name="Google Shape;306;h14a77dcaeeb36948_11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h14a77dcaeeb36948_11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h14a77dcaeeb36948_1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1" name="Google Shape;311;h14a77dcaeeb36948_11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h14a77dcaeeb36948_11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317" name="Google Shape;31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353" name="Google Shape;35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when respondents said 'reproducibility', under the 2020 definitions they were right; the paper reads it as replicability (p. 473).</a:t>
            </a:r>
            <a:endParaRPr/>
          </a:p>
        </p:txBody>
      </p:sp>
      <p:sp>
        <p:nvSpPr>
          <p:cNvPr id="361" name="Google Shape;36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370" name="Google Shape;37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 471, §4.1 pp. 472–473. No artifact was opened.</a:t>
            </a:r>
            <a:endParaRPr/>
          </a:p>
        </p:txBody>
      </p:sp>
      <p:sp>
        <p:nvSpPr>
          <p:cNvPr id="378" name="Google Shape;37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395" name="Google Shape;39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403" name="Google Shape;40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411" name="Google Shape;41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Would you sign up for an AEC next year? Why or why not?</a:t>
            </a:r>
            <a:endParaRPr/>
          </a:p>
        </p:txBody>
      </p:sp>
      <p:sp>
        <p:nvSpPr>
          <p:cNvPr id="427" name="Google Shape;42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What would a second, meaningful threshold look like?</a:t>
            </a:r>
            <a:endParaRPr/>
          </a:p>
        </p:txBody>
      </p:sp>
      <p:sp>
        <p:nvSpPr>
          <p:cNvPr id="443" name="Google Shape;44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Mixed methods, then a Diffusion of Innovations secondary analysis (pp. 2–3).</a:t>
            </a:r>
            <a:endParaRPr/>
          </a:p>
        </p:txBody>
      </p:sp>
      <p:sp>
        <p:nvSpPr>
          <p:cNvPr id="466" name="Google Shape;46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Implementation Science: evidence-based, iterative change from medicine (p. 6).</a:t>
            </a:r>
            <a:endParaRPr/>
          </a:p>
        </p:txBody>
      </p:sp>
      <p:sp>
        <p:nvSpPr>
          <p:cNvPr id="474" name="Google Shape;47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 6.</a:t>
            </a:r>
            <a:endParaRPr/>
          </a:p>
        </p:txBody>
      </p:sp>
      <p:sp>
        <p:nvSpPr>
          <p:cNvPr id="482" name="Google Shape;48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pp. 6–9. FSE AEC chairs supplied submission numbers.</a:t>
            </a:r>
            <a:endParaRPr/>
          </a:p>
        </p:txBody>
      </p:sp>
      <p:sp>
        <p:nvSpPr>
          <p:cNvPr id="490" name="Google Shape;49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challenges, Table 4 pp. 14–15: not worth it, portability, maintenance, tacit knowledge, doesn't fit purpose, no standards, hosting, double-blind review, external constraints, no reviewer incentives, technical obstacles, limited communication.</a:t>
            </a:r>
            <a:endParaRPr/>
          </a:p>
        </p:txBody>
      </p:sp>
      <p:sp>
        <p:nvSpPr>
          <p:cNvPr id="507" name="Google Shape;50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Authors believe artifacts should be reviewed as part of paper review (p. 28).</a:t>
            </a:r>
            <a:endParaRPr/>
          </a:p>
        </p:txBody>
      </p:sp>
      <p:sp>
        <p:nvSpPr>
          <p:cNvPr id="515" name="Google Shape;51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523" name="Google Shape;52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Week 1 link: Docker may not exist in 40 years.</a:t>
            </a:r>
            <a:endParaRPr/>
          </a:p>
        </p:txBody>
      </p:sp>
      <p:sp>
        <p:nvSpPr>
          <p:cNvPr id="539" name="Google Shape;53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Connects to Hermann's one-time reviewers.</a:t>
            </a:r>
            <a:endParaRPr/>
          </a:p>
        </p:txBody>
      </p:sp>
      <p:sp>
        <p:nvSpPr>
          <p:cNvPr id="555" name="Google Shape;55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7" name="Google Shape;57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595" name="Google Shape;59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Outside the box: what if an AI agent ran every artifact automatically? What would it miss?</a:t>
            </a:r>
            <a:endParaRPr/>
          </a:p>
        </p:txBody>
      </p:sp>
      <p:sp>
        <p:nvSpPr>
          <p:cNvPr id="611" name="Google Shape;611;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7" name="Google Shape;62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634" name="Google Shape;63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642" name="Google Shape;64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p:txBody>
      </p:sp>
      <p:sp>
        <p:nvSpPr>
          <p:cNvPr id="650" name="Google Shape;650;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 name="Google Shape;65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0883A"/>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p:cSld name="BASE">
    <p:bg>
      <p:bgPr>
        <a:solidFill>
          <a:srgbClr val="FFFFFF"/>
        </a:solidFill>
      </p:bgPr>
    </p:bg>
    <p:spTree>
      <p:nvGrpSpPr>
        <p:cNvPr id="12" name="Shape 12"/>
        <p:cNvGrpSpPr/>
        <p:nvPr/>
      </p:nvGrpSpPr>
      <p:grpSpPr>
        <a:xfrm>
          <a:off x="0" y="0"/>
          <a:ext cx="0" cy="0"/>
          <a:chOff x="0" y="0"/>
          <a:chExt cx="0" cy="0"/>
        </a:xfrm>
      </p:grpSpPr>
      <p:sp>
        <p:nvSpPr>
          <p:cNvPr id="13" name="Google Shape;13;p3"/>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100" u="none" cap="none" strike="noStrike">
                <a:solidFill>
                  <a:srgbClr val="5F6368"/>
                </a:solidFill>
                <a:latin typeface="Arial"/>
                <a:ea typeface="Arial"/>
                <a:cs typeface="Arial"/>
                <a:sym typeface="Arial"/>
              </a:defRPr>
            </a:lvl1pPr>
            <a:lvl2pPr indent="0" lvl="1" marL="0" marR="0" algn="l">
              <a:spcBef>
                <a:spcPts val="0"/>
              </a:spcBef>
              <a:buNone/>
              <a:defRPr b="0" i="0" sz="1100" u="none" cap="none" strike="noStrike">
                <a:solidFill>
                  <a:srgbClr val="5F6368"/>
                </a:solidFill>
                <a:latin typeface="Arial"/>
                <a:ea typeface="Arial"/>
                <a:cs typeface="Arial"/>
                <a:sym typeface="Arial"/>
              </a:defRPr>
            </a:lvl2pPr>
            <a:lvl3pPr indent="0" lvl="2" marL="0" marR="0" algn="l">
              <a:spcBef>
                <a:spcPts val="0"/>
              </a:spcBef>
              <a:buNone/>
              <a:defRPr b="0" i="0" sz="1100" u="none" cap="none" strike="noStrike">
                <a:solidFill>
                  <a:srgbClr val="5F6368"/>
                </a:solidFill>
                <a:latin typeface="Arial"/>
                <a:ea typeface="Arial"/>
                <a:cs typeface="Arial"/>
                <a:sym typeface="Arial"/>
              </a:defRPr>
            </a:lvl3pPr>
            <a:lvl4pPr indent="0" lvl="3" marL="0" marR="0" algn="l">
              <a:spcBef>
                <a:spcPts val="0"/>
              </a:spcBef>
              <a:buNone/>
              <a:defRPr b="0" i="0" sz="1100" u="none" cap="none" strike="noStrike">
                <a:solidFill>
                  <a:srgbClr val="5F6368"/>
                </a:solidFill>
                <a:latin typeface="Arial"/>
                <a:ea typeface="Arial"/>
                <a:cs typeface="Arial"/>
                <a:sym typeface="Arial"/>
              </a:defRPr>
            </a:lvl4pPr>
            <a:lvl5pPr indent="0" lvl="4" marL="0" marR="0" algn="l">
              <a:spcBef>
                <a:spcPts val="0"/>
              </a:spcBef>
              <a:buNone/>
              <a:defRPr b="0" i="0" sz="1100" u="none" cap="none" strike="noStrike">
                <a:solidFill>
                  <a:srgbClr val="5F6368"/>
                </a:solidFill>
                <a:latin typeface="Arial"/>
                <a:ea typeface="Arial"/>
                <a:cs typeface="Arial"/>
                <a:sym typeface="Arial"/>
              </a:defRPr>
            </a:lvl5pPr>
            <a:lvl6pPr indent="0" lvl="5" marL="0" marR="0" algn="l">
              <a:spcBef>
                <a:spcPts val="0"/>
              </a:spcBef>
              <a:buNone/>
              <a:defRPr b="0" i="0" sz="1100" u="none" cap="none" strike="noStrike">
                <a:solidFill>
                  <a:srgbClr val="5F6368"/>
                </a:solidFill>
                <a:latin typeface="Arial"/>
                <a:ea typeface="Arial"/>
                <a:cs typeface="Arial"/>
                <a:sym typeface="Arial"/>
              </a:defRPr>
            </a:lvl6pPr>
            <a:lvl7pPr indent="0" lvl="6" marL="0" marR="0" algn="l">
              <a:spcBef>
                <a:spcPts val="0"/>
              </a:spcBef>
              <a:buNone/>
              <a:defRPr b="0" i="0" sz="1100" u="none" cap="none" strike="noStrike">
                <a:solidFill>
                  <a:srgbClr val="5F6368"/>
                </a:solidFill>
                <a:latin typeface="Arial"/>
                <a:ea typeface="Arial"/>
                <a:cs typeface="Arial"/>
                <a:sym typeface="Arial"/>
              </a:defRPr>
            </a:lvl7pPr>
            <a:lvl8pPr indent="0" lvl="7" marL="0" marR="0" algn="l">
              <a:spcBef>
                <a:spcPts val="0"/>
              </a:spcBef>
              <a:buNone/>
              <a:defRPr b="0" i="0" sz="1100" u="none" cap="none" strike="noStrike">
                <a:solidFill>
                  <a:srgbClr val="5F6368"/>
                </a:solidFill>
                <a:latin typeface="Arial"/>
                <a:ea typeface="Arial"/>
                <a:cs typeface="Arial"/>
                <a:sym typeface="Arial"/>
              </a:defRPr>
            </a:lvl8pPr>
            <a:lvl9pPr indent="0" lvl="8" marL="0" marR="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100" u="none" cap="none" strike="noStrike">
                <a:solidFill>
                  <a:srgbClr val="5F6368"/>
                </a:solidFill>
                <a:latin typeface="Arial"/>
                <a:ea typeface="Arial"/>
                <a:cs typeface="Arial"/>
                <a:sym typeface="Arial"/>
              </a:defRPr>
            </a:lvl1pPr>
            <a:lvl2pPr indent="0" lvl="1" marL="0" marR="0" rtl="0" algn="l">
              <a:spcBef>
                <a:spcPts val="0"/>
              </a:spcBef>
              <a:buNone/>
              <a:defRPr b="0" i="0" sz="1100" u="none" cap="none" strike="noStrike">
                <a:solidFill>
                  <a:srgbClr val="5F6368"/>
                </a:solidFill>
                <a:latin typeface="Arial"/>
                <a:ea typeface="Arial"/>
                <a:cs typeface="Arial"/>
                <a:sym typeface="Arial"/>
              </a:defRPr>
            </a:lvl2pPr>
            <a:lvl3pPr indent="0" lvl="2" marL="0" marR="0" rtl="0" algn="l">
              <a:spcBef>
                <a:spcPts val="0"/>
              </a:spcBef>
              <a:buNone/>
              <a:defRPr b="0" i="0" sz="1100" u="none" cap="none" strike="noStrike">
                <a:solidFill>
                  <a:srgbClr val="5F6368"/>
                </a:solidFill>
                <a:latin typeface="Arial"/>
                <a:ea typeface="Arial"/>
                <a:cs typeface="Arial"/>
                <a:sym typeface="Arial"/>
              </a:defRPr>
            </a:lvl3pPr>
            <a:lvl4pPr indent="0" lvl="3" marL="0" marR="0" rtl="0" algn="l">
              <a:spcBef>
                <a:spcPts val="0"/>
              </a:spcBef>
              <a:buNone/>
              <a:defRPr b="0" i="0" sz="1100" u="none" cap="none" strike="noStrike">
                <a:solidFill>
                  <a:srgbClr val="5F6368"/>
                </a:solidFill>
                <a:latin typeface="Arial"/>
                <a:ea typeface="Arial"/>
                <a:cs typeface="Arial"/>
                <a:sym typeface="Arial"/>
              </a:defRPr>
            </a:lvl4pPr>
            <a:lvl5pPr indent="0" lvl="4" marL="0" marR="0" rtl="0" algn="l">
              <a:spcBef>
                <a:spcPts val="0"/>
              </a:spcBef>
              <a:buNone/>
              <a:defRPr b="0" i="0" sz="1100" u="none" cap="none" strike="noStrike">
                <a:solidFill>
                  <a:srgbClr val="5F6368"/>
                </a:solidFill>
                <a:latin typeface="Arial"/>
                <a:ea typeface="Arial"/>
                <a:cs typeface="Arial"/>
                <a:sym typeface="Arial"/>
              </a:defRPr>
            </a:lvl5pPr>
            <a:lvl6pPr indent="0" lvl="5" marL="0" marR="0" rtl="0" algn="l">
              <a:spcBef>
                <a:spcPts val="0"/>
              </a:spcBef>
              <a:buNone/>
              <a:defRPr b="0" i="0" sz="1100" u="none" cap="none" strike="noStrike">
                <a:solidFill>
                  <a:srgbClr val="5F6368"/>
                </a:solidFill>
                <a:latin typeface="Arial"/>
                <a:ea typeface="Arial"/>
                <a:cs typeface="Arial"/>
                <a:sym typeface="Arial"/>
              </a:defRPr>
            </a:lvl6pPr>
            <a:lvl7pPr indent="0" lvl="6" marL="0" marR="0" rtl="0" algn="l">
              <a:spcBef>
                <a:spcPts val="0"/>
              </a:spcBef>
              <a:buNone/>
              <a:defRPr b="0" i="0" sz="1100" u="none" cap="none" strike="noStrike">
                <a:solidFill>
                  <a:srgbClr val="5F6368"/>
                </a:solidFill>
                <a:latin typeface="Arial"/>
                <a:ea typeface="Arial"/>
                <a:cs typeface="Arial"/>
                <a:sym typeface="Arial"/>
              </a:defRPr>
            </a:lvl7pPr>
            <a:lvl8pPr indent="0" lvl="7" marL="0" marR="0" rtl="0" algn="l">
              <a:spcBef>
                <a:spcPts val="0"/>
              </a:spcBef>
              <a:buNone/>
              <a:defRPr b="0" i="0" sz="1100" u="none" cap="none" strike="noStrike">
                <a:solidFill>
                  <a:srgbClr val="5F6368"/>
                </a:solidFill>
                <a:latin typeface="Arial"/>
                <a:ea typeface="Arial"/>
                <a:cs typeface="Arial"/>
                <a:sym typeface="Arial"/>
              </a:defRPr>
            </a:lvl8pPr>
            <a:lvl9pPr indent="0" lvl="8" marL="0" marR="0" rtl="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sp>
        <p:nvSpPr>
          <p:cNvPr id="20" name="Google Shape;20;p5"/>
          <p:cNvSpPr txBox="1"/>
          <p:nvPr/>
        </p:nvSpPr>
        <p:spPr>
          <a:xfrm>
            <a:off x="640080" y="2011680"/>
            <a:ext cx="10911600" cy="14631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21" name="Google Shape;21;p5"/>
          <p:cNvSpPr txBox="1"/>
          <p:nvPr/>
        </p:nvSpPr>
        <p:spPr>
          <a:xfrm>
            <a:off x="640080" y="3657600"/>
            <a:ext cx="1091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22" name="Google Shape;22;p5"/>
          <p:cNvSpPr txBox="1"/>
          <p:nvPr/>
        </p:nvSpPr>
        <p:spPr>
          <a:xfrm>
            <a:off x="640080" y="4754880"/>
            <a:ext cx="10911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29" name="Google Shape;29;p6"/>
          <p:cNvSpPr txBox="1"/>
          <p:nvPr/>
        </p:nvSpPr>
        <p:spPr>
          <a:xfrm>
            <a:off x="640080" y="15544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30" name="Google Shape;30;p6"/>
          <p:cNvSpPr txBox="1"/>
          <p:nvPr/>
        </p:nvSpPr>
        <p:spPr>
          <a:xfrm>
            <a:off x="1463040" y="15544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31" name="Google Shape;31;p6"/>
          <p:cNvSpPr txBox="1"/>
          <p:nvPr/>
        </p:nvSpPr>
        <p:spPr>
          <a:xfrm>
            <a:off x="640080" y="219456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32" name="Google Shape;32;p6"/>
          <p:cNvSpPr txBox="1"/>
          <p:nvPr/>
        </p:nvSpPr>
        <p:spPr>
          <a:xfrm>
            <a:off x="1463040" y="21945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33" name="Google Shape;33;p6"/>
          <p:cNvSpPr txBox="1"/>
          <p:nvPr/>
        </p:nvSpPr>
        <p:spPr>
          <a:xfrm>
            <a:off x="640080" y="283464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34" name="Google Shape;34;p6"/>
          <p:cNvSpPr txBox="1"/>
          <p:nvPr/>
        </p:nvSpPr>
        <p:spPr>
          <a:xfrm>
            <a:off x="1463040" y="283464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35" name="Google Shape;35;p6"/>
          <p:cNvSpPr txBox="1"/>
          <p:nvPr/>
        </p:nvSpPr>
        <p:spPr>
          <a:xfrm>
            <a:off x="640080" y="347472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36" name="Google Shape;36;p6"/>
          <p:cNvSpPr txBox="1"/>
          <p:nvPr/>
        </p:nvSpPr>
        <p:spPr>
          <a:xfrm>
            <a:off x="1463040" y="347472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37" name="Google Shape;37;p6"/>
          <p:cNvSpPr txBox="1"/>
          <p:nvPr/>
        </p:nvSpPr>
        <p:spPr>
          <a:xfrm>
            <a:off x="640080" y="411480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05</a:t>
            </a:r>
            <a:endParaRPr b="0" i="0" sz="2200" u="none" cap="none" strike="noStrike">
              <a:solidFill>
                <a:schemeClr val="dk1"/>
              </a:solidFill>
              <a:latin typeface="Arial"/>
              <a:ea typeface="Arial"/>
              <a:cs typeface="Arial"/>
              <a:sym typeface="Arial"/>
            </a:endParaRPr>
          </a:p>
        </p:txBody>
      </p:sp>
      <p:sp>
        <p:nvSpPr>
          <p:cNvPr id="38" name="Google Shape;38;p6"/>
          <p:cNvSpPr txBox="1"/>
          <p:nvPr/>
        </p:nvSpPr>
        <p:spPr>
          <a:xfrm>
            <a:off x="1463040" y="411480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Cross comparison: similarities and differences</a:t>
            </a:r>
            <a:endParaRPr b="0" i="0" sz="2200" u="none" cap="none" strike="noStrike">
              <a:solidFill>
                <a:schemeClr val="dk1"/>
              </a:solidFill>
              <a:latin typeface="Arial"/>
              <a:ea typeface="Arial"/>
              <a:cs typeface="Arial"/>
              <a:sym typeface="Arial"/>
            </a:endParaRPr>
          </a:p>
        </p:txBody>
      </p:sp>
      <p:sp>
        <p:nvSpPr>
          <p:cNvPr id="39" name="Google Shape;39;p6"/>
          <p:cNvSpPr txBox="1"/>
          <p:nvPr/>
        </p:nvSpPr>
        <p:spPr>
          <a:xfrm>
            <a:off x="640080" y="47548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06</a:t>
            </a:r>
            <a:endParaRPr b="0" i="0" sz="2200" u="none" cap="none" strike="noStrike">
              <a:solidFill>
                <a:schemeClr val="dk1"/>
              </a:solidFill>
              <a:latin typeface="Arial"/>
              <a:ea typeface="Arial"/>
              <a:cs typeface="Arial"/>
              <a:sym typeface="Arial"/>
            </a:endParaRPr>
          </a:p>
        </p:txBody>
      </p:sp>
      <p:sp>
        <p:nvSpPr>
          <p:cNvPr id="40" name="Google Shape;40;p6"/>
          <p:cNvSpPr txBox="1"/>
          <p:nvPr/>
        </p:nvSpPr>
        <p:spPr>
          <a:xfrm>
            <a:off x="1463040" y="47548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Discussion: what do you agree with?</a:t>
            </a:r>
            <a:endParaRPr b="0" i="0" sz="2200" u="none" cap="none" strike="noStrike">
              <a:solidFill>
                <a:schemeClr val="dk1"/>
              </a:solidFill>
              <a:latin typeface="Arial"/>
              <a:ea typeface="Arial"/>
              <a:cs typeface="Arial"/>
              <a:sym typeface="Arial"/>
            </a:endParaRPr>
          </a:p>
        </p:txBody>
      </p:sp>
      <p:sp>
        <p:nvSpPr>
          <p:cNvPr id="41" name="Google Shape;41;p6"/>
          <p:cNvSpPr txBox="1"/>
          <p:nvPr/>
        </p:nvSpPr>
        <p:spPr>
          <a:xfrm>
            <a:off x="640080" y="539496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07</a:t>
            </a:r>
            <a:endParaRPr b="0" i="0" sz="2200" u="none" cap="none" strike="noStrike">
              <a:solidFill>
                <a:schemeClr val="dk1"/>
              </a:solidFill>
              <a:latin typeface="Arial"/>
              <a:ea typeface="Arial"/>
              <a:cs typeface="Arial"/>
              <a:sym typeface="Arial"/>
            </a:endParaRPr>
          </a:p>
        </p:txBody>
      </p:sp>
      <p:sp>
        <p:nvSpPr>
          <p:cNvPr id="42" name="Google Shape;42;p6"/>
          <p:cNvSpPr txBox="1"/>
          <p:nvPr/>
        </p:nvSpPr>
        <p:spPr>
          <a:xfrm>
            <a:off x="1463040" y="53949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Criticism of the papers</a:t>
            </a:r>
            <a:endParaRPr b="0" i="0" sz="2200" u="none" cap="none" strike="noStrike">
              <a:solidFill>
                <a:schemeClr val="dk1"/>
              </a:solidFill>
              <a:latin typeface="Arial"/>
              <a:ea typeface="Arial"/>
              <a:cs typeface="Arial"/>
              <a:sym typeface="Arial"/>
            </a:endParaRPr>
          </a:p>
        </p:txBody>
      </p:sp>
      <p:sp>
        <p:nvSpPr>
          <p:cNvPr id="43" name="Google Shape;43;p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7"/>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50" name="Google Shape;50;p7"/>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57" name="Google Shape;57;p8"/>
          <p:cNvSpPr txBox="1"/>
          <p:nvPr/>
        </p:nvSpPr>
        <p:spPr>
          <a:xfrm>
            <a:off x="3968325" y="1811175"/>
            <a:ext cx="7583400" cy="44070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2200">
                <a:solidFill>
                  <a:schemeClr val="dk1"/>
                </a:solidFill>
              </a:rPr>
              <a:t>Replicability Crisis:</a:t>
            </a:r>
            <a:r>
              <a:rPr lang="en-US" sz="2200">
                <a:solidFill>
                  <a:schemeClr val="dk1"/>
                </a:solidFill>
              </a:rPr>
              <a:t> Researchers struggle to obtain usable experimental artifacts. </a:t>
            </a:r>
            <a:endParaRPr sz="2200">
              <a:solidFill>
                <a:schemeClr val="dk1"/>
              </a:solidFill>
            </a:endParaRPr>
          </a:p>
          <a:p>
            <a:pPr indent="0" lvl="0" marL="0" rtl="0" algn="l">
              <a:spcBef>
                <a:spcPts val="1000"/>
              </a:spcBef>
              <a:spcAft>
                <a:spcPts val="0"/>
              </a:spcAft>
              <a:buNone/>
            </a:pPr>
            <a:r>
              <a:rPr b="1" lang="en-US" sz="2200">
                <a:solidFill>
                  <a:schemeClr val="dk1"/>
                </a:solidFill>
              </a:rPr>
              <a:t>Adoption Since 2011</a:t>
            </a:r>
            <a:r>
              <a:rPr lang="en-US" sz="2200">
                <a:solidFill>
                  <a:schemeClr val="dk1"/>
                </a:solidFill>
              </a:rPr>
              <a:t>: Conferences award badges via voluntary peer audits. </a:t>
            </a:r>
            <a:endParaRPr sz="2200">
              <a:solidFill>
                <a:schemeClr val="dk1"/>
              </a:solidFill>
            </a:endParaRPr>
          </a:p>
          <a:p>
            <a:pPr indent="0" lvl="0" marL="0" rtl="0" algn="l">
              <a:spcBef>
                <a:spcPts val="1000"/>
              </a:spcBef>
              <a:spcAft>
                <a:spcPts val="0"/>
              </a:spcAft>
              <a:buNone/>
            </a:pPr>
            <a:r>
              <a:rPr b="1" lang="en-US" sz="2200">
                <a:solidFill>
                  <a:schemeClr val="dk1"/>
                </a:solidFill>
              </a:rPr>
              <a:t>Core Problem</a:t>
            </a:r>
            <a:r>
              <a:rPr lang="en-US" sz="2200">
                <a:solidFill>
                  <a:schemeClr val="dk1"/>
                </a:solidFill>
              </a:rPr>
              <a:t>: Guidelines lack uniform thresholds for artifact quality.</a:t>
            </a:r>
            <a:endParaRPr sz="2200">
              <a:solidFill>
                <a:schemeClr val="dk1"/>
              </a:solidFill>
            </a:endParaRPr>
          </a:p>
          <a:p>
            <a:pPr indent="0" lvl="0" marL="0" rtl="0" algn="l">
              <a:spcBef>
                <a:spcPts val="1000"/>
              </a:spcBef>
              <a:spcAft>
                <a:spcPts val="0"/>
              </a:spcAft>
              <a:buNone/>
            </a:pPr>
            <a:r>
              <a:rPr b="1" lang="en-US" sz="2200">
                <a:solidFill>
                  <a:schemeClr val="dk1"/>
                </a:solidFill>
              </a:rPr>
              <a:t>Main Contribution</a:t>
            </a:r>
            <a:r>
              <a:rPr lang="en-US" sz="2200">
                <a:solidFill>
                  <a:schemeClr val="dk1"/>
                </a:solidFill>
              </a:rPr>
              <a:t>: Empirical survey of 255 committee reviewers.</a:t>
            </a:r>
            <a:endParaRPr sz="2200">
              <a:solidFill>
                <a:schemeClr val="dk1"/>
              </a:solidFill>
            </a:endParaRPr>
          </a:p>
        </p:txBody>
      </p:sp>
      <p:sp>
        <p:nvSpPr>
          <p:cNvPr id="58" name="Google Shape;58;p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9" name="Google Shape;59;p8"/>
          <p:cNvSpPr txBox="1"/>
          <p:nvPr/>
        </p:nvSpPr>
        <p:spPr>
          <a:xfrm>
            <a:off x="518925" y="1811175"/>
            <a:ext cx="34494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Evaluating the efficacy of Artifact Evaluation across </a:t>
            </a:r>
            <a:endParaRPr b="1" sz="2500">
              <a:solidFill>
                <a:schemeClr val="dk2"/>
              </a:solidFill>
              <a:highlight>
                <a:schemeClr val="lt1"/>
              </a:highlight>
              <a:latin typeface="Playfair Display"/>
              <a:ea typeface="Playfair Display"/>
              <a:cs typeface="Playfair Display"/>
              <a:sym typeface="Playfair Display"/>
            </a:endParaRPr>
          </a:p>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Software Engineering and Programming Languages.</a:t>
            </a:r>
            <a:r>
              <a:rPr b="1" lang="en-US" sz="2500">
                <a:solidFill>
                  <a:schemeClr val="dk2"/>
                </a:solidFill>
              </a:rPr>
              <a:t> </a:t>
            </a:r>
            <a:endParaRPr b="1" sz="25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66" name="Google Shape;66;p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7" name="Google Shape;67;p9"/>
          <p:cNvSpPr txBox="1"/>
          <p:nvPr/>
        </p:nvSpPr>
        <p:spPr>
          <a:xfrm>
            <a:off x="640075" y="5267300"/>
            <a:ext cx="9547200" cy="7452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1800">
                <a:solidFill>
                  <a:schemeClr val="dk2"/>
                </a:solidFill>
              </a:rPr>
              <a:t>Question:</a:t>
            </a:r>
            <a:r>
              <a:rPr lang="en-US" sz="1800">
                <a:solidFill>
                  <a:srgbClr val="1A1A1A"/>
                </a:solidFill>
              </a:rPr>
              <a:t> Since computer science, data science, and empirical software engineering overlap so heavily with statistics, how can a reviewer or author know what a Call for Artifacts actually expects when these words are used without a glossary? </a:t>
            </a:r>
            <a:endParaRPr sz="1800">
              <a:solidFill>
                <a:srgbClr val="1A1A1A"/>
              </a:solidFill>
            </a:endParaRPr>
          </a:p>
        </p:txBody>
      </p:sp>
      <p:graphicFrame>
        <p:nvGraphicFramePr>
          <p:cNvPr id="68" name="Google Shape;68;p9"/>
          <p:cNvGraphicFramePr/>
          <p:nvPr/>
        </p:nvGraphicFramePr>
        <p:xfrm>
          <a:off x="606867" y="1214192"/>
          <a:ext cx="3000000" cy="3000000"/>
        </p:xfrm>
        <a:graphic>
          <a:graphicData uri="http://schemas.openxmlformats.org/drawingml/2006/table">
            <a:tbl>
              <a:tblPr>
                <a:noFill/>
                <a:tableStyleId>{9704C155-1FCA-4176-BA3D-C873695EB98C}</a:tableStyleId>
              </a:tblPr>
              <a:tblGrid>
                <a:gridCol w="2195600"/>
                <a:gridCol w="2195600"/>
                <a:gridCol w="2195600"/>
                <a:gridCol w="2195600"/>
                <a:gridCol w="2195600"/>
              </a:tblGrid>
              <a:tr h="734400">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Term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Who Performs it?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Experimental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ACM Guideline Role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ASA Definition Clash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8104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Repeatability</a:t>
                      </a:r>
                      <a:endParaRPr b="1" sz="2000" u="none" cap="none" strike="noStrike"/>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Same 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Baseline requirement</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Same as ACM</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11221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Replicability </a:t>
                      </a:r>
                      <a:endParaRPr b="1"/>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Setup(authors Artifact)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2000">
                          <a:solidFill>
                            <a:srgbClr val="1A1A1A"/>
                          </a:solidFill>
                        </a:rPr>
                        <a:t>Direct goal of Artifact Evaluation</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2000">
                          <a:solidFill>
                            <a:schemeClr val="dk1"/>
                          </a:solidFill>
                        </a:rPr>
                        <a:t>Called Reproducibility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1122100">
                <a:tc>
                  <a:txBody>
                    <a:bodyPr/>
                    <a:lstStyle/>
                    <a:p>
                      <a:pPr indent="0" lvl="0" marL="0" marR="0" rtl="0" algn="l">
                        <a:spcBef>
                          <a:spcPts val="0"/>
                        </a:spcBef>
                        <a:spcAft>
                          <a:spcPts val="0"/>
                        </a:spcAft>
                        <a:buClr>
                          <a:srgbClr val="1A1A1A"/>
                        </a:buClr>
                        <a:buSzPts val="2000"/>
                        <a:buFont typeface="Arial"/>
                        <a:buNone/>
                      </a:pPr>
                      <a:r>
                        <a:rPr b="1" lang="en-US" sz="2000">
                          <a:solidFill>
                            <a:schemeClr val="dk1"/>
                          </a:solidFil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Different Team</a:t>
                      </a:r>
                      <a:endParaRPr sz="2000"/>
                    </a:p>
                    <a:p>
                      <a:pPr indent="0" lvl="0" marL="0" rtl="0" algn="l">
                        <a:spcBef>
                          <a:spcPts val="0"/>
                        </a:spcBef>
                        <a:spcAft>
                          <a:spcPts val="0"/>
                        </a:spcAft>
                        <a:buClr>
                          <a:schemeClr val="dk1"/>
                        </a:buClr>
                        <a:buSzPts val="2000"/>
                        <a:buFont typeface="Arial"/>
                        <a:buNone/>
                      </a:pPr>
                      <a:r>
                        <a:t/>
                      </a:r>
                      <a:endParaRPr sz="2000">
                        <a:solidFill>
                          <a:schemeClr val="dk1"/>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long-term Goal</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Called Replication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0"/>
          <p:cNvSpPr txBox="1"/>
          <p:nvPr/>
        </p:nvSpPr>
        <p:spPr>
          <a:xfrm>
            <a:off x="640080" y="396285"/>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5" name="Google Shape;75;p1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RQ1 (Purpose):</a:t>
            </a:r>
            <a:r>
              <a:rPr lang="en-US" sz="2200">
                <a:solidFill>
                  <a:srgbClr val="1A1A1A"/>
                </a:solidFill>
              </a:rPr>
              <a:t> What is the perceived purpose of artifact evaluation in the software engineering and programming languages communities?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RQ2 (Quality Criteria &amp; Expectations):</a:t>
            </a:r>
            <a:r>
              <a:rPr lang="en-US" sz="2200">
                <a:solidFill>
                  <a:srgbClr val="1A1A1A"/>
                </a:solidFill>
              </a:rPr>
              <a:t> What quality criteria and expectations do researchers have toward research artifacts (both as reviewers on an AEC and as users reusing artifacts across code, data, and proofs)?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RQ3 (Community Differences):</a:t>
            </a:r>
            <a:r>
              <a:rPr lang="en-US" sz="2200">
                <a:solidFill>
                  <a:srgbClr val="1A1A1A"/>
                </a:solidFill>
              </a:rPr>
              <a:t> What is the magnitude of difference in the perception of purpose and expectations between the </a:t>
            </a:r>
            <a:r>
              <a:rPr lang="en-US" sz="2200">
                <a:solidFill>
                  <a:schemeClr val="dk1"/>
                </a:solidFill>
              </a:rPr>
              <a:t>software engineering and programming languages</a:t>
            </a:r>
            <a:r>
              <a:rPr lang="en-US" sz="2200">
                <a:solidFill>
                  <a:srgbClr val="1A1A1A"/>
                </a:solidFill>
              </a:rPr>
              <a:t> communities?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1" i="0" lang="en-US" sz="2200" u="none" cap="none" strike="noStrike">
                <a:solidFill>
                  <a:srgbClr val="1A1A1A"/>
                </a:solidFill>
              </a:rPr>
              <a:t>Pre-study:</a:t>
            </a:r>
            <a:r>
              <a:rPr b="0" i="0" lang="en-US" sz="2200" u="none" cap="none" strike="noStrike">
                <a:solidFill>
                  <a:srgbClr val="1A1A1A"/>
                </a:solidFill>
                <a:latin typeface="Arial"/>
                <a:ea typeface="Arial"/>
                <a:cs typeface="Arial"/>
                <a:sym typeface="Arial"/>
              </a:rPr>
              <a:t> what do calls for artifacts and ACM guidelines demand?</a:t>
            </a:r>
            <a:endParaRPr b="0" i="0" sz="2200" u="none" cap="none" strike="noStrike">
              <a:solidFill>
                <a:schemeClr val="dk1"/>
              </a:solidFill>
              <a:latin typeface="Arial"/>
              <a:ea typeface="Arial"/>
              <a:cs typeface="Arial"/>
              <a:sym typeface="Arial"/>
            </a:endParaRPr>
          </a:p>
        </p:txBody>
      </p:sp>
      <p:sp>
        <p:nvSpPr>
          <p:cNvPr id="76" name="Google Shape;76;p1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83" name="Google Shape;83;p1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84" name="Google Shape;84;p11"/>
          <p:cNvSpPr txBox="1"/>
          <p:nvPr/>
        </p:nvSpPr>
        <p:spPr>
          <a:xfrm>
            <a:off x="2982576" y="4540343"/>
            <a:ext cx="8721600" cy="1403400"/>
          </a:xfrm>
          <a:prstGeom prst="rect">
            <a:avLst/>
          </a:prstGeom>
          <a:noFill/>
          <a:ln>
            <a:noFill/>
          </a:ln>
        </p:spPr>
        <p:txBody>
          <a:bodyPr anchorCtr="0" anchor="t" bIns="0" lIns="0" spcFirstLastPara="1" rIns="0" wrap="square" tIns="0">
            <a:noAutofit/>
          </a:bodyPr>
          <a:lstStyle/>
          <a:p>
            <a:pPr indent="-355600" lvl="0" marL="457200" rtl="0" algn="l">
              <a:lnSpc>
                <a:spcPct val="115000"/>
              </a:lnSpc>
              <a:spcBef>
                <a:spcPts val="0"/>
              </a:spcBef>
              <a:spcAft>
                <a:spcPts val="0"/>
              </a:spcAft>
              <a:buSzPts val="2000"/>
              <a:buChar char="●"/>
            </a:pPr>
            <a:r>
              <a:t/>
            </a:r>
            <a:endParaRPr sz="2000">
              <a:solidFill>
                <a:srgbClr val="1A1A1A"/>
              </a:solidFill>
            </a:endParaRPr>
          </a:p>
        </p:txBody>
      </p:sp>
      <p:sp>
        <p:nvSpPr>
          <p:cNvPr id="85" name="Google Shape;85;p11"/>
          <p:cNvSpPr txBox="1"/>
          <p:nvPr/>
        </p:nvSpPr>
        <p:spPr>
          <a:xfrm>
            <a:off x="609600" y="2066925"/>
            <a:ext cx="41910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400" u="none" cap="none" strike="noStrike">
                <a:solidFill>
                  <a:schemeClr val="dk2"/>
                </a:solidFill>
                <a:latin typeface="Playfair Display"/>
                <a:ea typeface="Playfair Display"/>
                <a:cs typeface="Playfair Display"/>
                <a:sym typeface="Playfair Display"/>
              </a:rPr>
              <a:t>79</a:t>
            </a:r>
            <a:endParaRPr>
              <a:solidFill>
                <a:schemeClr val="dk2"/>
              </a:solidFill>
            </a:endParaRPr>
          </a:p>
        </p:txBody>
      </p:sp>
      <p:sp>
        <p:nvSpPr>
          <p:cNvPr id="86" name="Google Shape;86;p11"/>
          <p:cNvSpPr txBox="1"/>
          <p:nvPr/>
        </p:nvSpPr>
        <p:spPr>
          <a:xfrm>
            <a:off x="609600" y="3057525"/>
            <a:ext cx="4191000" cy="21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18181B"/>
                </a:solidFill>
                <a:latin typeface="DM Sans"/>
                <a:ea typeface="DM Sans"/>
                <a:cs typeface="DM Sans"/>
                <a:sym typeface="DM Sans"/>
              </a:rPr>
              <a:t>Calls for Artifacts Analyzed</a:t>
            </a:r>
            <a:endParaRPr/>
          </a:p>
        </p:txBody>
      </p:sp>
      <p:sp>
        <p:nvSpPr>
          <p:cNvPr id="87" name="Google Shape;87;p11"/>
          <p:cNvSpPr txBox="1"/>
          <p:nvPr/>
        </p:nvSpPr>
        <p:spPr>
          <a:xfrm>
            <a:off x="609600" y="3333750"/>
            <a:ext cx="34482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52525B"/>
                </a:solidFill>
                <a:latin typeface="DM Sans"/>
                <a:ea typeface="DM Sans"/>
                <a:cs typeface="DM Sans"/>
                <a:sym typeface="DM Sans"/>
              </a:rPr>
              <a:t>Pre-study across SE and PL venues (2011–2019).</a:t>
            </a:r>
            <a:endParaRPr/>
          </a:p>
        </p:txBody>
      </p:sp>
      <p:sp>
        <p:nvSpPr>
          <p:cNvPr id="88" name="Google Shape;88;p11"/>
          <p:cNvSpPr txBox="1"/>
          <p:nvPr/>
        </p:nvSpPr>
        <p:spPr>
          <a:xfrm>
            <a:off x="4419600" y="2066925"/>
            <a:ext cx="41910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400" u="none" cap="none" strike="noStrike">
                <a:solidFill>
                  <a:schemeClr val="dk2"/>
                </a:solidFill>
                <a:latin typeface="Playfair Display"/>
                <a:ea typeface="Playfair Display"/>
                <a:cs typeface="Playfair Display"/>
                <a:sym typeface="Playfair Display"/>
              </a:rPr>
              <a:t>255</a:t>
            </a:r>
            <a:endParaRPr>
              <a:solidFill>
                <a:schemeClr val="dk2"/>
              </a:solidFill>
            </a:endParaRPr>
          </a:p>
        </p:txBody>
      </p:sp>
      <p:sp>
        <p:nvSpPr>
          <p:cNvPr id="89" name="Google Shape;89;p11"/>
          <p:cNvSpPr txBox="1"/>
          <p:nvPr/>
        </p:nvSpPr>
        <p:spPr>
          <a:xfrm>
            <a:off x="4419600" y="3057525"/>
            <a:ext cx="4191000" cy="21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18181B"/>
                </a:solidFill>
                <a:latin typeface="DM Sans"/>
                <a:ea typeface="DM Sans"/>
                <a:cs typeface="DM Sans"/>
                <a:sym typeface="DM Sans"/>
              </a:rPr>
              <a:t>Valid AEC Survey Responses</a:t>
            </a:r>
            <a:endParaRPr/>
          </a:p>
        </p:txBody>
      </p:sp>
      <p:sp>
        <p:nvSpPr>
          <p:cNvPr id="90" name="Google Shape;90;p11"/>
          <p:cNvSpPr txBox="1"/>
          <p:nvPr/>
        </p:nvSpPr>
        <p:spPr>
          <a:xfrm>
            <a:off x="4419600" y="3333750"/>
            <a:ext cx="41910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52525B"/>
                </a:solidFill>
                <a:latin typeface="DM Sans"/>
                <a:ea typeface="DM Sans"/>
                <a:cs typeface="DM Sans"/>
                <a:sym typeface="DM Sans"/>
              </a:rPr>
              <a:t>1,034 invited; coded via open card sorting.</a:t>
            </a:r>
            <a:endParaRPr/>
          </a:p>
        </p:txBody>
      </p:sp>
      <p:sp>
        <p:nvSpPr>
          <p:cNvPr id="91" name="Google Shape;91;p11"/>
          <p:cNvSpPr txBox="1"/>
          <p:nvPr/>
        </p:nvSpPr>
        <p:spPr>
          <a:xfrm>
            <a:off x="8229600" y="2066925"/>
            <a:ext cx="39624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400" u="none" cap="none" strike="noStrike">
                <a:solidFill>
                  <a:schemeClr val="dk2"/>
                </a:solidFill>
                <a:latin typeface="Playfair Display"/>
                <a:ea typeface="Playfair Display"/>
                <a:cs typeface="Playfair Display"/>
                <a:sym typeface="Playfair Display"/>
              </a:rPr>
              <a:t>30mi</a:t>
            </a:r>
            <a:r>
              <a:rPr b="1" lang="en-US" sz="5400">
                <a:solidFill>
                  <a:schemeClr val="dk2"/>
                </a:solidFill>
                <a:latin typeface="Playfair Display"/>
                <a:ea typeface="Playfair Display"/>
                <a:cs typeface="Playfair Display"/>
                <a:sym typeface="Playfair Display"/>
              </a:rPr>
              <a:t>n</a:t>
            </a:r>
            <a:endParaRPr>
              <a:solidFill>
                <a:schemeClr val="dk2"/>
              </a:solidFill>
            </a:endParaRPr>
          </a:p>
        </p:txBody>
      </p:sp>
      <p:sp>
        <p:nvSpPr>
          <p:cNvPr id="92" name="Google Shape;92;p11"/>
          <p:cNvSpPr txBox="1"/>
          <p:nvPr/>
        </p:nvSpPr>
        <p:spPr>
          <a:xfrm>
            <a:off x="8229600" y="3057525"/>
            <a:ext cx="3962400" cy="21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18181B"/>
                </a:solidFill>
                <a:latin typeface="DM Sans"/>
                <a:ea typeface="DM Sans"/>
                <a:cs typeface="DM Sans"/>
                <a:sym typeface="DM Sans"/>
              </a:rPr>
              <a:t>Only Explicit CfA Threshold</a:t>
            </a:r>
            <a:endParaRPr/>
          </a:p>
        </p:txBody>
      </p:sp>
      <p:sp>
        <p:nvSpPr>
          <p:cNvPr id="93" name="Google Shape;93;p11"/>
          <p:cNvSpPr txBox="1"/>
          <p:nvPr/>
        </p:nvSpPr>
        <p:spPr>
          <a:xfrm>
            <a:off x="8229600" y="3333750"/>
            <a:ext cx="39624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52525B"/>
                </a:solidFill>
                <a:latin typeface="DM Sans"/>
                <a:ea typeface="DM Sans"/>
                <a:cs typeface="DM Sans"/>
                <a:sym typeface="DM Sans"/>
              </a:rPr>
              <a:t>Maximum setup time stated in 10 calls.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00" name="Google Shape;100;p12"/>
          <p:cNvSpPr txBox="1"/>
          <p:nvPr/>
        </p:nvSpPr>
        <p:spPr>
          <a:xfrm>
            <a:off x="539055" y="4284790"/>
            <a:ext cx="10911600" cy="4755000"/>
          </a:xfrm>
          <a:prstGeom prst="rect">
            <a:avLst/>
          </a:prstGeom>
          <a:noFill/>
          <a:ln>
            <a:noFill/>
          </a:ln>
        </p:spPr>
        <p:txBody>
          <a:bodyPr anchorCtr="0" anchor="t" bIns="0" lIns="0" spcFirstLastPara="1" rIns="0" wrap="square" tIns="0">
            <a:noAutofit/>
          </a:bodyPr>
          <a:lstStyle/>
          <a:p>
            <a:pPr indent="0" lvl="0" marL="457200" marR="0" rtl="0" algn="l">
              <a:spcBef>
                <a:spcPts val="1000"/>
              </a:spcBef>
              <a:spcAft>
                <a:spcPts val="0"/>
              </a:spcAft>
              <a:buNone/>
            </a:pPr>
            <a:r>
              <a:rPr b="1" lang="en-US" sz="2200">
                <a:solidFill>
                  <a:schemeClr val="dk2"/>
                </a:solidFill>
              </a:rPr>
              <a:t>Question:</a:t>
            </a:r>
            <a:r>
              <a:rPr b="1" lang="en-US" sz="2200">
                <a:solidFill>
                  <a:srgbClr val="1A1A1A"/>
                </a:solidFill>
              </a:rPr>
              <a:t> </a:t>
            </a:r>
            <a:endParaRPr b="1" sz="2200">
              <a:solidFill>
                <a:srgbClr val="1A1A1A"/>
              </a:solidFill>
            </a:endParaRPr>
          </a:p>
          <a:p>
            <a:pPr indent="-368300" lvl="0" marL="457200" marR="0" rtl="0" algn="l">
              <a:spcBef>
                <a:spcPts val="1000"/>
              </a:spcBef>
              <a:spcAft>
                <a:spcPts val="0"/>
              </a:spcAft>
              <a:buClr>
                <a:srgbClr val="1A1A1A"/>
              </a:buClr>
              <a:buSzPts val="2200"/>
              <a:buChar char="-"/>
            </a:pPr>
            <a:r>
              <a:rPr lang="en-US" sz="2200">
                <a:solidFill>
                  <a:srgbClr val="1A1A1A"/>
                </a:solidFill>
              </a:rPr>
              <a:t>If real-world reuse is so low and badges aren't noticeably improving quality, is the massive amount of volunteer time spent on AECs actually worth it? </a:t>
            </a:r>
            <a:endParaRPr sz="2200">
              <a:solidFill>
                <a:srgbClr val="1A1A1A"/>
              </a:solidFill>
            </a:endParaRPr>
          </a:p>
          <a:p>
            <a:pPr indent="-368300" lvl="0" marL="457200" marR="0" rtl="0" algn="l">
              <a:spcBef>
                <a:spcPts val="0"/>
              </a:spcBef>
              <a:spcAft>
                <a:spcPts val="0"/>
              </a:spcAft>
              <a:buClr>
                <a:srgbClr val="1A1A1A"/>
              </a:buClr>
              <a:buSzPts val="2200"/>
              <a:buChar char="-"/>
            </a:pPr>
            <a:r>
              <a:rPr lang="en-US" sz="2200">
                <a:solidFill>
                  <a:srgbClr val="1A1A1A"/>
                </a:solidFill>
              </a:rPr>
              <a:t>How should we redefine 'success' for an artifact if the end-goal isn't just to prove it ran once for a reviewer, but to help someone else build on it? </a:t>
            </a:r>
            <a:endParaRPr b="0" i="0" sz="2200" u="none" cap="none" strike="noStrike">
              <a:solidFill>
                <a:schemeClr val="dk1"/>
              </a:solidFill>
              <a:latin typeface="Arial"/>
              <a:ea typeface="Arial"/>
              <a:cs typeface="Arial"/>
              <a:sym typeface="Arial"/>
            </a:endParaRPr>
          </a:p>
        </p:txBody>
      </p:sp>
      <p:sp>
        <p:nvSpPr>
          <p:cNvPr id="101" name="Google Shape;101;p1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pic>
        <p:nvPicPr>
          <p:cNvPr id="102" name="Google Shape;102;p12"/>
          <p:cNvPicPr preferRelativeResize="0"/>
          <p:nvPr/>
        </p:nvPicPr>
        <p:blipFill>
          <a:blip r:embed="rId3">
            <a:alphaModFix/>
          </a:blip>
          <a:stretch>
            <a:fillRect/>
          </a:stretch>
        </p:blipFill>
        <p:spPr>
          <a:xfrm>
            <a:off x="539050" y="1236274"/>
            <a:ext cx="9988784" cy="3048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109" name="Google Shape;109;p1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110" name="Google Shape;110;p1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117" name="Google Shape;117;p1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18" name="Google Shape;118;p1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5"/>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125" name="Google Shape;125;p15"/>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132" name="Google Shape;132;p16"/>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133" name="Google Shape;133;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40" name="Google Shape;140;p17"/>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141" name="Google Shape;141;p1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148" name="Google Shape;148;p1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creators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users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reviewers face?</a:t>
            </a:r>
            <a:endParaRPr b="0" i="0" sz="2200" u="none" cap="none" strike="noStrike">
              <a:solidFill>
                <a:schemeClr val="dk1"/>
              </a:solidFill>
              <a:latin typeface="Arial"/>
              <a:ea typeface="Arial"/>
              <a:cs typeface="Arial"/>
              <a:sym typeface="Arial"/>
            </a:endParaRPr>
          </a:p>
        </p:txBody>
      </p:sp>
      <p:sp>
        <p:nvSpPr>
          <p:cNvPr id="149" name="Google Shape;149;p1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156" name="Google Shape;156;p1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57" name="Google Shape;157;p1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64" name="Google Shape;164;p2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165" name="Google Shape;165;p2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172" name="Google Shape;172;p2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173" name="Google Shape;173;p2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80" name="Google Shape;180;p2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81" name="Google Shape;181;p22"/>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88" name="Google Shape;188;p2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89" name="Google Shape;189;p2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Frage die mir eingefallen sind, idk ob die iwo reinpasst?</a:t>
            </a:r>
            <a:r>
              <a:rPr lang="en-US" sz="2200">
                <a:solidFill>
                  <a:srgbClr val="1A1A1A"/>
                </a:solidFill>
              </a:rPr>
              <a:t>…</a:t>
            </a:r>
            <a:endParaRPr sz="2200">
              <a:solidFill>
                <a:srgbClr val="1A1A1A"/>
              </a:solidFill>
            </a:endParaRPr>
          </a:p>
          <a:p>
            <a:pPr indent="-368300" lvl="0" marL="457200" rtl="0" algn="l">
              <a:lnSpc>
                <a:spcPct val="115000"/>
              </a:lnSpc>
              <a:spcBef>
                <a:spcPts val="0"/>
              </a:spcBef>
              <a:spcAft>
                <a:spcPts val="0"/>
              </a:spcAft>
              <a:buClr>
                <a:srgbClr val="1A1A1A"/>
              </a:buClr>
              <a:buSzPts val="2200"/>
              <a:buChar char="•"/>
            </a:pPr>
            <a:r>
              <a:rPr lang="en-US" sz="1100"/>
              <a:t>1.</a:t>
            </a:r>
            <a:r>
              <a:rPr lang="en-US" sz="700">
                <a:latin typeface="Times New Roman"/>
                <a:ea typeface="Times New Roman"/>
                <a:cs typeface="Times New Roman"/>
                <a:sym typeface="Times New Roman"/>
              </a:rPr>
              <a:t>      </a:t>
            </a:r>
            <a:r>
              <a:rPr lang="en-US" sz="1100"/>
              <a:t>Do you think any of the ACM artifact badges are unnecessary?</a:t>
            </a:r>
            <a:br>
              <a:rPr lang="en-US" sz="1100"/>
            </a:br>
            <a:r>
              <a:rPr lang="en-US" sz="1100"/>
              <a:t> For example, the Artifact Available Badge does not guarantee its functionality or say anything else other than there is an artifact that can be accessed.</a:t>
            </a:r>
            <a:endParaRPr sz="1100"/>
          </a:p>
          <a:p>
            <a:pPr indent="0" lvl="0" marL="457200" rtl="0" algn="l">
              <a:lnSpc>
                <a:spcPct val="115000"/>
              </a:lnSpc>
              <a:spcBef>
                <a:spcPts val="800"/>
              </a:spcBef>
              <a:spcAft>
                <a:spcPts val="0"/>
              </a:spcAft>
              <a:buNone/>
            </a:pPr>
            <a:r>
              <a:rPr lang="en-US" sz="1000"/>
              <a:t>-</a:t>
            </a:r>
            <a:r>
              <a:rPr lang="en-US" sz="700">
                <a:latin typeface="Times New Roman"/>
                <a:ea typeface="Times New Roman"/>
                <a:cs typeface="Times New Roman"/>
                <a:sym typeface="Times New Roman"/>
              </a:rPr>
              <a:t>  </a:t>
            </a:r>
            <a:r>
              <a:rPr lang="en-US" sz="1100"/>
              <a:t>How useful do you deem them overall? Some participants in the article’s survey mention that they hesitate submitting their artifact because the guidelines are not clear of what will get accepted?</a:t>
            </a:r>
            <a:endParaRPr sz="1100"/>
          </a:p>
          <a:p>
            <a:pPr indent="-368300" lvl="0" marL="457200" rtl="0" algn="l">
              <a:lnSpc>
                <a:spcPct val="115000"/>
              </a:lnSpc>
              <a:spcBef>
                <a:spcPts val="800"/>
              </a:spcBef>
              <a:spcAft>
                <a:spcPts val="0"/>
              </a:spcAft>
              <a:buClr>
                <a:srgbClr val="1A1A1A"/>
              </a:buClr>
              <a:buSzPts val="2200"/>
              <a:buChar char="•"/>
            </a:pPr>
            <a:r>
              <a:t/>
            </a:r>
            <a:endParaRPr sz="2200">
              <a:solidFill>
                <a:srgbClr val="1A1A1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Secondary Analysis</a:t>
            </a:r>
            <a:endParaRPr b="0" i="0" sz="4000" u="none" cap="none" strike="noStrike">
              <a:solidFill>
                <a:schemeClr val="dk1"/>
              </a:solidFill>
              <a:latin typeface="Arial"/>
              <a:ea typeface="Arial"/>
              <a:cs typeface="Arial"/>
              <a:sym typeface="Arial"/>
            </a:endParaRPr>
          </a:p>
        </p:txBody>
      </p:sp>
      <p:sp>
        <p:nvSpPr>
          <p:cNvPr id="196" name="Google Shape;196;p2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lang="en-US" sz="2200">
                <a:solidFill>
                  <a:srgbClr val="1A1A1A"/>
                </a:solidFill>
              </a:rPr>
              <a:t>Limited adoption (DoI):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are difficult to adopt and spread</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Communication breakdowns: </a:t>
            </a:r>
            <a:endParaRPr sz="2200">
              <a:solidFill>
                <a:srgbClr val="1A1A1A"/>
              </a:solidFill>
            </a:endParaRPr>
          </a:p>
          <a:p>
            <a:pPr indent="457200" lvl="0" marL="0" marR="0" rtl="0" algn="l">
              <a:spcBef>
                <a:spcPts val="0"/>
              </a:spcBef>
              <a:spcAft>
                <a:spcPts val="0"/>
              </a:spcAft>
              <a:buNone/>
            </a:pPr>
            <a:r>
              <a:rPr lang="en-US" sz="2200">
                <a:solidFill>
                  <a:srgbClr val="1A1A1A"/>
                </a:solidFill>
              </a:rPr>
              <a:t>→ Communication between creators, reviewers, and users is limited and </a:t>
            </a:r>
            <a:endParaRPr sz="2200">
              <a:solidFill>
                <a:srgbClr val="1A1A1A"/>
              </a:solidFill>
            </a:endParaRPr>
          </a:p>
          <a:p>
            <a:pPr indent="457200" lvl="0" marL="0" marR="0" rtl="0" algn="l">
              <a:spcBef>
                <a:spcPts val="0"/>
              </a:spcBef>
              <a:spcAft>
                <a:spcPts val="0"/>
              </a:spcAft>
              <a:buNone/>
            </a:pPr>
            <a:r>
              <a:rPr lang="en-US" sz="2200">
                <a:solidFill>
                  <a:srgbClr val="1A1A1A"/>
                </a:solidFill>
              </a:rPr>
              <a:t>     inconsistent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Decay and maintenance: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deteriorate over time, while maintenance requires ongoing effort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Lack of incentives and standards: </a:t>
            </a:r>
            <a:endParaRPr sz="2200">
              <a:solidFill>
                <a:srgbClr val="1A1A1A"/>
              </a:solidFill>
            </a:endParaRPr>
          </a:p>
          <a:p>
            <a:pPr indent="457200" lvl="0" marL="0" marR="0" rtl="0" algn="l">
              <a:spcBef>
                <a:spcPts val="0"/>
              </a:spcBef>
              <a:spcAft>
                <a:spcPts val="0"/>
              </a:spcAft>
              <a:buNone/>
            </a:pPr>
            <a:r>
              <a:rPr lang="en-US" sz="2200">
                <a:solidFill>
                  <a:srgbClr val="1A1A1A"/>
                </a:solidFill>
              </a:rPr>
              <a:t>→ Little reward for artifact creation and review leads to low-quality artifacts, </a:t>
            </a:r>
            <a:endParaRPr sz="2200">
              <a:solidFill>
                <a:srgbClr val="1A1A1A"/>
              </a:solidFill>
            </a:endParaRPr>
          </a:p>
          <a:p>
            <a:pPr indent="0" lvl="0" marL="457200" marR="0" rtl="0" algn="l">
              <a:spcBef>
                <a:spcPts val="0"/>
              </a:spcBef>
              <a:spcAft>
                <a:spcPts val="0"/>
              </a:spcAft>
              <a:buNone/>
            </a:pPr>
            <a:r>
              <a:rPr lang="en-US" sz="2200">
                <a:solidFill>
                  <a:srgbClr val="1A1A1A"/>
                </a:solidFill>
              </a:rPr>
              <a:t>     inexperienced reviewers, and inconsistent evaluation standards.</a:t>
            </a:r>
            <a:endParaRPr sz="2200">
              <a:solidFill>
                <a:srgbClr val="1A1A1A"/>
              </a:solidFill>
            </a:endParaRPr>
          </a:p>
        </p:txBody>
      </p:sp>
      <p:sp>
        <p:nvSpPr>
          <p:cNvPr id="197" name="Google Shape;197;p2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204" name="Google Shape;204;p2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05" name="Google Shape;205;p25"/>
          <p:cNvSpPr/>
          <p:nvPr/>
        </p:nvSpPr>
        <p:spPr>
          <a:xfrm>
            <a:off x="45295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25"/>
          <p:cNvSpPr/>
          <p:nvPr/>
        </p:nvSpPr>
        <p:spPr>
          <a:xfrm>
            <a:off x="4494475"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25"/>
          <p:cNvSpPr/>
          <p:nvPr/>
        </p:nvSpPr>
        <p:spPr>
          <a:xfrm>
            <a:off x="853600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25"/>
          <p:cNvSpPr txBox="1"/>
          <p:nvPr/>
        </p:nvSpPr>
        <p:spPr>
          <a:xfrm>
            <a:off x="123040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209" name="Google Shape;209;p25"/>
          <p:cNvSpPr txBox="1"/>
          <p:nvPr/>
        </p:nvSpPr>
        <p:spPr>
          <a:xfrm>
            <a:off x="4494475" y="1423475"/>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210" name="Google Shape;210;p25"/>
          <p:cNvSpPr txBox="1"/>
          <p:nvPr/>
        </p:nvSpPr>
        <p:spPr>
          <a:xfrm>
            <a:off x="931345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211" name="Google Shape;211;p25"/>
          <p:cNvSpPr txBox="1"/>
          <p:nvPr/>
        </p:nvSpPr>
        <p:spPr>
          <a:xfrm>
            <a:off x="570250" y="2738950"/>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sp>
        <p:nvSpPr>
          <p:cNvPr id="212" name="Google Shape;212;p25"/>
          <p:cNvSpPr txBox="1"/>
          <p:nvPr/>
        </p:nvSpPr>
        <p:spPr>
          <a:xfrm>
            <a:off x="4638025" y="2738950"/>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Align author and reviewer     </a:t>
            </a:r>
            <a:endParaRPr sz="1700"/>
          </a:p>
          <a:p>
            <a:pPr indent="0" lvl="0" marL="0" rtl="0" algn="l">
              <a:spcBef>
                <a:spcPts val="0"/>
              </a:spcBef>
              <a:spcAft>
                <a:spcPts val="0"/>
              </a:spcAft>
              <a:buNone/>
            </a:pPr>
            <a:r>
              <a:rPr lang="en-US" sz="1700"/>
              <a:t>      </a:t>
            </a:r>
            <a:r>
              <a:rPr lang="en-US" sz="1500"/>
              <a:t> </a:t>
            </a:r>
            <a:r>
              <a:rPr lang="en-US" sz="1700"/>
              <a:t>expectations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a:t>
            </a:r>
            <a:r>
              <a:rPr lang="en-US" sz="1700"/>
              <a:t>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a:t>
            </a:r>
            <a:r>
              <a:rPr lang="en-US" sz="1700"/>
              <a:t> </a:t>
            </a:r>
            <a:r>
              <a:rPr lang="en-US" sz="1700"/>
              <a:t>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"lazy second evaluation",</a:t>
            </a:r>
            <a:endParaRPr sz="1700"/>
          </a:p>
          <a:p>
            <a:pPr indent="0" lvl="0" marL="0" rtl="0" algn="l">
              <a:spcBef>
                <a:spcPts val="0"/>
              </a:spcBef>
              <a:spcAft>
                <a:spcPts val="0"/>
              </a:spcAft>
              <a:buNone/>
            </a:pPr>
            <a:r>
              <a:rPr lang="en-US" sz="1700"/>
              <a:t>       best-reviewer award</a:t>
            </a:r>
            <a:endParaRPr sz="1700"/>
          </a:p>
        </p:txBody>
      </p:sp>
      <p:sp>
        <p:nvSpPr>
          <p:cNvPr id="213" name="Google Shape;213;p25"/>
          <p:cNvSpPr txBox="1"/>
          <p:nvPr/>
        </p:nvSpPr>
        <p:spPr>
          <a:xfrm>
            <a:off x="8653300" y="2738950"/>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4000"/>
              <a:buFont typeface="Arial"/>
              <a:buNone/>
            </a:pPr>
            <a:r>
              <a:rPr b="1" lang="en-US" sz="4000">
                <a:solidFill>
                  <a:schemeClr val="dk2"/>
                </a:solidFill>
              </a:rPr>
              <a:t>Paper 2 · Discussion</a:t>
            </a:r>
            <a:endParaRPr b="1" sz="4000">
              <a:solidFill>
                <a:srgbClr val="00883A"/>
              </a:solidFill>
            </a:endParaRPr>
          </a:p>
        </p:txBody>
      </p:sp>
      <p:sp>
        <p:nvSpPr>
          <p:cNvPr id="220" name="Google Shape;220;p2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21" name="Google Shape;221;p26"/>
          <p:cNvSpPr/>
          <p:nvPr/>
        </p:nvSpPr>
        <p:spPr>
          <a:xfrm>
            <a:off x="452950" y="2061888"/>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26"/>
          <p:cNvSpPr/>
          <p:nvPr/>
        </p:nvSpPr>
        <p:spPr>
          <a:xfrm>
            <a:off x="4494475" y="2061888"/>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26"/>
          <p:cNvSpPr/>
          <p:nvPr/>
        </p:nvSpPr>
        <p:spPr>
          <a:xfrm>
            <a:off x="8536000" y="2061888"/>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6"/>
          <p:cNvSpPr txBox="1"/>
          <p:nvPr/>
        </p:nvSpPr>
        <p:spPr>
          <a:xfrm>
            <a:off x="1230400" y="1489163"/>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225" name="Google Shape;225;p26"/>
          <p:cNvSpPr txBox="1"/>
          <p:nvPr/>
        </p:nvSpPr>
        <p:spPr>
          <a:xfrm>
            <a:off x="4494475" y="1260013"/>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226" name="Google Shape;226;p26"/>
          <p:cNvSpPr txBox="1"/>
          <p:nvPr/>
        </p:nvSpPr>
        <p:spPr>
          <a:xfrm>
            <a:off x="9313450" y="1489163"/>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227" name="Google Shape;227;p26"/>
          <p:cNvSpPr txBox="1"/>
          <p:nvPr/>
        </p:nvSpPr>
        <p:spPr>
          <a:xfrm>
            <a:off x="570250" y="2575488"/>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sp>
        <p:nvSpPr>
          <p:cNvPr id="228" name="Google Shape;228;p26"/>
          <p:cNvSpPr txBox="1"/>
          <p:nvPr/>
        </p:nvSpPr>
        <p:spPr>
          <a:xfrm>
            <a:off x="4638025" y="2575488"/>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Align author and reviewer     </a:t>
            </a:r>
            <a:endParaRPr sz="1700"/>
          </a:p>
          <a:p>
            <a:pPr indent="0" lvl="0" marL="0" rtl="0" algn="l">
              <a:spcBef>
                <a:spcPts val="0"/>
              </a:spcBef>
              <a:spcAft>
                <a:spcPts val="0"/>
              </a:spcAft>
              <a:buNone/>
            </a:pPr>
            <a:r>
              <a:rPr lang="en-US" sz="1700"/>
              <a:t>      </a:t>
            </a:r>
            <a:r>
              <a:rPr lang="en-US" sz="1500"/>
              <a:t> </a:t>
            </a:r>
            <a:r>
              <a:rPr lang="en-US" sz="1700"/>
              <a:t>expectations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 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"lazy second evaluation",</a:t>
            </a:r>
            <a:endParaRPr sz="1700"/>
          </a:p>
          <a:p>
            <a:pPr indent="0" lvl="0" marL="0" rtl="0" algn="l">
              <a:spcBef>
                <a:spcPts val="0"/>
              </a:spcBef>
              <a:spcAft>
                <a:spcPts val="0"/>
              </a:spcAft>
              <a:buNone/>
            </a:pPr>
            <a:r>
              <a:rPr lang="en-US" sz="1700"/>
              <a:t>       best-reviewer award</a:t>
            </a:r>
            <a:endParaRPr sz="1700"/>
          </a:p>
        </p:txBody>
      </p:sp>
      <p:sp>
        <p:nvSpPr>
          <p:cNvPr id="229" name="Google Shape;229;p26"/>
          <p:cNvSpPr txBox="1"/>
          <p:nvPr/>
        </p:nvSpPr>
        <p:spPr>
          <a:xfrm>
            <a:off x="8653300" y="2575488"/>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sp>
        <p:nvSpPr>
          <p:cNvPr id="230" name="Google Shape;230;p26"/>
          <p:cNvSpPr txBox="1"/>
          <p:nvPr/>
        </p:nvSpPr>
        <p:spPr>
          <a:xfrm>
            <a:off x="4739425" y="5956800"/>
            <a:ext cx="3000000" cy="5541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en-US" sz="2400"/>
              <a:t>Agree/Disagree?</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7"/>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237" name="Google Shape;237;p27"/>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sp>
        <p:nvSpPr>
          <p:cNvPr id="244" name="Google Shape;244;p2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45" name="Google Shape;245;p2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252" name="Google Shape;252;p2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253" name="Google Shape;253;p2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260" name="Google Shape;260;p3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61" name="Google Shape;261;p3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1"/>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268" name="Google Shape;268;p31"/>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Discussion </a:t>
            </a:r>
            <a:r>
              <a:rPr b="1" lang="en-US" sz="4000">
                <a:solidFill>
                  <a:srgbClr val="00883A"/>
                </a:solidFill>
              </a:rPr>
              <a:t>-</a:t>
            </a:r>
            <a:r>
              <a:rPr b="1" i="0" lang="en-US" sz="4000" u="none" cap="none" strike="noStrike">
                <a:solidFill>
                  <a:srgbClr val="00883A"/>
                </a:solidFill>
                <a:latin typeface="Arial"/>
                <a:ea typeface="Arial"/>
                <a:cs typeface="Arial"/>
                <a:sym typeface="Arial"/>
              </a:rPr>
              <a:t> Paper 1 (?)</a:t>
            </a:r>
            <a:endParaRPr b="0" i="0" sz="4000" u="none" cap="none" strike="noStrike">
              <a:solidFill>
                <a:schemeClr val="dk1"/>
              </a:solidFill>
              <a:latin typeface="Arial"/>
              <a:ea typeface="Arial"/>
              <a:cs typeface="Arial"/>
              <a:sym typeface="Arial"/>
            </a:endParaRPr>
          </a:p>
        </p:txBody>
      </p:sp>
      <p:sp>
        <p:nvSpPr>
          <p:cNvPr id="275" name="Google Shape;275;p32"/>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276" name="Google Shape;276;p3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a:t>
            </a:r>
            <a:r>
              <a:rPr b="1" lang="en-US" sz="4000">
                <a:solidFill>
                  <a:srgbClr val="00883A"/>
                </a:solidFill>
              </a:rPr>
              <a:t>Discussion</a:t>
            </a:r>
            <a:r>
              <a:rPr b="1" i="0" lang="en-US" sz="4000" u="none" cap="none" strike="noStrike">
                <a:solidFill>
                  <a:srgbClr val="00883A"/>
                </a:solidFill>
                <a:latin typeface="Arial"/>
                <a:ea typeface="Arial"/>
                <a:cs typeface="Arial"/>
                <a:sym typeface="Arial"/>
              </a:rPr>
              <a:t> </a:t>
            </a:r>
            <a:r>
              <a:rPr b="1" lang="en-US" sz="4000">
                <a:solidFill>
                  <a:srgbClr val="00883A"/>
                </a:solidFill>
              </a:rPr>
              <a:t>-</a:t>
            </a:r>
            <a:r>
              <a:rPr b="1" i="0" lang="en-US" sz="4000" u="none" cap="none" strike="noStrike">
                <a:solidFill>
                  <a:srgbClr val="00883A"/>
                </a:solidFill>
                <a:latin typeface="Arial"/>
                <a:ea typeface="Arial"/>
                <a:cs typeface="Arial"/>
                <a:sym typeface="Arial"/>
              </a:rPr>
              <a:t> Paper 2 </a:t>
            </a:r>
            <a:r>
              <a:rPr b="1" lang="en-US" sz="4000">
                <a:solidFill>
                  <a:schemeClr val="dk2"/>
                </a:solidFill>
              </a:rPr>
              <a:t>(?)</a:t>
            </a:r>
            <a:endParaRPr b="0" i="0" sz="4000" u="none" cap="none" strike="noStrike">
              <a:solidFill>
                <a:schemeClr val="dk1"/>
              </a:solidFill>
              <a:latin typeface="Arial"/>
              <a:ea typeface="Arial"/>
              <a:cs typeface="Arial"/>
              <a:sym typeface="Arial"/>
            </a:endParaRPr>
          </a:p>
        </p:txBody>
      </p:sp>
      <p:sp>
        <p:nvSpPr>
          <p:cNvPr id="283" name="Google Shape;283;p3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284" name="Google Shape;284;p3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291" name="Google Shape;291;p3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292" name="Google Shape;292;p3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txBox="1"/>
          <p:nvPr/>
        </p:nvSpPr>
        <p:spPr>
          <a:xfrm>
            <a:off x="640080" y="2560320"/>
            <a:ext cx="109116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9"/>
          <p:cNvSpPr txBox="1"/>
          <p:nvPr/>
        </p:nvSpPr>
        <p:spPr>
          <a:xfrm>
            <a:off x="640080" y="2011680"/>
            <a:ext cx="10911535" cy="1463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320" name="Google Shape;320;p39"/>
          <p:cNvSpPr txBox="1"/>
          <p:nvPr/>
        </p:nvSpPr>
        <p:spPr>
          <a:xfrm>
            <a:off x="640080" y="365760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321" name="Google Shape;321;p39"/>
          <p:cNvSpPr txBox="1"/>
          <p:nvPr/>
        </p:nvSpPr>
        <p:spPr>
          <a:xfrm>
            <a:off x="640080" y="4754880"/>
            <a:ext cx="1091153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328" name="Google Shape;328;p40"/>
          <p:cNvSpPr txBox="1"/>
          <p:nvPr/>
        </p:nvSpPr>
        <p:spPr>
          <a:xfrm>
            <a:off x="640080" y="15544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329" name="Google Shape;329;p40"/>
          <p:cNvSpPr txBox="1"/>
          <p:nvPr/>
        </p:nvSpPr>
        <p:spPr>
          <a:xfrm>
            <a:off x="1463040" y="15544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330" name="Google Shape;330;p40"/>
          <p:cNvSpPr txBox="1"/>
          <p:nvPr/>
        </p:nvSpPr>
        <p:spPr>
          <a:xfrm>
            <a:off x="640080" y="21945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331" name="Google Shape;331;p40"/>
          <p:cNvSpPr txBox="1"/>
          <p:nvPr/>
        </p:nvSpPr>
        <p:spPr>
          <a:xfrm>
            <a:off x="1463040" y="21945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332" name="Google Shape;332;p40"/>
          <p:cNvSpPr txBox="1"/>
          <p:nvPr/>
        </p:nvSpPr>
        <p:spPr>
          <a:xfrm>
            <a:off x="640080" y="283464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333" name="Google Shape;333;p40"/>
          <p:cNvSpPr txBox="1"/>
          <p:nvPr/>
        </p:nvSpPr>
        <p:spPr>
          <a:xfrm>
            <a:off x="1463040" y="283464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334" name="Google Shape;334;p40"/>
          <p:cNvSpPr txBox="1"/>
          <p:nvPr/>
        </p:nvSpPr>
        <p:spPr>
          <a:xfrm>
            <a:off x="640080" y="347472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335" name="Google Shape;335;p40"/>
          <p:cNvSpPr txBox="1"/>
          <p:nvPr/>
        </p:nvSpPr>
        <p:spPr>
          <a:xfrm>
            <a:off x="1463040" y="347472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336" name="Google Shape;336;p40"/>
          <p:cNvSpPr txBox="1"/>
          <p:nvPr/>
        </p:nvSpPr>
        <p:spPr>
          <a:xfrm>
            <a:off x="640080" y="411480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05</a:t>
            </a:r>
            <a:endParaRPr b="0" i="0" sz="2200" u="none" cap="none" strike="noStrike">
              <a:solidFill>
                <a:schemeClr val="dk1"/>
              </a:solidFill>
              <a:latin typeface="Arial"/>
              <a:ea typeface="Arial"/>
              <a:cs typeface="Arial"/>
              <a:sym typeface="Arial"/>
            </a:endParaRPr>
          </a:p>
        </p:txBody>
      </p:sp>
      <p:sp>
        <p:nvSpPr>
          <p:cNvPr id="337" name="Google Shape;337;p40"/>
          <p:cNvSpPr txBox="1"/>
          <p:nvPr/>
        </p:nvSpPr>
        <p:spPr>
          <a:xfrm>
            <a:off x="1463040" y="411480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Cross comparison: similarities and differences</a:t>
            </a:r>
            <a:endParaRPr b="0" i="0" sz="2200" u="none" cap="none" strike="noStrike">
              <a:solidFill>
                <a:schemeClr val="dk1"/>
              </a:solidFill>
              <a:latin typeface="Arial"/>
              <a:ea typeface="Arial"/>
              <a:cs typeface="Arial"/>
              <a:sym typeface="Arial"/>
            </a:endParaRPr>
          </a:p>
        </p:txBody>
      </p:sp>
      <p:sp>
        <p:nvSpPr>
          <p:cNvPr id="338" name="Google Shape;338;p40"/>
          <p:cNvSpPr txBox="1"/>
          <p:nvPr/>
        </p:nvSpPr>
        <p:spPr>
          <a:xfrm>
            <a:off x="640080" y="47548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06</a:t>
            </a:r>
            <a:endParaRPr b="0" i="0" sz="2200" u="none" cap="none" strike="noStrike">
              <a:solidFill>
                <a:schemeClr val="dk1"/>
              </a:solidFill>
              <a:latin typeface="Arial"/>
              <a:ea typeface="Arial"/>
              <a:cs typeface="Arial"/>
              <a:sym typeface="Arial"/>
            </a:endParaRPr>
          </a:p>
        </p:txBody>
      </p:sp>
      <p:sp>
        <p:nvSpPr>
          <p:cNvPr id="339" name="Google Shape;339;p40"/>
          <p:cNvSpPr txBox="1"/>
          <p:nvPr/>
        </p:nvSpPr>
        <p:spPr>
          <a:xfrm>
            <a:off x="1463040" y="47548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Discussion: what do you agree with?</a:t>
            </a:r>
            <a:endParaRPr b="0" i="0" sz="2200" u="none" cap="none" strike="noStrike">
              <a:solidFill>
                <a:schemeClr val="dk1"/>
              </a:solidFill>
              <a:latin typeface="Arial"/>
              <a:ea typeface="Arial"/>
              <a:cs typeface="Arial"/>
              <a:sym typeface="Arial"/>
            </a:endParaRPr>
          </a:p>
        </p:txBody>
      </p:sp>
      <p:sp>
        <p:nvSpPr>
          <p:cNvPr id="340" name="Google Shape;340;p40"/>
          <p:cNvSpPr txBox="1"/>
          <p:nvPr/>
        </p:nvSpPr>
        <p:spPr>
          <a:xfrm>
            <a:off x="640080" y="53949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07</a:t>
            </a:r>
            <a:endParaRPr b="0" i="0" sz="2200" u="none" cap="none" strike="noStrike">
              <a:solidFill>
                <a:schemeClr val="dk1"/>
              </a:solidFill>
              <a:latin typeface="Arial"/>
              <a:ea typeface="Arial"/>
              <a:cs typeface="Arial"/>
              <a:sym typeface="Arial"/>
            </a:endParaRPr>
          </a:p>
        </p:txBody>
      </p:sp>
      <p:sp>
        <p:nvSpPr>
          <p:cNvPr id="341" name="Google Shape;341;p40"/>
          <p:cNvSpPr txBox="1"/>
          <p:nvPr/>
        </p:nvSpPr>
        <p:spPr>
          <a:xfrm>
            <a:off x="1463040" y="53949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Criticism of the papers</a:t>
            </a:r>
            <a:endParaRPr b="0" i="0" sz="2200" u="none" cap="none" strike="noStrike">
              <a:solidFill>
                <a:schemeClr val="dk1"/>
              </a:solidFill>
              <a:latin typeface="Arial"/>
              <a:ea typeface="Arial"/>
              <a:cs typeface="Arial"/>
              <a:sym typeface="Arial"/>
            </a:endParaRPr>
          </a:p>
        </p:txBody>
      </p:sp>
      <p:sp>
        <p:nvSpPr>
          <p:cNvPr id="342" name="Google Shape;342;p4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1"/>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349" name="Google Shape;349;p41"/>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356" name="Google Shape;356;p42"/>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evaluation (AE): committees check artifacts of accepted papers and award badges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Asked the reviewers (AEC members) what AE is for and what they expect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Found no shared quality threshold and inconsistent terms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 badge only means something within one conference and year (p. 478)</a:t>
            </a:r>
            <a:endParaRPr b="0" i="0" sz="2200" u="none" cap="none" strike="noStrike">
              <a:solidFill>
                <a:schemeClr val="dk1"/>
              </a:solidFill>
              <a:latin typeface="Arial"/>
              <a:ea typeface="Arial"/>
              <a:cs typeface="Arial"/>
              <a:sym typeface="Arial"/>
            </a:endParaRPr>
          </a:p>
        </p:txBody>
      </p:sp>
      <p:sp>
        <p:nvSpPr>
          <p:cNvPr id="357" name="Google Shape;357;p4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graphicFrame>
        <p:nvGraphicFramePr>
          <p:cNvPr id="364" name="Google Shape;364;p43"/>
          <p:cNvGraphicFramePr/>
          <p:nvPr/>
        </p:nvGraphicFramePr>
        <p:xfrm>
          <a:off x="640080" y="1554480"/>
          <a:ext cx="3000000" cy="3000000"/>
        </p:xfrm>
        <a:graphic>
          <a:graphicData uri="http://schemas.openxmlformats.org/drawingml/2006/table">
            <a:tbl>
              <a:tblPr>
                <a:noFill/>
                <a:tableStyleId>{9704C155-1FCA-4176-BA3D-C873695EB98C}</a:tableStyleId>
              </a:tblPr>
              <a:tblGrid>
                <a:gridCol w="3637175"/>
                <a:gridCol w="3637175"/>
                <a:gridCol w="3637175"/>
              </a:tblGrid>
              <a:tr h="640075">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Setting</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Paper (old ACM)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Our lecture (2020)</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Same team, 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authors'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own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
        <p:nvSpPr>
          <p:cNvPr id="365" name="Google Shape;365;p43"/>
          <p:cNvSpPr txBox="1"/>
          <p:nvPr/>
        </p:nvSpPr>
        <p:spPr>
          <a:xfrm>
            <a:off x="640080" y="443484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Footnote 5, p. 471. Artifact = "a self-contained work result, having a context-specific purpose" (p. 470). Badges: Available, Functional, Reusable, Results.</a:t>
            </a:r>
            <a:endParaRPr b="0" i="0" sz="1800" u="none" cap="none" strike="noStrike">
              <a:solidFill>
                <a:schemeClr val="dk1"/>
              </a:solidFill>
              <a:latin typeface="Arial"/>
              <a:ea typeface="Arial"/>
              <a:cs typeface="Arial"/>
              <a:sym typeface="Arial"/>
            </a:endParaRPr>
          </a:p>
        </p:txBody>
      </p:sp>
      <p:sp>
        <p:nvSpPr>
          <p:cNvPr id="366" name="Google Shape;366;p4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373" name="Google Shape;373;p4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What do AEC members see as the purpose of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 What do they expect from an artifact as reviewers?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RQ3: What do they expect as users of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Pre-study: what do calls for artifacts and ACM guidelines demand?</a:t>
            </a:r>
            <a:endParaRPr b="0" i="0" sz="2200" u="none" cap="none" strike="noStrike">
              <a:solidFill>
                <a:schemeClr val="dk1"/>
              </a:solidFill>
              <a:latin typeface="Arial"/>
              <a:ea typeface="Arial"/>
              <a:cs typeface="Arial"/>
              <a:sym typeface="Arial"/>
            </a:endParaRPr>
          </a:p>
        </p:txBody>
      </p:sp>
      <p:sp>
        <p:nvSpPr>
          <p:cNvPr id="374" name="Google Shape;374;p4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381" name="Google Shape;381;p45"/>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5"/>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79</a:t>
            </a:r>
            <a:endParaRPr b="0" i="0" sz="3600" u="none" cap="none" strike="noStrike">
              <a:solidFill>
                <a:schemeClr val="dk1"/>
              </a:solidFill>
              <a:latin typeface="Arial"/>
              <a:ea typeface="Arial"/>
              <a:cs typeface="Arial"/>
              <a:sym typeface="Arial"/>
            </a:endParaRPr>
          </a:p>
        </p:txBody>
      </p:sp>
      <p:sp>
        <p:nvSpPr>
          <p:cNvPr id="383" name="Google Shape;383;p45"/>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calls analysed</a:t>
            </a:r>
            <a:endParaRPr b="0" i="0" sz="1800" u="none" cap="none" strike="noStrike">
              <a:solidFill>
                <a:schemeClr val="dk1"/>
              </a:solidFill>
              <a:latin typeface="Arial"/>
              <a:ea typeface="Arial"/>
              <a:cs typeface="Arial"/>
              <a:sym typeface="Arial"/>
            </a:endParaRPr>
          </a:p>
        </p:txBody>
      </p:sp>
      <p:sp>
        <p:nvSpPr>
          <p:cNvPr id="384" name="Google Shape;384;p45"/>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5"/>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1034</a:t>
            </a:r>
            <a:endParaRPr b="0" i="0" sz="3600" u="none" cap="none" strike="noStrike">
              <a:solidFill>
                <a:schemeClr val="dk1"/>
              </a:solidFill>
              <a:latin typeface="Arial"/>
              <a:ea typeface="Arial"/>
              <a:cs typeface="Arial"/>
              <a:sym typeface="Arial"/>
            </a:endParaRPr>
          </a:p>
        </p:txBody>
      </p:sp>
      <p:sp>
        <p:nvSpPr>
          <p:cNvPr id="386" name="Google Shape;386;p45"/>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reviewers invited</a:t>
            </a:r>
            <a:endParaRPr b="0" i="0" sz="1800" u="none" cap="none" strike="noStrike">
              <a:solidFill>
                <a:schemeClr val="dk1"/>
              </a:solidFill>
              <a:latin typeface="Arial"/>
              <a:ea typeface="Arial"/>
              <a:cs typeface="Arial"/>
              <a:sym typeface="Arial"/>
            </a:endParaRPr>
          </a:p>
        </p:txBody>
      </p:sp>
      <p:sp>
        <p:nvSpPr>
          <p:cNvPr id="387" name="Google Shape;387;p45"/>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5"/>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257</a:t>
            </a:r>
            <a:endParaRPr b="0" i="0" sz="3600" u="none" cap="none" strike="noStrike">
              <a:solidFill>
                <a:schemeClr val="dk1"/>
              </a:solidFill>
              <a:latin typeface="Arial"/>
              <a:ea typeface="Arial"/>
              <a:cs typeface="Arial"/>
              <a:sym typeface="Arial"/>
            </a:endParaRPr>
          </a:p>
        </p:txBody>
      </p:sp>
      <p:sp>
        <p:nvSpPr>
          <p:cNvPr id="389" name="Google Shape;389;p45"/>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responses</a:t>
            </a:r>
            <a:endParaRPr b="0" i="0" sz="1800" u="none" cap="none" strike="noStrike">
              <a:solidFill>
                <a:schemeClr val="dk1"/>
              </a:solidFill>
              <a:latin typeface="Arial"/>
              <a:ea typeface="Arial"/>
              <a:cs typeface="Arial"/>
              <a:sym typeface="Arial"/>
            </a:endParaRPr>
          </a:p>
        </p:txBody>
      </p:sp>
      <p:sp>
        <p:nvSpPr>
          <p:cNvPr id="390" name="Google Shape;390;p45"/>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79 calls for artifacts, SE and PL conferences, 2011–2019, coded by two researchers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Survey with open questions sent to 1034 AEC members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257 responded, 124 completed; ~25 % response; mostly programming languages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Answers grouped by open card sorting; counts given as total (PL/SE)</a:t>
            </a:r>
            <a:endParaRPr b="0" i="0" sz="2000" u="none" cap="none" strike="noStrike">
              <a:solidFill>
                <a:schemeClr val="dk1"/>
              </a:solidFill>
              <a:latin typeface="Arial"/>
              <a:ea typeface="Arial"/>
              <a:cs typeface="Arial"/>
              <a:sym typeface="Arial"/>
            </a:endParaRPr>
          </a:p>
        </p:txBody>
      </p:sp>
      <p:sp>
        <p:nvSpPr>
          <p:cNvPr id="391" name="Google Shape;391;p4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398" name="Google Shape;398;p46"/>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Calls name criteria (documentation 46, consistency 45) but no levels (pp. 471–472)</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Purpose drifts: from checking claims to reproducibility and reuse (RQ1)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want reproducible results, users want reusable tools (RQ2, RQ3)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20 users see a difference between evaluated and unevaluated artifacts, 34 do not (p. 477)</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reviewers serve once; a third never submitted an artifact (pp. 473, 478)</a:t>
            </a:r>
            <a:endParaRPr b="0" i="0" sz="2200" u="none" cap="none" strike="noStrike">
              <a:solidFill>
                <a:schemeClr val="dk1"/>
              </a:solidFill>
              <a:latin typeface="Arial"/>
              <a:ea typeface="Arial"/>
              <a:cs typeface="Arial"/>
              <a:sym typeface="Arial"/>
            </a:endParaRPr>
          </a:p>
        </p:txBody>
      </p:sp>
      <p:sp>
        <p:nvSpPr>
          <p:cNvPr id="399" name="Google Shape;399;p4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406" name="Google Shape;406;p4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mostly PL: a deliberate trade-off (p. 479)</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 sorting by one labeller, checked by a second, no agreement measure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Implications: purpose and standards per community, written into the calls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Brief one-time reviewers; couple AE more tightly to acceptance (p. 479)</a:t>
            </a:r>
            <a:endParaRPr b="0" i="0" sz="2200" u="none" cap="none" strike="noStrike">
              <a:solidFill>
                <a:schemeClr val="dk1"/>
              </a:solidFill>
              <a:latin typeface="Arial"/>
              <a:ea typeface="Arial"/>
              <a:cs typeface="Arial"/>
              <a:sym typeface="Arial"/>
            </a:endParaRPr>
          </a:p>
        </p:txBody>
      </p:sp>
      <p:sp>
        <p:nvSpPr>
          <p:cNvPr id="407" name="Google Shape;407;p4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414" name="Google Shape;414;p48"/>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artifact badges be easy to get or hard to get?</a:t>
            </a:r>
            <a:endParaRPr b="0" i="0" sz="2600" u="none" cap="none" strike="noStrike">
              <a:solidFill>
                <a:schemeClr val="dk1"/>
              </a:solidFill>
              <a:latin typeface="Arial"/>
              <a:ea typeface="Arial"/>
              <a:cs typeface="Arial"/>
              <a:sym typeface="Arial"/>
            </a:endParaRPr>
          </a:p>
        </p:txBody>
      </p:sp>
      <p:sp>
        <p:nvSpPr>
          <p:cNvPr id="415" name="Google Shape;415;p48"/>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8"/>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"Enforcing quality criteria only means that some authors will not publish their code" (id 96, p. 475). ICSE and FSE dropped the Functional badge to raise the bar (p. 476).</a:t>
            </a:r>
            <a:endParaRPr b="0" i="0" sz="1800" u="none" cap="none" strike="noStrike">
              <a:solidFill>
                <a:schemeClr val="dk1"/>
              </a:solidFill>
              <a:latin typeface="Arial"/>
              <a:ea typeface="Arial"/>
              <a:cs typeface="Arial"/>
              <a:sym typeface="Arial"/>
            </a:endParaRPr>
          </a:p>
        </p:txBody>
      </p:sp>
      <p:sp>
        <p:nvSpPr>
          <p:cNvPr id="417" name="Google Shape;417;p48"/>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8"/>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Low bar</a:t>
            </a:r>
            <a:endParaRPr b="0" i="0" sz="2200" u="none" cap="none" strike="noStrike">
              <a:solidFill>
                <a:schemeClr val="dk1"/>
              </a:solidFill>
              <a:latin typeface="Arial"/>
              <a:ea typeface="Arial"/>
              <a:cs typeface="Arial"/>
              <a:sym typeface="Arial"/>
            </a:endParaRPr>
          </a:p>
        </p:txBody>
      </p:sp>
      <p:sp>
        <p:nvSpPr>
          <p:cNvPr id="419" name="Google Shape;419;p48"/>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Availability is the bottleneck. Any code beats none.</a:t>
            </a:r>
            <a:endParaRPr b="0" i="0" sz="2000" u="none" cap="none" strike="noStrike">
              <a:solidFill>
                <a:schemeClr val="dk1"/>
              </a:solidFill>
              <a:latin typeface="Arial"/>
              <a:ea typeface="Arial"/>
              <a:cs typeface="Arial"/>
              <a:sym typeface="Arial"/>
            </a:endParaRPr>
          </a:p>
        </p:txBody>
      </p:sp>
      <p:sp>
        <p:nvSpPr>
          <p:cNvPr id="420" name="Google Shape;420;p48"/>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8"/>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High bar</a:t>
            </a:r>
            <a:endParaRPr b="0" i="0" sz="2200" u="none" cap="none" strike="noStrike">
              <a:solidFill>
                <a:schemeClr val="dk1"/>
              </a:solidFill>
              <a:latin typeface="Arial"/>
              <a:ea typeface="Arial"/>
              <a:cs typeface="Arial"/>
              <a:sym typeface="Arial"/>
            </a:endParaRPr>
          </a:p>
        </p:txBody>
      </p:sp>
      <p:sp>
        <p:nvSpPr>
          <p:cNvPr id="422" name="Google Shape;422;p48"/>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almost everything passes, a badge signals little.</a:t>
            </a:r>
            <a:endParaRPr b="0" i="0" sz="2000" u="none" cap="none" strike="noStrike">
              <a:solidFill>
                <a:schemeClr val="dk1"/>
              </a:solidFill>
              <a:latin typeface="Arial"/>
              <a:ea typeface="Arial"/>
              <a:cs typeface="Arial"/>
              <a:sym typeface="Arial"/>
            </a:endParaRPr>
          </a:p>
        </p:txBody>
      </p:sp>
      <p:sp>
        <p:nvSpPr>
          <p:cNvPr id="423" name="Google Shape;423;p4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430" name="Google Shape;430;p49"/>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checks the checkers?</a:t>
            </a:r>
            <a:endParaRPr b="0" i="0" sz="2600" u="none" cap="none" strike="noStrike">
              <a:solidFill>
                <a:schemeClr val="dk1"/>
              </a:solidFill>
              <a:latin typeface="Arial"/>
              <a:ea typeface="Arial"/>
              <a:cs typeface="Arial"/>
              <a:sym typeface="Arial"/>
            </a:endParaRPr>
          </a:p>
        </p:txBody>
      </p:sp>
      <p:sp>
        <p:nvSpPr>
          <p:cNvPr id="431" name="Google Shape;431;p49"/>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9"/>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Most AEC members serve once, and a third have never built an artifact themselves (pp. 473, 478).</a:t>
            </a:r>
            <a:endParaRPr b="0" i="0" sz="1800" u="none" cap="none" strike="noStrike">
              <a:solidFill>
                <a:schemeClr val="dk1"/>
              </a:solidFill>
              <a:latin typeface="Arial"/>
              <a:ea typeface="Arial"/>
              <a:cs typeface="Arial"/>
              <a:sym typeface="Arial"/>
            </a:endParaRPr>
          </a:p>
        </p:txBody>
      </p:sp>
      <p:sp>
        <p:nvSpPr>
          <p:cNvPr id="433" name="Google Shape;433;p49"/>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9"/>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Students are fine</a:t>
            </a:r>
            <a:endParaRPr b="0" i="0" sz="2200" u="none" cap="none" strike="noStrike">
              <a:solidFill>
                <a:schemeClr val="dk1"/>
              </a:solidFill>
              <a:latin typeface="Arial"/>
              <a:ea typeface="Arial"/>
              <a:cs typeface="Arial"/>
              <a:sym typeface="Arial"/>
            </a:endParaRPr>
          </a:p>
        </p:txBody>
      </p:sp>
      <p:sp>
        <p:nvSpPr>
          <p:cNvPr id="435" name="Google Shape;435;p49"/>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Reviewing is training; fresh eyes see what users will see.</a:t>
            </a:r>
            <a:endParaRPr b="0" i="0" sz="2000" u="none" cap="none" strike="noStrike">
              <a:solidFill>
                <a:schemeClr val="dk1"/>
              </a:solidFill>
              <a:latin typeface="Arial"/>
              <a:ea typeface="Arial"/>
              <a:cs typeface="Arial"/>
              <a:sym typeface="Arial"/>
            </a:endParaRPr>
          </a:p>
        </p:txBody>
      </p:sp>
      <p:sp>
        <p:nvSpPr>
          <p:cNvPr id="436" name="Google Shape;436;p49"/>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9"/>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Experts needed</a:t>
            </a:r>
            <a:endParaRPr b="0" i="0" sz="2200" u="none" cap="none" strike="noStrike">
              <a:solidFill>
                <a:schemeClr val="dk1"/>
              </a:solidFill>
              <a:latin typeface="Arial"/>
              <a:ea typeface="Arial"/>
              <a:cs typeface="Arial"/>
              <a:sym typeface="Arial"/>
            </a:endParaRPr>
          </a:p>
        </p:txBody>
      </p:sp>
      <p:sp>
        <p:nvSpPr>
          <p:cNvPr id="438" name="Google Shape;438;p49"/>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Inexperienced reviewers make badges inconsistent across years.</a:t>
            </a:r>
            <a:endParaRPr b="0" i="0" sz="2000" u="none" cap="none" strike="noStrike">
              <a:solidFill>
                <a:schemeClr val="dk1"/>
              </a:solidFill>
              <a:latin typeface="Arial"/>
              <a:ea typeface="Arial"/>
              <a:cs typeface="Arial"/>
              <a:sym typeface="Arial"/>
            </a:endParaRPr>
          </a:p>
        </p:txBody>
      </p:sp>
      <p:sp>
        <p:nvSpPr>
          <p:cNvPr id="439" name="Google Shape;439;p4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446" name="Google Shape;446;p50"/>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Is "set up in 30 minutes" a quality standard or a convenience rule?</a:t>
            </a:r>
            <a:endParaRPr b="0" i="0" sz="2600" u="none" cap="none" strike="noStrike">
              <a:solidFill>
                <a:schemeClr val="dk1"/>
              </a:solidFill>
              <a:latin typeface="Arial"/>
              <a:ea typeface="Arial"/>
              <a:cs typeface="Arial"/>
              <a:sym typeface="Arial"/>
            </a:endParaRPr>
          </a:p>
        </p:txBody>
      </p:sp>
      <p:sp>
        <p:nvSpPr>
          <p:cNvPr id="447" name="Google Shape;447;p50"/>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0"/>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It is the only concrete threshold in 79 calls (10 calls, p. 472).</a:t>
            </a:r>
            <a:endParaRPr b="0" i="0" sz="1800" u="none" cap="none" strike="noStrike">
              <a:solidFill>
                <a:schemeClr val="dk1"/>
              </a:solidFill>
              <a:latin typeface="Arial"/>
              <a:ea typeface="Arial"/>
              <a:cs typeface="Arial"/>
              <a:sym typeface="Arial"/>
            </a:endParaRPr>
          </a:p>
        </p:txBody>
      </p:sp>
      <p:sp>
        <p:nvSpPr>
          <p:cNvPr id="449" name="Google Shape;449;p50"/>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0"/>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A real standard</a:t>
            </a:r>
            <a:endParaRPr b="0" i="0" sz="2200" u="none" cap="none" strike="noStrike">
              <a:solidFill>
                <a:schemeClr val="dk1"/>
              </a:solidFill>
              <a:latin typeface="Arial"/>
              <a:ea typeface="Arial"/>
              <a:cs typeface="Arial"/>
              <a:sym typeface="Arial"/>
            </a:endParaRPr>
          </a:p>
        </p:txBody>
      </p:sp>
      <p:sp>
        <p:nvSpPr>
          <p:cNvPr id="451" name="Google Shape;451;p50"/>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users cannot start it quickly, they will not use it.</a:t>
            </a:r>
            <a:endParaRPr b="0" i="0" sz="2000" u="none" cap="none" strike="noStrike">
              <a:solidFill>
                <a:schemeClr val="dk1"/>
              </a:solidFill>
              <a:latin typeface="Arial"/>
              <a:ea typeface="Arial"/>
              <a:cs typeface="Arial"/>
              <a:sym typeface="Arial"/>
            </a:endParaRPr>
          </a:p>
        </p:txBody>
      </p:sp>
      <p:sp>
        <p:nvSpPr>
          <p:cNvPr id="452" name="Google Shape;452;p50"/>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0"/>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Just convenience</a:t>
            </a:r>
            <a:endParaRPr b="0" i="0" sz="2200" u="none" cap="none" strike="noStrike">
              <a:solidFill>
                <a:schemeClr val="dk1"/>
              </a:solidFill>
              <a:latin typeface="Arial"/>
              <a:ea typeface="Arial"/>
              <a:cs typeface="Arial"/>
              <a:sym typeface="Arial"/>
            </a:endParaRPr>
          </a:p>
        </p:txBody>
      </p:sp>
      <p:sp>
        <p:nvSpPr>
          <p:cNvPr id="454" name="Google Shape;454;p50"/>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It says nothing about whether the results are right.</a:t>
            </a:r>
            <a:endParaRPr b="0" i="0" sz="2000" u="none" cap="none" strike="noStrike">
              <a:solidFill>
                <a:schemeClr val="dk1"/>
              </a:solidFill>
              <a:latin typeface="Arial"/>
              <a:ea typeface="Arial"/>
              <a:cs typeface="Arial"/>
              <a:sym typeface="Arial"/>
            </a:endParaRPr>
          </a:p>
        </p:txBody>
      </p:sp>
      <p:sp>
        <p:nvSpPr>
          <p:cNvPr id="455" name="Google Shape;455;p5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1"/>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462" name="Google Shape;462;p51"/>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469" name="Google Shape;469;p52"/>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Counted artifact links in 1434 SE papers and surveyed 153 authors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papers link an artifact, few go through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Twelve challenges for creators, users and reviewers; the root is incentives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Eight recommendations, each aimed at a specific group</a:t>
            </a:r>
            <a:endParaRPr b="0" i="0" sz="2200" u="none" cap="none" strike="noStrike">
              <a:solidFill>
                <a:schemeClr val="dk1"/>
              </a:solidFill>
              <a:latin typeface="Arial"/>
              <a:ea typeface="Arial"/>
              <a:cs typeface="Arial"/>
              <a:sym typeface="Arial"/>
            </a:endParaRPr>
          </a:p>
        </p:txBody>
      </p:sp>
      <p:sp>
        <p:nvSpPr>
          <p:cNvPr id="470" name="Google Shape;470;p5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477" name="Google Shape;477;p53"/>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"any external materials or information provided … via a link" (p. 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Available: the link still works; content was not checked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ACM quality criteria: documented, consistent, complete, exercisable (pp. 4–5)</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Mostly says "replication"; re-running an artifact = our 2020 reproducibility</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Diffusion of Innovations: innovation, channels, time, social system (p. 5)</a:t>
            </a:r>
            <a:endParaRPr b="0" i="0" sz="2200" u="none" cap="none" strike="noStrike">
              <a:solidFill>
                <a:schemeClr val="dk1"/>
              </a:solidFill>
              <a:latin typeface="Arial"/>
              <a:ea typeface="Arial"/>
              <a:cs typeface="Arial"/>
              <a:sym typeface="Arial"/>
            </a:endParaRPr>
          </a:p>
        </p:txBody>
      </p:sp>
      <p:sp>
        <p:nvSpPr>
          <p:cNvPr id="478" name="Google Shape;478;p5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485" name="Google Shape;485;p5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creators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users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reviewers face?</a:t>
            </a:r>
            <a:endParaRPr b="0" i="0" sz="2200" u="none" cap="none" strike="noStrike">
              <a:solidFill>
                <a:schemeClr val="dk1"/>
              </a:solidFill>
              <a:latin typeface="Arial"/>
              <a:ea typeface="Arial"/>
              <a:cs typeface="Arial"/>
              <a:sym typeface="Arial"/>
            </a:endParaRPr>
          </a:p>
        </p:txBody>
      </p:sp>
      <p:sp>
        <p:nvSpPr>
          <p:cNvPr id="486" name="Google Shape;486;p5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493" name="Google Shape;493;p55"/>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55"/>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1434</a:t>
            </a:r>
            <a:endParaRPr b="0" i="0" sz="3600" u="none" cap="none" strike="noStrike">
              <a:solidFill>
                <a:schemeClr val="dk1"/>
              </a:solidFill>
              <a:latin typeface="Arial"/>
              <a:ea typeface="Arial"/>
              <a:cs typeface="Arial"/>
              <a:sym typeface="Arial"/>
            </a:endParaRPr>
          </a:p>
        </p:txBody>
      </p:sp>
      <p:sp>
        <p:nvSpPr>
          <p:cNvPr id="495" name="Google Shape;495;p55"/>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papers surveyed</a:t>
            </a:r>
            <a:endParaRPr b="0" i="0" sz="1800" u="none" cap="none" strike="noStrike">
              <a:solidFill>
                <a:schemeClr val="dk1"/>
              </a:solidFill>
              <a:latin typeface="Arial"/>
              <a:ea typeface="Arial"/>
              <a:cs typeface="Arial"/>
              <a:sym typeface="Arial"/>
            </a:endParaRPr>
          </a:p>
        </p:txBody>
      </p:sp>
      <p:sp>
        <p:nvSpPr>
          <p:cNvPr id="496" name="Google Shape;496;p55"/>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5"/>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153</a:t>
            </a:r>
            <a:endParaRPr b="0" i="0" sz="3600" u="none" cap="none" strike="noStrike">
              <a:solidFill>
                <a:schemeClr val="dk1"/>
              </a:solidFill>
              <a:latin typeface="Arial"/>
              <a:ea typeface="Arial"/>
              <a:cs typeface="Arial"/>
              <a:sym typeface="Arial"/>
            </a:endParaRPr>
          </a:p>
        </p:txBody>
      </p:sp>
      <p:sp>
        <p:nvSpPr>
          <p:cNvPr id="498" name="Google Shape;498;p55"/>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authors answered</a:t>
            </a:r>
            <a:endParaRPr b="0" i="0" sz="1800" u="none" cap="none" strike="noStrike">
              <a:solidFill>
                <a:schemeClr val="dk1"/>
              </a:solidFill>
              <a:latin typeface="Arial"/>
              <a:ea typeface="Arial"/>
              <a:cs typeface="Arial"/>
              <a:sym typeface="Arial"/>
            </a:endParaRPr>
          </a:p>
        </p:txBody>
      </p:sp>
      <p:sp>
        <p:nvSpPr>
          <p:cNvPr id="499" name="Google Shape;499;p55"/>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55"/>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32</a:t>
            </a:r>
            <a:endParaRPr b="0" i="0" sz="3600" u="none" cap="none" strike="noStrike">
              <a:solidFill>
                <a:schemeClr val="dk1"/>
              </a:solidFill>
              <a:latin typeface="Arial"/>
              <a:ea typeface="Arial"/>
              <a:cs typeface="Arial"/>
              <a:sym typeface="Arial"/>
            </a:endParaRPr>
          </a:p>
        </p:txBody>
      </p:sp>
      <p:sp>
        <p:nvSpPr>
          <p:cNvPr id="501" name="Google Shape;501;p55"/>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of them reviewers</a:t>
            </a:r>
            <a:endParaRPr b="0" i="0" sz="1800" u="none" cap="none" strike="noStrike">
              <a:solidFill>
                <a:schemeClr val="dk1"/>
              </a:solidFill>
              <a:latin typeface="Arial"/>
              <a:ea typeface="Arial"/>
              <a:cs typeface="Arial"/>
              <a:sym typeface="Arial"/>
            </a:endParaRPr>
          </a:p>
        </p:txBody>
      </p:sp>
      <p:sp>
        <p:nvSpPr>
          <p:cNvPr id="502" name="Google Shape;502;p55"/>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All technical papers at ICSE, FSE, ASE, EMSE 2014–2018; links found by regex, checked by hand</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Links checked once, January–February 2019</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744 authors of 2018 papers emailed; 153 answered (22 %)</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Descriptive and axial coding; shows the range of themes, not their prevalence (p. 9)</a:t>
            </a:r>
            <a:endParaRPr b="0" i="0" sz="2000" u="none" cap="none" strike="noStrike">
              <a:solidFill>
                <a:schemeClr val="dk1"/>
              </a:solidFill>
              <a:latin typeface="Arial"/>
              <a:ea typeface="Arial"/>
              <a:cs typeface="Arial"/>
              <a:sym typeface="Arial"/>
            </a:endParaRPr>
          </a:p>
        </p:txBody>
      </p:sp>
      <p:sp>
        <p:nvSpPr>
          <p:cNvPr id="503" name="Google Shape;503;p5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510" name="Google Shape;510;p56"/>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62.7 % of papers link an artifact, rising from 51 % to 69 %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About 14 % of links dead; 26 % for 2014 papers (Fig. 3, p. 20)</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FSE: 74 of 196 artifact papers submitted to AE, 64 accepted (Fig. 4)</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Top user problems: no usage instructions (103), artifact gone (81)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C1 "not worth it" and C10 "no reviewer incentives" drive the rest</a:t>
            </a:r>
            <a:endParaRPr b="0" i="0" sz="2200" u="none" cap="none" strike="noStrike">
              <a:solidFill>
                <a:schemeClr val="dk1"/>
              </a:solidFill>
              <a:latin typeface="Arial"/>
              <a:ea typeface="Arial"/>
              <a:cs typeface="Arial"/>
              <a:sym typeface="Arial"/>
            </a:endParaRPr>
          </a:p>
        </p:txBody>
      </p:sp>
      <p:sp>
        <p:nvSpPr>
          <p:cNvPr id="511" name="Google Shape;511;p5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518" name="Google Shape;518;p5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Creators: describe the artifact, make it self-contained, plan from day one (R1–R3)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and organisers: rubrics, aligned expectations, cheaper reviewing (R4–R6)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Community leaders: count artifacts in hiring, promotion and grants (R7–R8)</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Threats: links ≠ usable artifacts; authors not contacted; 2018 authors only (pp. 10–11)</a:t>
            </a:r>
            <a:endParaRPr b="0" i="0" sz="2200" u="none" cap="none" strike="noStrike">
              <a:solidFill>
                <a:schemeClr val="dk1"/>
              </a:solidFill>
              <a:latin typeface="Arial"/>
              <a:ea typeface="Arial"/>
              <a:cs typeface="Arial"/>
              <a:sym typeface="Arial"/>
            </a:endParaRPr>
          </a:p>
        </p:txBody>
      </p:sp>
      <p:sp>
        <p:nvSpPr>
          <p:cNvPr id="519" name="Google Shape;519;p5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26" name="Google Shape;526;p58"/>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 failed artifact evaluation be able to reject a paper?</a:t>
            </a:r>
            <a:endParaRPr b="0" i="0" sz="2600" u="none" cap="none" strike="noStrike">
              <a:solidFill>
                <a:schemeClr val="dk1"/>
              </a:solidFill>
              <a:latin typeface="Arial"/>
              <a:ea typeface="Arial"/>
              <a:cs typeface="Arial"/>
              <a:sym typeface="Arial"/>
            </a:endParaRPr>
          </a:p>
        </p:txBody>
      </p:sp>
      <p:sp>
        <p:nvSpPr>
          <p:cNvPr id="527" name="Google Shape;527;p58"/>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58"/>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Timperley et al. say artifacts should be part of paper review (p. 28). "The evaluations do not determine if the paper is accepted, so I didn't pay much attention" (Hermann, id 79, p. 478).</a:t>
            </a:r>
            <a:endParaRPr b="0" i="0" sz="1800" u="none" cap="none" strike="noStrike">
              <a:solidFill>
                <a:schemeClr val="dk1"/>
              </a:solidFill>
              <a:latin typeface="Arial"/>
              <a:ea typeface="Arial"/>
              <a:cs typeface="Arial"/>
              <a:sym typeface="Arial"/>
            </a:endParaRPr>
          </a:p>
        </p:txBody>
      </p:sp>
      <p:sp>
        <p:nvSpPr>
          <p:cNvPr id="529" name="Google Shape;529;p58"/>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58"/>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Yes</a:t>
            </a:r>
            <a:endParaRPr b="0" i="0" sz="2200" u="none" cap="none" strike="noStrike">
              <a:solidFill>
                <a:schemeClr val="dk1"/>
              </a:solidFill>
              <a:latin typeface="Arial"/>
              <a:ea typeface="Arial"/>
              <a:cs typeface="Arial"/>
              <a:sym typeface="Arial"/>
            </a:endParaRPr>
          </a:p>
        </p:txBody>
      </p:sp>
      <p:sp>
        <p:nvSpPr>
          <p:cNvPr id="531" name="Google Shape;531;p58"/>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AE is optional decoration.</a:t>
            </a:r>
            <a:endParaRPr b="0" i="0" sz="2000" u="none" cap="none" strike="noStrike">
              <a:solidFill>
                <a:schemeClr val="dk1"/>
              </a:solidFill>
              <a:latin typeface="Arial"/>
              <a:ea typeface="Arial"/>
              <a:cs typeface="Arial"/>
              <a:sym typeface="Arial"/>
            </a:endParaRPr>
          </a:p>
        </p:txBody>
      </p:sp>
      <p:sp>
        <p:nvSpPr>
          <p:cNvPr id="532" name="Google Shape;532;p58"/>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58"/>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No</a:t>
            </a:r>
            <a:endParaRPr b="0" i="0" sz="2200" u="none" cap="none" strike="noStrike">
              <a:solidFill>
                <a:schemeClr val="dk1"/>
              </a:solidFill>
              <a:latin typeface="Arial"/>
              <a:ea typeface="Arial"/>
              <a:cs typeface="Arial"/>
              <a:sym typeface="Arial"/>
            </a:endParaRPr>
          </a:p>
        </p:txBody>
      </p:sp>
      <p:sp>
        <p:nvSpPr>
          <p:cNvPr id="534" name="Google Shape;534;p58"/>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Clashes with double-blind review (C8) and penalises industry papers (C9).</a:t>
            </a:r>
            <a:endParaRPr b="0" i="0" sz="2000" u="none" cap="none" strike="noStrike">
              <a:solidFill>
                <a:schemeClr val="dk1"/>
              </a:solidFill>
              <a:latin typeface="Arial"/>
              <a:ea typeface="Arial"/>
              <a:cs typeface="Arial"/>
              <a:sym typeface="Arial"/>
            </a:endParaRPr>
          </a:p>
        </p:txBody>
      </p:sp>
      <p:sp>
        <p:nvSpPr>
          <p:cNvPr id="535" name="Google Shape;535;p5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5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42" name="Google Shape;542;p59"/>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keeps an artifact alive after the PhD?</a:t>
            </a:r>
            <a:endParaRPr b="0" i="0" sz="2600" u="none" cap="none" strike="noStrike">
              <a:solidFill>
                <a:schemeClr val="dk1"/>
              </a:solidFill>
              <a:latin typeface="Arial"/>
              <a:ea typeface="Arial"/>
              <a:cs typeface="Arial"/>
              <a:sym typeface="Arial"/>
            </a:endParaRPr>
          </a:p>
        </p:txBody>
      </p:sp>
      <p:sp>
        <p:nvSpPr>
          <p:cNvPr id="543" name="Google Shape;543;p59"/>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59"/>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C3 maintenance (p. 16). R3 asks advisors for transition plans and a Zenodo snapshot (p. 32).</a:t>
            </a:r>
            <a:endParaRPr b="0" i="0" sz="1800" u="none" cap="none" strike="noStrike">
              <a:solidFill>
                <a:schemeClr val="dk1"/>
              </a:solidFill>
              <a:latin typeface="Arial"/>
              <a:ea typeface="Arial"/>
              <a:cs typeface="Arial"/>
              <a:sym typeface="Arial"/>
            </a:endParaRPr>
          </a:p>
        </p:txBody>
      </p:sp>
      <p:sp>
        <p:nvSpPr>
          <p:cNvPr id="545" name="Google Shape;545;p59"/>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59"/>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Snapshot is enough</a:t>
            </a:r>
            <a:endParaRPr b="0" i="0" sz="2200" u="none" cap="none" strike="noStrike">
              <a:solidFill>
                <a:schemeClr val="dk1"/>
              </a:solidFill>
              <a:latin typeface="Arial"/>
              <a:ea typeface="Arial"/>
              <a:cs typeface="Arial"/>
              <a:sym typeface="Arial"/>
            </a:endParaRPr>
          </a:p>
        </p:txBody>
      </p:sp>
      <p:sp>
        <p:nvSpPr>
          <p:cNvPr id="547" name="Google Shape;547;p59"/>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Archive it, mark it unmaintained, move on.</a:t>
            </a:r>
            <a:endParaRPr b="0" i="0" sz="2000" u="none" cap="none" strike="noStrike">
              <a:solidFill>
                <a:schemeClr val="dk1"/>
              </a:solidFill>
              <a:latin typeface="Arial"/>
              <a:ea typeface="Arial"/>
              <a:cs typeface="Arial"/>
              <a:sym typeface="Arial"/>
            </a:endParaRPr>
          </a:p>
        </p:txBody>
      </p:sp>
      <p:sp>
        <p:nvSpPr>
          <p:cNvPr id="548" name="Google Shape;548;p59"/>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59"/>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Ongoing upkeep</a:t>
            </a:r>
            <a:endParaRPr b="0" i="0" sz="2200" u="none" cap="none" strike="noStrike">
              <a:solidFill>
                <a:schemeClr val="dk1"/>
              </a:solidFill>
              <a:latin typeface="Arial"/>
              <a:ea typeface="Arial"/>
              <a:cs typeface="Arial"/>
              <a:sym typeface="Arial"/>
            </a:endParaRPr>
          </a:p>
        </p:txBody>
      </p:sp>
      <p:sp>
        <p:nvSpPr>
          <p:cNvPr id="550" name="Google Shape;550;p59"/>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Research software is infrastructure and needs funding (P102, p. 19).</a:t>
            </a:r>
            <a:endParaRPr b="0" i="0" sz="2000" u="none" cap="none" strike="noStrike">
              <a:solidFill>
                <a:schemeClr val="dk1"/>
              </a:solidFill>
              <a:latin typeface="Arial"/>
              <a:ea typeface="Arial"/>
              <a:cs typeface="Arial"/>
              <a:sym typeface="Arial"/>
            </a:endParaRPr>
          </a:p>
        </p:txBody>
      </p:sp>
      <p:sp>
        <p:nvSpPr>
          <p:cNvPr id="551" name="Google Shape;551;p5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58" name="Google Shape;558;p60"/>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Students as artifact reviewers: training opportunity or devaluation?</a:t>
            </a:r>
            <a:endParaRPr b="0" i="0" sz="2600" u="none" cap="none" strike="noStrike">
              <a:solidFill>
                <a:schemeClr val="dk1"/>
              </a:solidFill>
              <a:latin typeface="Arial"/>
              <a:ea typeface="Arial"/>
              <a:cs typeface="Arial"/>
              <a:sym typeface="Arial"/>
            </a:endParaRPr>
          </a:p>
        </p:txBody>
      </p:sp>
      <p:sp>
        <p:nvSpPr>
          <p:cNvPr id="559" name="Google Shape;559;p60"/>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60"/>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"We usually just make students do AEC … it reinforces the idea that artifacts are not a primary thing" (P64, p. 23).</a:t>
            </a:r>
            <a:endParaRPr b="0" i="0" sz="1800" u="none" cap="none" strike="noStrike">
              <a:solidFill>
                <a:schemeClr val="dk1"/>
              </a:solidFill>
              <a:latin typeface="Arial"/>
              <a:ea typeface="Arial"/>
              <a:cs typeface="Arial"/>
              <a:sym typeface="Arial"/>
            </a:endParaRPr>
          </a:p>
        </p:txBody>
      </p:sp>
      <p:sp>
        <p:nvSpPr>
          <p:cNvPr id="561" name="Google Shape;561;p60"/>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0"/>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Training</a:t>
            </a:r>
            <a:endParaRPr b="0" i="0" sz="2200" u="none" cap="none" strike="noStrike">
              <a:solidFill>
                <a:schemeClr val="dk1"/>
              </a:solidFill>
              <a:latin typeface="Arial"/>
              <a:ea typeface="Arial"/>
              <a:cs typeface="Arial"/>
              <a:sym typeface="Arial"/>
            </a:endParaRPr>
          </a:p>
        </p:txBody>
      </p:sp>
      <p:sp>
        <p:nvSpPr>
          <p:cNvPr id="563" name="Google Shape;563;p60"/>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Students learn what good artifacts look like.</a:t>
            </a:r>
            <a:endParaRPr b="0" i="0" sz="2000" u="none" cap="none" strike="noStrike">
              <a:solidFill>
                <a:schemeClr val="dk1"/>
              </a:solidFill>
              <a:latin typeface="Arial"/>
              <a:ea typeface="Arial"/>
              <a:cs typeface="Arial"/>
              <a:sym typeface="Arial"/>
            </a:endParaRPr>
          </a:p>
        </p:txBody>
      </p:sp>
      <p:sp>
        <p:nvSpPr>
          <p:cNvPr id="564" name="Google Shape;564;p60"/>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60"/>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Devaluation</a:t>
            </a:r>
            <a:endParaRPr b="0" i="0" sz="2200" u="none" cap="none" strike="noStrike">
              <a:solidFill>
                <a:schemeClr val="dk1"/>
              </a:solidFill>
              <a:latin typeface="Arial"/>
              <a:ea typeface="Arial"/>
              <a:cs typeface="Arial"/>
              <a:sym typeface="Arial"/>
            </a:endParaRPr>
          </a:p>
        </p:txBody>
      </p:sp>
      <p:sp>
        <p:nvSpPr>
          <p:cNvPr id="566" name="Google Shape;566;p60"/>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Signals that artifact work is second-class.</a:t>
            </a:r>
            <a:endParaRPr b="0" i="0" sz="2000" u="none" cap="none" strike="noStrike">
              <a:solidFill>
                <a:schemeClr val="dk1"/>
              </a:solidFill>
              <a:latin typeface="Arial"/>
              <a:ea typeface="Arial"/>
              <a:cs typeface="Arial"/>
              <a:sym typeface="Arial"/>
            </a:endParaRPr>
          </a:p>
        </p:txBody>
      </p:sp>
      <p:sp>
        <p:nvSpPr>
          <p:cNvPr id="567" name="Google Shape;567;p6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1"/>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574" name="Google Shape;574;p61"/>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6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graphicFrame>
        <p:nvGraphicFramePr>
          <p:cNvPr id="581" name="Google Shape;581;p62"/>
          <p:cNvGraphicFramePr/>
          <p:nvPr/>
        </p:nvGraphicFramePr>
        <p:xfrm>
          <a:off x="640080" y="1554480"/>
          <a:ext cx="3000000" cy="3000000"/>
        </p:xfrm>
        <a:graphic>
          <a:graphicData uri="http://schemas.openxmlformats.org/drawingml/2006/table">
            <a:tbl>
              <a:tblPr>
                <a:noFill/>
                <a:tableStyleId>{9704C155-1FCA-4176-BA3D-C873695EB98C}</a:tableStyleId>
              </a:tblPr>
              <a:tblGrid>
                <a:gridCol w="3637175"/>
                <a:gridCol w="3637175"/>
                <a:gridCol w="3637175"/>
              </a:tblGrid>
              <a:tr h="640075">
                <a:tc>
                  <a:txBody>
                    <a:bodyPr/>
                    <a:lstStyle/>
                    <a:p>
                      <a:pPr indent="0" lvl="0" marL="0" marR="0" rtl="0" algn="l">
                        <a:spcBef>
                          <a:spcPts val="0"/>
                        </a:spcBef>
                        <a:spcAft>
                          <a:spcPts val="0"/>
                        </a:spcAft>
                        <a:buClr>
                          <a:schemeClr val="dk1"/>
                        </a:buClr>
                        <a:buSzPts val="2000"/>
                        <a:buFont typeface="Arial"/>
                        <a:buNone/>
                      </a:pPr>
                      <a:r>
                        <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Hermann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Timperley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Asked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Reviewers (AEC members)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Authors (few reviewers)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Field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and programming languages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only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Diagnosis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Unclear purpose and standards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Misaligned incentives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Proposal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Standards per community in the calls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R1–R8 for each group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bl>
          </a:graphicData>
        </a:graphic>
      </p:graphicFrame>
      <p:sp>
        <p:nvSpPr>
          <p:cNvPr id="582" name="Google Shape;582;p62"/>
          <p:cNvSpPr txBox="1"/>
          <p:nvPr/>
        </p:nvSpPr>
        <p:spPr>
          <a:xfrm>
            <a:off x="640080" y="507492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Timperley et al. build three recommendations on Hermann et al.</a:t>
            </a:r>
            <a:endParaRPr b="0" i="0" sz="1800" u="none" cap="none" strike="noStrike">
              <a:solidFill>
                <a:schemeClr val="dk1"/>
              </a:solidFill>
              <a:latin typeface="Arial"/>
              <a:ea typeface="Arial"/>
              <a:cs typeface="Arial"/>
              <a:sym typeface="Arial"/>
            </a:endParaRPr>
          </a:p>
        </p:txBody>
      </p:sp>
      <p:sp>
        <p:nvSpPr>
          <p:cNvPr id="583" name="Google Shape;583;p6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6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590" name="Google Shape;590;p63"/>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No agreed quality threshold (Hermann p. 478; Timperley C6, p. 16)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are inexperienced and under-rewarded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Both lean towards coupling AE to paper acceptance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Neither opens an artifact or tests whether badges mean better artifacts</a:t>
            </a:r>
            <a:endParaRPr b="0" i="0" sz="2200" u="none" cap="none" strike="noStrike">
              <a:solidFill>
                <a:schemeClr val="dk1"/>
              </a:solidFill>
              <a:latin typeface="Arial"/>
              <a:ea typeface="Arial"/>
              <a:cs typeface="Arial"/>
              <a:sym typeface="Arial"/>
            </a:endParaRPr>
          </a:p>
        </p:txBody>
      </p:sp>
      <p:sp>
        <p:nvSpPr>
          <p:cNvPr id="591" name="Google Shape;591;p6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6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598" name="Google Shape;598;p64"/>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Fix the definitions first, or the incentives?</a:t>
            </a:r>
            <a:endParaRPr b="0" i="0" sz="2600" u="none" cap="none" strike="noStrike">
              <a:solidFill>
                <a:schemeClr val="dk1"/>
              </a:solidFill>
              <a:latin typeface="Arial"/>
              <a:ea typeface="Arial"/>
              <a:cs typeface="Arial"/>
              <a:sym typeface="Arial"/>
            </a:endParaRPr>
          </a:p>
        </p:txBody>
      </p:sp>
      <p:sp>
        <p:nvSpPr>
          <p:cNvPr id="599" name="Google Shape;599;p64"/>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64"/>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Hermann: purpose, criteria and terms (p. 479). Timperley: "not worth it" (C1) and rewards in hiring and grants (R7, p. 34).</a:t>
            </a:r>
            <a:endParaRPr b="0" i="0" sz="1800" u="none" cap="none" strike="noStrike">
              <a:solidFill>
                <a:schemeClr val="dk1"/>
              </a:solidFill>
              <a:latin typeface="Arial"/>
              <a:ea typeface="Arial"/>
              <a:cs typeface="Arial"/>
              <a:sym typeface="Arial"/>
            </a:endParaRPr>
          </a:p>
        </p:txBody>
      </p:sp>
      <p:sp>
        <p:nvSpPr>
          <p:cNvPr id="601" name="Google Shape;601;p64"/>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4"/>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Standards first</a:t>
            </a:r>
            <a:endParaRPr b="0" i="0" sz="2200" u="none" cap="none" strike="noStrike">
              <a:solidFill>
                <a:schemeClr val="dk1"/>
              </a:solidFill>
              <a:latin typeface="Arial"/>
              <a:ea typeface="Arial"/>
              <a:cs typeface="Arial"/>
              <a:sym typeface="Arial"/>
            </a:endParaRPr>
          </a:p>
        </p:txBody>
      </p:sp>
      <p:sp>
        <p:nvSpPr>
          <p:cNvPr id="603" name="Google Shape;603;p64"/>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You cannot reward what you cannot measure.</a:t>
            </a:r>
            <a:endParaRPr b="0" i="0" sz="2000" u="none" cap="none" strike="noStrike">
              <a:solidFill>
                <a:schemeClr val="dk1"/>
              </a:solidFill>
              <a:latin typeface="Arial"/>
              <a:ea typeface="Arial"/>
              <a:cs typeface="Arial"/>
              <a:sym typeface="Arial"/>
            </a:endParaRPr>
          </a:p>
        </p:txBody>
      </p:sp>
      <p:sp>
        <p:nvSpPr>
          <p:cNvPr id="604" name="Google Shape;604;p64"/>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4"/>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Incentives first</a:t>
            </a:r>
            <a:endParaRPr b="0" i="0" sz="2200" u="none" cap="none" strike="noStrike">
              <a:solidFill>
                <a:schemeClr val="dk1"/>
              </a:solidFill>
              <a:latin typeface="Arial"/>
              <a:ea typeface="Arial"/>
              <a:cs typeface="Arial"/>
              <a:sym typeface="Arial"/>
            </a:endParaRPr>
          </a:p>
        </p:txBody>
      </p:sp>
      <p:sp>
        <p:nvSpPr>
          <p:cNvPr id="606" name="Google Shape;606;p64"/>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Perfect criteria change nothing if nobody submits.</a:t>
            </a:r>
            <a:endParaRPr b="0" i="0" sz="2000" u="none" cap="none" strike="noStrike">
              <a:solidFill>
                <a:schemeClr val="dk1"/>
              </a:solidFill>
              <a:latin typeface="Arial"/>
              <a:ea typeface="Arial"/>
              <a:cs typeface="Arial"/>
              <a:sym typeface="Arial"/>
            </a:endParaRPr>
          </a:p>
        </p:txBody>
      </p:sp>
      <p:sp>
        <p:nvSpPr>
          <p:cNvPr id="607" name="Google Shape;607;p6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6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614" name="Google Shape;614;p65"/>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Run the authors' scripts, or try to break them?</a:t>
            </a:r>
            <a:endParaRPr b="0" i="0" sz="2600" u="none" cap="none" strike="noStrike">
              <a:solidFill>
                <a:schemeClr val="dk1"/>
              </a:solidFill>
              <a:latin typeface="Arial"/>
              <a:ea typeface="Arial"/>
              <a:cs typeface="Arial"/>
              <a:sym typeface="Arial"/>
            </a:endParaRPr>
          </a:p>
        </p:txBody>
      </p:sp>
      <p:sp>
        <p:nvSpPr>
          <p:cNvPr id="615" name="Google Shape;615;p65"/>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65"/>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"AECs, by asking for replicable scripts, are likely to replicate the same mistake" (Timperley P25, p. 22). Hermann: hard-coded outputs found only by reading code (p. 477).</a:t>
            </a:r>
            <a:endParaRPr b="0" i="0" sz="1800" u="none" cap="none" strike="noStrike">
              <a:solidFill>
                <a:schemeClr val="dk1"/>
              </a:solidFill>
              <a:latin typeface="Arial"/>
              <a:ea typeface="Arial"/>
              <a:cs typeface="Arial"/>
              <a:sym typeface="Arial"/>
            </a:endParaRPr>
          </a:p>
        </p:txBody>
      </p:sp>
      <p:sp>
        <p:nvSpPr>
          <p:cNvPr id="617" name="Google Shape;617;p65"/>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65"/>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Run scripts</a:t>
            </a:r>
            <a:endParaRPr b="0" i="0" sz="2200" u="none" cap="none" strike="noStrike">
              <a:solidFill>
                <a:schemeClr val="dk1"/>
              </a:solidFill>
              <a:latin typeface="Arial"/>
              <a:ea typeface="Arial"/>
              <a:cs typeface="Arial"/>
              <a:sym typeface="Arial"/>
            </a:endParaRPr>
          </a:p>
        </p:txBody>
      </p:sp>
      <p:sp>
        <p:nvSpPr>
          <p:cNvPr id="619" name="Google Shape;619;p65"/>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Cheap, scalable: exactly 2020 reproducibility.</a:t>
            </a:r>
            <a:endParaRPr b="0" i="0" sz="2000" u="none" cap="none" strike="noStrike">
              <a:solidFill>
                <a:schemeClr val="dk1"/>
              </a:solidFill>
              <a:latin typeface="Arial"/>
              <a:ea typeface="Arial"/>
              <a:cs typeface="Arial"/>
              <a:sym typeface="Arial"/>
            </a:endParaRPr>
          </a:p>
        </p:txBody>
      </p:sp>
      <p:sp>
        <p:nvSpPr>
          <p:cNvPr id="620" name="Google Shape;620;p65"/>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65"/>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Probe</a:t>
            </a:r>
            <a:endParaRPr b="0" i="0" sz="2200" u="none" cap="none" strike="noStrike">
              <a:solidFill>
                <a:schemeClr val="dk1"/>
              </a:solidFill>
              <a:latin typeface="Arial"/>
              <a:ea typeface="Arial"/>
              <a:cs typeface="Arial"/>
              <a:sym typeface="Arial"/>
            </a:endParaRPr>
          </a:p>
        </p:txBody>
      </p:sp>
      <p:sp>
        <p:nvSpPr>
          <p:cNvPr id="622" name="Google Shape;622;p65"/>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 badge certifies a repeatable bug.</a:t>
            </a:r>
            <a:endParaRPr b="0" i="0" sz="2000" u="none" cap="none" strike="noStrike">
              <a:solidFill>
                <a:schemeClr val="dk1"/>
              </a:solidFill>
              <a:latin typeface="Arial"/>
              <a:ea typeface="Arial"/>
              <a:cs typeface="Arial"/>
              <a:sym typeface="Arial"/>
            </a:endParaRPr>
          </a:p>
        </p:txBody>
      </p:sp>
      <p:sp>
        <p:nvSpPr>
          <p:cNvPr id="623" name="Google Shape;623;p6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6"/>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630" name="Google Shape;630;p66"/>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1</a:t>
            </a:r>
            <a:endParaRPr b="0" i="0" sz="4000" u="none" cap="none" strike="noStrike">
              <a:solidFill>
                <a:schemeClr val="dk1"/>
              </a:solidFill>
              <a:latin typeface="Arial"/>
              <a:ea typeface="Arial"/>
              <a:cs typeface="Arial"/>
              <a:sym typeface="Arial"/>
            </a:endParaRPr>
          </a:p>
        </p:txBody>
      </p:sp>
      <p:sp>
        <p:nvSpPr>
          <p:cNvPr id="637" name="Google Shape;637;p6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authors who never submit are missing</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125 PL vs 36 SE respondents; SE counts often single digits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257 started, 124 finished; each question has a different sample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Card-sort counts look precise but depend on one labeller</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PL/SE totals differ between sections (p. 472 vs p. 474)</a:t>
            </a:r>
            <a:endParaRPr b="0" i="0" sz="2200" u="none" cap="none" strike="noStrike">
              <a:solidFill>
                <a:schemeClr val="dk1"/>
              </a:solidFill>
              <a:latin typeface="Arial"/>
              <a:ea typeface="Arial"/>
              <a:cs typeface="Arial"/>
              <a:sym typeface="Arial"/>
            </a:endParaRPr>
          </a:p>
        </p:txBody>
      </p:sp>
      <p:sp>
        <p:nvSpPr>
          <p:cNvPr id="638" name="Google Shape;638;p6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6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2</a:t>
            </a:r>
            <a:endParaRPr b="0" i="0" sz="4000" u="none" cap="none" strike="noStrike">
              <a:solidFill>
                <a:schemeClr val="dk1"/>
              </a:solidFill>
              <a:latin typeface="Arial"/>
              <a:ea typeface="Arial"/>
              <a:cs typeface="Arial"/>
              <a:sym typeface="Arial"/>
            </a:endParaRPr>
          </a:p>
        </p:txBody>
      </p:sp>
      <p:sp>
        <p:nvSpPr>
          <p:cNvPr id="645" name="Google Shape;645;p68"/>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link counts as an artifact; a live link counts as available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"value" rests on link counts and quotes from willing respondents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Fig. 4: 26.33 % is 74 of all 281 papers; of 196 artifact papers it is 38 %</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Small inconsistencies: 81 vs 82, 60 vs 62; Table 6 cites an undefined C13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recommendations still ask creators and reviewers for more work</a:t>
            </a:r>
            <a:endParaRPr b="0" i="0" sz="2200" u="none" cap="none" strike="noStrike">
              <a:solidFill>
                <a:schemeClr val="dk1"/>
              </a:solidFill>
              <a:latin typeface="Arial"/>
              <a:ea typeface="Arial"/>
              <a:cs typeface="Arial"/>
              <a:sym typeface="Arial"/>
            </a:endParaRPr>
          </a:p>
        </p:txBody>
      </p:sp>
      <p:sp>
        <p:nvSpPr>
          <p:cNvPr id="646" name="Google Shape;646;p6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653" name="Google Shape;653;p69"/>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654" name="Google Shape;654;p6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70"/>
          <p:cNvSpPr txBox="1"/>
          <p:nvPr/>
        </p:nvSpPr>
        <p:spPr>
          <a:xfrm>
            <a:off x="640080" y="2560320"/>
            <a:ext cx="10911535"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