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fecdb8f-62a4-68c8-d207-4e9c92fd1dcf}">
          <p14:sldIdLst>
            <p14:sldId id="256"/>
            <p14:sldId id="257"/>
            <p14:sldId id="258"/>
            <p14:sldId id="259"/>
          </p14:sldIdLst>
        </p14:section>
        <p14:section name="Paper summaries" id="{d02c02ef-add4-cd72-f8a2-a8eacc014527}">
          <p14:sldIdLst>
            <p14:sldId id="260"/>
            <p14:sldId id="261"/>
            <p14:sldId id="262"/>
            <p14:sldId id="263"/>
            <p14:sldId id="264"/>
            <p14:sldId id="265"/>
          </p14:sldIdLst>
        </p14:section>
        <p14:section name="Discussion" id="{1ca121ea-1356-a869-3cc0-213ab831023c}">
          <p14:sldIdLst>
            <p14:sldId id="266"/>
            <p14:sldId id="267"/>
            <p14:sldId id="268"/>
            <p14:sldId id="269"/>
            <p14:sldId id="270"/>
            <p14:sldId id="271"/>
            <p14:sldId id="272"/>
            <p14:sldId id="273"/>
          </p14:sldIdLst>
        </p14:section>
        <p14:section name="Wrap-up" id="{33dfcb16-4ea1-34af-ca74-acaa7470361b}">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two papers that look at artifact evaluation from opposite sides, the reviewers (Hermann et al.) and the authors (Timperley et al.). Note: Stefan Winter, our lecturer, is a co-author of the Hermann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minutes of input, about 60 minutes of discussion. Amber blocks are discussion. Keep the summaries to 7 minutes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2020 reproducibility at best: another team runs the authors' artifact. Hermann's 'replicability' = our 'reproducibility'. Keep this to one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Pre-study: 79 calls for artifacts from SE and PL conferences. Survey: 1034 AEC members invited, 257 responded, 124 completed. Counts are given as total (PL/SE).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13 respondents asked, unprompted, for artifact evaluation to be coupled to paper acceptance. ICSE/FSE dropped the Functional badge to raise the bar (p. 476).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the Fig. 4 maths: the paper reports 26.33 %, which is 74 of all 281 papers. Of the 196 papers with artifacts it is about 38 %.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Highlighted: the incentive and standards challenges, which the discussion focuses on. Table 4, pp. 14–15; Table 5, p. 19; Table 6, pp. 29–30.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into the discussion: both papers see the same missing standard, and each partly blames the other side's missing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round, everyone answers in one sentence. Leads straight into incentives: learning opportunity vs. unpaid, low-status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it stalls: Hermann found 34 users saw no difference between evaluated and unevaluated artifacts and 20 did (p. 477). Does that support the low bar or the high bar? About 7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it stalls: what about Hermann's 'conditional acceptance' (id 214, p. 478)? About 8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it stalls: how long would it take to find hard-coded outputs, and who pays for that time? About 8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the room in two. Each group appoints a speaker who reports one position and its strongest argument in about 2 minutes. Then let the other group respond.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for Q1: salami-sliced artifacts, gamed GitHub stars, badges as metrics (Goodhart's law). Q2 connects to the 30-minute setup rule (Hermann p. 472), CI checks (Timperley R2, p. 31) and 'replicating the same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answers in the boxes (on the board or by editing this slide live). Optional question for the lecturer: what has changed in artifact evaluation since 2020?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4C5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657600"/>
            <a:ext cx="10698480" cy="1463040"/>
          </a:xfrm>
          <a:prstGeom prst="rect">
            <a:avLst/>
          </a:prstGeom>
          <a:noFill/>
          <a:ln/>
        </p:spPr>
        <p:txBody>
          <a:bodyPr wrap="square" rtlCol="0"/>
          <a:lstStyle>
            <a:lvl1pPr indent="0" marL="0">
              <a:buNone/>
              <a:defRPr lang="en-US" sz="2000" dirty="0">
                <a:solidFill>
                  <a:schemeClr val="accent6"/>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F4C5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566160"/>
            <a:ext cx="10698480" cy="914400"/>
          </a:xfrm>
          <a:prstGeom prst="rect">
            <a:avLst/>
          </a:prstGeom>
          <a:noFill/>
          <a:ln/>
        </p:spPr>
        <p:txBody>
          <a:bodyPr wrap="square" rtlCol="0"/>
          <a:lstStyle>
            <a:lvl1pPr indent="0" marL="0">
              <a:buNone/>
              <a:defRPr lang="en-US" sz="2000" dirty="0">
                <a:solidFill>
                  <a:schemeClr val="accent6"/>
                </a:solidFill>
              </a:defRPr>
            </a:lvl1pPr>
          </a:lstStyle>
          <a:p>
            <a:pPr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rtlCol="0" anchor="ctr"/>
          <a:lstStyle/>
          <a:p>
            <a:pPr indent="0" marL="0">
              <a:buNone/>
            </a:pPr>
            <a:r>
              <a:rPr lang="en-US" sz="1000" dirty="0">
                <a:solidFill>
                  <a:srgbClr val="6B7F86"/>
                </a:solidFill>
              </a:rPr>
              <a:t>Seminar: Reproducibility in SE Research · Lecture 2</a:t>
            </a:r>
            <a:endParaRPr lang="en-US" sz="1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6"/>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nchor="b"/>
          <a:lstStyle/>
          <a:p>
            <a:pPr algn="l" indent="0" marL="0">
              <a:buNone/>
            </a:pPr>
            <a:r>
              <a:rPr lang="en-US" sz="4400" b="1" dirty="0">
                <a:solidFill>
                  <a:schemeClr val="bg1"/>
                </a:solidFill>
              </a:rPr>
              <a:t>Who decides what a good artifact is?</a:t>
            </a:r>
            <a:endParaRPr lang="en-US" sz="4400" dirty="0"/>
          </a:p>
        </p:txBody>
      </p:sp>
      <p:sp>
        <p:nvSpPr>
          <p:cNvPr id="3" name="Text 0"/>
          <p:cNvSpPr/>
          <p:nvPr>
            <p:ph idx="101" type="body" hasCustomPrompt="1"/>
          </p:nvPr>
        </p:nvSpPr>
        <p:spPr>
          <a:xfrm>
            <a:off x="731520" y="3657600"/>
            <a:ext cx="10698480" cy="1463040"/>
          </a:xfrm>
          <a:prstGeom prst="rect">
            <a:avLst/>
          </a:prstGeom>
          <a:noFill/>
          <a:ln/>
        </p:spPr>
        <p:txBody>
          <a:bodyPr wrap="square" rtlCol="0" anchor="t"/>
          <a:lstStyle/>
          <a:p>
            <a:pPr indent="0" marL="0">
              <a:buNone/>
            </a:pPr>
            <a:r>
              <a:rPr lang="en-US" sz="2000" dirty="0">
                <a:solidFill>
                  <a:schemeClr val="accent6"/>
                </a:solidFill>
              </a:rPr>
              <a:t>Artifact evaluation from both sides: Hermann, Winter &amp; Siegmund (FSE 2020) and Timperley, Herckis, Le Goues &amp; Hilton (EMSE 2021)</a:t>
            </a:r>
            <a:endParaRPr lang="en-US" sz="2000" dirty="0"/>
          </a:p>
          <a:p>
            <a:pPr indent="0" marL="0">
              <a:buNone/>
            </a:pPr>
            <a:r>
              <a:rPr lang="en-US" sz="2000" dirty="0">
                <a:solidFill>
                  <a:schemeClr val="accent6"/>
                </a:solidFill>
              </a:rPr>
              <a:t>Lecture 2 discussion · 27 October</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p>
            <a:pPr indent="0" marL="0">
              <a:buNone/>
            </a:pPr>
            <a:r>
              <a:rPr lang="en-US" sz="3200" b="1" dirty="0">
                <a:solidFill>
                  <a:schemeClr val="tx2"/>
                </a:solidFill>
              </a:rPr>
              <a:t>Plan for the next 90 minutes</a:t>
            </a:r>
            <a:endParaRPr lang="en-US" sz="3200" dirty="0"/>
          </a:p>
        </p:txBody>
      </p:sp>
      <p:sp>
        <p:nvSpPr>
          <p:cNvPr id="3" name="card0"/>
          <p:cNvSpPr/>
          <p:nvPr/>
        </p:nvSpPr>
        <p:spPr>
          <a:xfrm>
            <a:off x="548640" y="1417320"/>
            <a:ext cx="5440680" cy="777240"/>
          </a:xfrm>
          <a:prstGeom prst="roundRect">
            <a:avLst>
              <a:gd name="adj" fmla="val 9412"/>
            </a:avLst>
          </a:prstGeom>
          <a:solidFill>
            <a:srgbClr val="EEF3F4"/>
          </a:solidFill>
          <a:ln w="12700">
            <a:solidFill>
              <a:srgbClr val="EEF3F4"/>
            </a:solidFill>
            <a:prstDash val="solid"/>
          </a:ln>
        </p:spPr>
      </p:sp>
      <p:sp>
        <p:nvSpPr>
          <p:cNvPr id="4" name="Text 2"/>
          <p:cNvSpPr txBox="1"/>
          <p:nvPr/>
        </p:nvSpPr>
        <p:spPr>
          <a:xfrm>
            <a:off x="731520" y="1572768"/>
            <a:ext cx="1463040" cy="457200"/>
          </a:xfrm>
          <a:prstGeom prst="rect">
            <a:avLst/>
          </a:prstGeom>
          <a:noFill/>
          <a:ln/>
        </p:spPr>
        <p:txBody>
          <a:bodyPr wrap="square" lIns="0" tIns="0" rIns="0" bIns="0" rtlCol="0" anchor="ctr"/>
          <a:lstStyle/>
          <a:p>
            <a:pPr indent="0" marL="0">
              <a:buNone/>
            </a:pPr>
            <a:r>
              <a:rPr lang="en-US" sz="1600" b="1" dirty="0">
                <a:solidFill>
                  <a:schemeClr val="accent1"/>
                </a:solidFill>
              </a:rPr>
              <a:t>0–5 min</a:t>
            </a:r>
            <a:endParaRPr lang="en-US" sz="1600" dirty="0"/>
          </a:p>
        </p:txBody>
      </p:sp>
      <p:sp>
        <p:nvSpPr>
          <p:cNvPr id="5" name="Text 3"/>
          <p:cNvSpPr txBox="1"/>
          <p:nvPr/>
        </p:nvSpPr>
        <p:spPr>
          <a:xfrm>
            <a:off x="2286000" y="1572768"/>
            <a:ext cx="3566160" cy="457200"/>
          </a:xfrm>
          <a:prstGeom prst="rect">
            <a:avLst/>
          </a:prstGeom>
          <a:noFill/>
          <a:ln/>
        </p:spPr>
        <p:txBody>
          <a:bodyPr wrap="square" lIns="0" tIns="0" rIns="0" bIns="0" rtlCol="0" anchor="ctr"/>
          <a:lstStyle/>
          <a:p>
            <a:pPr indent="0" marL="0">
              <a:buNone/>
            </a:pPr>
            <a:r>
              <a:rPr lang="en-US" sz="1700" dirty="0">
                <a:solidFill>
                  <a:schemeClr val="tx1"/>
                </a:solidFill>
              </a:rPr>
              <a:t>Welcome and goals</a:t>
            </a:r>
            <a:endParaRPr lang="en-US" sz="1700" dirty="0"/>
          </a:p>
        </p:txBody>
      </p:sp>
      <p:sp>
        <p:nvSpPr>
          <p:cNvPr id="6" name="card1"/>
          <p:cNvSpPr/>
          <p:nvPr/>
        </p:nvSpPr>
        <p:spPr>
          <a:xfrm>
            <a:off x="6172200" y="1417320"/>
            <a:ext cx="5440680" cy="777240"/>
          </a:xfrm>
          <a:prstGeom prst="roundRect">
            <a:avLst>
              <a:gd name="adj" fmla="val 9412"/>
            </a:avLst>
          </a:prstGeom>
          <a:solidFill>
            <a:srgbClr val="EEF3F4"/>
          </a:solidFill>
          <a:ln w="12700">
            <a:solidFill>
              <a:srgbClr val="EEF3F4"/>
            </a:solidFill>
            <a:prstDash val="solid"/>
          </a:ln>
        </p:spPr>
      </p:sp>
      <p:sp>
        <p:nvSpPr>
          <p:cNvPr id="7" name="Text 5"/>
          <p:cNvSpPr txBox="1"/>
          <p:nvPr/>
        </p:nvSpPr>
        <p:spPr>
          <a:xfrm>
            <a:off x="6355080" y="1572768"/>
            <a:ext cx="1463040" cy="457200"/>
          </a:xfrm>
          <a:prstGeom prst="rect">
            <a:avLst/>
          </a:prstGeom>
          <a:noFill/>
          <a:ln/>
        </p:spPr>
        <p:txBody>
          <a:bodyPr wrap="square" lIns="0" tIns="0" rIns="0" bIns="0" rtlCol="0" anchor="ctr"/>
          <a:lstStyle/>
          <a:p>
            <a:pPr indent="0" marL="0">
              <a:buNone/>
            </a:pPr>
            <a:r>
              <a:rPr lang="en-US" sz="1600" b="1" dirty="0">
                <a:solidFill>
                  <a:schemeClr val="accent1"/>
                </a:solidFill>
              </a:rPr>
              <a:t>5–10 min</a:t>
            </a:r>
            <a:endParaRPr lang="en-US" sz="1600" dirty="0"/>
          </a:p>
        </p:txBody>
      </p:sp>
      <p:sp>
        <p:nvSpPr>
          <p:cNvPr id="8" name="Text 6"/>
          <p:cNvSpPr txBox="1"/>
          <p:nvPr/>
        </p:nvSpPr>
        <p:spPr>
          <a:xfrm>
            <a:off x="7909560" y="1572768"/>
            <a:ext cx="3566160" cy="457200"/>
          </a:xfrm>
          <a:prstGeom prst="rect">
            <a:avLst/>
          </a:prstGeom>
          <a:noFill/>
          <a:ln/>
        </p:spPr>
        <p:txBody>
          <a:bodyPr wrap="square" lIns="0" tIns="0" rIns="0" bIns="0" rtlCol="0" anchor="ctr"/>
          <a:lstStyle/>
          <a:p>
            <a:pPr indent="0" marL="0">
              <a:buNone/>
            </a:pPr>
            <a:r>
              <a:rPr lang="en-US" sz="1700" dirty="0">
                <a:solidFill>
                  <a:schemeClr val="tx1"/>
                </a:solidFill>
              </a:rPr>
              <a:t>Terminology check</a:t>
            </a:r>
            <a:endParaRPr lang="en-US" sz="1700" dirty="0"/>
          </a:p>
        </p:txBody>
      </p:sp>
      <p:sp>
        <p:nvSpPr>
          <p:cNvPr id="9" name="card2"/>
          <p:cNvSpPr/>
          <p:nvPr/>
        </p:nvSpPr>
        <p:spPr>
          <a:xfrm>
            <a:off x="548640" y="2350008"/>
            <a:ext cx="5440680" cy="777240"/>
          </a:xfrm>
          <a:prstGeom prst="roundRect">
            <a:avLst>
              <a:gd name="adj" fmla="val 9412"/>
            </a:avLst>
          </a:prstGeom>
          <a:solidFill>
            <a:srgbClr val="EEF3F4"/>
          </a:solidFill>
          <a:ln w="12700">
            <a:solidFill>
              <a:srgbClr val="EEF3F4"/>
            </a:solidFill>
            <a:prstDash val="solid"/>
          </a:ln>
        </p:spPr>
      </p:sp>
      <p:sp>
        <p:nvSpPr>
          <p:cNvPr id="10" name="Text 8"/>
          <p:cNvSpPr txBox="1"/>
          <p:nvPr/>
        </p:nvSpPr>
        <p:spPr>
          <a:xfrm>
            <a:off x="731520" y="2505456"/>
            <a:ext cx="1463040" cy="457200"/>
          </a:xfrm>
          <a:prstGeom prst="rect">
            <a:avLst/>
          </a:prstGeom>
          <a:noFill/>
          <a:ln/>
        </p:spPr>
        <p:txBody>
          <a:bodyPr wrap="square" lIns="0" tIns="0" rIns="0" bIns="0" rtlCol="0" anchor="ctr"/>
          <a:lstStyle/>
          <a:p>
            <a:pPr indent="0" marL="0">
              <a:buNone/>
            </a:pPr>
            <a:r>
              <a:rPr lang="en-US" sz="1600" b="1" dirty="0">
                <a:solidFill>
                  <a:schemeClr val="accent1"/>
                </a:solidFill>
              </a:rPr>
              <a:t>10–25 min</a:t>
            </a:r>
            <a:endParaRPr lang="en-US" sz="1600" dirty="0"/>
          </a:p>
        </p:txBody>
      </p:sp>
      <p:sp>
        <p:nvSpPr>
          <p:cNvPr id="11" name="Text 9"/>
          <p:cNvSpPr txBox="1"/>
          <p:nvPr/>
        </p:nvSpPr>
        <p:spPr>
          <a:xfrm>
            <a:off x="2286000" y="2505456"/>
            <a:ext cx="3566160" cy="457200"/>
          </a:xfrm>
          <a:prstGeom prst="rect">
            <a:avLst/>
          </a:prstGeom>
          <a:noFill/>
          <a:ln/>
        </p:spPr>
        <p:txBody>
          <a:bodyPr wrap="square" lIns="0" tIns="0" rIns="0" bIns="0" rtlCol="0" anchor="ctr"/>
          <a:lstStyle/>
          <a:p>
            <a:pPr indent="0" marL="0">
              <a:buNone/>
            </a:pPr>
            <a:r>
              <a:rPr lang="en-US" sz="1700" dirty="0">
                <a:solidFill>
                  <a:schemeClr val="tx1"/>
                </a:solidFill>
              </a:rPr>
              <a:t>Paper summaries</a:t>
            </a:r>
            <a:endParaRPr lang="en-US" sz="1700" dirty="0"/>
          </a:p>
        </p:txBody>
      </p:sp>
      <p:sp>
        <p:nvSpPr>
          <p:cNvPr id="12" name="card3"/>
          <p:cNvSpPr/>
          <p:nvPr/>
        </p:nvSpPr>
        <p:spPr>
          <a:xfrm>
            <a:off x="6172200" y="2350008"/>
            <a:ext cx="5440680" cy="777240"/>
          </a:xfrm>
          <a:prstGeom prst="roundRect">
            <a:avLst>
              <a:gd name="adj" fmla="val 9412"/>
            </a:avLst>
          </a:prstGeom>
          <a:solidFill>
            <a:srgbClr val="EEF3F4"/>
          </a:solidFill>
          <a:ln w="12700">
            <a:solidFill>
              <a:srgbClr val="EEF3F4"/>
            </a:solidFill>
            <a:prstDash val="solid"/>
          </a:ln>
        </p:spPr>
      </p:sp>
      <p:sp>
        <p:nvSpPr>
          <p:cNvPr id="13" name="Text 11"/>
          <p:cNvSpPr txBox="1"/>
          <p:nvPr/>
        </p:nvSpPr>
        <p:spPr>
          <a:xfrm>
            <a:off x="6355080" y="2505456"/>
            <a:ext cx="1463040" cy="457200"/>
          </a:xfrm>
          <a:prstGeom prst="rect">
            <a:avLst/>
          </a:prstGeom>
          <a:noFill/>
          <a:ln/>
        </p:spPr>
        <p:txBody>
          <a:bodyPr wrap="square" lIns="0" tIns="0" rIns="0" bIns="0" rtlCol="0" anchor="ctr"/>
          <a:lstStyle/>
          <a:p>
            <a:pPr indent="0" marL="0">
              <a:buNone/>
            </a:pPr>
            <a:r>
              <a:rPr lang="en-US" sz="1600" b="1" dirty="0">
                <a:solidFill>
                  <a:schemeClr val="accent1"/>
                </a:solidFill>
              </a:rPr>
              <a:t>25–30 min</a:t>
            </a:r>
            <a:endParaRPr lang="en-US" sz="1600" dirty="0"/>
          </a:p>
        </p:txBody>
      </p:sp>
      <p:sp>
        <p:nvSpPr>
          <p:cNvPr id="14" name="Text 12"/>
          <p:cNvSpPr txBox="1"/>
          <p:nvPr/>
        </p:nvSpPr>
        <p:spPr>
          <a:xfrm>
            <a:off x="7909560" y="2505456"/>
            <a:ext cx="3566160" cy="457200"/>
          </a:xfrm>
          <a:prstGeom prst="rect">
            <a:avLst/>
          </a:prstGeom>
          <a:noFill/>
          <a:ln/>
        </p:spPr>
        <p:txBody>
          <a:bodyPr wrap="square" lIns="0" tIns="0" rIns="0" bIns="0" rtlCol="0" anchor="ctr"/>
          <a:lstStyle/>
          <a:p>
            <a:pPr indent="0" marL="0">
              <a:buNone/>
            </a:pPr>
            <a:r>
              <a:rPr lang="en-US" sz="1700" dirty="0">
                <a:solidFill>
                  <a:schemeClr val="tx1"/>
                </a:solidFill>
              </a:rPr>
              <a:t>Two sides of one problem</a:t>
            </a:r>
            <a:endParaRPr lang="en-US" sz="1700" dirty="0"/>
          </a:p>
        </p:txBody>
      </p:sp>
      <p:sp>
        <p:nvSpPr>
          <p:cNvPr id="15" name="card4"/>
          <p:cNvSpPr/>
          <p:nvPr/>
        </p:nvSpPr>
        <p:spPr>
          <a:xfrm>
            <a:off x="548640" y="3282696"/>
            <a:ext cx="5440680" cy="777240"/>
          </a:xfrm>
          <a:prstGeom prst="roundRect">
            <a:avLst>
              <a:gd name="adj" fmla="val 9412"/>
            </a:avLst>
          </a:prstGeom>
          <a:solidFill>
            <a:srgbClr val="FBEFD5"/>
          </a:solidFill>
          <a:ln w="12700">
            <a:solidFill>
              <a:srgbClr val="FBEFD5"/>
            </a:solidFill>
            <a:prstDash val="solid"/>
          </a:ln>
        </p:spPr>
      </p:sp>
      <p:sp>
        <p:nvSpPr>
          <p:cNvPr id="16" name="Text 14"/>
          <p:cNvSpPr txBox="1"/>
          <p:nvPr/>
        </p:nvSpPr>
        <p:spPr>
          <a:xfrm>
            <a:off x="731520" y="3438144"/>
            <a:ext cx="1463040" cy="457200"/>
          </a:xfrm>
          <a:prstGeom prst="rect">
            <a:avLst/>
          </a:prstGeom>
          <a:noFill/>
          <a:ln/>
        </p:spPr>
        <p:txBody>
          <a:bodyPr wrap="square" lIns="0" tIns="0" rIns="0" bIns="0" rtlCol="0" anchor="ctr"/>
          <a:lstStyle/>
          <a:p>
            <a:pPr indent="0" marL="0">
              <a:buNone/>
            </a:pPr>
            <a:r>
              <a:rPr lang="en-US" sz="1600" b="1" dirty="0">
                <a:solidFill>
                  <a:schemeClr val="accent1"/>
                </a:solidFill>
              </a:rPr>
              <a:t>30–37 min</a:t>
            </a:r>
            <a:endParaRPr lang="en-US" sz="1600" dirty="0"/>
          </a:p>
        </p:txBody>
      </p:sp>
      <p:sp>
        <p:nvSpPr>
          <p:cNvPr id="17" name="Text 15"/>
          <p:cNvSpPr txBox="1"/>
          <p:nvPr/>
        </p:nvSpPr>
        <p:spPr>
          <a:xfrm>
            <a:off x="2286000" y="3438144"/>
            <a:ext cx="3566160" cy="457200"/>
          </a:xfrm>
          <a:prstGeom prst="rect">
            <a:avLst/>
          </a:prstGeom>
          <a:noFill/>
          <a:ln/>
        </p:spPr>
        <p:txBody>
          <a:bodyPr wrap="square" lIns="0" tIns="0" rIns="0" bIns="0" rtlCol="0" anchor="ctr"/>
          <a:lstStyle/>
          <a:p>
            <a:pPr indent="0" marL="0">
              <a:buNone/>
            </a:pPr>
            <a:r>
              <a:rPr lang="en-US" sz="1700" dirty="0">
                <a:solidFill>
                  <a:schemeClr val="tx1"/>
                </a:solidFill>
              </a:rPr>
              <a:t>Warm-up question</a:t>
            </a:r>
            <a:endParaRPr lang="en-US" sz="1700" dirty="0"/>
          </a:p>
        </p:txBody>
      </p:sp>
      <p:sp>
        <p:nvSpPr>
          <p:cNvPr id="18" name="card5"/>
          <p:cNvSpPr/>
          <p:nvPr/>
        </p:nvSpPr>
        <p:spPr>
          <a:xfrm>
            <a:off x="6172200" y="3282696"/>
            <a:ext cx="5440680" cy="777240"/>
          </a:xfrm>
          <a:prstGeom prst="roundRect">
            <a:avLst>
              <a:gd name="adj" fmla="val 9412"/>
            </a:avLst>
          </a:prstGeom>
          <a:solidFill>
            <a:srgbClr val="FBEFD5"/>
          </a:solidFill>
          <a:ln w="12700">
            <a:solidFill>
              <a:srgbClr val="FBEFD5"/>
            </a:solidFill>
            <a:prstDash val="solid"/>
          </a:ln>
        </p:spPr>
      </p:sp>
      <p:sp>
        <p:nvSpPr>
          <p:cNvPr id="19" name="Text 17"/>
          <p:cNvSpPr txBox="1"/>
          <p:nvPr/>
        </p:nvSpPr>
        <p:spPr>
          <a:xfrm>
            <a:off x="6355080" y="3438144"/>
            <a:ext cx="1463040" cy="457200"/>
          </a:xfrm>
          <a:prstGeom prst="rect">
            <a:avLst/>
          </a:prstGeom>
          <a:noFill/>
          <a:ln/>
        </p:spPr>
        <p:txBody>
          <a:bodyPr wrap="square" lIns="0" tIns="0" rIns="0" bIns="0" rtlCol="0" anchor="ctr"/>
          <a:lstStyle/>
          <a:p>
            <a:pPr indent="0" marL="0">
              <a:buNone/>
            </a:pPr>
            <a:r>
              <a:rPr lang="en-US" sz="1600" b="1" dirty="0">
                <a:solidFill>
                  <a:schemeClr val="accent1"/>
                </a:solidFill>
              </a:rPr>
              <a:t>37–60 min</a:t>
            </a:r>
            <a:endParaRPr lang="en-US" sz="1600" dirty="0"/>
          </a:p>
        </p:txBody>
      </p:sp>
      <p:sp>
        <p:nvSpPr>
          <p:cNvPr id="20" name="Text 18"/>
          <p:cNvSpPr txBox="1"/>
          <p:nvPr/>
        </p:nvSpPr>
        <p:spPr>
          <a:xfrm>
            <a:off x="7909560" y="3438144"/>
            <a:ext cx="3566160" cy="457200"/>
          </a:xfrm>
          <a:prstGeom prst="rect">
            <a:avLst/>
          </a:prstGeom>
          <a:noFill/>
          <a:ln/>
        </p:spPr>
        <p:txBody>
          <a:bodyPr wrap="square" lIns="0" tIns="0" rIns="0" bIns="0" rtlCol="0" anchor="ctr"/>
          <a:lstStyle/>
          <a:p>
            <a:pPr indent="0" marL="0">
              <a:buNone/>
            </a:pPr>
            <a:r>
              <a:rPr lang="en-US" sz="1700" dirty="0">
                <a:solidFill>
                  <a:schemeClr val="tx1"/>
                </a:solidFill>
              </a:rPr>
              <a:t>Core questions, whole group</a:t>
            </a:r>
            <a:endParaRPr lang="en-US" sz="1700" dirty="0"/>
          </a:p>
        </p:txBody>
      </p:sp>
      <p:sp>
        <p:nvSpPr>
          <p:cNvPr id="21" name="card6"/>
          <p:cNvSpPr/>
          <p:nvPr/>
        </p:nvSpPr>
        <p:spPr>
          <a:xfrm>
            <a:off x="548640" y="4215384"/>
            <a:ext cx="5440680" cy="777240"/>
          </a:xfrm>
          <a:prstGeom prst="roundRect">
            <a:avLst>
              <a:gd name="adj" fmla="val 9412"/>
            </a:avLst>
          </a:prstGeom>
          <a:solidFill>
            <a:srgbClr val="EEF3F4"/>
          </a:solidFill>
          <a:ln w="12700">
            <a:solidFill>
              <a:srgbClr val="EEF3F4"/>
            </a:solidFill>
            <a:prstDash val="solid"/>
          </a:ln>
        </p:spPr>
      </p:sp>
      <p:sp>
        <p:nvSpPr>
          <p:cNvPr id="22" name="Text 20"/>
          <p:cNvSpPr txBox="1"/>
          <p:nvPr/>
        </p:nvSpPr>
        <p:spPr>
          <a:xfrm>
            <a:off x="731520" y="4370832"/>
            <a:ext cx="1463040" cy="457200"/>
          </a:xfrm>
          <a:prstGeom prst="rect">
            <a:avLst/>
          </a:prstGeom>
          <a:noFill/>
          <a:ln/>
        </p:spPr>
        <p:txBody>
          <a:bodyPr wrap="square" lIns="0" tIns="0" rIns="0" bIns="0" rtlCol="0" anchor="ctr"/>
          <a:lstStyle/>
          <a:p>
            <a:pPr indent="0" marL="0">
              <a:buNone/>
            </a:pPr>
            <a:r>
              <a:rPr lang="en-US" sz="1600" b="1" dirty="0">
                <a:solidFill>
                  <a:schemeClr val="accent1"/>
                </a:solidFill>
              </a:rPr>
              <a:t>60–62 min</a:t>
            </a:r>
            <a:endParaRPr lang="en-US" sz="1600" dirty="0"/>
          </a:p>
        </p:txBody>
      </p:sp>
      <p:sp>
        <p:nvSpPr>
          <p:cNvPr id="23" name="Text 21"/>
          <p:cNvSpPr txBox="1"/>
          <p:nvPr/>
        </p:nvSpPr>
        <p:spPr>
          <a:xfrm>
            <a:off x="2286000" y="4370832"/>
            <a:ext cx="3566160" cy="457200"/>
          </a:xfrm>
          <a:prstGeom prst="rect">
            <a:avLst/>
          </a:prstGeom>
          <a:noFill/>
          <a:ln/>
        </p:spPr>
        <p:txBody>
          <a:bodyPr wrap="square" lIns="0" tIns="0" rIns="0" bIns="0" rtlCol="0" anchor="ctr"/>
          <a:lstStyle/>
          <a:p>
            <a:pPr indent="0" marL="0">
              <a:buNone/>
            </a:pPr>
            <a:r>
              <a:rPr lang="en-US" sz="1700" dirty="0">
                <a:solidFill>
                  <a:schemeClr val="tx1"/>
                </a:solidFill>
              </a:rPr>
              <a:t>Short break</a:t>
            </a:r>
            <a:endParaRPr lang="en-US" sz="1700" dirty="0"/>
          </a:p>
        </p:txBody>
      </p:sp>
      <p:sp>
        <p:nvSpPr>
          <p:cNvPr id="24" name="card7"/>
          <p:cNvSpPr/>
          <p:nvPr/>
        </p:nvSpPr>
        <p:spPr>
          <a:xfrm>
            <a:off x="6172200" y="4215384"/>
            <a:ext cx="5440680" cy="777240"/>
          </a:xfrm>
          <a:prstGeom prst="roundRect">
            <a:avLst>
              <a:gd name="adj" fmla="val 9412"/>
            </a:avLst>
          </a:prstGeom>
          <a:solidFill>
            <a:srgbClr val="FBEFD5"/>
          </a:solidFill>
          <a:ln w="12700">
            <a:solidFill>
              <a:srgbClr val="FBEFD5"/>
            </a:solidFill>
            <a:prstDash val="solid"/>
          </a:ln>
        </p:spPr>
      </p:sp>
      <p:sp>
        <p:nvSpPr>
          <p:cNvPr id="25" name="Text 23"/>
          <p:cNvSpPr txBox="1"/>
          <p:nvPr/>
        </p:nvSpPr>
        <p:spPr>
          <a:xfrm>
            <a:off x="6355080" y="4370832"/>
            <a:ext cx="1463040" cy="457200"/>
          </a:xfrm>
          <a:prstGeom prst="rect">
            <a:avLst/>
          </a:prstGeom>
          <a:noFill/>
          <a:ln/>
        </p:spPr>
        <p:txBody>
          <a:bodyPr wrap="square" lIns="0" tIns="0" rIns="0" bIns="0" rtlCol="0" anchor="ctr"/>
          <a:lstStyle/>
          <a:p>
            <a:pPr indent="0" marL="0">
              <a:buNone/>
            </a:pPr>
            <a:r>
              <a:rPr lang="en-US" sz="1600" b="1" dirty="0">
                <a:solidFill>
                  <a:schemeClr val="accent1"/>
                </a:solidFill>
              </a:rPr>
              <a:t>62–77 min</a:t>
            </a:r>
            <a:endParaRPr lang="en-US" sz="1600" dirty="0"/>
          </a:p>
        </p:txBody>
      </p:sp>
      <p:sp>
        <p:nvSpPr>
          <p:cNvPr id="26" name="Text 24"/>
          <p:cNvSpPr txBox="1"/>
          <p:nvPr/>
        </p:nvSpPr>
        <p:spPr>
          <a:xfrm>
            <a:off x="7909560" y="4370832"/>
            <a:ext cx="3566160" cy="457200"/>
          </a:xfrm>
          <a:prstGeom prst="rect">
            <a:avLst/>
          </a:prstGeom>
          <a:noFill/>
          <a:ln/>
        </p:spPr>
        <p:txBody>
          <a:bodyPr wrap="square" lIns="0" tIns="0" rIns="0" bIns="0" rtlCol="0" anchor="ctr"/>
          <a:lstStyle/>
          <a:p>
            <a:pPr indent="0" marL="0">
              <a:buNone/>
            </a:pPr>
            <a:r>
              <a:rPr lang="en-US" sz="1700" dirty="0">
                <a:solidFill>
                  <a:schemeClr val="tx1"/>
                </a:solidFill>
              </a:rPr>
              <a:t>Group work and report back</a:t>
            </a:r>
            <a:endParaRPr lang="en-US" sz="1700" dirty="0"/>
          </a:p>
        </p:txBody>
      </p:sp>
      <p:sp>
        <p:nvSpPr>
          <p:cNvPr id="27" name="card8"/>
          <p:cNvSpPr/>
          <p:nvPr/>
        </p:nvSpPr>
        <p:spPr>
          <a:xfrm>
            <a:off x="548640" y="5148072"/>
            <a:ext cx="5440680" cy="777240"/>
          </a:xfrm>
          <a:prstGeom prst="roundRect">
            <a:avLst>
              <a:gd name="adj" fmla="val 9412"/>
            </a:avLst>
          </a:prstGeom>
          <a:solidFill>
            <a:srgbClr val="FBEFD5"/>
          </a:solidFill>
          <a:ln w="12700">
            <a:solidFill>
              <a:srgbClr val="FBEFD5"/>
            </a:solidFill>
            <a:prstDash val="solid"/>
          </a:ln>
        </p:spPr>
      </p:sp>
      <p:sp>
        <p:nvSpPr>
          <p:cNvPr id="28" name="Text 26"/>
          <p:cNvSpPr txBox="1"/>
          <p:nvPr/>
        </p:nvSpPr>
        <p:spPr>
          <a:xfrm>
            <a:off x="731520" y="5303520"/>
            <a:ext cx="1463040" cy="457200"/>
          </a:xfrm>
          <a:prstGeom prst="rect">
            <a:avLst/>
          </a:prstGeom>
          <a:noFill/>
          <a:ln/>
        </p:spPr>
        <p:txBody>
          <a:bodyPr wrap="square" lIns="0" tIns="0" rIns="0" bIns="0" rtlCol="0" anchor="ctr"/>
          <a:lstStyle/>
          <a:p>
            <a:pPr indent="0" marL="0">
              <a:buNone/>
            </a:pPr>
            <a:r>
              <a:rPr lang="en-US" sz="1600" b="1" dirty="0">
                <a:solidFill>
                  <a:schemeClr val="accent1"/>
                </a:solidFill>
              </a:rPr>
              <a:t>77–85 min</a:t>
            </a:r>
            <a:endParaRPr lang="en-US" sz="1600" dirty="0"/>
          </a:p>
        </p:txBody>
      </p:sp>
      <p:sp>
        <p:nvSpPr>
          <p:cNvPr id="29" name="Text 27"/>
          <p:cNvSpPr txBox="1"/>
          <p:nvPr/>
        </p:nvSpPr>
        <p:spPr>
          <a:xfrm>
            <a:off x="2286000" y="5303520"/>
            <a:ext cx="3566160" cy="457200"/>
          </a:xfrm>
          <a:prstGeom prst="rect">
            <a:avLst/>
          </a:prstGeom>
          <a:noFill/>
          <a:ln/>
        </p:spPr>
        <p:txBody>
          <a:bodyPr wrap="square" lIns="0" tIns="0" rIns="0" bIns="0" rtlCol="0" anchor="ctr"/>
          <a:lstStyle/>
          <a:p>
            <a:pPr indent="0" marL="0">
              <a:buNone/>
            </a:pPr>
            <a:r>
              <a:rPr lang="en-US" sz="1700" dirty="0">
                <a:solidFill>
                  <a:schemeClr val="tx1"/>
                </a:solidFill>
              </a:rPr>
              <a:t>Outside-the-box questions</a:t>
            </a:r>
            <a:endParaRPr lang="en-US" sz="1700" dirty="0"/>
          </a:p>
        </p:txBody>
      </p:sp>
      <p:sp>
        <p:nvSpPr>
          <p:cNvPr id="30" name="card9"/>
          <p:cNvSpPr/>
          <p:nvPr/>
        </p:nvSpPr>
        <p:spPr>
          <a:xfrm>
            <a:off x="6172200" y="5148072"/>
            <a:ext cx="5440680" cy="777240"/>
          </a:xfrm>
          <a:prstGeom prst="roundRect">
            <a:avLst>
              <a:gd name="adj" fmla="val 9412"/>
            </a:avLst>
          </a:prstGeom>
          <a:solidFill>
            <a:srgbClr val="EEF3F4"/>
          </a:solidFill>
          <a:ln w="12700">
            <a:solidFill>
              <a:srgbClr val="EEF3F4"/>
            </a:solidFill>
            <a:prstDash val="solid"/>
          </a:ln>
        </p:spPr>
      </p:sp>
      <p:sp>
        <p:nvSpPr>
          <p:cNvPr id="31" name="Text 29"/>
          <p:cNvSpPr txBox="1"/>
          <p:nvPr/>
        </p:nvSpPr>
        <p:spPr>
          <a:xfrm>
            <a:off x="6355080" y="5303520"/>
            <a:ext cx="1463040" cy="457200"/>
          </a:xfrm>
          <a:prstGeom prst="rect">
            <a:avLst/>
          </a:prstGeom>
          <a:noFill/>
          <a:ln/>
        </p:spPr>
        <p:txBody>
          <a:bodyPr wrap="square" lIns="0" tIns="0" rIns="0" bIns="0" rtlCol="0" anchor="ctr"/>
          <a:lstStyle/>
          <a:p>
            <a:pPr indent="0" marL="0">
              <a:buNone/>
            </a:pPr>
            <a:r>
              <a:rPr lang="en-US" sz="1600" b="1" dirty="0">
                <a:solidFill>
                  <a:schemeClr val="accent1"/>
                </a:solidFill>
              </a:rPr>
              <a:t>85–90 min</a:t>
            </a:r>
            <a:endParaRPr lang="en-US" sz="1600" dirty="0"/>
          </a:p>
        </p:txBody>
      </p:sp>
      <p:sp>
        <p:nvSpPr>
          <p:cNvPr id="32" name="Text 30"/>
          <p:cNvSpPr txBox="1"/>
          <p:nvPr/>
        </p:nvSpPr>
        <p:spPr>
          <a:xfrm>
            <a:off x="7909560" y="5303520"/>
            <a:ext cx="3566160" cy="457200"/>
          </a:xfrm>
          <a:prstGeom prst="rect">
            <a:avLst/>
          </a:prstGeom>
          <a:noFill/>
          <a:ln/>
        </p:spPr>
        <p:txBody>
          <a:bodyPr wrap="square" lIns="0" tIns="0" rIns="0" bIns="0" rtlCol="0" anchor="ctr"/>
          <a:lstStyle/>
          <a:p>
            <a:pPr indent="0" marL="0">
              <a:buNone/>
            </a:pPr>
            <a:r>
              <a:rPr lang="en-US" sz="1700" dirty="0">
                <a:solidFill>
                  <a:schemeClr val="tx1"/>
                </a:solidFill>
              </a:rPr>
              <a:t>Wrap-up and takeaways</a:t>
            </a:r>
            <a:endParaRPr lang="en-US" sz="17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p>
            <a:pPr indent="0" marL="0">
              <a:buNone/>
            </a:pPr>
            <a:r>
              <a:rPr lang="en-US" sz="3200" b="1" dirty="0">
                <a:solidFill>
                  <a:schemeClr val="tx2"/>
                </a:solidFill>
              </a:rPr>
              <a:t>What we want to leave with</a:t>
            </a:r>
            <a:endParaRPr lang="en-US" sz="3200" dirty="0"/>
          </a:p>
        </p:txBody>
      </p:sp>
      <p:sp>
        <p:nvSpPr>
          <p:cNvPr id="3" name="card10"/>
          <p:cNvSpPr/>
          <p:nvPr/>
        </p:nvSpPr>
        <p:spPr>
          <a:xfrm>
            <a:off x="548640" y="1554480"/>
            <a:ext cx="3566160" cy="3291840"/>
          </a:xfrm>
          <a:prstGeom prst="roundRect">
            <a:avLst>
              <a:gd name="adj" fmla="val 2222"/>
            </a:avLst>
          </a:prstGeom>
          <a:solidFill>
            <a:srgbClr val="EEF3F4"/>
          </a:solidFill>
          <a:ln w="12700">
            <a:solidFill>
              <a:srgbClr val="EEF3F4"/>
            </a:solidFill>
            <a:prstDash val="solid"/>
          </a:ln>
        </p:spPr>
      </p:sp>
      <p:sp>
        <p:nvSpPr>
          <p:cNvPr id="4" name="pill11"/>
          <p:cNvSpPr/>
          <p:nvPr/>
        </p:nvSpPr>
        <p:spPr>
          <a:xfrm>
            <a:off x="822960" y="1828800"/>
            <a:ext cx="1645920" cy="384048"/>
          </a:xfrm>
          <a:prstGeom prst="roundRect">
            <a:avLst>
              <a:gd name="adj" fmla="val 47619"/>
            </a:avLst>
          </a:prstGeom>
          <a:solidFill>
            <a:srgbClr val="0F4C5C"/>
          </a:solidFill>
          <a:ln w="12700">
            <a:solidFill>
              <a:srgbClr val="0F4C5C"/>
            </a:solidFill>
            <a:prstDash val="solid"/>
          </a:ln>
        </p:spPr>
      </p:sp>
      <p:sp>
        <p:nvSpPr>
          <p:cNvPr id="5" name="Text 3"/>
          <p:cNvSpPr txBox="1"/>
          <p:nvPr/>
        </p:nvSpPr>
        <p:spPr>
          <a:xfrm>
            <a:off x="822960" y="1828800"/>
            <a:ext cx="1645920" cy="384048"/>
          </a:xfrm>
          <a:prstGeom prst="rect">
            <a:avLst/>
          </a:prstGeom>
          <a:noFill/>
          <a:ln/>
        </p:spPr>
        <p:txBody>
          <a:bodyPr wrap="square" lIns="0" tIns="0" rIns="0" bIns="0" rtlCol="0" anchor="ctr"/>
          <a:lstStyle/>
          <a:p>
            <a:pPr algn="ctr" indent="0" marL="0">
              <a:buNone/>
            </a:pPr>
            <a:r>
              <a:rPr lang="en-US" sz="1300" b="1" dirty="0">
                <a:solidFill>
                  <a:schemeClr val="bg1"/>
                </a:solidFill>
              </a:rPr>
              <a:t>Understand</a:t>
            </a:r>
            <a:endParaRPr lang="en-US" sz="1300" dirty="0"/>
          </a:p>
        </p:txBody>
      </p:sp>
      <p:sp>
        <p:nvSpPr>
          <p:cNvPr id="6" name="Text 4"/>
          <p:cNvSpPr txBox="1"/>
          <p:nvPr/>
        </p:nvSpPr>
        <p:spPr>
          <a:xfrm>
            <a:off x="822960" y="2468880"/>
            <a:ext cx="3017520" cy="2194560"/>
          </a:xfrm>
          <a:prstGeom prst="rect">
            <a:avLst/>
          </a:prstGeom>
          <a:noFill/>
          <a:ln/>
        </p:spPr>
        <p:txBody>
          <a:bodyPr wrap="square" lIns="1270" tIns="1270" rIns="1270" bIns="1270" rtlCol="0" anchor="t"/>
          <a:lstStyle/>
          <a:p>
            <a:pPr indent="0" marL="0">
              <a:buNone/>
            </a:pPr>
            <a:r>
              <a:rPr lang="en-US" sz="2000" dirty="0">
                <a:solidFill>
                  <a:schemeClr val="tx1"/>
                </a:solidFill>
              </a:rPr>
              <a:t>What artifact evaluation is meant to check, and why nobody agrees</a:t>
            </a:r>
            <a:endParaRPr lang="en-US" sz="2000" dirty="0"/>
          </a:p>
        </p:txBody>
      </p:sp>
      <p:sp>
        <p:nvSpPr>
          <p:cNvPr id="7" name="card12"/>
          <p:cNvSpPr/>
          <p:nvPr/>
        </p:nvSpPr>
        <p:spPr>
          <a:xfrm>
            <a:off x="4297680" y="1554480"/>
            <a:ext cx="3566160" cy="3291840"/>
          </a:xfrm>
          <a:prstGeom prst="roundRect">
            <a:avLst>
              <a:gd name="adj" fmla="val 2222"/>
            </a:avLst>
          </a:prstGeom>
          <a:solidFill>
            <a:srgbClr val="EEF3F4"/>
          </a:solidFill>
          <a:ln w="12700">
            <a:solidFill>
              <a:srgbClr val="EEF3F4"/>
            </a:solidFill>
            <a:prstDash val="solid"/>
          </a:ln>
        </p:spPr>
      </p:sp>
      <p:sp>
        <p:nvSpPr>
          <p:cNvPr id="8" name="pill13"/>
          <p:cNvSpPr/>
          <p:nvPr/>
        </p:nvSpPr>
        <p:spPr>
          <a:xfrm>
            <a:off x="4572000" y="1828800"/>
            <a:ext cx="1645920" cy="384048"/>
          </a:xfrm>
          <a:prstGeom prst="roundRect">
            <a:avLst>
              <a:gd name="adj" fmla="val 47619"/>
            </a:avLst>
          </a:prstGeom>
          <a:solidFill>
            <a:srgbClr val="D98E04"/>
          </a:solidFill>
          <a:ln w="12700">
            <a:solidFill>
              <a:srgbClr val="D98E04"/>
            </a:solidFill>
            <a:prstDash val="solid"/>
          </a:ln>
        </p:spPr>
      </p:sp>
      <p:sp>
        <p:nvSpPr>
          <p:cNvPr id="9" name="Text 7"/>
          <p:cNvSpPr txBox="1"/>
          <p:nvPr/>
        </p:nvSpPr>
        <p:spPr>
          <a:xfrm>
            <a:off x="4572000" y="1828800"/>
            <a:ext cx="1645920" cy="384048"/>
          </a:xfrm>
          <a:prstGeom prst="rect">
            <a:avLst/>
          </a:prstGeom>
          <a:noFill/>
          <a:ln/>
        </p:spPr>
        <p:txBody>
          <a:bodyPr wrap="square" lIns="0" tIns="0" rIns="0" bIns="0" rtlCol="0" anchor="ctr"/>
          <a:lstStyle/>
          <a:p>
            <a:pPr algn="ctr" indent="0" marL="0">
              <a:buNone/>
            </a:pPr>
            <a:r>
              <a:rPr lang="en-US" sz="1300" b="1" dirty="0">
                <a:solidFill>
                  <a:schemeClr val="bg1"/>
                </a:solidFill>
              </a:rPr>
              <a:t>Weigh</a:t>
            </a:r>
            <a:endParaRPr lang="en-US" sz="1300" dirty="0"/>
          </a:p>
        </p:txBody>
      </p:sp>
      <p:sp>
        <p:nvSpPr>
          <p:cNvPr id="10" name="Text 8"/>
          <p:cNvSpPr txBox="1"/>
          <p:nvPr/>
        </p:nvSpPr>
        <p:spPr>
          <a:xfrm>
            <a:off x="4572000" y="2468880"/>
            <a:ext cx="3017520" cy="2194560"/>
          </a:xfrm>
          <a:prstGeom prst="rect">
            <a:avLst/>
          </a:prstGeom>
          <a:noFill/>
          <a:ln/>
        </p:spPr>
        <p:txBody>
          <a:bodyPr wrap="square" lIns="1270" tIns="1270" rIns="1270" bIns="1270" rtlCol="0" anchor="t"/>
          <a:lstStyle/>
          <a:p>
            <a:pPr indent="0" marL="0">
              <a:buNone/>
            </a:pPr>
            <a:r>
              <a:rPr lang="en-US" sz="2000" dirty="0">
                <a:solidFill>
                  <a:schemeClr val="tx1"/>
                </a:solidFill>
              </a:rPr>
              <a:t>Standards or incentives: which problem should be fixed first?</a:t>
            </a:r>
            <a:endParaRPr lang="en-US" sz="2000" dirty="0"/>
          </a:p>
        </p:txBody>
      </p:sp>
      <p:sp>
        <p:nvSpPr>
          <p:cNvPr id="11" name="card14"/>
          <p:cNvSpPr/>
          <p:nvPr/>
        </p:nvSpPr>
        <p:spPr>
          <a:xfrm>
            <a:off x="8046720" y="1554480"/>
            <a:ext cx="3566160" cy="3291840"/>
          </a:xfrm>
          <a:prstGeom prst="roundRect">
            <a:avLst>
              <a:gd name="adj" fmla="val 2222"/>
            </a:avLst>
          </a:prstGeom>
          <a:solidFill>
            <a:srgbClr val="EEF3F4"/>
          </a:solidFill>
          <a:ln w="12700">
            <a:solidFill>
              <a:srgbClr val="EEF3F4"/>
            </a:solidFill>
            <a:prstDash val="solid"/>
          </a:ln>
        </p:spPr>
      </p:sp>
      <p:sp>
        <p:nvSpPr>
          <p:cNvPr id="12" name="pill15"/>
          <p:cNvSpPr/>
          <p:nvPr/>
        </p:nvSpPr>
        <p:spPr>
          <a:xfrm>
            <a:off x="8321040" y="1828800"/>
            <a:ext cx="1645920" cy="384048"/>
          </a:xfrm>
          <a:prstGeom prst="roundRect">
            <a:avLst>
              <a:gd name="adj" fmla="val 47619"/>
            </a:avLst>
          </a:prstGeom>
          <a:solidFill>
            <a:srgbClr val="5E8C61"/>
          </a:solidFill>
          <a:ln w="12700">
            <a:solidFill>
              <a:srgbClr val="5E8C61"/>
            </a:solidFill>
            <a:prstDash val="solid"/>
          </a:ln>
        </p:spPr>
      </p:sp>
      <p:sp>
        <p:nvSpPr>
          <p:cNvPr id="13" name="Text 11"/>
          <p:cNvSpPr txBox="1"/>
          <p:nvPr/>
        </p:nvSpPr>
        <p:spPr>
          <a:xfrm>
            <a:off x="8321040" y="1828800"/>
            <a:ext cx="1645920" cy="384048"/>
          </a:xfrm>
          <a:prstGeom prst="rect">
            <a:avLst/>
          </a:prstGeom>
          <a:noFill/>
          <a:ln/>
        </p:spPr>
        <p:txBody>
          <a:bodyPr wrap="square" lIns="0" tIns="0" rIns="0" bIns="0" rtlCol="0" anchor="ctr"/>
          <a:lstStyle/>
          <a:p>
            <a:pPr algn="ctr" indent="0" marL="0">
              <a:buNone/>
            </a:pPr>
            <a:r>
              <a:rPr lang="en-US" sz="1300" b="1" dirty="0">
                <a:solidFill>
                  <a:schemeClr val="bg1"/>
                </a:solidFill>
              </a:rPr>
              <a:t>Propose</a:t>
            </a:r>
            <a:endParaRPr lang="en-US" sz="1300" dirty="0"/>
          </a:p>
        </p:txBody>
      </p:sp>
      <p:sp>
        <p:nvSpPr>
          <p:cNvPr id="14" name="Text 12"/>
          <p:cNvSpPr txBox="1"/>
          <p:nvPr/>
        </p:nvSpPr>
        <p:spPr>
          <a:xfrm>
            <a:off x="8321040" y="2468880"/>
            <a:ext cx="3017520" cy="2194560"/>
          </a:xfrm>
          <a:prstGeom prst="rect">
            <a:avLst/>
          </a:prstGeom>
          <a:noFill/>
          <a:ln/>
        </p:spPr>
        <p:txBody>
          <a:bodyPr wrap="square" lIns="1270" tIns="1270" rIns="1270" bIns="1270" rtlCol="0" anchor="t"/>
          <a:lstStyle/>
          <a:p>
            <a:pPr indent="0" marL="0">
              <a:buNone/>
            </a:pPr>
            <a:r>
              <a:rPr lang="en-US" sz="2000" dirty="0">
                <a:solidFill>
                  <a:schemeClr val="tx1"/>
                </a:solidFill>
              </a:rPr>
              <a:t>One concrete change to artifact evaluation, and who has to make it</a:t>
            </a:r>
            <a:endParaRPr lang="en-US" sz="2000" dirty="0"/>
          </a:p>
        </p:txBody>
      </p:sp>
      <p:sp>
        <p:nvSpPr>
          <p:cNvPr id="15" name="Text 13"/>
          <p:cNvSpPr txBox="1"/>
          <p:nvPr/>
        </p:nvSpPr>
        <p:spPr>
          <a:xfrm>
            <a:off x="548640" y="5212080"/>
            <a:ext cx="10972800" cy="548640"/>
          </a:xfrm>
          <a:prstGeom prst="rect">
            <a:avLst/>
          </a:prstGeom>
          <a:noFill/>
          <a:ln/>
        </p:spPr>
        <p:txBody>
          <a:bodyPr wrap="square" lIns="1270" tIns="1270" rIns="1270" bIns="1270" rtlCol="0" anchor="t"/>
          <a:lstStyle/>
          <a:p>
            <a:pPr indent="0" marL="0">
              <a:buNone/>
            </a:pPr>
            <a:r>
              <a:rPr lang="en-US" sz="1600" i="1" dirty="0">
                <a:solidFill>
                  <a:schemeClr val="accent5"/>
                </a:solidFill>
              </a:rPr>
              <a:t>Ground rule: argue from the papers or your own experience; disagreeing is the point.</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p>
            <a:pPr indent="0" marL="0">
              <a:buNone/>
            </a:pPr>
            <a:r>
              <a:rPr lang="en-US" sz="3200" b="1" dirty="0">
                <a:solidFill>
                  <a:schemeClr val="tx2"/>
                </a:solidFill>
              </a:rPr>
              <a:t>Terminology check: which terms do the papers use?</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651760"/>
                <a:gridCol w="1554480"/>
                <a:gridCol w="2011680"/>
                <a:gridCol w="2377440"/>
                <a:gridCol w="2468880"/>
              </a:tblGrid>
              <a:tr h="548640">
                <a:tc>
                  <a:txBody>
                    <a:bodyPr/>
                    <a:lstStyle/>
                    <a:p>
                      <a:pPr indent="0" marL="0">
                        <a:buNone/>
                      </a:pPr>
                      <a:endParaRPr lang="en-US" sz="1500" dirty="0"/>
                    </a:p>
                  </a:txBody>
                  <a:tcPr marL="73152" marR="73152" marT="73152" marB="7315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4C5C"/>
                    </a:solidFill>
                  </a:tcPr>
                </a:tc>
                <a:tc>
                  <a:txBody>
                    <a:bodyPr/>
                    <a:lstStyle/>
                    <a:p>
                      <a:pPr indent="0" marL="0">
                        <a:buNone/>
                      </a:pPr>
                      <a:r>
                        <a:rPr lang="en-US" sz="1500" b="1" dirty="0">
                          <a:solidFill>
                            <a:srgbClr val="FFFFFF"/>
                          </a:solidFill>
                        </a:rPr>
                        <a:t>Who runs it</a:t>
                      </a:r>
                      <a:endParaRPr lang="en-US" sz="1500" dirty="0"/>
                    </a:p>
                  </a:txBody>
                  <a:tcPr marL="73152" marR="73152" marT="73152" marB="7315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4C5C"/>
                    </a:solidFill>
                  </a:tcPr>
                </a:tc>
                <a:tc>
                  <a:txBody>
                    <a:bodyPr/>
                    <a:lstStyle/>
                    <a:p>
                      <a:pPr indent="0" marL="0">
                        <a:buNone/>
                      </a:pPr>
                      <a:r>
                        <a:rPr lang="en-US" sz="1500" b="1" dirty="0">
                          <a:solidFill>
                            <a:srgbClr val="FFFFFF"/>
                          </a:solidFill>
                        </a:rPr>
                        <a:t>Which artifacts</a:t>
                      </a:r>
                      <a:endParaRPr lang="en-US" sz="1500" dirty="0"/>
                    </a:p>
                  </a:txBody>
                  <a:tcPr marL="73152" marR="73152" marT="73152" marB="7315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4C5C"/>
                    </a:solidFill>
                  </a:tcPr>
                </a:tc>
                <a:tc>
                  <a:txBody>
                    <a:bodyPr/>
                    <a:lstStyle/>
                    <a:p>
                      <a:pPr indent="0" marL="0">
                        <a:buNone/>
                      </a:pPr>
                      <a:r>
                        <a:rPr lang="en-US" sz="1500" b="1" dirty="0">
                          <a:solidFill>
                            <a:srgbClr val="FFFFFF"/>
                          </a:solidFill>
                        </a:rPr>
                        <a:t>2020 term (our lecture)</a:t>
                      </a:r>
                      <a:endParaRPr lang="en-US" sz="1500" dirty="0"/>
                    </a:p>
                  </a:txBody>
                  <a:tcPr marL="73152" marR="73152" marT="73152" marB="7315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4C5C"/>
                    </a:solidFill>
                  </a:tcPr>
                </a:tc>
                <a:tc>
                  <a:txBody>
                    <a:bodyPr/>
                    <a:lstStyle/>
                    <a:p>
                      <a:pPr indent="0" marL="0">
                        <a:buNone/>
                      </a:pPr>
                      <a:r>
                        <a:rPr lang="en-US" sz="1500" b="1" dirty="0">
                          <a:solidFill>
                            <a:srgbClr val="FFFFFF"/>
                          </a:solidFill>
                        </a:rPr>
                        <a:t>Hermann et al. (old ACM)</a:t>
                      </a:r>
                      <a:endParaRPr lang="en-US" sz="1500" dirty="0"/>
                    </a:p>
                  </a:txBody>
                  <a:tcPr marL="73152" marR="73152" marT="73152" marB="7315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4C5C"/>
                    </a:solidFill>
                  </a:tcPr>
                </a:tc>
              </a:tr>
              <a:tr h="548640">
                <a:tc>
                  <a:txBody>
                    <a:bodyPr/>
                    <a:lstStyle/>
                    <a:p>
                      <a:pPr indent="0" marL="0">
                        <a:buNone/>
                      </a:pPr>
                      <a:r>
                        <a:rPr lang="en-US" sz="1500" b="1" dirty="0">
                          <a:solidFill>
                            <a:srgbClr val="1B2A30"/>
                          </a:solidFill>
                        </a:rPr>
                        <a:t>Same team, same setup</a:t>
                      </a:r>
                      <a:endParaRPr lang="en-US" sz="1500" dirty="0"/>
                    </a:p>
                  </a:txBody>
                  <a:tcPr marL="73152" marR="73152" marT="73152" marB="7315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4"/>
                    </a:solidFill>
                  </a:tcPr>
                </a:tc>
                <a:tc>
                  <a:txBody>
                    <a:bodyPr/>
                    <a:lstStyle/>
                    <a:p>
                      <a:pPr indent="0" marL="0">
                        <a:buNone/>
                      </a:pPr>
                      <a:r>
                        <a:rPr lang="en-US" sz="1500" dirty="0">
                          <a:solidFill>
                            <a:srgbClr val="1B2A30"/>
                          </a:solidFill>
                        </a:rPr>
                        <a:t>Authors</a:t>
                      </a:r>
                      <a:endParaRPr lang="en-US" sz="1500" dirty="0"/>
                    </a:p>
                  </a:txBody>
                  <a:tcPr marL="73152" marR="73152" marT="73152" marB="7315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4"/>
                    </a:solidFill>
                  </a:tcPr>
                </a:tc>
                <a:tc>
                  <a:txBody>
                    <a:bodyPr/>
                    <a:lstStyle/>
                    <a:p>
                      <a:pPr indent="0" marL="0">
                        <a:buNone/>
                      </a:pPr>
                      <a:r>
                        <a:rPr lang="en-US" sz="1500" dirty="0">
                          <a:solidFill>
                            <a:srgbClr val="1B2A30"/>
                          </a:solidFill>
                        </a:rPr>
                        <a:t>Original</a:t>
                      </a:r>
                      <a:endParaRPr lang="en-US" sz="1500" dirty="0"/>
                    </a:p>
                  </a:txBody>
                  <a:tcPr marL="73152" marR="73152" marT="73152" marB="7315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4"/>
                    </a:solidFill>
                  </a:tcPr>
                </a:tc>
                <a:tc>
                  <a:txBody>
                    <a:bodyPr/>
                    <a:lstStyle/>
                    <a:p>
                      <a:pPr indent="0" marL="0">
                        <a:buNone/>
                      </a:pPr>
                      <a:r>
                        <a:rPr lang="en-US" sz="1500" dirty="0">
                          <a:solidFill>
                            <a:srgbClr val="1B2A30"/>
                          </a:solidFill>
                        </a:rPr>
                        <a:t>Repeatability</a:t>
                      </a:r>
                      <a:endParaRPr lang="en-US" sz="1500" dirty="0"/>
                    </a:p>
                  </a:txBody>
                  <a:tcPr marL="73152" marR="73152" marT="73152" marB="7315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FD5"/>
                    </a:solidFill>
                  </a:tcPr>
                </a:tc>
                <a:tc>
                  <a:txBody>
                    <a:bodyPr/>
                    <a:lstStyle/>
                    <a:p>
                      <a:pPr indent="0" marL="0">
                        <a:buNone/>
                      </a:pPr>
                      <a:r>
                        <a:rPr lang="en-US" sz="1500" dirty="0">
                          <a:solidFill>
                            <a:srgbClr val="1B2A30"/>
                          </a:solidFill>
                        </a:rPr>
                        <a:t>Repeatability</a:t>
                      </a:r>
                      <a:endParaRPr lang="en-US" sz="1500" dirty="0"/>
                    </a:p>
                  </a:txBody>
                  <a:tcPr marL="73152" marR="73152" marT="73152" marB="7315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4"/>
                    </a:solidFill>
                  </a:tcPr>
                </a:tc>
              </a:tr>
              <a:tr h="548640">
                <a:tc>
                  <a:txBody>
                    <a:bodyPr/>
                    <a:lstStyle/>
                    <a:p>
                      <a:pPr indent="0" marL="0">
                        <a:buNone/>
                      </a:pPr>
                      <a:r>
                        <a:rPr lang="en-US" sz="1500" b="1" dirty="0">
                          <a:solidFill>
                            <a:srgbClr val="1B2A30"/>
                          </a:solidFill>
                        </a:rPr>
                        <a:t>Other team, same setup</a:t>
                      </a:r>
                      <a:endParaRPr lang="en-US" sz="1500" dirty="0"/>
                    </a:p>
                  </a:txBody>
                  <a:tcPr marL="73152" marR="73152" marT="73152" marB="7315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4"/>
                    </a:solidFill>
                  </a:tcPr>
                </a:tc>
                <a:tc>
                  <a:txBody>
                    <a:bodyPr/>
                    <a:lstStyle/>
                    <a:p>
                      <a:pPr indent="0" marL="0">
                        <a:buNone/>
                      </a:pPr>
                      <a:r>
                        <a:rPr lang="en-US" sz="1500" dirty="0">
                          <a:solidFill>
                            <a:srgbClr val="1B2A30"/>
                          </a:solidFill>
                        </a:rPr>
                        <a:t>Others</a:t>
                      </a:r>
                      <a:endParaRPr lang="en-US" sz="1500" dirty="0"/>
                    </a:p>
                  </a:txBody>
                  <a:tcPr marL="73152" marR="73152" marT="73152" marB="7315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4"/>
                    </a:solidFill>
                  </a:tcPr>
                </a:tc>
                <a:tc>
                  <a:txBody>
                    <a:bodyPr/>
                    <a:lstStyle/>
                    <a:p>
                      <a:pPr indent="0" marL="0">
                        <a:buNone/>
                      </a:pPr>
                      <a:r>
                        <a:rPr lang="en-US" sz="1500" dirty="0">
                          <a:solidFill>
                            <a:srgbClr val="1B2A30"/>
                          </a:solidFill>
                        </a:rPr>
                        <a:t>Authors' artifacts</a:t>
                      </a:r>
                      <a:endParaRPr lang="en-US" sz="1500" dirty="0"/>
                    </a:p>
                  </a:txBody>
                  <a:tcPr marL="73152" marR="73152" marT="73152" marB="7315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4"/>
                    </a:solidFill>
                  </a:tcPr>
                </a:tc>
                <a:tc>
                  <a:txBody>
                    <a:bodyPr/>
                    <a:lstStyle/>
                    <a:p>
                      <a:pPr indent="0" marL="0">
                        <a:buNone/>
                      </a:pPr>
                      <a:r>
                        <a:rPr lang="en-US" sz="1500" dirty="0">
                          <a:solidFill>
                            <a:srgbClr val="1B2A30"/>
                          </a:solidFill>
                        </a:rPr>
                        <a:t>Reproducibility</a:t>
                      </a:r>
                      <a:endParaRPr lang="en-US" sz="1500" dirty="0"/>
                    </a:p>
                  </a:txBody>
                  <a:tcPr marL="73152" marR="73152" marT="73152" marB="7315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FD5"/>
                    </a:solidFill>
                  </a:tcPr>
                </a:tc>
                <a:tc>
                  <a:txBody>
                    <a:bodyPr/>
                    <a:lstStyle/>
                    <a:p>
                      <a:pPr indent="0" marL="0">
                        <a:buNone/>
                      </a:pPr>
                      <a:r>
                        <a:rPr lang="en-US" sz="1500" dirty="0">
                          <a:solidFill>
                            <a:srgbClr val="1B2A30"/>
                          </a:solidFill>
                        </a:rPr>
                        <a:t>Replicability</a:t>
                      </a:r>
                      <a:endParaRPr lang="en-US" sz="1500" dirty="0"/>
                    </a:p>
                  </a:txBody>
                  <a:tcPr marL="73152" marR="73152" marT="73152" marB="7315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4"/>
                    </a:solidFill>
                  </a:tcPr>
                </a:tc>
              </a:tr>
              <a:tr h="548640">
                <a:tc>
                  <a:txBody>
                    <a:bodyPr/>
                    <a:lstStyle/>
                    <a:p>
                      <a:pPr indent="0" marL="0">
                        <a:buNone/>
                      </a:pPr>
                      <a:r>
                        <a:rPr lang="en-US" sz="1500" b="1" dirty="0">
                          <a:solidFill>
                            <a:srgbClr val="1B2A30"/>
                          </a:solidFill>
                        </a:rPr>
                        <a:t>Other team, own setup</a:t>
                      </a:r>
                      <a:endParaRPr lang="en-US" sz="1500" dirty="0"/>
                    </a:p>
                  </a:txBody>
                  <a:tcPr marL="73152" marR="73152" marT="73152" marB="7315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4"/>
                    </a:solidFill>
                  </a:tcPr>
                </a:tc>
                <a:tc>
                  <a:txBody>
                    <a:bodyPr/>
                    <a:lstStyle/>
                    <a:p>
                      <a:pPr indent="0" marL="0">
                        <a:buNone/>
                      </a:pPr>
                      <a:r>
                        <a:rPr lang="en-US" sz="1500" dirty="0">
                          <a:solidFill>
                            <a:srgbClr val="1B2A30"/>
                          </a:solidFill>
                        </a:rPr>
                        <a:t>Others</a:t>
                      </a:r>
                      <a:endParaRPr lang="en-US" sz="1500" dirty="0"/>
                    </a:p>
                  </a:txBody>
                  <a:tcPr marL="73152" marR="73152" marT="73152" marB="7315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4"/>
                    </a:solidFill>
                  </a:tcPr>
                </a:tc>
                <a:tc>
                  <a:txBody>
                    <a:bodyPr/>
                    <a:lstStyle/>
                    <a:p>
                      <a:pPr indent="0" marL="0">
                        <a:buNone/>
                      </a:pPr>
                      <a:r>
                        <a:rPr lang="en-US" sz="1500" dirty="0">
                          <a:solidFill>
                            <a:srgbClr val="1B2A30"/>
                          </a:solidFill>
                        </a:rPr>
                        <a:t>Independent</a:t>
                      </a:r>
                      <a:endParaRPr lang="en-US" sz="1500" dirty="0"/>
                    </a:p>
                  </a:txBody>
                  <a:tcPr marL="73152" marR="73152" marT="73152" marB="7315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4"/>
                    </a:solidFill>
                  </a:tcPr>
                </a:tc>
                <a:tc>
                  <a:txBody>
                    <a:bodyPr/>
                    <a:lstStyle/>
                    <a:p>
                      <a:pPr indent="0" marL="0">
                        <a:buNone/>
                      </a:pPr>
                      <a:r>
                        <a:rPr lang="en-US" sz="1500" dirty="0">
                          <a:solidFill>
                            <a:srgbClr val="1B2A30"/>
                          </a:solidFill>
                        </a:rPr>
                        <a:t>Replicability</a:t>
                      </a:r>
                      <a:endParaRPr lang="en-US" sz="1500" dirty="0"/>
                    </a:p>
                  </a:txBody>
                  <a:tcPr marL="73152" marR="73152" marT="73152" marB="7315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FD5"/>
                    </a:solidFill>
                  </a:tcPr>
                </a:tc>
                <a:tc>
                  <a:txBody>
                    <a:bodyPr/>
                    <a:lstStyle/>
                    <a:p>
                      <a:pPr indent="0" marL="0">
                        <a:buNone/>
                      </a:pPr>
                      <a:r>
                        <a:rPr lang="en-US" sz="1500" dirty="0">
                          <a:solidFill>
                            <a:srgbClr val="1B2A30"/>
                          </a:solidFill>
                        </a:rPr>
                        <a:t>Reproducibility</a:t>
                      </a:r>
                      <a:endParaRPr lang="en-US" sz="1500" dirty="0"/>
                    </a:p>
                  </a:txBody>
                  <a:tcPr marL="73152" marR="73152" marT="73152" marB="7315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4"/>
                    </a:solidFill>
                  </a:tcPr>
                </a:tc>
              </a:tr>
            </a:tbl>
          </a:graphicData>
        </a:graphic>
      </p:graphicFrame>
      <p:sp>
        <p:nvSpPr>
          <p:cNvPr id="4" name="card16"/>
          <p:cNvSpPr/>
          <p:nvPr/>
        </p:nvSpPr>
        <p:spPr>
          <a:xfrm>
            <a:off x="548640" y="4023360"/>
            <a:ext cx="11064240" cy="1463040"/>
          </a:xfrm>
          <a:prstGeom prst="roundRect">
            <a:avLst>
              <a:gd name="adj" fmla="val 5000"/>
            </a:avLst>
          </a:prstGeom>
          <a:solidFill>
            <a:srgbClr val="FBEFD5"/>
          </a:solidFill>
          <a:ln w="12700">
            <a:solidFill>
              <a:srgbClr val="FBEFD5"/>
            </a:solidFill>
            <a:prstDash val="solid"/>
          </a:ln>
        </p:spPr>
      </p:sp>
      <p:sp>
        <p:nvSpPr>
          <p:cNvPr id="5" name="Text 2"/>
          <p:cNvSpPr txBox="1"/>
          <p:nvPr/>
        </p:nvSpPr>
        <p:spPr>
          <a:xfrm>
            <a:off x="822960" y="4206240"/>
            <a:ext cx="10515600" cy="548640"/>
          </a:xfrm>
          <a:prstGeom prst="rect">
            <a:avLst/>
          </a:prstGeom>
          <a:noFill/>
          <a:ln/>
        </p:spPr>
        <p:txBody>
          <a:bodyPr wrap="square" lIns="1270" tIns="1270" rIns="1270" bIns="1270" rtlCol="0" anchor="t"/>
          <a:lstStyle/>
          <a:p>
            <a:pPr indent="0" marL="0">
              <a:buNone/>
            </a:pPr>
            <a:r>
              <a:rPr lang="en-US" sz="2000" b="1" dirty="0">
                <a:solidFill>
                  <a:schemeClr val="tx1"/>
                </a:solidFill>
              </a:rPr>
              <a:t>Question to the room: </a:t>
            </a:r>
            <a:pPr indent="0" marL="0">
              <a:buNone/>
            </a:pPr>
            <a:r>
              <a:rPr lang="en-US" sz="2000" dirty="0">
                <a:solidFill>
                  <a:schemeClr val="tx1"/>
                </a:solidFill>
              </a:rPr>
              <a:t>Which of the three does an artifact evaluation committee actually test?</a:t>
            </a:r>
            <a:endParaRPr lang="en-US" sz="2000" dirty="0"/>
          </a:p>
        </p:txBody>
      </p:sp>
      <p:sp>
        <p:nvSpPr>
          <p:cNvPr id="6" name="Text 3"/>
          <p:cNvSpPr txBox="1"/>
          <p:nvPr/>
        </p:nvSpPr>
        <p:spPr>
          <a:xfrm>
            <a:off x="822960" y="4800600"/>
            <a:ext cx="10515600" cy="548640"/>
          </a:xfrm>
          <a:prstGeom prst="rect">
            <a:avLst/>
          </a:prstGeom>
          <a:noFill/>
          <a:ln/>
        </p:spPr>
        <p:txBody>
          <a:bodyPr wrap="square" lIns="1270" tIns="1270" rIns="1270" bIns="1270" rtlCol="0" anchor="t"/>
          <a:lstStyle/>
          <a:p>
            <a:pPr indent="0" marL="0">
              <a:buNone/>
            </a:pPr>
            <a:r>
              <a:rPr lang="en-US" sz="1400" dirty="0">
                <a:solidFill>
                  <a:schemeClr val="accent5"/>
                </a:solidFill>
              </a:rPr>
              <a:t>ACM swapped the two terms in 2020, after Hermann et al. was accepted (footnote 5, p. 471). Timperley et al. mostly say "replication".</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rtlCol="0"/>
          <a:lstStyle/>
          <a:p>
            <a:pPr algn="l" indent="0" marL="0">
              <a:buNone/>
            </a:pPr>
            <a:r>
              <a:rPr lang="en-US" sz="4000" b="1" dirty="0">
                <a:solidFill>
                  <a:schemeClr val="bg1"/>
                </a:solidFill>
              </a:rPr>
              <a:t>Two papers, two sides</a:t>
            </a:r>
            <a:endParaRPr lang="en-US" sz="4000" dirty="0"/>
          </a:p>
        </p:txBody>
      </p:sp>
      <p:sp>
        <p:nvSpPr>
          <p:cNvPr id="3" name="Text 0"/>
          <p:cNvSpPr/>
          <p:nvPr>
            <p:ph idx="101" type="body" hasCustomPrompt="1"/>
          </p:nvPr>
        </p:nvSpPr>
        <p:spPr>
          <a:xfrm>
            <a:off x="731520" y="3566160"/>
            <a:ext cx="10698480" cy="914400"/>
          </a:xfrm>
          <a:prstGeom prst="rect">
            <a:avLst/>
          </a:prstGeom>
          <a:noFill/>
          <a:ln/>
        </p:spPr>
        <p:txBody>
          <a:bodyPr wrap="square" rtlCol="0"/>
          <a:lstStyle/>
          <a:p>
            <a:pPr indent="0" marL="0">
              <a:buNone/>
            </a:pPr>
            <a:r>
              <a:rPr lang="en-US" sz="2000" dirty="0">
                <a:solidFill>
                  <a:schemeClr val="accent6"/>
                </a:solidFill>
              </a:rPr>
              <a:t>The reviewers' view, then the authors' view · 15 minutes</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p>
            <a:pPr indent="0" marL="0">
              <a:buNone/>
            </a:pPr>
            <a:r>
              <a:rPr lang="en-US" sz="3200" b="1" dirty="0">
                <a:solidFill>
                  <a:schemeClr val="tx2"/>
                </a:solidFill>
              </a:rPr>
              <a:t>Hermann et al. 2020: asking the reviewers</a:t>
            </a:r>
            <a:endParaRPr lang="en-US" sz="3200" dirty="0"/>
          </a:p>
        </p:txBody>
      </p:sp>
      <p:sp>
        <p:nvSpPr>
          <p:cNvPr id="3" name="Text 1"/>
          <p:cNvSpPr txBox="1"/>
          <p:nvPr/>
        </p:nvSpPr>
        <p:spPr>
          <a:xfrm>
            <a:off x="548640" y="1325880"/>
            <a:ext cx="11064240" cy="640080"/>
          </a:xfrm>
          <a:prstGeom prst="rect">
            <a:avLst/>
          </a:prstGeom>
          <a:noFill/>
          <a:ln/>
        </p:spPr>
        <p:txBody>
          <a:bodyPr wrap="square" lIns="1270" tIns="1270" rIns="1270" bIns="1270" rtlCol="0" anchor="t"/>
          <a:lstStyle/>
          <a:p>
            <a:pPr indent="0" marL="0">
              <a:buNone/>
            </a:pPr>
            <a:r>
              <a:rPr lang="en-US" sz="1800" b="1" dirty="0">
                <a:solidFill>
                  <a:schemeClr val="tx1"/>
                </a:solidFill>
              </a:rPr>
              <a:t>Question: </a:t>
            </a:r>
            <a:pPr indent="0" marL="0">
              <a:buNone/>
            </a:pPr>
            <a:r>
              <a:rPr lang="en-US" sz="1800" dirty="0">
                <a:solidFill>
                  <a:schemeClr val="tx1"/>
                </a:solidFill>
              </a:rPr>
              <a:t>What do AEC members think artifact evaluation is for, and what makes a good artifact?</a:t>
            </a:r>
            <a:endParaRPr lang="en-US" sz="1800" dirty="0"/>
          </a:p>
        </p:txBody>
      </p:sp>
      <p:sp>
        <p:nvSpPr>
          <p:cNvPr id="4" name="Text 2"/>
          <p:cNvSpPr txBox="1"/>
          <p:nvPr/>
        </p:nvSpPr>
        <p:spPr>
          <a:xfrm>
            <a:off x="548640" y="2103120"/>
            <a:ext cx="2651760" cy="822960"/>
          </a:xfrm>
          <a:prstGeom prst="rect">
            <a:avLst/>
          </a:prstGeom>
          <a:noFill/>
          <a:ln/>
        </p:spPr>
        <p:txBody>
          <a:bodyPr wrap="square" lIns="1270" tIns="1270" rIns="1270" bIns="127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79</a:t>
            </a:r>
            <a:endParaRPr lang="en-US" sz="4000" dirty="0"/>
          </a:p>
        </p:txBody>
      </p:sp>
      <p:sp>
        <p:nvSpPr>
          <p:cNvPr id="5" name="Text 3"/>
          <p:cNvSpPr txBox="1"/>
          <p:nvPr/>
        </p:nvSpPr>
        <p:spPr>
          <a:xfrm>
            <a:off x="548640" y="2880360"/>
            <a:ext cx="2651760" cy="640080"/>
          </a:xfrm>
          <a:prstGeom prst="rect">
            <a:avLst/>
          </a:prstGeom>
          <a:noFill/>
          <a:ln/>
        </p:spPr>
        <p:txBody>
          <a:bodyPr wrap="square" lIns="1270" tIns="1270" rIns="1270" bIns="1270" rtlCol="0" anchor="t"/>
          <a:lstStyle/>
          <a:p>
            <a:pPr indent="0" marL="0">
              <a:buNone/>
            </a:pPr>
            <a:r>
              <a:rPr lang="en-US" sz="1300" dirty="0">
                <a:solidFill>
                  <a:schemeClr val="accent5"/>
                </a:solidFill>
              </a:rPr>
              <a:t>calls for artifacts analysed, 2011–2019</a:t>
            </a:r>
            <a:endParaRPr lang="en-US" sz="1300" dirty="0"/>
          </a:p>
        </p:txBody>
      </p:sp>
      <p:sp>
        <p:nvSpPr>
          <p:cNvPr id="6" name="Text 4"/>
          <p:cNvSpPr txBox="1"/>
          <p:nvPr/>
        </p:nvSpPr>
        <p:spPr>
          <a:xfrm>
            <a:off x="3291840" y="2103120"/>
            <a:ext cx="2651760" cy="822960"/>
          </a:xfrm>
          <a:prstGeom prst="rect">
            <a:avLst/>
          </a:prstGeom>
          <a:noFill/>
          <a:ln/>
        </p:spPr>
        <p:txBody>
          <a:bodyPr wrap="square" lIns="1270" tIns="1270" rIns="1270" bIns="127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1034</a:t>
            </a:r>
            <a:endParaRPr lang="en-US" sz="4000" dirty="0"/>
          </a:p>
        </p:txBody>
      </p:sp>
      <p:sp>
        <p:nvSpPr>
          <p:cNvPr id="7" name="Text 5"/>
          <p:cNvSpPr txBox="1"/>
          <p:nvPr/>
        </p:nvSpPr>
        <p:spPr>
          <a:xfrm>
            <a:off x="3291840" y="2880360"/>
            <a:ext cx="2651760" cy="640080"/>
          </a:xfrm>
          <a:prstGeom prst="rect">
            <a:avLst/>
          </a:prstGeom>
          <a:noFill/>
          <a:ln/>
        </p:spPr>
        <p:txBody>
          <a:bodyPr wrap="square" lIns="1270" tIns="1270" rIns="1270" bIns="1270" rtlCol="0" anchor="t"/>
          <a:lstStyle/>
          <a:p>
            <a:pPr indent="0" marL="0">
              <a:buNone/>
            </a:pPr>
            <a:r>
              <a:rPr lang="en-US" sz="1300" dirty="0">
                <a:solidFill>
                  <a:schemeClr val="accent5"/>
                </a:solidFill>
              </a:rPr>
              <a:t>AEC members invited</a:t>
            </a:r>
            <a:endParaRPr lang="en-US" sz="1300" dirty="0"/>
          </a:p>
        </p:txBody>
      </p:sp>
      <p:sp>
        <p:nvSpPr>
          <p:cNvPr id="8" name="Text 6"/>
          <p:cNvSpPr txBox="1"/>
          <p:nvPr/>
        </p:nvSpPr>
        <p:spPr>
          <a:xfrm>
            <a:off x="6035040" y="2103120"/>
            <a:ext cx="2651760" cy="822960"/>
          </a:xfrm>
          <a:prstGeom prst="rect">
            <a:avLst/>
          </a:prstGeom>
          <a:noFill/>
          <a:ln/>
        </p:spPr>
        <p:txBody>
          <a:bodyPr wrap="square" lIns="1270" tIns="1270" rIns="1270" bIns="127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257</a:t>
            </a:r>
            <a:endParaRPr lang="en-US" sz="4000" dirty="0"/>
          </a:p>
        </p:txBody>
      </p:sp>
      <p:sp>
        <p:nvSpPr>
          <p:cNvPr id="9" name="Text 7"/>
          <p:cNvSpPr txBox="1"/>
          <p:nvPr/>
        </p:nvSpPr>
        <p:spPr>
          <a:xfrm>
            <a:off x="6035040" y="2880360"/>
            <a:ext cx="2651760" cy="640080"/>
          </a:xfrm>
          <a:prstGeom prst="rect">
            <a:avLst/>
          </a:prstGeom>
          <a:noFill/>
          <a:ln/>
        </p:spPr>
        <p:txBody>
          <a:bodyPr wrap="square" lIns="1270" tIns="1270" rIns="1270" bIns="1270" rtlCol="0" anchor="t"/>
          <a:lstStyle/>
          <a:p>
            <a:pPr indent="0" marL="0">
              <a:buNone/>
            </a:pPr>
            <a:r>
              <a:rPr lang="en-US" sz="1300" dirty="0">
                <a:solidFill>
                  <a:schemeClr val="accent5"/>
                </a:solidFill>
              </a:rPr>
              <a:t>responses (~25 %), mostly programming languages</a:t>
            </a:r>
            <a:endParaRPr lang="en-US" sz="1300" dirty="0"/>
          </a:p>
        </p:txBody>
      </p:sp>
      <p:sp>
        <p:nvSpPr>
          <p:cNvPr id="10" name="Text 8"/>
          <p:cNvSpPr txBox="1"/>
          <p:nvPr/>
        </p:nvSpPr>
        <p:spPr>
          <a:xfrm>
            <a:off x="8778240" y="2103120"/>
            <a:ext cx="2834640" cy="822960"/>
          </a:xfrm>
          <a:prstGeom prst="rect">
            <a:avLst/>
          </a:prstGeom>
          <a:noFill/>
          <a:ln/>
        </p:spPr>
        <p:txBody>
          <a:bodyPr wrap="square" lIns="1270" tIns="1270" rIns="1270" bIns="127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&lt; 30 min</a:t>
            </a:r>
            <a:endParaRPr lang="en-US" sz="4000" dirty="0"/>
          </a:p>
        </p:txBody>
      </p:sp>
      <p:sp>
        <p:nvSpPr>
          <p:cNvPr id="11" name="Text 9"/>
          <p:cNvSpPr txBox="1"/>
          <p:nvPr/>
        </p:nvSpPr>
        <p:spPr>
          <a:xfrm>
            <a:off x="8778240" y="2880360"/>
            <a:ext cx="2834640" cy="640080"/>
          </a:xfrm>
          <a:prstGeom prst="rect">
            <a:avLst/>
          </a:prstGeom>
          <a:noFill/>
          <a:ln/>
        </p:spPr>
        <p:txBody>
          <a:bodyPr wrap="square" lIns="1270" tIns="1270" rIns="1270" bIns="1270" rtlCol="0" anchor="t"/>
          <a:lstStyle/>
          <a:p>
            <a:pPr indent="0" marL="0">
              <a:buNone/>
            </a:pPr>
            <a:r>
              <a:rPr lang="en-US" sz="1300" dirty="0">
                <a:solidFill>
                  <a:schemeClr val="accent5"/>
                </a:solidFill>
              </a:rPr>
              <a:t>the only real threshold any call sets: setup and a basic test</a:t>
            </a:r>
            <a:endParaRPr lang="en-US" sz="1300" dirty="0"/>
          </a:p>
        </p:txBody>
      </p:sp>
      <p:sp>
        <p:nvSpPr>
          <p:cNvPr id="12" name="card17"/>
          <p:cNvSpPr/>
          <p:nvPr/>
        </p:nvSpPr>
        <p:spPr>
          <a:xfrm>
            <a:off x="548640" y="3931920"/>
            <a:ext cx="11064240" cy="2103120"/>
          </a:xfrm>
          <a:prstGeom prst="roundRect">
            <a:avLst>
              <a:gd name="adj" fmla="val 3478"/>
            </a:avLst>
          </a:prstGeom>
          <a:solidFill>
            <a:srgbClr val="EEF3F4"/>
          </a:solidFill>
          <a:ln w="12700">
            <a:solidFill>
              <a:srgbClr val="EEF3F4"/>
            </a:solidFill>
            <a:prstDash val="solid"/>
          </a:ln>
        </p:spPr>
      </p:sp>
      <p:sp>
        <p:nvSpPr>
          <p:cNvPr id="13" name="Text 11"/>
          <p:cNvSpPr txBox="1"/>
          <p:nvPr/>
        </p:nvSpPr>
        <p:spPr>
          <a:xfrm>
            <a:off x="822960" y="4114800"/>
            <a:ext cx="10515600" cy="1828800"/>
          </a:xfrm>
          <a:prstGeom prst="rect">
            <a:avLst/>
          </a:prstGeom>
          <a:noFill/>
          <a:ln/>
        </p:spPr>
        <p:txBody>
          <a:bodyPr wrap="square" lIns="1270" tIns="1270" rIns="1270" bIns="1270" rtlCol="0" anchor="t"/>
          <a:lstStyle/>
          <a:p>
            <a:pPr marL="342900" indent="-342900">
              <a:spcAft>
                <a:spcPts val="600"/>
              </a:spcAft>
              <a:buSzPct val="100000"/>
              <a:buChar char="•"/>
            </a:pPr>
            <a:r>
              <a:rPr lang="en-US" sz="1600" dirty="0">
                <a:solidFill>
                  <a:schemeClr val="tx1"/>
                </a:solidFill>
              </a:rPr>
              <a:t>Method: document analysis of the calls, then a survey with open questions, analysed by card sorting</a:t>
            </a:r>
            <a:endParaRPr lang="en-US" sz="1600" dirty="0"/>
          </a:p>
          <a:p>
            <a:pPr marL="342900" indent="-342900">
              <a:spcAft>
                <a:spcPts val="600"/>
              </a:spcAft>
              <a:buSzPct val="100000"/>
              <a:buChar char="•"/>
            </a:pPr>
            <a:r>
              <a:rPr lang="en-US" sz="1600" dirty="0">
                <a:solidFill>
                  <a:schemeClr val="tx1"/>
                </a:solidFill>
              </a:rPr>
              <a:t>No artifact was opened; badges were not checked against artifact quality</a:t>
            </a:r>
            <a:endParaRPr lang="en-US" sz="1600" dirty="0"/>
          </a:p>
          <a:p>
            <a:pPr marL="342900" indent="-342900">
              <a:spcAft>
                <a:spcPts val="600"/>
              </a:spcAft>
              <a:buSzPct val="100000"/>
              <a:buChar char="•"/>
            </a:pPr>
            <a:r>
              <a:rPr lang="en-US" sz="1600" dirty="0">
                <a:solidFill>
                  <a:schemeClr val="tx1"/>
                </a:solidFill>
              </a:rPr>
              <a:t>ESEC/FSE 2020 · printed pp. 469–480 · co-author Stefan Winter is our lecturer</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p>
            <a:pPr indent="0" marL="0">
              <a:buNone/>
            </a:pPr>
            <a:r>
              <a:rPr lang="en-US" sz="3200" b="1" dirty="0">
                <a:solidFill>
                  <a:schemeClr val="tx2"/>
                </a:solidFill>
              </a:rPr>
              <a:t>Hermann et al.: no agreed threshold</a:t>
            </a:r>
            <a:endParaRPr lang="en-US" sz="3200" dirty="0"/>
          </a:p>
        </p:txBody>
      </p:sp>
      <p:sp>
        <p:nvSpPr>
          <p:cNvPr id="3" name="card18"/>
          <p:cNvSpPr/>
          <p:nvPr/>
        </p:nvSpPr>
        <p:spPr>
          <a:xfrm>
            <a:off x="548640" y="1417320"/>
            <a:ext cx="5440680" cy="2148840"/>
          </a:xfrm>
          <a:prstGeom prst="roundRect">
            <a:avLst>
              <a:gd name="adj" fmla="val 3404"/>
            </a:avLst>
          </a:prstGeom>
          <a:solidFill>
            <a:srgbClr val="EEF3F4"/>
          </a:solidFill>
          <a:ln w="12700">
            <a:solidFill>
              <a:srgbClr val="EEF3F4"/>
            </a:solidFill>
            <a:prstDash val="solid"/>
          </a:ln>
        </p:spPr>
      </p:sp>
      <p:sp>
        <p:nvSpPr>
          <p:cNvPr id="4" name="Text 2"/>
          <p:cNvSpPr txBox="1"/>
          <p:nvPr/>
        </p:nvSpPr>
        <p:spPr>
          <a:xfrm>
            <a:off x="777240" y="1600200"/>
            <a:ext cx="4937760" cy="502920"/>
          </a:xfrm>
          <a:prstGeom prst="rect">
            <a:avLst/>
          </a:prstGeom>
          <a:noFill/>
          <a:ln/>
        </p:spPr>
        <p:txBody>
          <a:bodyPr wrap="square" lIns="1270" tIns="1270" rIns="1270" bIns="1270" rtlCol="0" anchor="t"/>
          <a:lstStyle/>
          <a:p>
            <a:pPr indent="0" marL="0">
              <a:buNone/>
            </a:pPr>
            <a:r>
              <a:rPr lang="en-US" sz="2000" b="1" dirty="0">
                <a:solidFill>
                  <a:schemeClr val="accent1"/>
                </a:solidFill>
              </a:rPr>
              <a:t>Purpose drifts</a:t>
            </a:r>
            <a:endParaRPr lang="en-US" sz="2000" dirty="0"/>
          </a:p>
        </p:txBody>
      </p:sp>
      <p:sp>
        <p:nvSpPr>
          <p:cNvPr id="5" name="Text 3"/>
          <p:cNvSpPr txBox="1"/>
          <p:nvPr/>
        </p:nvSpPr>
        <p:spPr>
          <a:xfrm>
            <a:off x="777240" y="2148840"/>
            <a:ext cx="4937760" cy="1325880"/>
          </a:xfrm>
          <a:prstGeom prst="rect">
            <a:avLst/>
          </a:prstGeom>
          <a:noFill/>
          <a:ln/>
        </p:spPr>
        <p:txBody>
          <a:bodyPr wrap="square" lIns="1270" tIns="1270" rIns="1270" bIns="1270" rtlCol="0" anchor="t"/>
          <a:lstStyle/>
          <a:p>
            <a:pPr indent="0" marL="0">
              <a:buNone/>
            </a:pPr>
            <a:r>
              <a:rPr lang="en-US" sz="1800" dirty="0">
                <a:solidFill>
                  <a:schemeClr val="tx1"/>
                </a:solidFill>
              </a:rPr>
              <a:t>From "check the claims" to reproducibility and reuse. Reviewers stress reproducing results, users stress reuse (p. 479).</a:t>
            </a:r>
            <a:endParaRPr lang="en-US" sz="1800" dirty="0"/>
          </a:p>
        </p:txBody>
      </p:sp>
      <p:sp>
        <p:nvSpPr>
          <p:cNvPr id="6" name="card19"/>
          <p:cNvSpPr/>
          <p:nvPr/>
        </p:nvSpPr>
        <p:spPr>
          <a:xfrm>
            <a:off x="6172200" y="1417320"/>
            <a:ext cx="5440680" cy="2148840"/>
          </a:xfrm>
          <a:prstGeom prst="roundRect">
            <a:avLst>
              <a:gd name="adj" fmla="val 3404"/>
            </a:avLst>
          </a:prstGeom>
          <a:solidFill>
            <a:srgbClr val="EEF3F4"/>
          </a:solidFill>
          <a:ln w="12700">
            <a:solidFill>
              <a:srgbClr val="EEF3F4"/>
            </a:solidFill>
            <a:prstDash val="solid"/>
          </a:ln>
        </p:spPr>
      </p:sp>
      <p:sp>
        <p:nvSpPr>
          <p:cNvPr id="7" name="Text 5"/>
          <p:cNvSpPr txBox="1"/>
          <p:nvPr/>
        </p:nvSpPr>
        <p:spPr>
          <a:xfrm>
            <a:off x="6400800" y="1600200"/>
            <a:ext cx="4937760" cy="502920"/>
          </a:xfrm>
          <a:prstGeom prst="rect">
            <a:avLst/>
          </a:prstGeom>
          <a:noFill/>
          <a:ln/>
        </p:spPr>
        <p:txBody>
          <a:bodyPr wrap="square" lIns="1270" tIns="1270" rIns="1270" bIns="1270" rtlCol="0" anchor="t"/>
          <a:lstStyle/>
          <a:p>
            <a:pPr indent="0" marL="0">
              <a:buNone/>
            </a:pPr>
            <a:r>
              <a:rPr lang="en-US" sz="2000" b="1" dirty="0">
                <a:solidFill>
                  <a:schemeClr val="accent1"/>
                </a:solidFill>
              </a:rPr>
              <a:t>No thresholds</a:t>
            </a:r>
            <a:endParaRPr lang="en-US" sz="2000" dirty="0"/>
          </a:p>
        </p:txBody>
      </p:sp>
      <p:sp>
        <p:nvSpPr>
          <p:cNvPr id="8" name="Text 6"/>
          <p:cNvSpPr txBox="1"/>
          <p:nvPr/>
        </p:nvSpPr>
        <p:spPr>
          <a:xfrm>
            <a:off x="6400800" y="2148840"/>
            <a:ext cx="4937760" cy="1325880"/>
          </a:xfrm>
          <a:prstGeom prst="rect">
            <a:avLst/>
          </a:prstGeom>
          <a:noFill/>
          <a:ln/>
        </p:spPr>
        <p:txBody>
          <a:bodyPr wrap="square" lIns="1270" tIns="1270" rIns="1270" bIns="1270" rtlCol="0" anchor="t"/>
          <a:lstStyle/>
          <a:p>
            <a:pPr indent="0" marL="0">
              <a:buNone/>
            </a:pPr>
            <a:r>
              <a:rPr lang="en-US" sz="1800" dirty="0">
                <a:solidFill>
                  <a:schemeClr val="tx1"/>
                </a:solidFill>
              </a:rPr>
              <a:t>Calls list criteria (documentation 46, consistency 45, completeness 39) but almost never say how good is good enough (pp. 471–472).</a:t>
            </a:r>
            <a:endParaRPr lang="en-US" sz="1800" dirty="0"/>
          </a:p>
        </p:txBody>
      </p:sp>
      <p:sp>
        <p:nvSpPr>
          <p:cNvPr id="9" name="card20"/>
          <p:cNvSpPr/>
          <p:nvPr/>
        </p:nvSpPr>
        <p:spPr>
          <a:xfrm>
            <a:off x="548640" y="3749040"/>
            <a:ext cx="5440680" cy="2148840"/>
          </a:xfrm>
          <a:prstGeom prst="roundRect">
            <a:avLst>
              <a:gd name="adj" fmla="val 3404"/>
            </a:avLst>
          </a:prstGeom>
          <a:solidFill>
            <a:srgbClr val="EEF3F4"/>
          </a:solidFill>
          <a:ln w="12700">
            <a:solidFill>
              <a:srgbClr val="EEF3F4"/>
            </a:solidFill>
            <a:prstDash val="solid"/>
          </a:ln>
        </p:spPr>
      </p:sp>
      <p:sp>
        <p:nvSpPr>
          <p:cNvPr id="10" name="Text 8"/>
          <p:cNvSpPr txBox="1"/>
          <p:nvPr/>
        </p:nvSpPr>
        <p:spPr>
          <a:xfrm>
            <a:off x="777240" y="3931920"/>
            <a:ext cx="4937760" cy="502920"/>
          </a:xfrm>
          <a:prstGeom prst="rect">
            <a:avLst/>
          </a:prstGeom>
          <a:noFill/>
          <a:ln/>
        </p:spPr>
        <p:txBody>
          <a:bodyPr wrap="square" lIns="1270" tIns="1270" rIns="1270" bIns="1270" rtlCol="0" anchor="t"/>
          <a:lstStyle/>
          <a:p>
            <a:pPr indent="0" marL="0">
              <a:buNone/>
            </a:pPr>
            <a:r>
              <a:rPr lang="en-US" sz="2000" b="1" dirty="0">
                <a:solidFill>
                  <a:schemeClr val="accent1"/>
                </a:solidFill>
              </a:rPr>
              <a:t>Mixed value</a:t>
            </a:r>
            <a:endParaRPr lang="en-US" sz="2000" dirty="0"/>
          </a:p>
        </p:txBody>
      </p:sp>
      <p:sp>
        <p:nvSpPr>
          <p:cNvPr id="11" name="Text 9"/>
          <p:cNvSpPr txBox="1"/>
          <p:nvPr/>
        </p:nvSpPr>
        <p:spPr>
          <a:xfrm>
            <a:off x="777240" y="4480560"/>
            <a:ext cx="4937760" cy="1325880"/>
          </a:xfrm>
          <a:prstGeom prst="rect">
            <a:avLst/>
          </a:prstGeom>
          <a:noFill/>
          <a:ln/>
        </p:spPr>
        <p:txBody>
          <a:bodyPr wrap="square" lIns="1270" tIns="1270" rIns="1270" bIns="1270" rtlCol="0" anchor="t"/>
          <a:lstStyle/>
          <a:p>
            <a:pPr indent="0" marL="0">
              <a:buNone/>
            </a:pPr>
            <a:r>
              <a:rPr lang="en-US" sz="1800" dirty="0">
                <a:solidFill>
                  <a:schemeClr val="tx1"/>
                </a:solidFill>
              </a:rPr>
              <a:t>20 users see a difference between evaluated and unevaluated artifacts, 34 do not (p. 477).</a:t>
            </a:r>
            <a:endParaRPr lang="en-US" sz="1800" dirty="0"/>
          </a:p>
        </p:txBody>
      </p:sp>
      <p:sp>
        <p:nvSpPr>
          <p:cNvPr id="12" name="card21"/>
          <p:cNvSpPr/>
          <p:nvPr/>
        </p:nvSpPr>
        <p:spPr>
          <a:xfrm>
            <a:off x="6172200" y="3749040"/>
            <a:ext cx="5440680" cy="2148840"/>
          </a:xfrm>
          <a:prstGeom prst="roundRect">
            <a:avLst>
              <a:gd name="adj" fmla="val 3404"/>
            </a:avLst>
          </a:prstGeom>
          <a:solidFill>
            <a:srgbClr val="EEF3F4"/>
          </a:solidFill>
          <a:ln w="12700">
            <a:solidFill>
              <a:srgbClr val="EEF3F4"/>
            </a:solidFill>
            <a:prstDash val="solid"/>
          </a:ln>
        </p:spPr>
      </p:sp>
      <p:sp>
        <p:nvSpPr>
          <p:cNvPr id="13" name="Text 11"/>
          <p:cNvSpPr txBox="1"/>
          <p:nvPr/>
        </p:nvSpPr>
        <p:spPr>
          <a:xfrm>
            <a:off x="6400800" y="3931920"/>
            <a:ext cx="4937760" cy="502920"/>
          </a:xfrm>
          <a:prstGeom prst="rect">
            <a:avLst/>
          </a:prstGeom>
          <a:noFill/>
          <a:ln/>
        </p:spPr>
        <p:txBody>
          <a:bodyPr wrap="square" lIns="1270" tIns="1270" rIns="1270" bIns="1270" rtlCol="0" anchor="t"/>
          <a:lstStyle/>
          <a:p>
            <a:pPr indent="0" marL="0">
              <a:buNone/>
            </a:pPr>
            <a:r>
              <a:rPr lang="en-US" sz="2000" b="1" dirty="0">
                <a:solidFill>
                  <a:schemeClr val="accent1"/>
                </a:solidFill>
              </a:rPr>
              <a:t>One-time reviewers</a:t>
            </a:r>
            <a:endParaRPr lang="en-US" sz="2000" dirty="0"/>
          </a:p>
        </p:txBody>
      </p:sp>
      <p:sp>
        <p:nvSpPr>
          <p:cNvPr id="14" name="Text 12"/>
          <p:cNvSpPr txBox="1"/>
          <p:nvPr/>
        </p:nvSpPr>
        <p:spPr>
          <a:xfrm>
            <a:off x="6400800" y="4480560"/>
            <a:ext cx="4937760" cy="1325880"/>
          </a:xfrm>
          <a:prstGeom prst="rect">
            <a:avLst/>
          </a:prstGeom>
          <a:noFill/>
          <a:ln/>
        </p:spPr>
        <p:txBody>
          <a:bodyPr wrap="square" lIns="1270" tIns="1270" rIns="1270" bIns="1270" rtlCol="0" anchor="t"/>
          <a:lstStyle/>
          <a:p>
            <a:pPr indent="0" marL="0">
              <a:buNone/>
            </a:pPr>
            <a:r>
              <a:rPr lang="en-US" sz="1800" dirty="0">
                <a:solidFill>
                  <a:schemeClr val="tx1"/>
                </a:solidFill>
              </a:rPr>
              <a:t>Most serve on an AEC only once; a third have never submitted an artifact themselves (pp. 473, 478).</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p>
            <a:pPr indent="0" marL="0">
              <a:buNone/>
            </a:pPr>
            <a:r>
              <a:rPr lang="en-US" sz="3200" b="1" dirty="0">
                <a:solidFill>
                  <a:schemeClr val="tx2"/>
                </a:solidFill>
              </a:rPr>
              <a:t>Timperley et al. 2021: asking the authors</a:t>
            </a:r>
            <a:endParaRPr lang="en-US" sz="3200" dirty="0"/>
          </a:p>
        </p:txBody>
      </p:sp>
      <p:sp>
        <p:nvSpPr>
          <p:cNvPr id="3" name="Text 1"/>
          <p:cNvSpPr txBox="1"/>
          <p:nvPr/>
        </p:nvSpPr>
        <p:spPr>
          <a:xfrm>
            <a:off x="548640" y="1325880"/>
            <a:ext cx="11064240" cy="640080"/>
          </a:xfrm>
          <a:prstGeom prst="rect">
            <a:avLst/>
          </a:prstGeom>
          <a:noFill/>
          <a:ln/>
        </p:spPr>
        <p:txBody>
          <a:bodyPr wrap="square" lIns="1270" tIns="1270" rIns="1270" bIns="1270" rtlCol="0" anchor="t"/>
          <a:lstStyle/>
          <a:p>
            <a:pPr indent="0" marL="0">
              <a:buNone/>
            </a:pPr>
            <a:r>
              <a:rPr lang="en-US" sz="1800" b="1" dirty="0">
                <a:solidFill>
                  <a:schemeClr val="tx1"/>
                </a:solidFill>
              </a:rPr>
              <a:t>Question: </a:t>
            </a:r>
            <a:pPr indent="0" marL="0">
              <a:buNone/>
            </a:pPr>
            <a:r>
              <a:rPr lang="en-US" sz="1800" dirty="0">
                <a:solidFill>
                  <a:schemeClr val="tx1"/>
                </a:solidFill>
              </a:rPr>
              <a:t>Does the SE community value artifacts, and what makes creating, using and reviewing them hard?</a:t>
            </a:r>
            <a:endParaRPr lang="en-US" sz="1800" dirty="0"/>
          </a:p>
        </p:txBody>
      </p:sp>
      <p:sp>
        <p:nvSpPr>
          <p:cNvPr id="4" name="Text 2"/>
          <p:cNvSpPr txBox="1"/>
          <p:nvPr/>
        </p:nvSpPr>
        <p:spPr>
          <a:xfrm>
            <a:off x="548640" y="2103120"/>
            <a:ext cx="2651760" cy="822960"/>
          </a:xfrm>
          <a:prstGeom prst="rect">
            <a:avLst/>
          </a:prstGeom>
          <a:noFill/>
          <a:ln/>
        </p:spPr>
        <p:txBody>
          <a:bodyPr wrap="square" lIns="1270" tIns="1270" rIns="1270" bIns="127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62.7 %</a:t>
            </a:r>
            <a:endParaRPr lang="en-US" sz="4000" dirty="0"/>
          </a:p>
        </p:txBody>
      </p:sp>
      <p:sp>
        <p:nvSpPr>
          <p:cNvPr id="5" name="Text 3"/>
          <p:cNvSpPr txBox="1"/>
          <p:nvPr/>
        </p:nvSpPr>
        <p:spPr>
          <a:xfrm>
            <a:off x="548640" y="2880360"/>
            <a:ext cx="2651760" cy="640080"/>
          </a:xfrm>
          <a:prstGeom prst="rect">
            <a:avLst/>
          </a:prstGeom>
          <a:noFill/>
          <a:ln/>
        </p:spPr>
        <p:txBody>
          <a:bodyPr wrap="square" lIns="1270" tIns="1270" rIns="1270" bIns="1270" rtlCol="0" anchor="t"/>
          <a:lstStyle/>
          <a:p>
            <a:pPr indent="0" marL="0">
              <a:buNone/>
            </a:pPr>
            <a:r>
              <a:rPr lang="en-US" sz="1300" dirty="0">
                <a:solidFill>
                  <a:schemeClr val="accent5"/>
                </a:solidFill>
              </a:rPr>
              <a:t>of 1434 papers (ICSE, FSE, ASE, EMSE 2014–18) link an artifact</a:t>
            </a:r>
            <a:endParaRPr lang="en-US" sz="1300" dirty="0"/>
          </a:p>
        </p:txBody>
      </p:sp>
      <p:sp>
        <p:nvSpPr>
          <p:cNvPr id="6" name="Text 4"/>
          <p:cNvSpPr txBox="1"/>
          <p:nvPr/>
        </p:nvSpPr>
        <p:spPr>
          <a:xfrm>
            <a:off x="3291840" y="2103120"/>
            <a:ext cx="2651760" cy="822960"/>
          </a:xfrm>
          <a:prstGeom prst="rect">
            <a:avLst/>
          </a:prstGeom>
          <a:noFill/>
          <a:ln/>
        </p:spPr>
        <p:txBody>
          <a:bodyPr wrap="square" lIns="1270" tIns="1270" rIns="1270" bIns="127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153</a:t>
            </a:r>
            <a:endParaRPr lang="en-US" sz="4000" dirty="0"/>
          </a:p>
        </p:txBody>
      </p:sp>
      <p:sp>
        <p:nvSpPr>
          <p:cNvPr id="7" name="Text 5"/>
          <p:cNvSpPr txBox="1"/>
          <p:nvPr/>
        </p:nvSpPr>
        <p:spPr>
          <a:xfrm>
            <a:off x="3291840" y="2880360"/>
            <a:ext cx="2651760" cy="640080"/>
          </a:xfrm>
          <a:prstGeom prst="rect">
            <a:avLst/>
          </a:prstGeom>
          <a:noFill/>
          <a:ln/>
        </p:spPr>
        <p:txBody>
          <a:bodyPr wrap="square" lIns="1270" tIns="1270" rIns="1270" bIns="1270" rtlCol="0" anchor="t"/>
          <a:lstStyle/>
          <a:p>
            <a:pPr indent="0" marL="0">
              <a:buNone/>
            </a:pPr>
            <a:r>
              <a:rPr lang="en-US" sz="1300" dirty="0">
                <a:solidFill>
                  <a:schemeClr val="accent5"/>
                </a:solidFill>
              </a:rPr>
              <a:t>authors surveyed (22 % response)</a:t>
            </a:r>
            <a:endParaRPr lang="en-US" sz="1300" dirty="0"/>
          </a:p>
        </p:txBody>
      </p:sp>
      <p:sp>
        <p:nvSpPr>
          <p:cNvPr id="8" name="Text 6"/>
          <p:cNvSpPr txBox="1"/>
          <p:nvPr/>
        </p:nvSpPr>
        <p:spPr>
          <a:xfrm>
            <a:off x="6035040" y="2103120"/>
            <a:ext cx="2651760" cy="822960"/>
          </a:xfrm>
          <a:prstGeom prst="rect">
            <a:avLst/>
          </a:prstGeom>
          <a:noFill/>
          <a:ln/>
        </p:spPr>
        <p:txBody>
          <a:bodyPr wrap="square" lIns="1270" tIns="1270" rIns="1270" bIns="1270" rtlCol="0" anchor="t"/>
          <a:lstStyle/>
          <a:p>
            <a:pPr indent="0" marL="0">
              <a:buNone/>
            </a:pPr>
            <a:r>
              <a:rPr lang="en-US" sz="4000" b="1" dirty="0">
                <a:solidFill>
                  <a:schemeClr val="accent4"/>
                </a:solidFill>
                <a:latin typeface="Cambria" pitchFamily="34" charset="0"/>
                <a:ea typeface="Cambria" pitchFamily="34" charset="-122"/>
                <a:cs typeface="Cambria" pitchFamily="34" charset="-120"/>
              </a:rPr>
              <a:t>~14 %</a:t>
            </a:r>
            <a:endParaRPr lang="en-US" sz="4000" dirty="0"/>
          </a:p>
        </p:txBody>
      </p:sp>
      <p:sp>
        <p:nvSpPr>
          <p:cNvPr id="9" name="Text 7"/>
          <p:cNvSpPr txBox="1"/>
          <p:nvPr/>
        </p:nvSpPr>
        <p:spPr>
          <a:xfrm>
            <a:off x="6035040" y="2880360"/>
            <a:ext cx="2651760" cy="640080"/>
          </a:xfrm>
          <a:prstGeom prst="rect">
            <a:avLst/>
          </a:prstGeom>
          <a:noFill/>
          <a:ln/>
        </p:spPr>
        <p:txBody>
          <a:bodyPr wrap="square" lIns="1270" tIns="1270" rIns="1270" bIns="1270" rtlCol="0" anchor="t"/>
          <a:lstStyle/>
          <a:p>
            <a:pPr indent="0" marL="0">
              <a:buNone/>
            </a:pPr>
            <a:r>
              <a:rPr lang="en-US" sz="1300" dirty="0">
                <a:solidFill>
                  <a:schemeClr val="accent5"/>
                </a:solidFill>
              </a:rPr>
              <a:t>of artifact links dead in 2019 (26 % for 2014 papers)</a:t>
            </a:r>
            <a:endParaRPr lang="en-US" sz="1300" dirty="0"/>
          </a:p>
        </p:txBody>
      </p:sp>
      <p:sp>
        <p:nvSpPr>
          <p:cNvPr id="10" name="Text 8"/>
          <p:cNvSpPr txBox="1"/>
          <p:nvPr/>
        </p:nvSpPr>
        <p:spPr>
          <a:xfrm>
            <a:off x="8778240" y="2103120"/>
            <a:ext cx="2834640" cy="822960"/>
          </a:xfrm>
          <a:prstGeom prst="rect">
            <a:avLst/>
          </a:prstGeom>
          <a:noFill/>
          <a:ln/>
        </p:spPr>
        <p:txBody>
          <a:bodyPr wrap="square" lIns="1270" tIns="1270" rIns="1270" bIns="127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74 of 196</a:t>
            </a:r>
            <a:endParaRPr lang="en-US" sz="4000" dirty="0"/>
          </a:p>
        </p:txBody>
      </p:sp>
      <p:sp>
        <p:nvSpPr>
          <p:cNvPr id="11" name="Text 9"/>
          <p:cNvSpPr txBox="1"/>
          <p:nvPr/>
        </p:nvSpPr>
        <p:spPr>
          <a:xfrm>
            <a:off x="8778240" y="2880360"/>
            <a:ext cx="2834640" cy="640080"/>
          </a:xfrm>
          <a:prstGeom prst="rect">
            <a:avLst/>
          </a:prstGeom>
          <a:noFill/>
          <a:ln/>
        </p:spPr>
        <p:txBody>
          <a:bodyPr wrap="square" lIns="1270" tIns="1270" rIns="1270" bIns="1270" rtlCol="0" anchor="t"/>
          <a:lstStyle/>
          <a:p>
            <a:pPr indent="0" marL="0">
              <a:buNone/>
            </a:pPr>
            <a:r>
              <a:rPr lang="en-US" sz="1300" dirty="0">
                <a:solidFill>
                  <a:schemeClr val="accent5"/>
                </a:solidFill>
              </a:rPr>
              <a:t>FSE artifact papers submitted to AE; 64 accepted</a:t>
            </a:r>
            <a:endParaRPr lang="en-US" sz="1300" dirty="0"/>
          </a:p>
        </p:txBody>
      </p:sp>
      <p:sp>
        <p:nvSpPr>
          <p:cNvPr id="12" name="card22"/>
          <p:cNvSpPr/>
          <p:nvPr/>
        </p:nvSpPr>
        <p:spPr>
          <a:xfrm>
            <a:off x="548640" y="3931920"/>
            <a:ext cx="11064240" cy="2103120"/>
          </a:xfrm>
          <a:prstGeom prst="roundRect">
            <a:avLst>
              <a:gd name="adj" fmla="val 3478"/>
            </a:avLst>
          </a:prstGeom>
          <a:solidFill>
            <a:srgbClr val="EEF3F4"/>
          </a:solidFill>
          <a:ln w="12700">
            <a:solidFill>
              <a:srgbClr val="EEF3F4"/>
            </a:solidFill>
            <a:prstDash val="solid"/>
          </a:ln>
        </p:spPr>
      </p:sp>
      <p:sp>
        <p:nvSpPr>
          <p:cNvPr id="13" name="Text 11"/>
          <p:cNvSpPr txBox="1"/>
          <p:nvPr/>
        </p:nvSpPr>
        <p:spPr>
          <a:xfrm>
            <a:off x="822960" y="4114800"/>
            <a:ext cx="10515600" cy="1828800"/>
          </a:xfrm>
          <a:prstGeom prst="rect">
            <a:avLst/>
          </a:prstGeom>
          <a:noFill/>
          <a:ln/>
        </p:spPr>
        <p:txBody>
          <a:bodyPr wrap="square" lIns="1270" tIns="1270" rIns="1270" bIns="1270" rtlCol="0" anchor="t"/>
          <a:lstStyle/>
          <a:p>
            <a:pPr marL="342900" indent="-342900">
              <a:spcAft>
                <a:spcPts val="600"/>
              </a:spcAft>
              <a:buSzPct val="100000"/>
              <a:buChar char="•"/>
            </a:pPr>
            <a:r>
              <a:rPr lang="en-US" sz="1600" dirty="0">
                <a:solidFill>
                  <a:schemeClr val="tx1"/>
                </a:solidFill>
              </a:rPr>
              <a:t>"Artifact" = any link to external material; "available" = the link still works</a:t>
            </a:r>
            <a:endParaRPr lang="en-US" sz="1600" dirty="0"/>
          </a:p>
          <a:p>
            <a:pPr marL="342900" indent="-342900">
              <a:spcAft>
                <a:spcPts val="600"/>
              </a:spcAft>
              <a:buSzPct val="100000"/>
              <a:buChar char="•"/>
            </a:pPr>
            <a:r>
              <a:rPr lang="en-US" sz="1600" dirty="0">
                <a:solidFill>
                  <a:schemeClr val="tx1"/>
                </a:solidFill>
              </a:rPr>
              <a:t>Thematic analysis shows the range of challenges, not how common each is (p. 9)</a:t>
            </a:r>
            <a:endParaRPr lang="en-US" sz="1600" dirty="0"/>
          </a:p>
          <a:p>
            <a:pPr marL="342900" indent="-342900">
              <a:spcAft>
                <a:spcPts val="600"/>
              </a:spcAft>
              <a:buSzPct val="100000"/>
              <a:buChar char="•"/>
            </a:pPr>
            <a:r>
              <a:rPr lang="en-US" sz="1600" dirty="0">
                <a:solidFill>
                  <a:schemeClr val="tx1"/>
                </a:solidFill>
              </a:rPr>
              <a:t>Secondary analysis with Diffusion of Innovations, then 8 recommendations (R1–R8)</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p>
            <a:pPr indent="0" marL="0">
              <a:buNone/>
            </a:pPr>
            <a:r>
              <a:rPr lang="en-US" sz="3200" b="1" dirty="0">
                <a:solidFill>
                  <a:schemeClr val="tx2"/>
                </a:solidFill>
              </a:rPr>
              <a:t>Timperley et al.: twelve challenges, one root</a:t>
            </a:r>
            <a:endParaRPr lang="en-US" sz="3200" dirty="0"/>
          </a:p>
        </p:txBody>
      </p:sp>
      <p:sp>
        <p:nvSpPr>
          <p:cNvPr id="3" name="card23"/>
          <p:cNvSpPr/>
          <p:nvPr/>
        </p:nvSpPr>
        <p:spPr>
          <a:xfrm>
            <a:off x="548640" y="1417320"/>
            <a:ext cx="2651760" cy="640080"/>
          </a:xfrm>
          <a:prstGeom prst="roundRect">
            <a:avLst>
              <a:gd name="adj" fmla="val 11429"/>
            </a:avLst>
          </a:prstGeom>
          <a:solidFill>
            <a:srgbClr val="FBEFD5"/>
          </a:solidFill>
          <a:ln w="12700">
            <a:solidFill>
              <a:srgbClr val="FBEFD5"/>
            </a:solidFill>
            <a:prstDash val="solid"/>
          </a:ln>
        </p:spPr>
      </p:sp>
      <p:sp>
        <p:nvSpPr>
          <p:cNvPr id="4" name="Text 2"/>
          <p:cNvSpPr txBox="1"/>
          <p:nvPr/>
        </p:nvSpPr>
        <p:spPr>
          <a:xfrm>
            <a:off x="685800" y="1417320"/>
            <a:ext cx="2423160" cy="640080"/>
          </a:xfrm>
          <a:prstGeom prst="rect">
            <a:avLst/>
          </a:prstGeom>
          <a:noFill/>
          <a:ln/>
        </p:spPr>
        <p:txBody>
          <a:bodyPr wrap="square" lIns="1270" tIns="1270" rIns="1270" bIns="1270" rtlCol="0" anchor="ctr"/>
          <a:lstStyle/>
          <a:p>
            <a:pPr indent="0" marL="0">
              <a:buNone/>
            </a:pPr>
            <a:r>
              <a:rPr lang="en-US" sz="1500" b="1" dirty="0">
                <a:solidFill>
                  <a:schemeClr val="tx1"/>
                </a:solidFill>
              </a:rPr>
              <a:t>C1 Not worth it</a:t>
            </a:r>
            <a:endParaRPr lang="en-US" sz="1500" dirty="0"/>
          </a:p>
        </p:txBody>
      </p:sp>
      <p:sp>
        <p:nvSpPr>
          <p:cNvPr id="5" name="card24"/>
          <p:cNvSpPr/>
          <p:nvPr/>
        </p:nvSpPr>
        <p:spPr>
          <a:xfrm>
            <a:off x="3337560" y="1417320"/>
            <a:ext cx="2651760" cy="640080"/>
          </a:xfrm>
          <a:prstGeom prst="roundRect">
            <a:avLst>
              <a:gd name="adj" fmla="val 11429"/>
            </a:avLst>
          </a:prstGeom>
          <a:solidFill>
            <a:srgbClr val="EEF3F4"/>
          </a:solidFill>
          <a:ln w="12700">
            <a:solidFill>
              <a:srgbClr val="EEF3F4"/>
            </a:solidFill>
            <a:prstDash val="solid"/>
          </a:ln>
        </p:spPr>
      </p:sp>
      <p:sp>
        <p:nvSpPr>
          <p:cNvPr id="6" name="Text 4"/>
          <p:cNvSpPr txBox="1"/>
          <p:nvPr/>
        </p:nvSpPr>
        <p:spPr>
          <a:xfrm>
            <a:off x="3474720" y="1417320"/>
            <a:ext cx="2423160" cy="640080"/>
          </a:xfrm>
          <a:prstGeom prst="rect">
            <a:avLst/>
          </a:prstGeom>
          <a:noFill/>
          <a:ln/>
        </p:spPr>
        <p:txBody>
          <a:bodyPr wrap="square" lIns="1270" tIns="1270" rIns="1270" bIns="1270" rtlCol="0" anchor="ctr"/>
          <a:lstStyle/>
          <a:p>
            <a:pPr indent="0" marL="0">
              <a:buNone/>
            </a:pPr>
            <a:r>
              <a:rPr lang="en-US" sz="1500" dirty="0">
                <a:solidFill>
                  <a:schemeClr val="tx1"/>
                </a:solidFill>
              </a:rPr>
              <a:t>C2 Portability</a:t>
            </a:r>
            <a:endParaRPr lang="en-US" sz="1500" dirty="0"/>
          </a:p>
        </p:txBody>
      </p:sp>
      <p:sp>
        <p:nvSpPr>
          <p:cNvPr id="7" name="card25"/>
          <p:cNvSpPr/>
          <p:nvPr/>
        </p:nvSpPr>
        <p:spPr>
          <a:xfrm>
            <a:off x="6126480" y="1417320"/>
            <a:ext cx="2651760" cy="640080"/>
          </a:xfrm>
          <a:prstGeom prst="roundRect">
            <a:avLst>
              <a:gd name="adj" fmla="val 11429"/>
            </a:avLst>
          </a:prstGeom>
          <a:solidFill>
            <a:srgbClr val="EEF3F4"/>
          </a:solidFill>
          <a:ln w="12700">
            <a:solidFill>
              <a:srgbClr val="EEF3F4"/>
            </a:solidFill>
            <a:prstDash val="solid"/>
          </a:ln>
        </p:spPr>
      </p:sp>
      <p:sp>
        <p:nvSpPr>
          <p:cNvPr id="8" name="Text 6"/>
          <p:cNvSpPr txBox="1"/>
          <p:nvPr/>
        </p:nvSpPr>
        <p:spPr>
          <a:xfrm>
            <a:off x="6263640" y="1417320"/>
            <a:ext cx="2423160" cy="640080"/>
          </a:xfrm>
          <a:prstGeom prst="rect">
            <a:avLst/>
          </a:prstGeom>
          <a:noFill/>
          <a:ln/>
        </p:spPr>
        <p:txBody>
          <a:bodyPr wrap="square" lIns="1270" tIns="1270" rIns="1270" bIns="1270" rtlCol="0" anchor="ctr"/>
          <a:lstStyle/>
          <a:p>
            <a:pPr indent="0" marL="0">
              <a:buNone/>
            </a:pPr>
            <a:r>
              <a:rPr lang="en-US" sz="1500" dirty="0">
                <a:solidFill>
                  <a:schemeClr val="tx1"/>
                </a:solidFill>
              </a:rPr>
              <a:t>C3 Maintenance</a:t>
            </a:r>
            <a:endParaRPr lang="en-US" sz="1500" dirty="0"/>
          </a:p>
        </p:txBody>
      </p:sp>
      <p:sp>
        <p:nvSpPr>
          <p:cNvPr id="9" name="card26"/>
          <p:cNvSpPr/>
          <p:nvPr/>
        </p:nvSpPr>
        <p:spPr>
          <a:xfrm>
            <a:off x="8915400" y="1417320"/>
            <a:ext cx="2651760" cy="640080"/>
          </a:xfrm>
          <a:prstGeom prst="roundRect">
            <a:avLst>
              <a:gd name="adj" fmla="val 11429"/>
            </a:avLst>
          </a:prstGeom>
          <a:solidFill>
            <a:srgbClr val="EEF3F4"/>
          </a:solidFill>
          <a:ln w="12700">
            <a:solidFill>
              <a:srgbClr val="EEF3F4"/>
            </a:solidFill>
            <a:prstDash val="solid"/>
          </a:ln>
        </p:spPr>
      </p:sp>
      <p:sp>
        <p:nvSpPr>
          <p:cNvPr id="10" name="Text 8"/>
          <p:cNvSpPr txBox="1"/>
          <p:nvPr/>
        </p:nvSpPr>
        <p:spPr>
          <a:xfrm>
            <a:off x="9052560" y="1417320"/>
            <a:ext cx="2423160" cy="640080"/>
          </a:xfrm>
          <a:prstGeom prst="rect">
            <a:avLst/>
          </a:prstGeom>
          <a:noFill/>
          <a:ln/>
        </p:spPr>
        <p:txBody>
          <a:bodyPr wrap="square" lIns="1270" tIns="1270" rIns="1270" bIns="1270" rtlCol="0" anchor="ctr"/>
          <a:lstStyle/>
          <a:p>
            <a:pPr indent="0" marL="0">
              <a:buNone/>
            </a:pPr>
            <a:r>
              <a:rPr lang="en-US" sz="1500" dirty="0">
                <a:solidFill>
                  <a:schemeClr val="tx1"/>
                </a:solidFill>
              </a:rPr>
              <a:t>C4 Tacit knowledge</a:t>
            </a:r>
            <a:endParaRPr lang="en-US" sz="1500" dirty="0"/>
          </a:p>
        </p:txBody>
      </p:sp>
      <p:sp>
        <p:nvSpPr>
          <p:cNvPr id="11" name="card27"/>
          <p:cNvSpPr/>
          <p:nvPr/>
        </p:nvSpPr>
        <p:spPr>
          <a:xfrm>
            <a:off x="548640" y="2194560"/>
            <a:ext cx="2651760" cy="640080"/>
          </a:xfrm>
          <a:prstGeom prst="roundRect">
            <a:avLst>
              <a:gd name="adj" fmla="val 11429"/>
            </a:avLst>
          </a:prstGeom>
          <a:solidFill>
            <a:srgbClr val="EEF3F4"/>
          </a:solidFill>
          <a:ln w="12700">
            <a:solidFill>
              <a:srgbClr val="EEF3F4"/>
            </a:solidFill>
            <a:prstDash val="solid"/>
          </a:ln>
        </p:spPr>
      </p:sp>
      <p:sp>
        <p:nvSpPr>
          <p:cNvPr id="12" name="Text 10"/>
          <p:cNvSpPr txBox="1"/>
          <p:nvPr/>
        </p:nvSpPr>
        <p:spPr>
          <a:xfrm>
            <a:off x="685800" y="2194560"/>
            <a:ext cx="2423160" cy="640080"/>
          </a:xfrm>
          <a:prstGeom prst="rect">
            <a:avLst/>
          </a:prstGeom>
          <a:noFill/>
          <a:ln/>
        </p:spPr>
        <p:txBody>
          <a:bodyPr wrap="square" lIns="1270" tIns="1270" rIns="1270" bIns="1270" rtlCol="0" anchor="ctr"/>
          <a:lstStyle/>
          <a:p>
            <a:pPr indent="0" marL="0">
              <a:buNone/>
            </a:pPr>
            <a:r>
              <a:rPr lang="en-US" sz="1500" dirty="0">
                <a:solidFill>
                  <a:schemeClr val="tx1"/>
                </a:solidFill>
              </a:rPr>
              <a:t>C5 Doesn't fit purpose</a:t>
            </a:r>
            <a:endParaRPr lang="en-US" sz="1500" dirty="0"/>
          </a:p>
        </p:txBody>
      </p:sp>
      <p:sp>
        <p:nvSpPr>
          <p:cNvPr id="13" name="card28"/>
          <p:cNvSpPr/>
          <p:nvPr/>
        </p:nvSpPr>
        <p:spPr>
          <a:xfrm>
            <a:off x="3337560" y="2194560"/>
            <a:ext cx="2651760" cy="640080"/>
          </a:xfrm>
          <a:prstGeom prst="roundRect">
            <a:avLst>
              <a:gd name="adj" fmla="val 11429"/>
            </a:avLst>
          </a:prstGeom>
          <a:solidFill>
            <a:srgbClr val="FBEFD5"/>
          </a:solidFill>
          <a:ln w="12700">
            <a:solidFill>
              <a:srgbClr val="FBEFD5"/>
            </a:solidFill>
            <a:prstDash val="solid"/>
          </a:ln>
        </p:spPr>
      </p:sp>
      <p:sp>
        <p:nvSpPr>
          <p:cNvPr id="14" name="Text 12"/>
          <p:cNvSpPr txBox="1"/>
          <p:nvPr/>
        </p:nvSpPr>
        <p:spPr>
          <a:xfrm>
            <a:off x="3474720" y="2194560"/>
            <a:ext cx="2423160" cy="640080"/>
          </a:xfrm>
          <a:prstGeom prst="rect">
            <a:avLst/>
          </a:prstGeom>
          <a:noFill/>
          <a:ln/>
        </p:spPr>
        <p:txBody>
          <a:bodyPr wrap="square" lIns="1270" tIns="1270" rIns="1270" bIns="1270" rtlCol="0" anchor="ctr"/>
          <a:lstStyle/>
          <a:p>
            <a:pPr indent="0" marL="0">
              <a:buNone/>
            </a:pPr>
            <a:r>
              <a:rPr lang="en-US" sz="1500" b="1" dirty="0">
                <a:solidFill>
                  <a:schemeClr val="tx1"/>
                </a:solidFill>
              </a:rPr>
              <a:t>C6 No standards</a:t>
            </a:r>
            <a:endParaRPr lang="en-US" sz="1500" dirty="0"/>
          </a:p>
        </p:txBody>
      </p:sp>
      <p:sp>
        <p:nvSpPr>
          <p:cNvPr id="15" name="card29"/>
          <p:cNvSpPr/>
          <p:nvPr/>
        </p:nvSpPr>
        <p:spPr>
          <a:xfrm>
            <a:off x="6126480" y="2194560"/>
            <a:ext cx="2651760" cy="640080"/>
          </a:xfrm>
          <a:prstGeom prst="roundRect">
            <a:avLst>
              <a:gd name="adj" fmla="val 11429"/>
            </a:avLst>
          </a:prstGeom>
          <a:solidFill>
            <a:srgbClr val="EEF3F4"/>
          </a:solidFill>
          <a:ln w="12700">
            <a:solidFill>
              <a:srgbClr val="EEF3F4"/>
            </a:solidFill>
            <a:prstDash val="solid"/>
          </a:ln>
        </p:spPr>
      </p:sp>
      <p:sp>
        <p:nvSpPr>
          <p:cNvPr id="16" name="Text 14"/>
          <p:cNvSpPr txBox="1"/>
          <p:nvPr/>
        </p:nvSpPr>
        <p:spPr>
          <a:xfrm>
            <a:off x="6263640" y="2194560"/>
            <a:ext cx="2423160" cy="640080"/>
          </a:xfrm>
          <a:prstGeom prst="rect">
            <a:avLst/>
          </a:prstGeom>
          <a:noFill/>
          <a:ln/>
        </p:spPr>
        <p:txBody>
          <a:bodyPr wrap="square" lIns="1270" tIns="1270" rIns="1270" bIns="1270" rtlCol="0" anchor="ctr"/>
          <a:lstStyle/>
          <a:p>
            <a:pPr indent="0" marL="0">
              <a:buNone/>
            </a:pPr>
            <a:r>
              <a:rPr lang="en-US" sz="1500" dirty="0">
                <a:solidFill>
                  <a:schemeClr val="tx1"/>
                </a:solidFill>
              </a:rPr>
              <a:t>C7 Hosting</a:t>
            </a:r>
            <a:endParaRPr lang="en-US" sz="1500" dirty="0"/>
          </a:p>
        </p:txBody>
      </p:sp>
      <p:sp>
        <p:nvSpPr>
          <p:cNvPr id="17" name="card30"/>
          <p:cNvSpPr/>
          <p:nvPr/>
        </p:nvSpPr>
        <p:spPr>
          <a:xfrm>
            <a:off x="8915400" y="2194560"/>
            <a:ext cx="2651760" cy="640080"/>
          </a:xfrm>
          <a:prstGeom prst="roundRect">
            <a:avLst>
              <a:gd name="adj" fmla="val 11429"/>
            </a:avLst>
          </a:prstGeom>
          <a:solidFill>
            <a:srgbClr val="EEF3F4"/>
          </a:solidFill>
          <a:ln w="12700">
            <a:solidFill>
              <a:srgbClr val="EEF3F4"/>
            </a:solidFill>
            <a:prstDash val="solid"/>
          </a:ln>
        </p:spPr>
      </p:sp>
      <p:sp>
        <p:nvSpPr>
          <p:cNvPr id="18" name="Text 16"/>
          <p:cNvSpPr txBox="1"/>
          <p:nvPr/>
        </p:nvSpPr>
        <p:spPr>
          <a:xfrm>
            <a:off x="9052560" y="2194560"/>
            <a:ext cx="2423160" cy="640080"/>
          </a:xfrm>
          <a:prstGeom prst="rect">
            <a:avLst/>
          </a:prstGeom>
          <a:noFill/>
          <a:ln/>
        </p:spPr>
        <p:txBody>
          <a:bodyPr wrap="square" lIns="1270" tIns="1270" rIns="1270" bIns="1270" rtlCol="0" anchor="ctr"/>
          <a:lstStyle/>
          <a:p>
            <a:pPr indent="0" marL="0">
              <a:buNone/>
            </a:pPr>
            <a:r>
              <a:rPr lang="en-US" sz="1500" dirty="0">
                <a:solidFill>
                  <a:schemeClr val="tx1"/>
                </a:solidFill>
              </a:rPr>
              <a:t>C8 Double-blind review</a:t>
            </a:r>
            <a:endParaRPr lang="en-US" sz="1500" dirty="0"/>
          </a:p>
        </p:txBody>
      </p:sp>
      <p:sp>
        <p:nvSpPr>
          <p:cNvPr id="19" name="card31"/>
          <p:cNvSpPr/>
          <p:nvPr/>
        </p:nvSpPr>
        <p:spPr>
          <a:xfrm>
            <a:off x="548640" y="2971800"/>
            <a:ext cx="2651760" cy="640080"/>
          </a:xfrm>
          <a:prstGeom prst="roundRect">
            <a:avLst>
              <a:gd name="adj" fmla="val 11429"/>
            </a:avLst>
          </a:prstGeom>
          <a:solidFill>
            <a:srgbClr val="EEF3F4"/>
          </a:solidFill>
          <a:ln w="12700">
            <a:solidFill>
              <a:srgbClr val="EEF3F4"/>
            </a:solidFill>
            <a:prstDash val="solid"/>
          </a:ln>
        </p:spPr>
      </p:sp>
      <p:sp>
        <p:nvSpPr>
          <p:cNvPr id="20" name="Text 18"/>
          <p:cNvSpPr txBox="1"/>
          <p:nvPr/>
        </p:nvSpPr>
        <p:spPr>
          <a:xfrm>
            <a:off x="685800" y="2971800"/>
            <a:ext cx="2423160" cy="640080"/>
          </a:xfrm>
          <a:prstGeom prst="rect">
            <a:avLst/>
          </a:prstGeom>
          <a:noFill/>
          <a:ln/>
        </p:spPr>
        <p:txBody>
          <a:bodyPr wrap="square" lIns="1270" tIns="1270" rIns="1270" bIns="1270" rtlCol="0" anchor="ctr"/>
          <a:lstStyle/>
          <a:p>
            <a:pPr indent="0" marL="0">
              <a:buNone/>
            </a:pPr>
            <a:r>
              <a:rPr lang="en-US" sz="1500" dirty="0">
                <a:solidFill>
                  <a:schemeClr val="tx1"/>
                </a:solidFill>
              </a:rPr>
              <a:t>C9 External constraints</a:t>
            </a:r>
            <a:endParaRPr lang="en-US" sz="1500" dirty="0"/>
          </a:p>
        </p:txBody>
      </p:sp>
      <p:sp>
        <p:nvSpPr>
          <p:cNvPr id="21" name="card32"/>
          <p:cNvSpPr/>
          <p:nvPr/>
        </p:nvSpPr>
        <p:spPr>
          <a:xfrm>
            <a:off x="3337560" y="2971800"/>
            <a:ext cx="2651760" cy="640080"/>
          </a:xfrm>
          <a:prstGeom prst="roundRect">
            <a:avLst>
              <a:gd name="adj" fmla="val 11429"/>
            </a:avLst>
          </a:prstGeom>
          <a:solidFill>
            <a:srgbClr val="FBEFD5"/>
          </a:solidFill>
          <a:ln w="12700">
            <a:solidFill>
              <a:srgbClr val="FBEFD5"/>
            </a:solidFill>
            <a:prstDash val="solid"/>
          </a:ln>
        </p:spPr>
      </p:sp>
      <p:sp>
        <p:nvSpPr>
          <p:cNvPr id="22" name="Text 20"/>
          <p:cNvSpPr txBox="1"/>
          <p:nvPr/>
        </p:nvSpPr>
        <p:spPr>
          <a:xfrm>
            <a:off x="3474720" y="2971800"/>
            <a:ext cx="2423160" cy="640080"/>
          </a:xfrm>
          <a:prstGeom prst="rect">
            <a:avLst/>
          </a:prstGeom>
          <a:noFill/>
          <a:ln/>
        </p:spPr>
        <p:txBody>
          <a:bodyPr wrap="square" lIns="1270" tIns="1270" rIns="1270" bIns="1270" rtlCol="0" anchor="ctr"/>
          <a:lstStyle/>
          <a:p>
            <a:pPr indent="0" marL="0">
              <a:buNone/>
            </a:pPr>
            <a:r>
              <a:rPr lang="en-US" sz="1500" b="1" dirty="0">
                <a:solidFill>
                  <a:schemeClr val="tx1"/>
                </a:solidFill>
              </a:rPr>
              <a:t>C10 No reviewer incentives</a:t>
            </a:r>
            <a:endParaRPr lang="en-US" sz="1500" dirty="0"/>
          </a:p>
        </p:txBody>
      </p:sp>
      <p:sp>
        <p:nvSpPr>
          <p:cNvPr id="23" name="card33"/>
          <p:cNvSpPr/>
          <p:nvPr/>
        </p:nvSpPr>
        <p:spPr>
          <a:xfrm>
            <a:off x="6126480" y="2971800"/>
            <a:ext cx="2651760" cy="640080"/>
          </a:xfrm>
          <a:prstGeom prst="roundRect">
            <a:avLst>
              <a:gd name="adj" fmla="val 11429"/>
            </a:avLst>
          </a:prstGeom>
          <a:solidFill>
            <a:srgbClr val="EEF3F4"/>
          </a:solidFill>
          <a:ln w="12700">
            <a:solidFill>
              <a:srgbClr val="EEF3F4"/>
            </a:solidFill>
            <a:prstDash val="solid"/>
          </a:ln>
        </p:spPr>
      </p:sp>
      <p:sp>
        <p:nvSpPr>
          <p:cNvPr id="24" name="Text 22"/>
          <p:cNvSpPr txBox="1"/>
          <p:nvPr/>
        </p:nvSpPr>
        <p:spPr>
          <a:xfrm>
            <a:off x="6263640" y="2971800"/>
            <a:ext cx="2423160" cy="640080"/>
          </a:xfrm>
          <a:prstGeom prst="rect">
            <a:avLst/>
          </a:prstGeom>
          <a:noFill/>
          <a:ln/>
        </p:spPr>
        <p:txBody>
          <a:bodyPr wrap="square" lIns="1270" tIns="1270" rIns="1270" bIns="1270" rtlCol="0" anchor="ctr"/>
          <a:lstStyle/>
          <a:p>
            <a:pPr indent="0" marL="0">
              <a:buNone/>
            </a:pPr>
            <a:r>
              <a:rPr lang="en-US" sz="1500" dirty="0">
                <a:solidFill>
                  <a:schemeClr val="tx1"/>
                </a:solidFill>
              </a:rPr>
              <a:t>C11 Technical obstacles</a:t>
            </a:r>
            <a:endParaRPr lang="en-US" sz="1500" dirty="0"/>
          </a:p>
        </p:txBody>
      </p:sp>
      <p:sp>
        <p:nvSpPr>
          <p:cNvPr id="25" name="card34"/>
          <p:cNvSpPr/>
          <p:nvPr/>
        </p:nvSpPr>
        <p:spPr>
          <a:xfrm>
            <a:off x="8915400" y="2971800"/>
            <a:ext cx="2651760" cy="640080"/>
          </a:xfrm>
          <a:prstGeom prst="roundRect">
            <a:avLst>
              <a:gd name="adj" fmla="val 11429"/>
            </a:avLst>
          </a:prstGeom>
          <a:solidFill>
            <a:srgbClr val="EEF3F4"/>
          </a:solidFill>
          <a:ln w="12700">
            <a:solidFill>
              <a:srgbClr val="EEF3F4"/>
            </a:solidFill>
            <a:prstDash val="solid"/>
          </a:ln>
        </p:spPr>
      </p:sp>
      <p:sp>
        <p:nvSpPr>
          <p:cNvPr id="26" name="Text 24"/>
          <p:cNvSpPr txBox="1"/>
          <p:nvPr/>
        </p:nvSpPr>
        <p:spPr>
          <a:xfrm>
            <a:off x="9052560" y="2971800"/>
            <a:ext cx="2423160" cy="640080"/>
          </a:xfrm>
          <a:prstGeom prst="rect">
            <a:avLst/>
          </a:prstGeom>
          <a:noFill/>
          <a:ln/>
        </p:spPr>
        <p:txBody>
          <a:bodyPr wrap="square" lIns="1270" tIns="1270" rIns="1270" bIns="1270" rtlCol="0" anchor="ctr"/>
          <a:lstStyle/>
          <a:p>
            <a:pPr indent="0" marL="0">
              <a:buNone/>
            </a:pPr>
            <a:r>
              <a:rPr lang="en-US" sz="1500" dirty="0">
                <a:solidFill>
                  <a:schemeClr val="tx1"/>
                </a:solidFill>
              </a:rPr>
              <a:t>C12 Limited communication</a:t>
            </a:r>
            <a:endParaRPr lang="en-US" sz="1500" dirty="0"/>
          </a:p>
        </p:txBody>
      </p:sp>
      <p:sp>
        <p:nvSpPr>
          <p:cNvPr id="27" name="card35"/>
          <p:cNvSpPr/>
          <p:nvPr/>
        </p:nvSpPr>
        <p:spPr>
          <a:xfrm>
            <a:off x="548640" y="3931920"/>
            <a:ext cx="5440680" cy="2103120"/>
          </a:xfrm>
          <a:prstGeom prst="roundRect">
            <a:avLst>
              <a:gd name="adj" fmla="val 3478"/>
            </a:avLst>
          </a:prstGeom>
          <a:solidFill>
            <a:srgbClr val="EEF3F4"/>
          </a:solidFill>
          <a:ln w="12700">
            <a:solidFill>
              <a:srgbClr val="EEF3F4"/>
            </a:solidFill>
            <a:prstDash val="solid"/>
          </a:ln>
        </p:spPr>
      </p:sp>
      <p:sp>
        <p:nvSpPr>
          <p:cNvPr id="28" name="card36"/>
          <p:cNvSpPr/>
          <p:nvPr/>
        </p:nvSpPr>
        <p:spPr>
          <a:xfrm>
            <a:off x="6172200" y="3931920"/>
            <a:ext cx="5440680" cy="2103120"/>
          </a:xfrm>
          <a:prstGeom prst="roundRect">
            <a:avLst>
              <a:gd name="adj" fmla="val 3478"/>
            </a:avLst>
          </a:prstGeom>
          <a:solidFill>
            <a:srgbClr val="EEF3F4"/>
          </a:solidFill>
          <a:ln w="12700">
            <a:solidFill>
              <a:srgbClr val="EEF3F4"/>
            </a:solidFill>
            <a:prstDash val="solid"/>
          </a:ln>
        </p:spPr>
      </p:sp>
      <p:sp>
        <p:nvSpPr>
          <p:cNvPr id="29" name="Text 27"/>
          <p:cNvSpPr txBox="1"/>
          <p:nvPr/>
        </p:nvSpPr>
        <p:spPr>
          <a:xfrm>
            <a:off x="777240" y="4069080"/>
            <a:ext cx="5029200" cy="1920240"/>
          </a:xfrm>
          <a:prstGeom prst="rect">
            <a:avLst/>
          </a:prstGeom>
          <a:noFill/>
          <a:ln/>
        </p:spPr>
        <p:txBody>
          <a:bodyPr wrap="square" lIns="1270" tIns="1270" rIns="1270" bIns="1270" rtlCol="0" anchor="t"/>
          <a:lstStyle/>
          <a:p>
            <a:pPr indent="0" marL="0">
              <a:buNone/>
            </a:pPr>
            <a:r>
              <a:rPr lang="en-US" sz="1700" b="1" dirty="0">
                <a:solidFill>
                  <a:schemeClr val="accent1"/>
                </a:solidFill>
              </a:rPr>
              <a:t>Users' top problems (n = 130)</a:t>
            </a:r>
            <a:endParaRPr lang="en-US" sz="1700" dirty="0"/>
          </a:p>
          <a:p>
            <a:pPr marL="342900" indent="-342900">
              <a:spcAft>
                <a:spcPts val="600"/>
              </a:spcAft>
              <a:buSzPct val="100000"/>
              <a:buChar char="•"/>
            </a:pPr>
            <a:r>
              <a:rPr lang="en-US" sz="1500" dirty="0">
                <a:solidFill>
                  <a:schemeClr val="tx1"/>
                </a:solidFill>
              </a:rPr>
              <a:t>No usage instructions: 103</a:t>
            </a:r>
            <a:endParaRPr lang="en-US" sz="1700" dirty="0"/>
          </a:p>
          <a:p>
            <a:pPr marL="342900" indent="-342900">
              <a:spcAft>
                <a:spcPts val="600"/>
              </a:spcAft>
              <a:buSzPct val="100000"/>
              <a:buChar char="•"/>
            </a:pPr>
            <a:r>
              <a:rPr lang="en-US" sz="1500" dirty="0">
                <a:solidFill>
                  <a:schemeClr val="tx1"/>
                </a:solidFill>
              </a:rPr>
              <a:t>Artifact no longer accessible: 81</a:t>
            </a:r>
            <a:endParaRPr lang="en-US" sz="1700" dirty="0"/>
          </a:p>
          <a:p>
            <a:pPr marL="342900" indent="-342900">
              <a:spcAft>
                <a:spcPts val="600"/>
              </a:spcAft>
              <a:buSzPct val="100000"/>
              <a:buChar char="•"/>
            </a:pPr>
            <a:r>
              <a:rPr lang="en-US" sz="1500" dirty="0">
                <a:solidFill>
                  <a:schemeClr val="tx1"/>
                </a:solidFill>
              </a:rPr>
              <a:t>Had to re-implement: 28</a:t>
            </a:r>
            <a:endParaRPr lang="en-US" sz="1700" dirty="0"/>
          </a:p>
        </p:txBody>
      </p:sp>
      <p:sp>
        <p:nvSpPr>
          <p:cNvPr id="30" name="Text 28"/>
          <p:cNvSpPr txBox="1"/>
          <p:nvPr/>
        </p:nvSpPr>
        <p:spPr>
          <a:xfrm>
            <a:off x="6400800" y="4069080"/>
            <a:ext cx="5029200" cy="1920240"/>
          </a:xfrm>
          <a:prstGeom prst="rect">
            <a:avLst/>
          </a:prstGeom>
          <a:noFill/>
          <a:ln/>
        </p:spPr>
        <p:txBody>
          <a:bodyPr wrap="square" lIns="1270" tIns="1270" rIns="1270" bIns="1270" rtlCol="0" anchor="t"/>
          <a:lstStyle/>
          <a:p>
            <a:pPr indent="0" marL="0">
              <a:buNone/>
            </a:pPr>
            <a:r>
              <a:rPr lang="en-US" sz="1700" b="1" dirty="0">
                <a:solidFill>
                  <a:schemeClr val="accent1"/>
                </a:solidFill>
              </a:rPr>
              <a:t>Recommendations R1–R8</a:t>
            </a:r>
            <a:endParaRPr lang="en-US" sz="1700" dirty="0"/>
          </a:p>
          <a:p>
            <a:pPr marL="342900" indent="-342900">
              <a:spcAft>
                <a:spcPts val="600"/>
              </a:spcAft>
              <a:buSzPct val="100000"/>
              <a:buChar char="•"/>
            </a:pPr>
            <a:r>
              <a:rPr lang="en-US" sz="1500" dirty="0">
                <a:solidFill>
                  <a:schemeClr val="tx1"/>
                </a:solidFill>
              </a:rPr>
              <a:t>Creators: describe, self-contain, plan from day one</a:t>
            </a:r>
            <a:endParaRPr lang="en-US" sz="1700" dirty="0"/>
          </a:p>
          <a:p>
            <a:pPr marL="342900" indent="-342900">
              <a:spcAft>
                <a:spcPts val="600"/>
              </a:spcAft>
              <a:buSzPct val="100000"/>
              <a:buChar char="•"/>
            </a:pPr>
            <a:r>
              <a:rPr lang="en-US" sz="1500" dirty="0">
                <a:solidFill>
                  <a:schemeClr val="tx1"/>
                </a:solidFill>
              </a:rPr>
              <a:t>Reviewers and organisers: rubrics, clear goals, cheaper reviewing</a:t>
            </a:r>
            <a:endParaRPr lang="en-US" sz="1700" dirty="0"/>
          </a:p>
          <a:p>
            <a:pPr marL="342900" indent="-342900">
              <a:spcAft>
                <a:spcPts val="600"/>
              </a:spcAft>
              <a:buSzPct val="100000"/>
              <a:buChar char="•"/>
            </a:pPr>
            <a:r>
              <a:rPr lang="en-US" sz="1500" dirty="0">
                <a:solidFill>
                  <a:schemeClr val="tx1"/>
                </a:solidFill>
              </a:rPr>
              <a:t>Community: count artifacts in hiring, promotion and grants</a:t>
            </a:r>
            <a:endParaRPr lang="en-US" sz="17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p>
            <a:pPr indent="0" marL="0">
              <a:buNone/>
            </a:pPr>
            <a:r>
              <a:rPr lang="en-US" sz="3200" b="1" dirty="0">
                <a:solidFill>
                  <a:schemeClr val="tx2"/>
                </a:solidFill>
              </a:rPr>
              <a:t>Same problem, seen from two sides</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103120"/>
                <a:gridCol w="4480560"/>
                <a:gridCol w="4480560"/>
              </a:tblGrid>
              <a:tr h="640080">
                <a:tc>
                  <a:txBody>
                    <a:bodyPr/>
                    <a:lstStyle/>
                    <a:p>
                      <a:pPr indent="0" marL="0">
                        <a:buNone/>
                      </a:pPr>
                      <a:endParaRPr lang="en-US" sz="1500" dirty="0"/>
                    </a:p>
                  </a:txBody>
                  <a:tcPr marL="91440" marR="91440"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4C5C"/>
                    </a:solidFill>
                  </a:tcPr>
                </a:tc>
                <a:tc>
                  <a:txBody>
                    <a:bodyPr/>
                    <a:lstStyle/>
                    <a:p>
                      <a:pPr indent="0" marL="0">
                        <a:buNone/>
                      </a:pPr>
                      <a:r>
                        <a:rPr lang="en-US" sz="1500" b="1" dirty="0">
                          <a:solidFill>
                            <a:srgbClr val="FFFFFF"/>
                          </a:solidFill>
                        </a:rPr>
                        <a:t>Hermann et al.</a:t>
                      </a:r>
                      <a:endParaRPr lang="en-US" sz="1500" dirty="0"/>
                    </a:p>
                  </a:txBody>
                  <a:tcPr marL="91440" marR="91440"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4C5C"/>
                    </a:solidFill>
                  </a:tcPr>
                </a:tc>
                <a:tc>
                  <a:txBody>
                    <a:bodyPr/>
                    <a:lstStyle/>
                    <a:p>
                      <a:pPr indent="0" marL="0">
                        <a:buNone/>
                      </a:pPr>
                      <a:r>
                        <a:rPr lang="en-US" sz="1500" b="1" dirty="0">
                          <a:solidFill>
                            <a:srgbClr val="FFFFFF"/>
                          </a:solidFill>
                        </a:rPr>
                        <a:t>Timperley et al.</a:t>
                      </a:r>
                      <a:endParaRPr lang="en-US" sz="1500" dirty="0"/>
                    </a:p>
                  </a:txBody>
                  <a:tcPr marL="91440" marR="91440"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4C5C"/>
                    </a:solidFill>
                  </a:tcPr>
                </a:tc>
              </a:tr>
              <a:tr h="640080">
                <a:tc>
                  <a:txBody>
                    <a:bodyPr/>
                    <a:lstStyle/>
                    <a:p>
                      <a:pPr indent="0" marL="0">
                        <a:buNone/>
                      </a:pPr>
                      <a:r>
                        <a:rPr lang="en-US" sz="1500" b="1" dirty="0">
                          <a:solidFill>
                            <a:srgbClr val="1B2A30"/>
                          </a:solidFill>
                        </a:rPr>
                        <a:t>Who is asked</a:t>
                      </a:r>
                      <a:endParaRPr lang="en-US" sz="1500" dirty="0"/>
                    </a:p>
                  </a:txBody>
                  <a:tcPr marL="91440" marR="91440"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4"/>
                    </a:solidFill>
                  </a:tcPr>
                </a:tc>
                <a:tc>
                  <a:txBody>
                    <a:bodyPr/>
                    <a:lstStyle/>
                    <a:p>
                      <a:pPr indent="0" marL="0">
                        <a:buNone/>
                      </a:pPr>
                      <a:r>
                        <a:rPr lang="en-US" sz="1500" dirty="0">
                          <a:solidFill>
                            <a:srgbClr val="1B2A30"/>
                          </a:solidFill>
                        </a:rPr>
                        <a:t>Reviewers (AEC members)</a:t>
                      </a:r>
                      <a:endParaRPr lang="en-US" sz="1500" dirty="0"/>
                    </a:p>
                  </a:txBody>
                  <a:tcPr marL="91440" marR="91440"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4"/>
                    </a:solidFill>
                  </a:tcPr>
                </a:tc>
                <a:tc>
                  <a:txBody>
                    <a:bodyPr/>
                    <a:lstStyle/>
                    <a:p>
                      <a:pPr indent="0" marL="0">
                        <a:buNone/>
                      </a:pPr>
                      <a:r>
                        <a:rPr lang="en-US" sz="1500" dirty="0">
                          <a:solidFill>
                            <a:srgbClr val="1B2A30"/>
                          </a:solidFill>
                        </a:rPr>
                        <a:t>Authors (creators, users, few reviewers)</a:t>
                      </a:r>
                      <a:endParaRPr lang="en-US" sz="1500" dirty="0"/>
                    </a:p>
                  </a:txBody>
                  <a:tcPr marL="91440" marR="91440"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4"/>
                    </a:solidFill>
                  </a:tcPr>
                </a:tc>
              </a:tr>
              <a:tr h="640080">
                <a:tc>
                  <a:txBody>
                    <a:bodyPr/>
                    <a:lstStyle/>
                    <a:p>
                      <a:pPr indent="0" marL="0">
                        <a:buNone/>
                      </a:pPr>
                      <a:r>
                        <a:rPr lang="en-US" sz="1500" b="1" dirty="0">
                          <a:solidFill>
                            <a:srgbClr val="1B2A30"/>
                          </a:solidFill>
                        </a:rPr>
                        <a:t>Field</a:t>
                      </a:r>
                      <a:endParaRPr lang="en-US" sz="1500" dirty="0"/>
                    </a:p>
                  </a:txBody>
                  <a:tcPr marL="91440" marR="91440"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4"/>
                    </a:solidFill>
                  </a:tcPr>
                </a:tc>
                <a:tc>
                  <a:txBody>
                    <a:bodyPr/>
                    <a:lstStyle/>
                    <a:p>
                      <a:pPr indent="0" marL="0">
                        <a:buNone/>
                      </a:pPr>
                      <a:r>
                        <a:rPr lang="en-US" sz="1500" dirty="0">
                          <a:solidFill>
                            <a:srgbClr val="1B2A30"/>
                          </a:solidFill>
                        </a:rPr>
                        <a:t>SE and programming languages</a:t>
                      </a:r>
                      <a:endParaRPr lang="en-US" sz="1500" dirty="0"/>
                    </a:p>
                  </a:txBody>
                  <a:tcPr marL="91440" marR="91440"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4"/>
                    </a:solidFill>
                  </a:tcPr>
                </a:tc>
                <a:tc>
                  <a:txBody>
                    <a:bodyPr/>
                    <a:lstStyle/>
                    <a:p>
                      <a:pPr indent="0" marL="0">
                        <a:buNone/>
                      </a:pPr>
                      <a:r>
                        <a:rPr lang="en-US" sz="1500" dirty="0">
                          <a:solidFill>
                            <a:srgbClr val="1B2A30"/>
                          </a:solidFill>
                        </a:rPr>
                        <a:t>Software engineering only</a:t>
                      </a:r>
                      <a:endParaRPr lang="en-US" sz="1500" dirty="0"/>
                    </a:p>
                  </a:txBody>
                  <a:tcPr marL="91440" marR="91440"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4"/>
                    </a:solidFill>
                  </a:tcPr>
                </a:tc>
              </a:tr>
              <a:tr h="640080">
                <a:tc>
                  <a:txBody>
                    <a:bodyPr/>
                    <a:lstStyle/>
                    <a:p>
                      <a:pPr indent="0" marL="0">
                        <a:buNone/>
                      </a:pPr>
                      <a:r>
                        <a:rPr lang="en-US" sz="1500" b="1" dirty="0">
                          <a:solidFill>
                            <a:srgbClr val="1B2A30"/>
                          </a:solidFill>
                        </a:rPr>
                        <a:t>Diagnosis</a:t>
                      </a:r>
                      <a:endParaRPr lang="en-US" sz="1500" dirty="0"/>
                    </a:p>
                  </a:txBody>
                  <a:tcPr marL="91440" marR="91440"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4"/>
                    </a:solidFill>
                  </a:tcPr>
                </a:tc>
                <a:tc>
                  <a:txBody>
                    <a:bodyPr/>
                    <a:lstStyle/>
                    <a:p>
                      <a:pPr indent="0" marL="0">
                        <a:buNone/>
                      </a:pPr>
                      <a:r>
                        <a:rPr lang="en-US" sz="1500" dirty="0">
                          <a:solidFill>
                            <a:srgbClr val="1B2A30"/>
                          </a:solidFill>
                        </a:rPr>
                        <a:t>Unclear purpose and standards</a:t>
                      </a:r>
                      <a:endParaRPr lang="en-US" sz="1500" dirty="0"/>
                    </a:p>
                  </a:txBody>
                  <a:tcPr marL="91440" marR="91440"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4"/>
                    </a:solidFill>
                  </a:tcPr>
                </a:tc>
                <a:tc>
                  <a:txBody>
                    <a:bodyPr/>
                    <a:lstStyle/>
                    <a:p>
                      <a:pPr indent="0" marL="0">
                        <a:buNone/>
                      </a:pPr>
                      <a:r>
                        <a:rPr lang="en-US" sz="1500" dirty="0">
                          <a:solidFill>
                            <a:srgbClr val="1B2A30"/>
                          </a:solidFill>
                        </a:rPr>
                        <a:t>Misaligned incentives, poor communication</a:t>
                      </a:r>
                      <a:endParaRPr lang="en-US" sz="1500" dirty="0"/>
                    </a:p>
                  </a:txBody>
                  <a:tcPr marL="91440" marR="91440"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4"/>
                    </a:solidFill>
                  </a:tcPr>
                </a:tc>
              </a:tr>
              <a:tr h="640080">
                <a:tc>
                  <a:txBody>
                    <a:bodyPr/>
                    <a:lstStyle/>
                    <a:p>
                      <a:pPr indent="0" marL="0">
                        <a:buNone/>
                      </a:pPr>
                      <a:r>
                        <a:rPr lang="en-US" sz="1500" b="1" dirty="0">
                          <a:solidFill>
                            <a:srgbClr val="1B2A30"/>
                          </a:solidFill>
                        </a:rPr>
                        <a:t>Proposal</a:t>
                      </a:r>
                      <a:endParaRPr lang="en-US" sz="1500" dirty="0"/>
                    </a:p>
                  </a:txBody>
                  <a:tcPr marL="91440" marR="91440"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4"/>
                    </a:solidFill>
                  </a:tcPr>
                </a:tc>
                <a:tc>
                  <a:txBody>
                    <a:bodyPr/>
                    <a:lstStyle/>
                    <a:p>
                      <a:pPr indent="0" marL="0">
                        <a:buNone/>
                      </a:pPr>
                      <a:r>
                        <a:rPr lang="en-US" sz="1500" dirty="0">
                          <a:solidFill>
                            <a:srgbClr val="1B2A30"/>
                          </a:solidFill>
                        </a:rPr>
                        <a:t>Clear purpose and criteria per community; experienced reviewers</a:t>
                      </a:r>
                      <a:endParaRPr lang="en-US" sz="1500" dirty="0"/>
                    </a:p>
                  </a:txBody>
                  <a:tcPr marL="91440" marR="91440"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4"/>
                    </a:solidFill>
                  </a:tcPr>
                </a:tc>
                <a:tc>
                  <a:txBody>
                    <a:bodyPr/>
                    <a:lstStyle/>
                    <a:p>
                      <a:pPr indent="0" marL="0">
                        <a:buNone/>
                      </a:pPr>
                      <a:r>
                        <a:rPr lang="en-US" sz="1500" dirty="0">
                          <a:solidFill>
                            <a:srgbClr val="1B2A30"/>
                          </a:solidFill>
                        </a:rPr>
                        <a:t>R1–R8 for creators, reviewers, organisers, community leaders</a:t>
                      </a:r>
                      <a:endParaRPr lang="en-US" sz="1500" dirty="0"/>
                    </a:p>
                  </a:txBody>
                  <a:tcPr marL="91440" marR="91440"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4"/>
                    </a:solidFill>
                  </a:tcPr>
                </a:tc>
              </a:tr>
              <a:tr h="640080">
                <a:tc>
                  <a:txBody>
                    <a:bodyPr/>
                    <a:lstStyle/>
                    <a:p>
                      <a:pPr indent="0" marL="0">
                        <a:buNone/>
                      </a:pPr>
                      <a:r>
                        <a:rPr lang="en-US" sz="1500" b="1" dirty="0">
                          <a:solidFill>
                            <a:srgbClr val="1B2A30"/>
                          </a:solidFill>
                        </a:rPr>
                        <a:t>Both agree</a:t>
                      </a:r>
                      <a:endParaRPr lang="en-US" sz="1500" dirty="0"/>
                    </a:p>
                  </a:txBody>
                  <a:tcPr marL="91440" marR="91440"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FD5"/>
                    </a:solidFill>
                  </a:tcPr>
                </a:tc>
                <a:tc>
                  <a:txBody>
                    <a:bodyPr/>
                    <a:lstStyle/>
                    <a:p>
                      <a:pPr indent="0" marL="0">
                        <a:buNone/>
                      </a:pPr>
                      <a:r>
                        <a:rPr lang="en-US" sz="1500" dirty="0">
                          <a:solidFill>
                            <a:srgbClr val="1B2A30"/>
                          </a:solidFill>
                        </a:rPr>
                        <a:t>Artifacts should count towards paper acceptance</a:t>
                      </a:r>
                      <a:endParaRPr lang="en-US" sz="1500" dirty="0"/>
                    </a:p>
                  </a:txBody>
                  <a:tcPr marL="91440" marR="91440"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FD5"/>
                    </a:solidFill>
                  </a:tcPr>
                </a:tc>
                <a:tc>
                  <a:txBody>
                    <a:bodyPr/>
                    <a:lstStyle/>
                    <a:p>
                      <a:pPr indent="0" marL="0">
                        <a:buNone/>
                      </a:pPr>
                      <a:r>
                        <a:rPr lang="en-US" sz="1500" dirty="0">
                          <a:solidFill>
                            <a:srgbClr val="1B2A30"/>
                          </a:solidFill>
                        </a:rPr>
                        <a:t>Artifacts should count towards paper acceptance</a:t>
                      </a:r>
                      <a:endParaRPr lang="en-US" sz="1500" dirty="0"/>
                    </a:p>
                  </a:txBody>
                  <a:tcPr marL="91440" marR="91440"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FD5"/>
                    </a:solidFill>
                  </a:tcPr>
                </a:tc>
              </a:tr>
            </a:tbl>
          </a:graphicData>
        </a:graphic>
      </p:graphicFrame>
      <p:sp>
        <p:nvSpPr>
          <p:cNvPr id="4" name="Text 1"/>
          <p:cNvSpPr txBox="1"/>
          <p:nvPr/>
        </p:nvSpPr>
        <p:spPr>
          <a:xfrm>
            <a:off x="548640" y="5577840"/>
            <a:ext cx="11064240" cy="457200"/>
          </a:xfrm>
          <a:prstGeom prst="rect">
            <a:avLst/>
          </a:prstGeom>
          <a:noFill/>
          <a:ln/>
        </p:spPr>
        <p:txBody>
          <a:bodyPr wrap="square" lIns="1270" tIns="1270" rIns="1270" bIns="1270" rtlCol="0" anchor="t"/>
          <a:lstStyle/>
          <a:p>
            <a:pPr indent="0" marL="0">
              <a:buNone/>
            </a:pPr>
            <a:r>
              <a:rPr lang="en-US" sz="1400" i="1" dirty="0">
                <a:solidFill>
                  <a:schemeClr val="accent5"/>
                </a:solidFill>
              </a:rPr>
              <a:t>They cite each other: Timperley et al. build three recommendations on Hermann et al.</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rtlCol="0"/>
          <a:lstStyle/>
          <a:p>
            <a:pPr algn="l" indent="0" marL="0">
              <a:buNone/>
            </a:pPr>
            <a:r>
              <a:rPr lang="en-US" sz="4000" b="1" dirty="0">
                <a:solidFill>
                  <a:schemeClr val="bg1"/>
                </a:solidFill>
              </a:rPr>
              <a:t>Discussion</a:t>
            </a:r>
            <a:endParaRPr lang="en-US" sz="4000" dirty="0"/>
          </a:p>
        </p:txBody>
      </p:sp>
      <p:sp>
        <p:nvSpPr>
          <p:cNvPr id="3" name="Text 0"/>
          <p:cNvSpPr/>
          <p:nvPr>
            <p:ph idx="101" type="body" hasCustomPrompt="1"/>
          </p:nvPr>
        </p:nvSpPr>
        <p:spPr>
          <a:xfrm>
            <a:off x="731520" y="3566160"/>
            <a:ext cx="10698480" cy="914400"/>
          </a:xfrm>
          <a:prstGeom prst="rect">
            <a:avLst/>
          </a:prstGeom>
          <a:noFill/>
          <a:ln/>
        </p:spPr>
        <p:txBody>
          <a:bodyPr wrap="square" rtlCol="0"/>
          <a:lstStyle/>
          <a:p>
            <a:pPr indent="0" marL="0">
              <a:buNone/>
            </a:pPr>
            <a:r>
              <a:rPr lang="en-US" sz="2000" dirty="0">
                <a:solidFill>
                  <a:schemeClr val="accent6"/>
                </a:solidFill>
              </a:rPr>
              <a:t>Warm-up, three whole-group questions, group work, outside-the-box</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p>
            <a:pPr indent="0" marL="0">
              <a:buNone/>
            </a:pPr>
            <a:r>
              <a:rPr lang="en-US" sz="3200" b="1" dirty="0">
                <a:solidFill>
                  <a:schemeClr val="tx2"/>
                </a:solidFill>
              </a:rPr>
              <a:t>Warm-up · 7 min</a:t>
            </a:r>
            <a:endParaRPr lang="en-US" sz="3200" dirty="0"/>
          </a:p>
        </p:txBody>
      </p:sp>
      <p:sp>
        <p:nvSpPr>
          <p:cNvPr id="3" name="Text 1"/>
          <p:cNvSpPr txBox="1"/>
          <p:nvPr/>
        </p:nvSpPr>
        <p:spPr>
          <a:xfrm>
            <a:off x="548640" y="1645920"/>
            <a:ext cx="11064240" cy="1645920"/>
          </a:xfrm>
          <a:prstGeom prst="rect">
            <a:avLst/>
          </a:prstGeom>
          <a:noFill/>
          <a:ln/>
        </p:spPr>
        <p:txBody>
          <a:bodyPr wrap="square" lIns="1270" tIns="1270" rIns="1270" bIns="1270" rtlCol="0" anchor="t"/>
          <a:lstStyle/>
          <a:p>
            <a:pPr indent="0" marL="0">
              <a:buNone/>
            </a:pPr>
            <a:r>
              <a:rPr lang="en-US" sz="3200" b="1" dirty="0">
                <a:solidFill>
                  <a:schemeClr val="tx2"/>
                </a:solidFill>
                <a:latin typeface="Cambria" pitchFamily="34" charset="0"/>
                <a:ea typeface="Cambria" pitchFamily="34" charset="-122"/>
                <a:cs typeface="Cambria" pitchFamily="34" charset="-120"/>
              </a:rPr>
              <a:t>Would you sign up for an artifact evaluation committee next year?</a:t>
            </a:r>
            <a:endParaRPr lang="en-US" sz="3200" dirty="0"/>
          </a:p>
          <a:p>
            <a:pPr indent="0" marL="0">
              <a:buNone/>
            </a:pPr>
            <a:r>
              <a:rPr lang="en-US" sz="3200" b="1" dirty="0">
                <a:solidFill>
                  <a:schemeClr val="tx2"/>
                </a:solidFill>
                <a:latin typeface="Cambria" pitchFamily="34" charset="0"/>
                <a:ea typeface="Cambria" pitchFamily="34" charset="-122"/>
                <a:cs typeface="Cambria" pitchFamily="34" charset="-120"/>
              </a:rPr>
              <a:t>Why or why not?</a:t>
            </a:r>
            <a:endParaRPr lang="en-US" sz="3200" dirty="0"/>
          </a:p>
        </p:txBody>
      </p:sp>
      <p:sp>
        <p:nvSpPr>
          <p:cNvPr id="4" name="card37"/>
          <p:cNvSpPr/>
          <p:nvPr/>
        </p:nvSpPr>
        <p:spPr>
          <a:xfrm>
            <a:off x="548640" y="3749040"/>
            <a:ext cx="11064240" cy="1463040"/>
          </a:xfrm>
          <a:prstGeom prst="roundRect">
            <a:avLst>
              <a:gd name="adj" fmla="val 5000"/>
            </a:avLst>
          </a:prstGeom>
          <a:solidFill>
            <a:srgbClr val="EEF3F4"/>
          </a:solidFill>
          <a:ln w="12700">
            <a:solidFill>
              <a:srgbClr val="EEF3F4"/>
            </a:solidFill>
            <a:prstDash val="solid"/>
          </a:ln>
        </p:spPr>
      </p:sp>
      <p:sp>
        <p:nvSpPr>
          <p:cNvPr id="5" name="Text 3"/>
          <p:cNvSpPr txBox="1"/>
          <p:nvPr/>
        </p:nvSpPr>
        <p:spPr>
          <a:xfrm>
            <a:off x="777240" y="3931920"/>
            <a:ext cx="10607040" cy="1188720"/>
          </a:xfrm>
          <a:prstGeom prst="rect">
            <a:avLst/>
          </a:prstGeom>
          <a:noFill/>
          <a:ln/>
        </p:spPr>
        <p:txBody>
          <a:bodyPr wrap="square" lIns="1270" tIns="1270" rIns="1270" bIns="1270" rtlCol="0" anchor="t"/>
          <a:lstStyle/>
          <a:p>
            <a:pPr indent="0" marL="0">
              <a:buNone/>
            </a:pPr>
            <a:r>
              <a:rPr lang="en-US" sz="1700" dirty="0">
                <a:solidFill>
                  <a:schemeClr val="tx1"/>
                </a:solidFill>
              </a:rPr>
              <a:t>Most AEC members serve only once (Hermann et al., Fig. 2, p. 473). "We usually just make students do AEC" (Timperley et al., participant 64, p. 23).</a:t>
            </a:r>
            <a:endParaRPr lang="en-US" sz="17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p>
            <a:pPr indent="0" marL="0">
              <a:buNone/>
            </a:pPr>
            <a:r>
              <a:rPr lang="en-US" sz="3200" b="1" dirty="0">
                <a:solidFill>
                  <a:schemeClr val="tx2"/>
                </a:solidFill>
              </a:rPr>
              <a:t>Q1 · Low bar or high bar?</a:t>
            </a:r>
            <a:endParaRPr lang="en-US" sz="3200" dirty="0"/>
          </a:p>
        </p:txBody>
      </p:sp>
      <p:sp>
        <p:nvSpPr>
          <p:cNvPr id="3" name="Text 1"/>
          <p:cNvSpPr txBox="1"/>
          <p:nvPr/>
        </p:nvSpPr>
        <p:spPr>
          <a:xfrm>
            <a:off x="548640" y="1325880"/>
            <a:ext cx="11064240" cy="1005840"/>
          </a:xfrm>
          <a:prstGeom prst="rect">
            <a:avLst/>
          </a:prstGeom>
          <a:noFill/>
          <a:ln/>
        </p:spPr>
        <p:txBody>
          <a:bodyPr wrap="square" lIns="1270" tIns="1270" rIns="1270" bIns="127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Should artifact badges be easy to get (more sharing) or hard to get (badges that mean something)?</a:t>
            </a:r>
            <a:endParaRPr lang="en-US" sz="2400" dirty="0"/>
          </a:p>
        </p:txBody>
      </p:sp>
      <p:sp>
        <p:nvSpPr>
          <p:cNvPr id="4" name="card38"/>
          <p:cNvSpPr/>
          <p:nvPr/>
        </p:nvSpPr>
        <p:spPr>
          <a:xfrm>
            <a:off x="548640" y="2514600"/>
            <a:ext cx="11064240" cy="1234440"/>
          </a:xfrm>
          <a:prstGeom prst="roundRect">
            <a:avLst>
              <a:gd name="adj" fmla="val 5926"/>
            </a:avLst>
          </a:prstGeom>
          <a:solidFill>
            <a:srgbClr val="EEF3F4"/>
          </a:solidFill>
          <a:ln w="12700">
            <a:solidFill>
              <a:srgbClr val="EEF3F4"/>
            </a:solidFill>
            <a:prstDash val="solid"/>
          </a:ln>
        </p:spPr>
      </p:sp>
      <p:sp>
        <p:nvSpPr>
          <p:cNvPr id="5" name="Text 3"/>
          <p:cNvSpPr txBox="1"/>
          <p:nvPr/>
        </p:nvSpPr>
        <p:spPr>
          <a:xfrm>
            <a:off x="777240" y="2606040"/>
            <a:ext cx="10607040" cy="1051560"/>
          </a:xfrm>
          <a:prstGeom prst="rect">
            <a:avLst/>
          </a:prstGeom>
          <a:noFill/>
          <a:ln/>
        </p:spPr>
        <p:txBody>
          <a:bodyPr wrap="square" lIns="1270" tIns="1270" rIns="1270" bIns="1270" rtlCol="0" anchor="t"/>
          <a:lstStyle/>
          <a:p>
            <a:pPr indent="0" marL="0">
              <a:buNone/>
            </a:pPr>
            <a:r>
              <a:rPr lang="en-US" sz="1600" b="1" dirty="0">
                <a:solidFill>
                  <a:schemeClr val="accent1"/>
                </a:solidFill>
              </a:rPr>
              <a:t>From the papers  </a:t>
            </a:r>
            <a:pPr indent="0" marL="0">
              <a:buNone/>
            </a:pPr>
            <a:r>
              <a:rPr lang="en-US" sz="1600" dirty="0">
                <a:solidFill>
                  <a:schemeClr val="tx1"/>
                </a:solidFill>
              </a:rPr>
              <a:t>"Enforcing quality criteria only means that some authors will not publish their code" (Hermann p. 475). ICSE and FSE dropped the Functional badge to raise the bar (p. 476). At FSE, 86 % of submitted artifacts were accepted (Timperley Fig. 4, p. 21).</a:t>
            </a:r>
            <a:endParaRPr lang="en-US" sz="1600" dirty="0"/>
          </a:p>
        </p:txBody>
      </p:sp>
      <p:sp>
        <p:nvSpPr>
          <p:cNvPr id="6" name="card39"/>
          <p:cNvSpPr/>
          <p:nvPr/>
        </p:nvSpPr>
        <p:spPr>
          <a:xfrm>
            <a:off x="548640" y="3977640"/>
            <a:ext cx="5440680" cy="2103120"/>
          </a:xfrm>
          <a:prstGeom prst="roundRect">
            <a:avLst>
              <a:gd name="adj" fmla="val 3478"/>
            </a:avLst>
          </a:prstGeom>
          <a:solidFill>
            <a:srgbClr val="E7F0E8"/>
          </a:solidFill>
          <a:ln w="12700">
            <a:solidFill>
              <a:srgbClr val="E7F0E8"/>
            </a:solidFill>
            <a:prstDash val="solid"/>
          </a:ln>
        </p:spPr>
      </p:sp>
      <p:sp>
        <p:nvSpPr>
          <p:cNvPr id="7" name="card40"/>
          <p:cNvSpPr/>
          <p:nvPr/>
        </p:nvSpPr>
        <p:spPr>
          <a:xfrm>
            <a:off x="6172200" y="3977640"/>
            <a:ext cx="5440680" cy="2103120"/>
          </a:xfrm>
          <a:prstGeom prst="roundRect">
            <a:avLst>
              <a:gd name="adj" fmla="val 3478"/>
            </a:avLst>
          </a:prstGeom>
          <a:solidFill>
            <a:srgbClr val="FBEFD5"/>
          </a:solidFill>
          <a:ln w="12700">
            <a:solidFill>
              <a:srgbClr val="FBEFD5"/>
            </a:solidFill>
            <a:prstDash val="solid"/>
          </a:ln>
        </p:spPr>
      </p:sp>
      <p:sp>
        <p:nvSpPr>
          <p:cNvPr id="8" name="Text 6"/>
          <p:cNvSpPr txBox="1"/>
          <p:nvPr/>
        </p:nvSpPr>
        <p:spPr>
          <a:xfrm>
            <a:off x="777240" y="4114800"/>
            <a:ext cx="5029200" cy="1874520"/>
          </a:xfrm>
          <a:prstGeom prst="rect">
            <a:avLst/>
          </a:prstGeom>
          <a:noFill/>
          <a:ln/>
        </p:spPr>
        <p:txBody>
          <a:bodyPr wrap="square" lIns="1270" tIns="1270" rIns="1270" bIns="1270" rtlCol="0" anchor="t"/>
          <a:lstStyle/>
          <a:p>
            <a:pPr indent="0" marL="0">
              <a:buNone/>
            </a:pPr>
            <a:r>
              <a:rPr lang="en-US" sz="2000" b="1" dirty="0">
                <a:solidFill>
                  <a:schemeClr val="accent3"/>
                </a:solidFill>
              </a:rPr>
              <a:t>Low bar</a:t>
            </a:r>
            <a:endParaRPr lang="en-US" sz="2000" dirty="0"/>
          </a:p>
          <a:p>
            <a:pPr indent="0" marL="0">
              <a:buNone/>
            </a:pPr>
            <a:r>
              <a:rPr lang="en-US" sz="2000" dirty="0">
                <a:solidFill>
                  <a:schemeClr val="tx1"/>
                </a:solidFill>
              </a:rPr>
              <a:t>Availability is the bottleneck. Any code beats no code.</a:t>
            </a:r>
            <a:endParaRPr lang="en-US" sz="2000" dirty="0"/>
          </a:p>
        </p:txBody>
      </p:sp>
      <p:sp>
        <p:nvSpPr>
          <p:cNvPr id="9" name="Text 7"/>
          <p:cNvSpPr txBox="1"/>
          <p:nvPr/>
        </p:nvSpPr>
        <p:spPr>
          <a:xfrm>
            <a:off x="6400800" y="4114800"/>
            <a:ext cx="5029200" cy="1874520"/>
          </a:xfrm>
          <a:prstGeom prst="rect">
            <a:avLst/>
          </a:prstGeom>
          <a:noFill/>
          <a:ln/>
        </p:spPr>
        <p:txBody>
          <a:bodyPr wrap="square" lIns="1270" tIns="1270" rIns="1270" bIns="1270" rtlCol="0" anchor="t"/>
          <a:lstStyle/>
          <a:p>
            <a:pPr indent="0" marL="0">
              <a:buNone/>
            </a:pPr>
            <a:r>
              <a:rPr lang="en-US" sz="2000" b="1" dirty="0">
                <a:solidFill>
                  <a:schemeClr val="accent2"/>
                </a:solidFill>
              </a:rPr>
              <a:t>High bar</a:t>
            </a:r>
            <a:endParaRPr lang="en-US" sz="2000" dirty="0"/>
          </a:p>
          <a:p>
            <a:pPr indent="0" marL="0">
              <a:buNone/>
            </a:pPr>
            <a:r>
              <a:rPr lang="en-US" sz="2000" dirty="0">
                <a:solidFill>
                  <a:schemeClr val="tx1"/>
                </a:solidFill>
              </a:rPr>
              <a:t>If 86 % pass, a badge signals little to users.</a:t>
            </a:r>
            <a:endParaRPr lang="en-US" sz="2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p>
            <a:pPr indent="0" marL="0">
              <a:buNone/>
            </a:pPr>
            <a:r>
              <a:rPr lang="en-US" sz="3200" b="1" dirty="0">
                <a:solidFill>
                  <a:schemeClr val="tx2"/>
                </a:solidFill>
              </a:rPr>
              <a:t>Q2 · Should the artifact decide the paper?</a:t>
            </a:r>
            <a:endParaRPr lang="en-US" sz="3200" dirty="0"/>
          </a:p>
        </p:txBody>
      </p:sp>
      <p:sp>
        <p:nvSpPr>
          <p:cNvPr id="3" name="Text 1"/>
          <p:cNvSpPr txBox="1"/>
          <p:nvPr/>
        </p:nvSpPr>
        <p:spPr>
          <a:xfrm>
            <a:off x="548640" y="1325880"/>
            <a:ext cx="11064240" cy="1005840"/>
          </a:xfrm>
          <a:prstGeom prst="rect">
            <a:avLst/>
          </a:prstGeom>
          <a:noFill/>
          <a:ln/>
        </p:spPr>
        <p:txBody>
          <a:bodyPr wrap="square" lIns="1270" tIns="1270" rIns="1270" bIns="127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Should a failed artifact evaluation be able to get a paper rejected?</a:t>
            </a:r>
            <a:endParaRPr lang="en-US" sz="2400" dirty="0"/>
          </a:p>
        </p:txBody>
      </p:sp>
      <p:sp>
        <p:nvSpPr>
          <p:cNvPr id="4" name="card41"/>
          <p:cNvSpPr/>
          <p:nvPr/>
        </p:nvSpPr>
        <p:spPr>
          <a:xfrm>
            <a:off x="548640" y="2514600"/>
            <a:ext cx="11064240" cy="1234440"/>
          </a:xfrm>
          <a:prstGeom prst="roundRect">
            <a:avLst>
              <a:gd name="adj" fmla="val 5926"/>
            </a:avLst>
          </a:prstGeom>
          <a:solidFill>
            <a:srgbClr val="EEF3F4"/>
          </a:solidFill>
          <a:ln w="12700">
            <a:solidFill>
              <a:srgbClr val="EEF3F4"/>
            </a:solidFill>
            <a:prstDash val="solid"/>
          </a:ln>
        </p:spPr>
      </p:sp>
      <p:sp>
        <p:nvSpPr>
          <p:cNvPr id="5" name="Text 3"/>
          <p:cNvSpPr txBox="1"/>
          <p:nvPr/>
        </p:nvSpPr>
        <p:spPr>
          <a:xfrm>
            <a:off x="777240" y="2606040"/>
            <a:ext cx="10607040" cy="1051560"/>
          </a:xfrm>
          <a:prstGeom prst="rect">
            <a:avLst/>
          </a:prstGeom>
          <a:noFill/>
          <a:ln/>
        </p:spPr>
        <p:txBody>
          <a:bodyPr wrap="square" lIns="1270" tIns="1270" rIns="1270" bIns="1270" rtlCol="0" anchor="t"/>
          <a:lstStyle/>
          <a:p>
            <a:pPr indent="0" marL="0">
              <a:buNone/>
            </a:pPr>
            <a:r>
              <a:rPr lang="en-US" sz="1600" b="1" dirty="0">
                <a:solidFill>
                  <a:schemeClr val="accent1"/>
                </a:solidFill>
              </a:rPr>
              <a:t>From the papers  </a:t>
            </a:r>
            <a:pPr indent="0" marL="0">
              <a:buNone/>
            </a:pPr>
            <a:r>
              <a:rPr lang="en-US" sz="1600" dirty="0">
                <a:solidFill>
                  <a:schemeClr val="tx1"/>
                </a:solidFill>
              </a:rPr>
              <a:t>Both papers lean yes (Hermann pp. 478–479, 13 unprompted respondents; Timperley p. 28). CAV and TACAS already require artifacts for tool papers. "The evaluations do not determine if the paper is accepted, so I didn't pay much attention" (Hermann, id 79, p. 478).</a:t>
            </a:r>
            <a:endParaRPr lang="en-US" sz="1600" dirty="0"/>
          </a:p>
        </p:txBody>
      </p:sp>
      <p:sp>
        <p:nvSpPr>
          <p:cNvPr id="6" name="card42"/>
          <p:cNvSpPr/>
          <p:nvPr/>
        </p:nvSpPr>
        <p:spPr>
          <a:xfrm>
            <a:off x="548640" y="3977640"/>
            <a:ext cx="5440680" cy="2103120"/>
          </a:xfrm>
          <a:prstGeom prst="roundRect">
            <a:avLst>
              <a:gd name="adj" fmla="val 3478"/>
            </a:avLst>
          </a:prstGeom>
          <a:solidFill>
            <a:srgbClr val="E7F0E8"/>
          </a:solidFill>
          <a:ln w="12700">
            <a:solidFill>
              <a:srgbClr val="E7F0E8"/>
            </a:solidFill>
            <a:prstDash val="solid"/>
          </a:ln>
        </p:spPr>
      </p:sp>
      <p:sp>
        <p:nvSpPr>
          <p:cNvPr id="7" name="card43"/>
          <p:cNvSpPr/>
          <p:nvPr/>
        </p:nvSpPr>
        <p:spPr>
          <a:xfrm>
            <a:off x="6172200" y="3977640"/>
            <a:ext cx="5440680" cy="2103120"/>
          </a:xfrm>
          <a:prstGeom prst="roundRect">
            <a:avLst>
              <a:gd name="adj" fmla="val 3478"/>
            </a:avLst>
          </a:prstGeom>
          <a:solidFill>
            <a:srgbClr val="FBEFD5"/>
          </a:solidFill>
          <a:ln w="12700">
            <a:solidFill>
              <a:srgbClr val="FBEFD5"/>
            </a:solidFill>
            <a:prstDash val="solid"/>
          </a:ln>
        </p:spPr>
      </p:sp>
      <p:sp>
        <p:nvSpPr>
          <p:cNvPr id="8" name="Text 6"/>
          <p:cNvSpPr txBox="1"/>
          <p:nvPr/>
        </p:nvSpPr>
        <p:spPr>
          <a:xfrm>
            <a:off x="777240" y="4114800"/>
            <a:ext cx="5029200" cy="1874520"/>
          </a:xfrm>
          <a:prstGeom prst="rect">
            <a:avLst/>
          </a:prstGeom>
          <a:noFill/>
          <a:ln/>
        </p:spPr>
        <p:txBody>
          <a:bodyPr wrap="square" lIns="1270" tIns="1270" rIns="1270" bIns="1270" rtlCol="0" anchor="t"/>
          <a:lstStyle/>
          <a:p>
            <a:pPr indent="0" marL="0">
              <a:buNone/>
            </a:pPr>
            <a:r>
              <a:rPr lang="en-US" sz="2000" b="1" dirty="0">
                <a:solidFill>
                  <a:schemeClr val="accent3"/>
                </a:solidFill>
              </a:rPr>
              <a:t>Yes, couple them</a:t>
            </a:r>
            <a:endParaRPr lang="en-US" sz="2000" dirty="0"/>
          </a:p>
          <a:p>
            <a:pPr indent="0" marL="0">
              <a:buNone/>
            </a:pPr>
            <a:r>
              <a:rPr lang="en-US" sz="2000" dirty="0">
                <a:solidFill>
                  <a:schemeClr val="tx1"/>
                </a:solidFill>
              </a:rPr>
              <a:t>Otherwise artifact evaluation is optional decoration, and reviewers know it.</a:t>
            </a:r>
            <a:endParaRPr lang="en-US" sz="2000" dirty="0"/>
          </a:p>
        </p:txBody>
      </p:sp>
      <p:sp>
        <p:nvSpPr>
          <p:cNvPr id="9" name="Text 7"/>
          <p:cNvSpPr txBox="1"/>
          <p:nvPr/>
        </p:nvSpPr>
        <p:spPr>
          <a:xfrm>
            <a:off x="6400800" y="4114800"/>
            <a:ext cx="5029200" cy="1874520"/>
          </a:xfrm>
          <a:prstGeom prst="rect">
            <a:avLst/>
          </a:prstGeom>
          <a:noFill/>
          <a:ln/>
        </p:spPr>
        <p:txBody>
          <a:bodyPr wrap="square" lIns="1270" tIns="1270" rIns="1270" bIns="1270" rtlCol="0" anchor="t"/>
          <a:lstStyle/>
          <a:p>
            <a:pPr indent="0" marL="0">
              <a:buNone/>
            </a:pPr>
            <a:r>
              <a:rPr lang="en-US" sz="2000" b="1" dirty="0">
                <a:solidFill>
                  <a:schemeClr val="accent2"/>
                </a:solidFill>
              </a:rPr>
              <a:t>No, keep separate</a:t>
            </a:r>
            <a:endParaRPr lang="en-US" sz="2000" dirty="0"/>
          </a:p>
          <a:p>
            <a:pPr indent="0" marL="0">
              <a:buNone/>
            </a:pPr>
            <a:r>
              <a:rPr lang="en-US" sz="2000" dirty="0">
                <a:solidFill>
                  <a:schemeClr val="tx1"/>
                </a:solidFill>
              </a:rPr>
              <a:t>Puts one-time junior reviewers in charge of careers, clashes with double-blind review (C8), penalises industry papers (C9).</a:t>
            </a:r>
            <a:endParaRPr lang="en-US" sz="2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p>
            <a:pPr indent="0" marL="0">
              <a:buNone/>
            </a:pPr>
            <a:r>
              <a:rPr lang="en-US" sz="3200" b="1" dirty="0">
                <a:solidFill>
                  <a:schemeClr val="tx2"/>
                </a:solidFill>
              </a:rPr>
              <a:t>Q3 · Run the scripts or try to break them?</a:t>
            </a:r>
            <a:endParaRPr lang="en-US" sz="3200" dirty="0"/>
          </a:p>
        </p:txBody>
      </p:sp>
      <p:sp>
        <p:nvSpPr>
          <p:cNvPr id="3" name="Text 1"/>
          <p:cNvSpPr txBox="1"/>
          <p:nvPr/>
        </p:nvSpPr>
        <p:spPr>
          <a:xfrm>
            <a:off x="548640" y="1325880"/>
            <a:ext cx="11064240" cy="1005840"/>
          </a:xfrm>
          <a:prstGeom prst="rect">
            <a:avLst/>
          </a:prstGeom>
          <a:noFill/>
          <a:ln/>
        </p:spPr>
        <p:txBody>
          <a:bodyPr wrap="square" lIns="1270" tIns="1270" rIns="1270" bIns="127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Should artifact reviewers just run the authors' scripts, or probe whether the results hold up?</a:t>
            </a:r>
            <a:endParaRPr lang="en-US" sz="2400" dirty="0"/>
          </a:p>
        </p:txBody>
      </p:sp>
      <p:sp>
        <p:nvSpPr>
          <p:cNvPr id="4" name="card44"/>
          <p:cNvSpPr/>
          <p:nvPr/>
        </p:nvSpPr>
        <p:spPr>
          <a:xfrm>
            <a:off x="548640" y="2514600"/>
            <a:ext cx="11064240" cy="1234440"/>
          </a:xfrm>
          <a:prstGeom prst="roundRect">
            <a:avLst>
              <a:gd name="adj" fmla="val 5926"/>
            </a:avLst>
          </a:prstGeom>
          <a:solidFill>
            <a:srgbClr val="EEF3F4"/>
          </a:solidFill>
          <a:ln w="12700">
            <a:solidFill>
              <a:srgbClr val="EEF3F4"/>
            </a:solidFill>
            <a:prstDash val="solid"/>
          </a:ln>
        </p:spPr>
      </p:sp>
      <p:sp>
        <p:nvSpPr>
          <p:cNvPr id="5" name="Text 3"/>
          <p:cNvSpPr txBox="1"/>
          <p:nvPr/>
        </p:nvSpPr>
        <p:spPr>
          <a:xfrm>
            <a:off x="777240" y="2606040"/>
            <a:ext cx="10607040" cy="1051560"/>
          </a:xfrm>
          <a:prstGeom prst="rect">
            <a:avLst/>
          </a:prstGeom>
          <a:noFill/>
          <a:ln/>
        </p:spPr>
        <p:txBody>
          <a:bodyPr wrap="square" lIns="1270" tIns="1270" rIns="1270" bIns="1270" rtlCol="0" anchor="t"/>
          <a:lstStyle/>
          <a:p>
            <a:pPr indent="0" marL="0">
              <a:buNone/>
            </a:pPr>
            <a:r>
              <a:rPr lang="en-US" sz="1600" b="1" dirty="0">
                <a:solidFill>
                  <a:schemeClr val="accent1"/>
                </a:solidFill>
              </a:rPr>
              <a:t>From the papers  </a:t>
            </a:r>
            <a:pPr indent="0" marL="0">
              <a:buNone/>
            </a:pPr>
            <a:r>
              <a:rPr lang="en-US" sz="1600" dirty="0">
                <a:solidFill>
                  <a:schemeClr val="tx1"/>
                </a:solidFill>
              </a:rPr>
              <a:t>"AECs, by asking for replicable scripts, are likely to replicate the same mistake" (Timperley participant 25, p. 22). Some Hermann reviewers modify experiments, and 24 calls encourage it (p. 475). One reviewer found hard-coded outputs only by reading the code (p. 477).</a:t>
            </a:r>
            <a:endParaRPr lang="en-US" sz="1600" dirty="0"/>
          </a:p>
        </p:txBody>
      </p:sp>
      <p:sp>
        <p:nvSpPr>
          <p:cNvPr id="6" name="card45"/>
          <p:cNvSpPr/>
          <p:nvPr/>
        </p:nvSpPr>
        <p:spPr>
          <a:xfrm>
            <a:off x="548640" y="3977640"/>
            <a:ext cx="5440680" cy="2103120"/>
          </a:xfrm>
          <a:prstGeom prst="roundRect">
            <a:avLst>
              <a:gd name="adj" fmla="val 3478"/>
            </a:avLst>
          </a:prstGeom>
          <a:solidFill>
            <a:srgbClr val="E7F0E8"/>
          </a:solidFill>
          <a:ln w="12700">
            <a:solidFill>
              <a:srgbClr val="E7F0E8"/>
            </a:solidFill>
            <a:prstDash val="solid"/>
          </a:ln>
        </p:spPr>
      </p:sp>
      <p:sp>
        <p:nvSpPr>
          <p:cNvPr id="7" name="card46"/>
          <p:cNvSpPr/>
          <p:nvPr/>
        </p:nvSpPr>
        <p:spPr>
          <a:xfrm>
            <a:off x="6172200" y="3977640"/>
            <a:ext cx="5440680" cy="2103120"/>
          </a:xfrm>
          <a:prstGeom prst="roundRect">
            <a:avLst>
              <a:gd name="adj" fmla="val 3478"/>
            </a:avLst>
          </a:prstGeom>
          <a:solidFill>
            <a:srgbClr val="FBEFD5"/>
          </a:solidFill>
          <a:ln w="12700">
            <a:solidFill>
              <a:srgbClr val="FBEFD5"/>
            </a:solidFill>
            <a:prstDash val="solid"/>
          </a:ln>
        </p:spPr>
      </p:sp>
      <p:sp>
        <p:nvSpPr>
          <p:cNvPr id="8" name="Text 6"/>
          <p:cNvSpPr txBox="1"/>
          <p:nvPr/>
        </p:nvSpPr>
        <p:spPr>
          <a:xfrm>
            <a:off x="777240" y="4114800"/>
            <a:ext cx="5029200" cy="1874520"/>
          </a:xfrm>
          <a:prstGeom prst="rect">
            <a:avLst/>
          </a:prstGeom>
          <a:noFill/>
          <a:ln/>
        </p:spPr>
        <p:txBody>
          <a:bodyPr wrap="square" lIns="1270" tIns="1270" rIns="1270" bIns="1270" rtlCol="0" anchor="t"/>
          <a:lstStyle/>
          <a:p>
            <a:pPr indent="0" marL="0">
              <a:buNone/>
            </a:pPr>
            <a:r>
              <a:rPr lang="en-US" sz="2000" b="1" dirty="0">
                <a:solidFill>
                  <a:schemeClr val="accent3"/>
                </a:solidFill>
              </a:rPr>
              <a:t>Run the scripts</a:t>
            </a:r>
            <a:endParaRPr lang="en-US" sz="2000" dirty="0"/>
          </a:p>
          <a:p>
            <a:pPr indent="0" marL="0">
              <a:buNone/>
            </a:pPr>
            <a:r>
              <a:rPr lang="en-US" sz="2000" dirty="0">
                <a:solidFill>
                  <a:schemeClr val="tx1"/>
                </a:solidFill>
              </a:rPr>
              <a:t>Cheap, scalable, clear pass or fail: exactly what 2020 reproducibility means.</a:t>
            </a:r>
            <a:endParaRPr lang="en-US" sz="2000" dirty="0"/>
          </a:p>
        </p:txBody>
      </p:sp>
      <p:sp>
        <p:nvSpPr>
          <p:cNvPr id="9" name="Text 7"/>
          <p:cNvSpPr txBox="1"/>
          <p:nvPr/>
        </p:nvSpPr>
        <p:spPr>
          <a:xfrm>
            <a:off x="6400800" y="4114800"/>
            <a:ext cx="5029200" cy="1874520"/>
          </a:xfrm>
          <a:prstGeom prst="rect">
            <a:avLst/>
          </a:prstGeom>
          <a:noFill/>
          <a:ln/>
        </p:spPr>
        <p:txBody>
          <a:bodyPr wrap="square" lIns="1270" tIns="1270" rIns="1270" bIns="1270" rtlCol="0" anchor="t"/>
          <a:lstStyle/>
          <a:p>
            <a:pPr indent="0" marL="0">
              <a:buNone/>
            </a:pPr>
            <a:r>
              <a:rPr lang="en-US" sz="2000" b="1" dirty="0">
                <a:solidFill>
                  <a:schemeClr val="accent2"/>
                </a:solidFill>
              </a:rPr>
              <a:t>Probe</a:t>
            </a:r>
            <a:endParaRPr lang="en-US" sz="2000" dirty="0"/>
          </a:p>
          <a:p>
            <a:pPr indent="0" marL="0">
              <a:buNone/>
            </a:pPr>
            <a:r>
              <a:rPr lang="en-US" sz="2000" dirty="0">
                <a:solidFill>
                  <a:schemeClr val="tx1"/>
                </a:solidFill>
              </a:rPr>
              <a:t>Otherwise a badge just certifies that a bug is repeatable.</a:t>
            </a:r>
            <a:endParaRPr lang="en-US" sz="20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6"/>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p>
            <a:pPr indent="0" marL="0">
              <a:buNone/>
            </a:pPr>
            <a:r>
              <a:rPr lang="en-US" sz="3200" b="1" dirty="0">
                <a:solidFill>
                  <a:schemeClr val="tx2"/>
                </a:solidFill>
              </a:rPr>
              <a:t>Short break · 2 min</a:t>
            </a:r>
            <a:endParaRPr lang="en-US" sz="3200" dirty="0"/>
          </a:p>
        </p:txBody>
      </p:sp>
      <p:sp>
        <p:nvSpPr>
          <p:cNvPr id="3" name="Text 1"/>
          <p:cNvSpPr txBox="1"/>
          <p:nvPr/>
        </p:nvSpPr>
        <p:spPr>
          <a:xfrm>
            <a:off x="548640" y="2560320"/>
            <a:ext cx="11064240" cy="914400"/>
          </a:xfrm>
          <a:prstGeom prst="rect">
            <a:avLst/>
          </a:prstGeom>
          <a:noFill/>
          <a:ln/>
        </p:spPr>
        <p:txBody>
          <a:bodyPr wrap="square" lIns="1270" tIns="1270" rIns="1270" bIns="1270" rtlCol="0" anchor="t"/>
          <a:lstStyle/>
          <a:p>
            <a:pPr algn="ctr" indent="0" marL="0">
              <a:buNone/>
            </a:pPr>
            <a:r>
              <a:rPr lang="en-US" sz="2800" dirty="0">
                <a:solidFill>
                  <a:schemeClr val="tx2"/>
                </a:solidFill>
                <a:latin typeface="Cambria" pitchFamily="34" charset="0"/>
                <a:ea typeface="Cambria" pitchFamily="34" charset="-122"/>
                <a:cs typeface="Cambria" pitchFamily="34" charset="-120"/>
              </a:rPr>
              <a:t>Next: two groups, two questions, 10 minutes, then report back</a:t>
            </a:r>
            <a:endParaRPr lang="en-US" sz="2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6"/>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p>
            <a:pPr indent="0" marL="0">
              <a:buNone/>
            </a:pPr>
            <a:r>
              <a:rPr lang="en-US" sz="3200" b="1" dirty="0">
                <a:solidFill>
                  <a:schemeClr val="tx2"/>
                </a:solidFill>
              </a:rPr>
              <a:t>Group work · 10 min, then 5 min report back</a:t>
            </a:r>
            <a:endParaRPr lang="en-US" sz="3200" dirty="0"/>
          </a:p>
        </p:txBody>
      </p:sp>
      <p:sp>
        <p:nvSpPr>
          <p:cNvPr id="3" name="card47"/>
          <p:cNvSpPr/>
          <p:nvPr/>
        </p:nvSpPr>
        <p:spPr>
          <a:xfrm>
            <a:off x="548640" y="1417320"/>
            <a:ext cx="5440680" cy="4663440"/>
          </a:xfrm>
          <a:prstGeom prst="roundRect">
            <a:avLst>
              <a:gd name="adj" fmla="val 1569"/>
            </a:avLst>
          </a:prstGeom>
          <a:solidFill>
            <a:srgbClr val="E7F0E8"/>
          </a:solidFill>
          <a:ln w="12700">
            <a:solidFill>
              <a:srgbClr val="E7F0E8"/>
            </a:solidFill>
            <a:prstDash val="solid"/>
          </a:ln>
        </p:spPr>
      </p:sp>
      <p:sp>
        <p:nvSpPr>
          <p:cNvPr id="4" name="Text 2"/>
          <p:cNvSpPr txBox="1"/>
          <p:nvPr/>
        </p:nvSpPr>
        <p:spPr>
          <a:xfrm>
            <a:off x="777240" y="1554480"/>
            <a:ext cx="4983480" cy="548640"/>
          </a:xfrm>
          <a:prstGeom prst="rect">
            <a:avLst/>
          </a:prstGeom>
          <a:noFill/>
          <a:ln/>
        </p:spPr>
        <p:txBody>
          <a:bodyPr wrap="square" lIns="1270" tIns="1270" rIns="1270" bIns="1270" rtlCol="0" anchor="t"/>
          <a:lstStyle/>
          <a:p>
            <a:pPr indent="0" marL="0">
              <a:buNone/>
            </a:pPr>
            <a:r>
              <a:rPr lang="en-US" sz="2000" b="1" dirty="0">
                <a:solidFill>
                  <a:schemeClr val="accent3"/>
                </a:solidFill>
              </a:rPr>
              <a:t>Group A · Standards or incentives?</a:t>
            </a:r>
            <a:endParaRPr lang="en-US" sz="2000" dirty="0"/>
          </a:p>
        </p:txBody>
      </p:sp>
      <p:sp>
        <p:nvSpPr>
          <p:cNvPr id="5" name="Text 3"/>
          <p:cNvSpPr txBox="1"/>
          <p:nvPr/>
        </p:nvSpPr>
        <p:spPr>
          <a:xfrm>
            <a:off x="777240" y="2194560"/>
            <a:ext cx="4983480" cy="1463040"/>
          </a:xfrm>
          <a:prstGeom prst="rect">
            <a:avLst/>
          </a:prstGeom>
          <a:noFill/>
          <a:ln/>
        </p:spPr>
        <p:txBody>
          <a:bodyPr wrap="square" lIns="1270" tIns="1270" rIns="1270" bIns="1270" rtlCol="0" anchor="t"/>
          <a:lstStyle/>
          <a:p>
            <a:pPr indent="0" marL="0">
              <a:buNone/>
            </a:pPr>
            <a:r>
              <a:rPr lang="en-US" sz="2000" b="1" dirty="0">
                <a:solidFill>
                  <a:schemeClr val="tx1"/>
                </a:solidFill>
              </a:rPr>
              <a:t>If you could change one thing, would it be clear standards (Hermann's diagnosis) or rewards for artifact work (Timperley's diagnosis)?</a:t>
            </a:r>
            <a:endParaRPr lang="en-US" sz="2000" dirty="0"/>
          </a:p>
        </p:txBody>
      </p:sp>
      <p:sp>
        <p:nvSpPr>
          <p:cNvPr id="6" name="Text 4"/>
          <p:cNvSpPr txBox="1"/>
          <p:nvPr/>
        </p:nvSpPr>
        <p:spPr>
          <a:xfrm>
            <a:off x="777240" y="3657600"/>
            <a:ext cx="4983480" cy="1645920"/>
          </a:xfrm>
          <a:prstGeom prst="rect">
            <a:avLst/>
          </a:prstGeom>
          <a:noFill/>
          <a:ln/>
        </p:spPr>
        <p:txBody>
          <a:bodyPr wrap="square" lIns="1270" tIns="1270" rIns="1270" bIns="1270" rtlCol="0" anchor="t"/>
          <a:lstStyle/>
          <a:p>
            <a:pPr indent="0" marL="0">
              <a:buNone/>
            </a:pPr>
            <a:r>
              <a:rPr lang="en-US" sz="1700" dirty="0">
                <a:solidFill>
                  <a:schemeClr val="tx1"/>
                </a:solidFill>
              </a:rPr>
              <a:t>Timperley participant 31 stopped submitting to AE because of "wildly different reviewer expectations" (p. 26). Standards problem or incentive problem?</a:t>
            </a:r>
            <a:endParaRPr lang="en-US" sz="1700" dirty="0"/>
          </a:p>
        </p:txBody>
      </p:sp>
      <p:sp>
        <p:nvSpPr>
          <p:cNvPr id="7" name="Text 5"/>
          <p:cNvSpPr txBox="1"/>
          <p:nvPr/>
        </p:nvSpPr>
        <p:spPr>
          <a:xfrm>
            <a:off x="777240" y="5394960"/>
            <a:ext cx="4983480" cy="457200"/>
          </a:xfrm>
          <a:prstGeom prst="rect">
            <a:avLst/>
          </a:prstGeom>
          <a:noFill/>
          <a:ln/>
        </p:spPr>
        <p:txBody>
          <a:bodyPr wrap="square" lIns="1270" tIns="1270" rIns="1270" bIns="1270" rtlCol="0" anchor="t"/>
          <a:lstStyle/>
          <a:p>
            <a:pPr indent="0" marL="0">
              <a:buNone/>
            </a:pPr>
            <a:r>
              <a:rPr lang="en-US" sz="1400" i="1" dirty="0">
                <a:solidFill>
                  <a:schemeClr val="accent5"/>
                </a:solidFill>
              </a:rPr>
              <a:t>Bring back: one position and its best argument</a:t>
            </a:r>
            <a:endParaRPr lang="en-US" sz="1400" dirty="0"/>
          </a:p>
        </p:txBody>
      </p:sp>
      <p:sp>
        <p:nvSpPr>
          <p:cNvPr id="8" name="card48"/>
          <p:cNvSpPr/>
          <p:nvPr/>
        </p:nvSpPr>
        <p:spPr>
          <a:xfrm>
            <a:off x="6172200" y="1417320"/>
            <a:ext cx="5440680" cy="4663440"/>
          </a:xfrm>
          <a:prstGeom prst="roundRect">
            <a:avLst>
              <a:gd name="adj" fmla="val 1569"/>
            </a:avLst>
          </a:prstGeom>
          <a:solidFill>
            <a:srgbClr val="FBEFD5"/>
          </a:solidFill>
          <a:ln w="12700">
            <a:solidFill>
              <a:srgbClr val="FBEFD5"/>
            </a:solidFill>
            <a:prstDash val="solid"/>
          </a:ln>
        </p:spPr>
      </p:sp>
      <p:sp>
        <p:nvSpPr>
          <p:cNvPr id="9" name="Text 7"/>
          <p:cNvSpPr txBox="1"/>
          <p:nvPr/>
        </p:nvSpPr>
        <p:spPr>
          <a:xfrm>
            <a:off x="6400800" y="1554480"/>
            <a:ext cx="4983480" cy="548640"/>
          </a:xfrm>
          <a:prstGeom prst="rect">
            <a:avLst/>
          </a:prstGeom>
          <a:noFill/>
          <a:ln/>
        </p:spPr>
        <p:txBody>
          <a:bodyPr wrap="square" lIns="1270" tIns="1270" rIns="1270" bIns="1270" rtlCol="0" anchor="t"/>
          <a:lstStyle/>
          <a:p>
            <a:pPr indent="0" marL="0">
              <a:buNone/>
            </a:pPr>
            <a:r>
              <a:rPr lang="en-US" sz="2000" b="1" dirty="0">
                <a:solidFill>
                  <a:schemeClr val="accent2"/>
                </a:solidFill>
              </a:rPr>
              <a:t>Group B · Who keeps an artifact alive?</a:t>
            </a:r>
            <a:endParaRPr lang="en-US" sz="2000" dirty="0"/>
          </a:p>
        </p:txBody>
      </p:sp>
      <p:sp>
        <p:nvSpPr>
          <p:cNvPr id="10" name="Text 8"/>
          <p:cNvSpPr txBox="1"/>
          <p:nvPr/>
        </p:nvSpPr>
        <p:spPr>
          <a:xfrm>
            <a:off x="6400800" y="2194560"/>
            <a:ext cx="4983480" cy="1463040"/>
          </a:xfrm>
          <a:prstGeom prst="rect">
            <a:avLst/>
          </a:prstGeom>
          <a:noFill/>
          <a:ln/>
        </p:spPr>
        <p:txBody>
          <a:bodyPr wrap="square" lIns="1270" tIns="1270" rIns="1270" bIns="1270" rtlCol="0" anchor="t"/>
          <a:lstStyle/>
          <a:p>
            <a:pPr indent="0" marL="0">
              <a:buNone/>
            </a:pPr>
            <a:r>
              <a:rPr lang="en-US" sz="2000" b="1" dirty="0">
                <a:solidFill>
                  <a:schemeClr val="tx1"/>
                </a:solidFill>
              </a:rPr>
              <a:t>After the PhD student graduates, who is responsible for a research tool?</a:t>
            </a:r>
            <a:endParaRPr lang="en-US" sz="2000" dirty="0"/>
          </a:p>
        </p:txBody>
      </p:sp>
      <p:sp>
        <p:nvSpPr>
          <p:cNvPr id="11" name="Text 9"/>
          <p:cNvSpPr txBox="1"/>
          <p:nvPr/>
        </p:nvSpPr>
        <p:spPr>
          <a:xfrm>
            <a:off x="6400800" y="3657600"/>
            <a:ext cx="4983480" cy="1645920"/>
          </a:xfrm>
          <a:prstGeom prst="rect">
            <a:avLst/>
          </a:prstGeom>
          <a:noFill/>
          <a:ln/>
        </p:spPr>
        <p:txBody>
          <a:bodyPr wrap="square" lIns="1270" tIns="1270" rIns="1270" bIns="1270" rtlCol="0" anchor="t"/>
          <a:lstStyle/>
          <a:p>
            <a:pPr indent="0" marL="0">
              <a:buNone/>
            </a:pPr>
            <a:r>
              <a:rPr lang="en-US" sz="1700" dirty="0">
                <a:solidFill>
                  <a:schemeClr val="tx1"/>
                </a:solidFill>
              </a:rPr>
              <a:t>26 % of 2014 links dead by 2019 (Timperley Fig. 3, p. 20). R3 asks for transition plans and a Zenodo snapshot (p. 32). Is a frozen snapshot enough?</a:t>
            </a:r>
            <a:endParaRPr lang="en-US" sz="1700" dirty="0"/>
          </a:p>
        </p:txBody>
      </p:sp>
      <p:sp>
        <p:nvSpPr>
          <p:cNvPr id="12" name="Text 10"/>
          <p:cNvSpPr txBox="1"/>
          <p:nvPr/>
        </p:nvSpPr>
        <p:spPr>
          <a:xfrm>
            <a:off x="6400800" y="5394960"/>
            <a:ext cx="4983480" cy="457200"/>
          </a:xfrm>
          <a:prstGeom prst="rect">
            <a:avLst/>
          </a:prstGeom>
          <a:noFill/>
          <a:ln/>
        </p:spPr>
        <p:txBody>
          <a:bodyPr wrap="square" lIns="1270" tIns="1270" rIns="1270" bIns="1270" rtlCol="0" anchor="t"/>
          <a:lstStyle/>
          <a:p>
            <a:pPr indent="0" marL="0">
              <a:buNone/>
            </a:pPr>
            <a:r>
              <a:rPr lang="en-US" sz="1400" i="1" dirty="0">
                <a:solidFill>
                  <a:schemeClr val="accent5"/>
                </a:solidFill>
              </a:rPr>
              <a:t>Bring back: one position and its best argument</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6"/>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p>
            <a:pPr indent="0" marL="0">
              <a:buNone/>
            </a:pPr>
            <a:r>
              <a:rPr lang="en-US" sz="3200" b="1" dirty="0">
                <a:solidFill>
                  <a:schemeClr val="tx2"/>
                </a:solidFill>
              </a:rPr>
              <a:t>Outside the box · 8 min</a:t>
            </a:r>
            <a:endParaRPr lang="en-US" sz="3200" dirty="0"/>
          </a:p>
        </p:txBody>
      </p:sp>
      <p:sp>
        <p:nvSpPr>
          <p:cNvPr id="3" name="card49"/>
          <p:cNvSpPr/>
          <p:nvPr/>
        </p:nvSpPr>
        <p:spPr>
          <a:xfrm>
            <a:off x="548640" y="1417320"/>
            <a:ext cx="11064240" cy="1371600"/>
          </a:xfrm>
          <a:prstGeom prst="roundRect">
            <a:avLst>
              <a:gd name="adj" fmla="val 5333"/>
            </a:avLst>
          </a:prstGeom>
          <a:solidFill>
            <a:srgbClr val="EEF3F4"/>
          </a:solidFill>
          <a:ln w="12700">
            <a:solidFill>
              <a:srgbClr val="EEF3F4"/>
            </a:solidFill>
            <a:prstDash val="solid"/>
          </a:ln>
        </p:spPr>
      </p:sp>
      <p:sp>
        <p:nvSpPr>
          <p:cNvPr id="4" name="Text 2"/>
          <p:cNvSpPr txBox="1"/>
          <p:nvPr/>
        </p:nvSpPr>
        <p:spPr>
          <a:xfrm>
            <a:off x="777240" y="1554480"/>
            <a:ext cx="10607040" cy="548640"/>
          </a:xfrm>
          <a:prstGeom prst="rect">
            <a:avLst/>
          </a:prstGeom>
          <a:noFill/>
          <a:ln/>
        </p:spPr>
        <p:txBody>
          <a:bodyPr wrap="square" lIns="1270" tIns="1270" rIns="1270" bIns="1270" rtlCol="0" anchor="t"/>
          <a:lstStyle/>
          <a:p>
            <a:pPr indent="0" marL="0">
              <a:buNone/>
            </a:pPr>
            <a:r>
              <a:rPr lang="en-US" sz="2000" b="1" dirty="0">
                <a:solidFill>
                  <a:schemeClr val="tx1"/>
                </a:solidFill>
              </a:rPr>
              <a:t>What if artifacts counted exactly like papers for your PhD and for hiring?</a:t>
            </a:r>
            <a:endParaRPr lang="en-US" sz="2000" dirty="0"/>
          </a:p>
        </p:txBody>
      </p:sp>
      <p:sp>
        <p:nvSpPr>
          <p:cNvPr id="5" name="Text 3"/>
          <p:cNvSpPr txBox="1"/>
          <p:nvPr/>
        </p:nvSpPr>
        <p:spPr>
          <a:xfrm>
            <a:off x="777240" y="2148840"/>
            <a:ext cx="10607040" cy="502920"/>
          </a:xfrm>
          <a:prstGeom prst="rect">
            <a:avLst/>
          </a:prstGeom>
          <a:noFill/>
          <a:ln/>
        </p:spPr>
        <p:txBody>
          <a:bodyPr wrap="square" lIns="1270" tIns="1270" rIns="1270" bIns="1270" rtlCol="0" anchor="t"/>
          <a:lstStyle/>
          <a:p>
            <a:pPr indent="0" marL="0">
              <a:buNone/>
            </a:pPr>
            <a:r>
              <a:rPr lang="en-US" sz="1600" dirty="0">
                <a:solidFill>
                  <a:schemeClr val="accent5"/>
                </a:solidFill>
              </a:rPr>
              <a:t>What would go wrong? How would people game it?</a:t>
            </a:r>
            <a:endParaRPr lang="en-US" sz="1600" dirty="0"/>
          </a:p>
        </p:txBody>
      </p:sp>
      <p:sp>
        <p:nvSpPr>
          <p:cNvPr id="6" name="card50"/>
          <p:cNvSpPr/>
          <p:nvPr/>
        </p:nvSpPr>
        <p:spPr>
          <a:xfrm>
            <a:off x="548640" y="2971800"/>
            <a:ext cx="11064240" cy="1371600"/>
          </a:xfrm>
          <a:prstGeom prst="roundRect">
            <a:avLst>
              <a:gd name="adj" fmla="val 5333"/>
            </a:avLst>
          </a:prstGeom>
          <a:solidFill>
            <a:srgbClr val="EEF3F4"/>
          </a:solidFill>
          <a:ln w="12700">
            <a:solidFill>
              <a:srgbClr val="EEF3F4"/>
            </a:solidFill>
            <a:prstDash val="solid"/>
          </a:ln>
        </p:spPr>
      </p:sp>
      <p:sp>
        <p:nvSpPr>
          <p:cNvPr id="7" name="Text 5"/>
          <p:cNvSpPr txBox="1"/>
          <p:nvPr/>
        </p:nvSpPr>
        <p:spPr>
          <a:xfrm>
            <a:off x="777240" y="3108960"/>
            <a:ext cx="10607040" cy="548640"/>
          </a:xfrm>
          <a:prstGeom prst="rect">
            <a:avLst/>
          </a:prstGeom>
          <a:noFill/>
          <a:ln/>
        </p:spPr>
        <p:txBody>
          <a:bodyPr wrap="square" lIns="1270" tIns="1270" rIns="1270" bIns="1270" rtlCol="0" anchor="t"/>
          <a:lstStyle/>
          <a:p>
            <a:pPr indent="0" marL="0">
              <a:buNone/>
            </a:pPr>
            <a:r>
              <a:rPr lang="en-US" sz="2000" b="1" dirty="0">
                <a:solidFill>
                  <a:schemeClr val="tx1"/>
                </a:solidFill>
              </a:rPr>
              <a:t>Imagine an AI agent builds and runs every artifact automatically</a:t>
            </a:r>
            <a:endParaRPr lang="en-US" sz="2000" dirty="0"/>
          </a:p>
        </p:txBody>
      </p:sp>
      <p:sp>
        <p:nvSpPr>
          <p:cNvPr id="8" name="Text 6"/>
          <p:cNvSpPr txBox="1"/>
          <p:nvPr/>
        </p:nvSpPr>
        <p:spPr>
          <a:xfrm>
            <a:off x="777240" y="3703320"/>
            <a:ext cx="10607040" cy="502920"/>
          </a:xfrm>
          <a:prstGeom prst="rect">
            <a:avLst/>
          </a:prstGeom>
          <a:noFill/>
          <a:ln/>
        </p:spPr>
        <p:txBody>
          <a:bodyPr wrap="square" lIns="1270" tIns="1270" rIns="1270" bIns="1270" rtlCol="0" anchor="t"/>
          <a:lstStyle/>
          <a:p>
            <a:pPr indent="0" marL="0">
              <a:buNone/>
            </a:pPr>
            <a:r>
              <a:rPr lang="en-US" sz="1600" dirty="0">
                <a:solidFill>
                  <a:schemeClr val="accent5"/>
                </a:solidFill>
              </a:rPr>
              <a:t>What would it catch, and what would it miss? What are human reviewers for?</a:t>
            </a:r>
            <a:endParaRPr lang="en-US" sz="1600" dirty="0"/>
          </a:p>
        </p:txBody>
      </p:sp>
      <p:sp>
        <p:nvSpPr>
          <p:cNvPr id="9" name="card51"/>
          <p:cNvSpPr/>
          <p:nvPr/>
        </p:nvSpPr>
        <p:spPr>
          <a:xfrm>
            <a:off x="548640" y="4526280"/>
            <a:ext cx="11064240" cy="1371600"/>
          </a:xfrm>
          <a:prstGeom prst="roundRect">
            <a:avLst>
              <a:gd name="adj" fmla="val 5333"/>
            </a:avLst>
          </a:prstGeom>
          <a:solidFill>
            <a:srgbClr val="EEF3F4"/>
          </a:solidFill>
          <a:ln w="12700">
            <a:solidFill>
              <a:srgbClr val="EEF3F4"/>
            </a:solidFill>
            <a:prstDash val="solid"/>
          </a:ln>
        </p:spPr>
      </p:sp>
      <p:sp>
        <p:nvSpPr>
          <p:cNvPr id="10" name="Text 8"/>
          <p:cNvSpPr txBox="1"/>
          <p:nvPr/>
        </p:nvSpPr>
        <p:spPr>
          <a:xfrm>
            <a:off x="777240" y="4663440"/>
            <a:ext cx="10607040" cy="548640"/>
          </a:xfrm>
          <a:prstGeom prst="rect">
            <a:avLst/>
          </a:prstGeom>
          <a:noFill/>
          <a:ln/>
        </p:spPr>
        <p:txBody>
          <a:bodyPr wrap="square" lIns="1270" tIns="1270" rIns="1270" bIns="1270" rtlCol="0" anchor="t"/>
          <a:lstStyle/>
          <a:p>
            <a:pPr indent="0" marL="0">
              <a:buNone/>
            </a:pPr>
            <a:r>
              <a:rPr lang="en-US" sz="2000" b="1" dirty="0">
                <a:solidFill>
                  <a:schemeClr val="accent5"/>
                </a:solidFill>
              </a:rPr>
              <a:t>Spare: review artifacts before the paper, like a registered report?</a:t>
            </a:r>
            <a:endParaRPr lang="en-US" sz="2000" dirty="0"/>
          </a:p>
        </p:txBody>
      </p:sp>
      <p:sp>
        <p:nvSpPr>
          <p:cNvPr id="11" name="Text 9"/>
          <p:cNvSpPr txBox="1"/>
          <p:nvPr/>
        </p:nvSpPr>
        <p:spPr>
          <a:xfrm>
            <a:off x="777240" y="5257800"/>
            <a:ext cx="10607040" cy="502920"/>
          </a:xfrm>
          <a:prstGeom prst="rect">
            <a:avLst/>
          </a:prstGeom>
          <a:noFill/>
          <a:ln/>
        </p:spPr>
        <p:txBody>
          <a:bodyPr wrap="square" lIns="1270" tIns="1270" rIns="1270" bIns="1270" rtlCol="0" anchor="t"/>
          <a:lstStyle/>
          <a:p>
            <a:pPr indent="0" marL="0">
              <a:buNone/>
            </a:pPr>
            <a:r>
              <a:rPr lang="en-US" sz="1600" dirty="0">
                <a:solidFill>
                  <a:schemeClr val="accent5"/>
                </a:solidFill>
              </a:rPr>
              <a:t>Would that change what gets built?</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6"/>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p>
            <a:pPr indent="0" marL="0">
              <a:buNone/>
            </a:pPr>
            <a:r>
              <a:rPr lang="en-US" sz="3200" b="1" dirty="0">
                <a:solidFill>
                  <a:schemeClr val="tx2"/>
                </a:solidFill>
              </a:rPr>
              <a:t>Wrap-up · one change each</a:t>
            </a:r>
            <a:endParaRPr lang="en-US" sz="3200" dirty="0"/>
          </a:p>
        </p:txBody>
      </p:sp>
      <p:sp>
        <p:nvSpPr>
          <p:cNvPr id="3" name="Text 1"/>
          <p:cNvSpPr txBox="1"/>
          <p:nvPr/>
        </p:nvSpPr>
        <p:spPr>
          <a:xfrm>
            <a:off x="548640" y="1371600"/>
            <a:ext cx="11064240" cy="822960"/>
          </a:xfrm>
          <a:prstGeom prst="rect">
            <a:avLst/>
          </a:prstGeom>
          <a:noFill/>
          <a:ln/>
        </p:spPr>
        <p:txBody>
          <a:bodyPr wrap="square" lIns="1270" tIns="1270" rIns="1270" bIns="127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Name one change to artifact evaluation you would make, and who has to make it.</a:t>
            </a:r>
            <a:endParaRPr lang="en-US" sz="2400" dirty="0"/>
          </a:p>
        </p:txBody>
      </p:sp>
      <p:sp>
        <p:nvSpPr>
          <p:cNvPr id="4" name="card52"/>
          <p:cNvSpPr/>
          <p:nvPr/>
        </p:nvSpPr>
        <p:spPr>
          <a:xfrm>
            <a:off x="548640" y="2468880"/>
            <a:ext cx="2103120" cy="2377440"/>
          </a:xfrm>
          <a:prstGeom prst="roundRect">
            <a:avLst>
              <a:gd name="adj" fmla="val 3478"/>
            </a:avLst>
          </a:prstGeom>
          <a:solidFill>
            <a:srgbClr val="EEF3F4"/>
          </a:solidFill>
          <a:ln w="12700">
            <a:solidFill>
              <a:srgbClr val="EEF3F4"/>
            </a:solidFill>
            <a:prstDash val="solid"/>
          </a:ln>
        </p:spPr>
      </p:sp>
      <p:sp>
        <p:nvSpPr>
          <p:cNvPr id="5" name="pill53"/>
          <p:cNvSpPr/>
          <p:nvPr/>
        </p:nvSpPr>
        <p:spPr>
          <a:xfrm>
            <a:off x="731520" y="2651760"/>
            <a:ext cx="1737360" cy="384048"/>
          </a:xfrm>
          <a:prstGeom prst="roundRect">
            <a:avLst>
              <a:gd name="adj" fmla="val 47619"/>
            </a:avLst>
          </a:prstGeom>
          <a:solidFill>
            <a:srgbClr val="0F4C5C"/>
          </a:solidFill>
          <a:ln w="12700">
            <a:solidFill>
              <a:srgbClr val="0F4C5C"/>
            </a:solidFill>
            <a:prstDash val="solid"/>
          </a:ln>
        </p:spPr>
      </p:sp>
      <p:sp>
        <p:nvSpPr>
          <p:cNvPr id="6" name="Text 4"/>
          <p:cNvSpPr txBox="1"/>
          <p:nvPr/>
        </p:nvSpPr>
        <p:spPr>
          <a:xfrm>
            <a:off x="731520" y="2651760"/>
            <a:ext cx="1737360" cy="384048"/>
          </a:xfrm>
          <a:prstGeom prst="rect">
            <a:avLst/>
          </a:prstGeom>
          <a:noFill/>
          <a:ln/>
        </p:spPr>
        <p:txBody>
          <a:bodyPr wrap="square" lIns="0" tIns="0" rIns="0" bIns="0" rtlCol="0" anchor="ctr"/>
          <a:lstStyle/>
          <a:p>
            <a:pPr algn="ctr" indent="0" marL="0">
              <a:buNone/>
            </a:pPr>
            <a:r>
              <a:rPr lang="en-US" sz="1300" b="1" dirty="0">
                <a:solidFill>
                  <a:schemeClr val="bg1"/>
                </a:solidFill>
              </a:rPr>
              <a:t>Author</a:t>
            </a:r>
            <a:endParaRPr lang="en-US" sz="1300" dirty="0"/>
          </a:p>
        </p:txBody>
      </p:sp>
      <p:sp>
        <p:nvSpPr>
          <p:cNvPr id="7" name="card54"/>
          <p:cNvSpPr/>
          <p:nvPr/>
        </p:nvSpPr>
        <p:spPr>
          <a:xfrm>
            <a:off x="2788920" y="2468880"/>
            <a:ext cx="2103120" cy="2377440"/>
          </a:xfrm>
          <a:prstGeom prst="roundRect">
            <a:avLst>
              <a:gd name="adj" fmla="val 3478"/>
            </a:avLst>
          </a:prstGeom>
          <a:solidFill>
            <a:srgbClr val="EEF3F4"/>
          </a:solidFill>
          <a:ln w="12700">
            <a:solidFill>
              <a:srgbClr val="EEF3F4"/>
            </a:solidFill>
            <a:prstDash val="solid"/>
          </a:ln>
        </p:spPr>
      </p:sp>
      <p:sp>
        <p:nvSpPr>
          <p:cNvPr id="8" name="pill55"/>
          <p:cNvSpPr/>
          <p:nvPr/>
        </p:nvSpPr>
        <p:spPr>
          <a:xfrm>
            <a:off x="2971800" y="2651760"/>
            <a:ext cx="1737360" cy="384048"/>
          </a:xfrm>
          <a:prstGeom prst="roundRect">
            <a:avLst>
              <a:gd name="adj" fmla="val 47619"/>
            </a:avLst>
          </a:prstGeom>
          <a:solidFill>
            <a:srgbClr val="5E8C61"/>
          </a:solidFill>
          <a:ln w="12700">
            <a:solidFill>
              <a:srgbClr val="5E8C61"/>
            </a:solidFill>
            <a:prstDash val="solid"/>
          </a:ln>
        </p:spPr>
      </p:sp>
      <p:sp>
        <p:nvSpPr>
          <p:cNvPr id="9" name="Text 7"/>
          <p:cNvSpPr txBox="1"/>
          <p:nvPr/>
        </p:nvSpPr>
        <p:spPr>
          <a:xfrm>
            <a:off x="2971800" y="2651760"/>
            <a:ext cx="1737360" cy="384048"/>
          </a:xfrm>
          <a:prstGeom prst="rect">
            <a:avLst/>
          </a:prstGeom>
          <a:noFill/>
          <a:ln/>
        </p:spPr>
        <p:txBody>
          <a:bodyPr wrap="square" lIns="0" tIns="0" rIns="0" bIns="0" rtlCol="0" anchor="ctr"/>
          <a:lstStyle/>
          <a:p>
            <a:pPr algn="ctr" indent="0" marL="0">
              <a:buNone/>
            </a:pPr>
            <a:r>
              <a:rPr lang="en-US" sz="1300" b="1" dirty="0">
                <a:solidFill>
                  <a:schemeClr val="bg1"/>
                </a:solidFill>
              </a:rPr>
              <a:t>Advisor</a:t>
            </a:r>
            <a:endParaRPr lang="en-US" sz="1300" dirty="0"/>
          </a:p>
        </p:txBody>
      </p:sp>
      <p:sp>
        <p:nvSpPr>
          <p:cNvPr id="10" name="card56"/>
          <p:cNvSpPr/>
          <p:nvPr/>
        </p:nvSpPr>
        <p:spPr>
          <a:xfrm>
            <a:off x="5029200" y="2468880"/>
            <a:ext cx="2103120" cy="2377440"/>
          </a:xfrm>
          <a:prstGeom prst="roundRect">
            <a:avLst>
              <a:gd name="adj" fmla="val 3478"/>
            </a:avLst>
          </a:prstGeom>
          <a:solidFill>
            <a:srgbClr val="EEF3F4"/>
          </a:solidFill>
          <a:ln w="12700">
            <a:solidFill>
              <a:srgbClr val="EEF3F4"/>
            </a:solidFill>
            <a:prstDash val="solid"/>
          </a:ln>
        </p:spPr>
      </p:sp>
      <p:sp>
        <p:nvSpPr>
          <p:cNvPr id="11" name="pill57"/>
          <p:cNvSpPr/>
          <p:nvPr/>
        </p:nvSpPr>
        <p:spPr>
          <a:xfrm>
            <a:off x="5212080" y="2651760"/>
            <a:ext cx="1737360" cy="384048"/>
          </a:xfrm>
          <a:prstGeom prst="roundRect">
            <a:avLst>
              <a:gd name="adj" fmla="val 47619"/>
            </a:avLst>
          </a:prstGeom>
          <a:solidFill>
            <a:srgbClr val="D98E04"/>
          </a:solidFill>
          <a:ln w="12700">
            <a:solidFill>
              <a:srgbClr val="D98E04"/>
            </a:solidFill>
            <a:prstDash val="solid"/>
          </a:ln>
        </p:spPr>
      </p:sp>
      <p:sp>
        <p:nvSpPr>
          <p:cNvPr id="12" name="Text 10"/>
          <p:cNvSpPr txBox="1"/>
          <p:nvPr/>
        </p:nvSpPr>
        <p:spPr>
          <a:xfrm>
            <a:off x="5212080" y="2651760"/>
            <a:ext cx="1737360" cy="384048"/>
          </a:xfrm>
          <a:prstGeom prst="rect">
            <a:avLst/>
          </a:prstGeom>
          <a:noFill/>
          <a:ln/>
        </p:spPr>
        <p:txBody>
          <a:bodyPr wrap="square" lIns="0" tIns="0" rIns="0" bIns="0" rtlCol="0" anchor="ctr"/>
          <a:lstStyle/>
          <a:p>
            <a:pPr algn="ctr" indent="0" marL="0">
              <a:buNone/>
            </a:pPr>
            <a:r>
              <a:rPr lang="en-US" sz="1300" b="1" dirty="0">
                <a:solidFill>
                  <a:schemeClr val="bg1"/>
                </a:solidFill>
              </a:rPr>
              <a:t>AEC chair</a:t>
            </a:r>
            <a:endParaRPr lang="en-US" sz="1300" dirty="0"/>
          </a:p>
        </p:txBody>
      </p:sp>
      <p:sp>
        <p:nvSpPr>
          <p:cNvPr id="13" name="card58"/>
          <p:cNvSpPr/>
          <p:nvPr/>
        </p:nvSpPr>
        <p:spPr>
          <a:xfrm>
            <a:off x="7269480" y="2468880"/>
            <a:ext cx="2103120" cy="2377440"/>
          </a:xfrm>
          <a:prstGeom prst="roundRect">
            <a:avLst>
              <a:gd name="adj" fmla="val 3478"/>
            </a:avLst>
          </a:prstGeom>
          <a:solidFill>
            <a:srgbClr val="EEF3F4"/>
          </a:solidFill>
          <a:ln w="12700">
            <a:solidFill>
              <a:srgbClr val="EEF3F4"/>
            </a:solidFill>
            <a:prstDash val="solid"/>
          </a:ln>
        </p:spPr>
      </p:sp>
      <p:sp>
        <p:nvSpPr>
          <p:cNvPr id="14" name="pill59"/>
          <p:cNvSpPr/>
          <p:nvPr/>
        </p:nvSpPr>
        <p:spPr>
          <a:xfrm>
            <a:off x="7452360" y="2651760"/>
            <a:ext cx="1737360" cy="384048"/>
          </a:xfrm>
          <a:prstGeom prst="roundRect">
            <a:avLst>
              <a:gd name="adj" fmla="val 47619"/>
            </a:avLst>
          </a:prstGeom>
          <a:solidFill>
            <a:srgbClr val="B5523B"/>
          </a:solidFill>
          <a:ln w="12700">
            <a:solidFill>
              <a:srgbClr val="B5523B"/>
            </a:solidFill>
            <a:prstDash val="solid"/>
          </a:ln>
        </p:spPr>
      </p:sp>
      <p:sp>
        <p:nvSpPr>
          <p:cNvPr id="15" name="Text 13"/>
          <p:cNvSpPr txBox="1"/>
          <p:nvPr/>
        </p:nvSpPr>
        <p:spPr>
          <a:xfrm>
            <a:off x="7452360" y="2651760"/>
            <a:ext cx="1737360" cy="384048"/>
          </a:xfrm>
          <a:prstGeom prst="rect">
            <a:avLst/>
          </a:prstGeom>
          <a:noFill/>
          <a:ln/>
        </p:spPr>
        <p:txBody>
          <a:bodyPr wrap="square" lIns="0" tIns="0" rIns="0" bIns="0" rtlCol="0" anchor="ctr"/>
          <a:lstStyle/>
          <a:p>
            <a:pPr algn="ctr" indent="0" marL="0">
              <a:buNone/>
            </a:pPr>
            <a:r>
              <a:rPr lang="en-US" sz="1300" b="1" dirty="0">
                <a:solidFill>
                  <a:schemeClr val="bg1"/>
                </a:solidFill>
              </a:rPr>
              <a:t>Steering committee</a:t>
            </a:r>
            <a:endParaRPr lang="en-US" sz="1300" dirty="0"/>
          </a:p>
        </p:txBody>
      </p:sp>
      <p:sp>
        <p:nvSpPr>
          <p:cNvPr id="16" name="card60"/>
          <p:cNvSpPr/>
          <p:nvPr/>
        </p:nvSpPr>
        <p:spPr>
          <a:xfrm>
            <a:off x="9509760" y="2468880"/>
            <a:ext cx="2103120" cy="2377440"/>
          </a:xfrm>
          <a:prstGeom prst="roundRect">
            <a:avLst>
              <a:gd name="adj" fmla="val 3478"/>
            </a:avLst>
          </a:prstGeom>
          <a:solidFill>
            <a:srgbClr val="EEF3F4"/>
          </a:solidFill>
          <a:ln w="12700">
            <a:solidFill>
              <a:srgbClr val="EEF3F4"/>
            </a:solidFill>
            <a:prstDash val="solid"/>
          </a:ln>
        </p:spPr>
      </p:sp>
      <p:sp>
        <p:nvSpPr>
          <p:cNvPr id="17" name="pill61"/>
          <p:cNvSpPr/>
          <p:nvPr/>
        </p:nvSpPr>
        <p:spPr>
          <a:xfrm>
            <a:off x="9692640" y="2651760"/>
            <a:ext cx="1737360" cy="384048"/>
          </a:xfrm>
          <a:prstGeom prst="roundRect">
            <a:avLst>
              <a:gd name="adj" fmla="val 47619"/>
            </a:avLst>
          </a:prstGeom>
          <a:solidFill>
            <a:srgbClr val="6B7F86"/>
          </a:solidFill>
          <a:ln w="12700">
            <a:solidFill>
              <a:srgbClr val="6B7F86"/>
            </a:solidFill>
            <a:prstDash val="solid"/>
          </a:ln>
        </p:spPr>
      </p:sp>
      <p:sp>
        <p:nvSpPr>
          <p:cNvPr id="18" name="Text 16"/>
          <p:cNvSpPr txBox="1"/>
          <p:nvPr/>
        </p:nvSpPr>
        <p:spPr>
          <a:xfrm>
            <a:off x="9692640" y="2651760"/>
            <a:ext cx="1737360" cy="384048"/>
          </a:xfrm>
          <a:prstGeom prst="rect">
            <a:avLst/>
          </a:prstGeom>
          <a:noFill/>
          <a:ln/>
        </p:spPr>
        <p:txBody>
          <a:bodyPr wrap="square" lIns="0" tIns="0" rIns="0" bIns="0" rtlCol="0" anchor="ctr"/>
          <a:lstStyle/>
          <a:p>
            <a:pPr algn="ctr" indent="0" marL="0">
              <a:buNone/>
            </a:pPr>
            <a:r>
              <a:rPr lang="en-US" sz="1300" b="1" dirty="0">
                <a:solidFill>
                  <a:schemeClr val="bg1"/>
                </a:solidFill>
              </a:rPr>
              <a:t>Funder</a:t>
            </a:r>
            <a:endParaRPr lang="en-US" sz="1300" dirty="0"/>
          </a:p>
        </p:txBody>
      </p:sp>
      <p:sp>
        <p:nvSpPr>
          <p:cNvPr id="19" name="Text 17"/>
          <p:cNvSpPr txBox="1"/>
          <p:nvPr/>
        </p:nvSpPr>
        <p:spPr>
          <a:xfrm>
            <a:off x="548640" y="5120640"/>
            <a:ext cx="11064240" cy="548640"/>
          </a:xfrm>
          <a:prstGeom prst="rect">
            <a:avLst/>
          </a:prstGeom>
          <a:noFill/>
          <a:ln/>
        </p:spPr>
        <p:txBody>
          <a:bodyPr wrap="square" lIns="1270" tIns="1270" rIns="1270" bIns="1270" rtlCol="0" anchor="t"/>
          <a:lstStyle/>
          <a:p>
            <a:pPr indent="0" marL="0">
              <a:buNone/>
            </a:pPr>
            <a:r>
              <a:rPr lang="en-US" sz="1800" i="1" dirty="0">
                <a:solidFill>
                  <a:schemeClr val="accent5"/>
                </a:solidFill>
              </a:rPr>
              <a:t>Then: which of our ideas did neither paper propose?</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6"/>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p>
            <a:pPr indent="0" marL="0">
              <a:buNone/>
            </a:pPr>
            <a:r>
              <a:rPr lang="en-US" sz="3200" b="1" dirty="0">
                <a:solidFill>
                  <a:schemeClr val="tx2"/>
                </a:solidFill>
              </a:rPr>
              <a:t>Background, if questions come up</a:t>
            </a:r>
            <a:endParaRPr lang="en-US" sz="3200" dirty="0"/>
          </a:p>
        </p:txBody>
      </p:sp>
      <p:sp>
        <p:nvSpPr>
          <p:cNvPr id="3" name="Text 1"/>
          <p:cNvSpPr txBox="1"/>
          <p:nvPr/>
        </p:nvSpPr>
        <p:spPr>
          <a:xfrm>
            <a:off x="548640" y="1371600"/>
            <a:ext cx="11064240" cy="4206240"/>
          </a:xfrm>
          <a:prstGeom prst="rect">
            <a:avLst/>
          </a:prstGeom>
          <a:noFill/>
          <a:ln/>
        </p:spPr>
        <p:txBody>
          <a:bodyPr wrap="square" lIns="1270" tIns="1270" rIns="1270" bIns="1270" rtlCol="0" anchor="t"/>
          <a:lstStyle/>
          <a:p>
            <a:pPr marL="342900" indent="-342900">
              <a:spcAft>
                <a:spcPts val="600"/>
              </a:spcAft>
              <a:buSzPct val="100000"/>
              <a:buChar char="•"/>
            </a:pPr>
            <a:r>
              <a:rPr lang="en-US" sz="1800" dirty="0">
                <a:solidFill>
                  <a:schemeClr val="tx1"/>
                </a:solidFill>
              </a:rPr>
              <a:t>ACM badges v1.1 (2020) swapped "reproduced" and "replicated", matching our lecture's definitions</a:t>
            </a:r>
            <a:endParaRPr lang="en-US" sz="1600" dirty="0"/>
          </a:p>
          <a:p>
            <a:pPr marL="342900" indent="-342900">
              <a:spcAft>
                <a:spcPts val="600"/>
              </a:spcAft>
              <a:buSzPct val="100000"/>
              <a:buChar char="•"/>
            </a:pPr>
            <a:r>
              <a:rPr lang="en-US" sz="1800" dirty="0">
                <a:solidFill>
                  <a:schemeClr val="tx1"/>
                </a:solidFill>
              </a:rPr>
              <a:t>Artifact evaluation started at ESEC/FSE 2011; ICSE from 2019 (Timperley p. 4)</a:t>
            </a:r>
            <a:endParaRPr lang="en-US" sz="1600" dirty="0"/>
          </a:p>
          <a:p>
            <a:pPr marL="342900" indent="-342900">
              <a:spcAft>
                <a:spcPts val="600"/>
              </a:spcAft>
              <a:buSzPct val="100000"/>
              <a:buChar char="•"/>
            </a:pPr>
            <a:r>
              <a:rPr lang="en-US" sz="1800" dirty="0">
                <a:solidFill>
                  <a:schemeClr val="tx1"/>
                </a:solidFill>
              </a:rPr>
              <a:t>Zenodo gives DOIs and snapshots and can archive GitHub releases; Software Heritage archives public source code</a:t>
            </a:r>
            <a:endParaRPr lang="en-US" sz="1600" dirty="0"/>
          </a:p>
          <a:p>
            <a:pPr marL="342900" indent="-342900">
              <a:spcAft>
                <a:spcPts val="600"/>
              </a:spcAft>
              <a:buSzPct val="100000"/>
              <a:buChar char="•"/>
            </a:pPr>
            <a:r>
              <a:rPr lang="en-US" sz="1800" dirty="0">
                <a:solidFill>
                  <a:schemeClr val="tx1"/>
                </a:solidFill>
              </a:rPr>
              <a:t>Containers share the host kernel; VMs emulate a whole machine and distort performance. Neither freezes what a build downloads</a:t>
            </a:r>
            <a:endParaRPr lang="en-US" sz="1600" dirty="0"/>
          </a:p>
          <a:p>
            <a:pPr marL="342900" indent="-342900">
              <a:spcAft>
                <a:spcPts val="600"/>
              </a:spcAft>
              <a:buSzPct val="100000"/>
              <a:buChar char="•"/>
            </a:pPr>
            <a:r>
              <a:rPr lang="en-US" sz="1800" dirty="0">
                <a:solidFill>
                  <a:schemeClr val="tx1"/>
                </a:solidFill>
              </a:rPr>
              <a:t>Funders: NSF requires a two-page data management plan (Timperley p. 34)</a:t>
            </a:r>
            <a:endParaRPr lang="en-US" sz="1600" dirty="0"/>
          </a:p>
        </p:txBody>
      </p:sp>
      <p:sp>
        <p:nvSpPr>
          <p:cNvPr id="4" name="Text 2"/>
          <p:cNvSpPr txBox="1"/>
          <p:nvPr/>
        </p:nvSpPr>
        <p:spPr>
          <a:xfrm>
            <a:off x="548640" y="5669280"/>
            <a:ext cx="11064240" cy="365760"/>
          </a:xfrm>
          <a:prstGeom prst="rect">
            <a:avLst/>
          </a:prstGeom>
          <a:noFill/>
          <a:ln/>
        </p:spPr>
        <p:txBody>
          <a:bodyPr wrap="square" lIns="1270" tIns="1270" rIns="1270" bIns="1270" rtlCol="0" anchor="t"/>
          <a:lstStyle/>
          <a:p>
            <a:pPr indent="0" marL="0">
              <a:buNone/>
            </a:pPr>
            <a:r>
              <a:rPr lang="en-US" sz="1200" i="1" dirty="0">
                <a:solidFill>
                  <a:schemeClr val="accent5"/>
                </a:solidFill>
              </a:rPr>
              <a:t>From memory where no page is given: check before stating as fact.</a:t>
            </a:r>
            <a:endParaRPr lang="en-US" sz="1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6"/>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p>
            <a:pPr indent="0" marL="0">
              <a:buNone/>
            </a:pPr>
            <a:r>
              <a:rPr lang="en-US" sz="3200" b="1" dirty="0">
                <a:solidFill>
                  <a:schemeClr val="tx2"/>
                </a:solidFill>
              </a:rPr>
              <a:t>References</a:t>
            </a:r>
            <a:endParaRPr lang="en-US" sz="3200" dirty="0"/>
          </a:p>
        </p:txBody>
      </p:sp>
      <p:sp>
        <p:nvSpPr>
          <p:cNvPr id="3" name="Text 1"/>
          <p:cNvSpPr txBox="1"/>
          <p:nvPr/>
        </p:nvSpPr>
        <p:spPr>
          <a:xfrm>
            <a:off x="548640" y="1371600"/>
            <a:ext cx="11064240" cy="4114800"/>
          </a:xfrm>
          <a:prstGeom prst="rect">
            <a:avLst/>
          </a:prstGeom>
          <a:noFill/>
          <a:ln/>
        </p:spPr>
        <p:txBody>
          <a:bodyPr wrap="square" lIns="1270" tIns="1270" rIns="1270" bIns="1270" rtlCol="0" anchor="t"/>
          <a:lstStyle/>
          <a:p>
            <a:pPr marL="342900" indent="-342900">
              <a:spcAft>
                <a:spcPts val="600"/>
              </a:spcAft>
              <a:buSzPct val="100000"/>
              <a:buChar char="•"/>
            </a:pPr>
            <a:r>
              <a:rPr lang="en-US" sz="1700" dirty="0">
                <a:solidFill>
                  <a:schemeClr val="tx1"/>
                </a:solidFill>
              </a:rPr>
              <a:t>Hermann, B., Winter, S., Siegmund, J. (2020). Community Expectations for Research Artifacts and Evaluation Processes. ESEC/FSE 2020, pp. 469–480. doi:10.1145/3368089.3409767</a:t>
            </a:r>
            <a:endParaRPr lang="en-US" sz="1600" dirty="0"/>
          </a:p>
          <a:p>
            <a:pPr marL="342900" indent="-342900">
              <a:spcAft>
                <a:spcPts val="600"/>
              </a:spcAft>
              <a:buSzPct val="100000"/>
              <a:buChar char="•"/>
            </a:pPr>
            <a:r>
              <a:rPr lang="en-US" sz="1700" dirty="0">
                <a:solidFill>
                  <a:schemeClr val="tx1"/>
                </a:solidFill>
              </a:rPr>
              <a:t>Timperley, C. S., Herckis, L., Le Goues, C., Hilton, M. (2021). Understanding and improving artifact sharing in software engineering research. Empirical Software Engineering 26:67. doi:10.1007/s10664-021-09973-5</a:t>
            </a:r>
            <a:endParaRPr lang="en-US" sz="1600" dirty="0"/>
          </a:p>
          <a:p>
            <a:pPr marL="342900" indent="-342900">
              <a:spcAft>
                <a:spcPts val="600"/>
              </a:spcAft>
              <a:buSzPct val="100000"/>
              <a:buChar char="•"/>
            </a:pPr>
            <a:r>
              <a:rPr lang="en-US" sz="1700" dirty="0">
                <a:solidFill>
                  <a:schemeClr val="tx1"/>
                </a:solidFill>
              </a:rPr>
              <a:t>Week 1 context: Collberg &amp; Proebsting (2016), CACM 59(3); Heumüller et al. (2020), EMSE</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6"/>
                </a:solidFill>
              </a:defRPr>
            </a:lvl1pPr>
          </a:lstStyle>
          <a:p>
            <a:pPr algn="l"/>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rtifact Review">
  <a:themeElements>
    <a:clrScheme name="Artifact Review">
      <a:dk1>
        <a:srgbClr val="1B2A30"/>
      </a:dk1>
      <a:lt1>
        <a:srgbClr val="FFFFFF"/>
      </a:lt1>
      <a:dk2>
        <a:srgbClr val="0F4C5C"/>
      </a:dk2>
      <a:lt2>
        <a:srgbClr val="EEF3F4"/>
      </a:lt2>
      <a:accent1>
        <a:srgbClr val="0F4C5C"/>
      </a:accent1>
      <a:accent2>
        <a:srgbClr val="D98E04"/>
      </a:accent2>
      <a:accent3>
        <a:srgbClr val="5E8C61"/>
      </a:accent3>
      <a:accent4>
        <a:srgbClr val="B5523B"/>
      </a:accent4>
      <a:accent5>
        <a:srgbClr val="6B7F86"/>
      </a:accent5>
      <a:accent6>
        <a:srgbClr val="9FC1C9"/>
      </a:accent6>
      <a:hlink>
        <a:srgbClr val="0F4C5C"/>
      </a:hlink>
      <a:folHlink>
        <a:srgbClr val="6B7F86"/>
      </a:folHlink>
    </a:clrScheme>
    <a:fontScheme name="Artifact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Artifact Evaluation – Lecture 2 Discussion</dc:title>
  <dc:subject>PptxGenJS Presentation</dc:subject>
  <dc:creator>PptxGenJS</dc:creator>
  <cp:lastModifiedBy>PptxGenJS</cp:lastModifiedBy>
  <cp:revision>1</cp:revision>
  <dcterms:created xsi:type="dcterms:W3CDTF">2026-10-22T16:15:03Z</dcterms:created>
  <dcterms:modified xsi:type="dcterms:W3CDTF">2026-10-22T16:15:03Z</dcterms:modified>
</cp:coreProperties>
</file>